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28"/>
  </p:handoutMasterIdLst>
  <p:sldIdLst>
    <p:sldId id="761" r:id="rId3"/>
    <p:sldId id="1538" r:id="rId4"/>
    <p:sldId id="365" r:id="rId6"/>
    <p:sldId id="1541" r:id="rId7"/>
    <p:sldId id="1539" r:id="rId8"/>
    <p:sldId id="1542" r:id="rId9"/>
    <p:sldId id="1545" r:id="rId10"/>
    <p:sldId id="1543" r:id="rId11"/>
    <p:sldId id="1549" r:id="rId12"/>
    <p:sldId id="1547" r:id="rId13"/>
    <p:sldId id="1548" r:id="rId14"/>
    <p:sldId id="1544" r:id="rId15"/>
    <p:sldId id="1552" r:id="rId16"/>
    <p:sldId id="1551" r:id="rId17"/>
    <p:sldId id="1546" r:id="rId18"/>
    <p:sldId id="1555" r:id="rId19"/>
    <p:sldId id="1562" r:id="rId20"/>
    <p:sldId id="1556" r:id="rId21"/>
    <p:sldId id="1553" r:id="rId22"/>
    <p:sldId id="1558" r:id="rId23"/>
    <p:sldId id="1559" r:id="rId24"/>
    <p:sldId id="1557" r:id="rId25"/>
    <p:sldId id="1561" r:id="rId26"/>
    <p:sldId id="1560" r:id="rId27"/>
  </p:sldIdLst>
  <p:sldSz cx="12192000" cy="6858000"/>
  <p:notesSz cx="6858000" cy="9144000"/>
  <p:custDataLst>
    <p:tags r:id="rId32"/>
  </p:custDataLst>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A40000"/>
    <a:srgbClr val="E6AF00"/>
    <a:srgbClr val="318AAD"/>
    <a:srgbClr val="3699C0"/>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3500" autoAdjust="0"/>
  </p:normalViewPr>
  <p:slideViewPr>
    <p:cSldViewPr showGuides="1">
      <p:cViewPr varScale="1">
        <p:scale>
          <a:sx n="64" d="100"/>
          <a:sy n="64" d="100"/>
        </p:scale>
        <p:origin x="680" y="44"/>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48" d="100"/>
          <a:sy n="48" d="100"/>
        </p:scale>
        <p:origin x="2684" y="5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2" Type="http://schemas.openxmlformats.org/officeDocument/2006/relationships/tags" Target="tags/tag25.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B7DB3-30DF-43FE-8C4B-1722B4800CF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558D4-C6A0-4B92-951D-4C89C3A60AD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2447E72A-D913-4DC2-9E0A-E520CE8FCC86}"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A5D78FC6-CE17-4259-A63C-DDFC12E048F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anose="02010600030101010101" pitchFamily="2" charset="-122"/>
                <a:cs typeface="+mn-cs"/>
              </a:rPr>
              <a:t>初级课程的详细信息</a:t>
            </a:r>
            <a:r>
              <a:rPr lang="zh-CN" altLang="en-US" sz="1200" b="0" i="0" baseline="0" dirty="0">
                <a:solidFill>
                  <a:schemeClr val="tx1"/>
                </a:solidFill>
                <a:latin typeface="Calibri" panose="020F0502020204030204"/>
                <a:ea typeface="宋体" panose="02010600030101010101" pitchFamily="2" charset="-122"/>
                <a:cs typeface="+mn-cs"/>
              </a:rPr>
              <a:t>和</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或课目</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项目所需的书籍</a:t>
            </a:r>
            <a:r>
              <a:rPr lang="en-US" altLang="zh-CN" sz="1200" b="0" i="0" baseline="0" dirty="0">
                <a:solidFill>
                  <a:schemeClr val="tx1"/>
                </a:solidFill>
                <a:latin typeface="Calibri" panose="020F0502020204030204"/>
                <a:ea typeface="宋体" panose="02010600030101010101" pitchFamily="2" charset="-122"/>
                <a:cs typeface="+mn-cs"/>
              </a:rPr>
              <a:t>/</a:t>
            </a:r>
            <a:r>
              <a:rPr lang="zh-CN" altLang="en-US" sz="1200" b="0" i="0" baseline="0" dirty="0">
                <a:solidFill>
                  <a:schemeClr val="tx1"/>
                </a:solidFill>
                <a:latin typeface="Calibri" panose="020F0502020204030204"/>
                <a:ea typeface="宋体" panose="02010600030101010101" pitchFamily="2" charset="-122"/>
                <a:cs typeface="+mn-cs"/>
              </a:rPr>
              <a:t>资料。</a:t>
            </a:r>
            <a:endParaRPr lang="zh-CN" altLang="en-US" sz="1200" b="0" i="0" baseline="0" dirty="0">
              <a:solidFill>
                <a:schemeClr val="tx1"/>
              </a:solidFill>
              <a:latin typeface="Calibri" panose="020F0502020204030204"/>
              <a:ea typeface="宋体" panose="02010600030101010101"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anose="02010600030101010101" pitchFamily="2" charset="-122"/>
                <a:cs typeface="+mn-cs"/>
              </a:rPr>
            </a:fld>
            <a:endParaRPr lang="zh-CN" altLang="en-US" sz="1200" b="0" i="0">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lang="zh-CN" altLang="en-US"/>
              <a:t>单击此处编辑母版标题样式</a:t>
            </a:r>
            <a:endParaRPr lang="en-US" dirty="0"/>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28" name="Date Placeholder 27"/>
          <p:cNvSpPr>
            <a:spLocks noGrp="1"/>
          </p:cNvSpPr>
          <p:nvPr>
            <p:ph type="dt" sz="half" idx="10"/>
          </p:nvPr>
        </p:nvSpPr>
        <p:spPr>
          <a:xfrm>
            <a:off x="101600" y="6068699"/>
            <a:ext cx="2743200" cy="685800"/>
          </a:xfrm>
          <a:prstGeom prst="rect">
            <a:avLst/>
          </a:prstGeom>
        </p:spPr>
        <p:txBody>
          <a:bodyPr>
            <a:noAutofit/>
          </a:bodyPr>
          <a:lstStyle>
            <a:lvl1pPr algn="ctr">
              <a:defRPr sz="2000">
                <a:solidFill>
                  <a:srgbClr val="FFFFFF"/>
                </a:solidFill>
              </a:defRPr>
            </a:lvl1pPr>
          </a:lstStyle>
          <a:p>
            <a:pPr algn="ctr"/>
            <a:fld id="{A192A68D-3DBE-4DB7-A092-DC9DAB0EA4B3}" type="datetime1">
              <a:rPr lang="zh-CN" altLang="en-US" smtClean="0"/>
            </a:fld>
            <a:endParaRPr lang="en-US" sz="2000" dirty="0">
              <a:solidFill>
                <a:srgbClr val="FFFFFF"/>
              </a:solidFill>
            </a:endParaRPr>
          </a:p>
        </p:txBody>
      </p:sp>
      <p:sp>
        <p:nvSpPr>
          <p:cNvPr id="17" name="Footer Placeholder 16"/>
          <p:cNvSpPr>
            <a:spLocks noGrp="1"/>
          </p:cNvSpPr>
          <p:nvPr>
            <p:ph type="ftr" sz="quarter" idx="11"/>
          </p:nvPr>
        </p:nvSpPr>
        <p:spPr>
          <a:xfrm>
            <a:off x="2780524" y="236542"/>
            <a:ext cx="7823200" cy="365125"/>
          </a:xfrm>
          <a:prstGeom prst="rect">
            <a:avLst/>
          </a:prstGeom>
        </p:spPr>
        <p:txBody>
          <a:bodyPr/>
          <a:lstStyle>
            <a:lvl1pPr algn="r">
              <a:defRPr>
                <a:solidFill>
                  <a:schemeClr val="tx2"/>
                </a:solidFill>
              </a:defRPr>
            </a:lvl1pPr>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a:prstGeom prst="rect">
            <a:avLst/>
          </a:prstGeom>
        </p:spPr>
        <p:txBody>
          <a:bodyPr/>
          <a:lstStyle>
            <a:lvl1pPr>
              <a:defRPr>
                <a:solidFill>
                  <a:schemeClr val="tx2"/>
                </a:solidFill>
              </a:defRPr>
            </a:lvl1pPr>
          </a:lstStyle>
          <a:p>
            <a:fld id="{72AC53DF-4216-466D-99A7-94400E6C2A25}" type="slidenum">
              <a:rPr lang="en-US" smtClean="0"/>
            </a:fld>
            <a:endParaRPr lang="en-US" dirty="0">
              <a:solidFill>
                <a:schemeClr val="tx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lang="zh-CN" altLang="en-US" dirty="0"/>
              <a:t>单击此处编辑母版标题样式</a:t>
            </a:r>
            <a:endParaRPr lang="en-US" dirty="0"/>
          </a:p>
        </p:txBody>
      </p:sp>
      <p:sp>
        <p:nvSpPr>
          <p:cNvPr id="8" name="Content Placeholder 7"/>
          <p:cNvSpPr>
            <a:spLocks noGrp="1"/>
          </p:cNvSpPr>
          <p:nvPr>
            <p:ph sz="quarter" idx="1"/>
          </p:nvPr>
        </p:nvSpPr>
        <p:spPr>
          <a:xfrm>
            <a:off x="816864" y="1600200"/>
            <a:ext cx="10871200" cy="449580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0" y="2743200"/>
            <a:ext cx="9497484" cy="1673225"/>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lang="zh-CN" altLang="en-US"/>
              <a:t>单击此处编辑母版标题样式</a:t>
            </a:r>
            <a:endParaRPr lang="en-US" dirty="0"/>
          </a:p>
        </p:txBody>
      </p:sp>
      <p:sp>
        <p:nvSpPr>
          <p:cNvPr id="12" name="Date Placeholder 11"/>
          <p:cNvSpPr>
            <a:spLocks noGrp="1"/>
          </p:cNvSpPr>
          <p:nvPr>
            <p:ph type="dt" sz="half" idx="10"/>
          </p:nvPr>
        </p:nvSpPr>
        <p:spPr>
          <a:xfrm>
            <a:off x="8128000" y="6448252"/>
            <a:ext cx="3556000" cy="365125"/>
          </a:xfrm>
          <a:prstGeom prst="rect">
            <a:avLst/>
          </a:prstGeom>
        </p:spPr>
        <p:txBody>
          <a:bodyPr/>
          <a:lstStyle/>
          <a:p>
            <a:fld id="{913BE477-773F-45A1-9043-C5BB58DEC3E1}" type="datetime1">
              <a:rPr lang="zh-CN" altLang="en-US" smtClean="0"/>
            </a:fld>
            <a:endParaRPr lang="en-US"/>
          </a:p>
        </p:txBody>
      </p:sp>
      <p:sp>
        <p:nvSpPr>
          <p:cNvPr id="13" name="Slide Number Placeholder 12"/>
          <p:cNvSpPr>
            <a:spLocks noGrp="1"/>
          </p:cNvSpPr>
          <p:nvPr>
            <p:ph type="sldNum" sz="quarter" idx="11"/>
          </p:nvPr>
        </p:nvSpPr>
        <p:spPr>
          <a:xfrm>
            <a:off x="0" y="1752600"/>
            <a:ext cx="1727200" cy="701676"/>
          </a:xfrm>
          <a:prstGeom prst="rect">
            <a:avLst/>
          </a:prstGeom>
        </p:spPr>
        <p:txBody>
          <a:bodyPr>
            <a:noAutofit/>
          </a:bodyPr>
          <a:lstStyle>
            <a:lvl1pPr>
              <a:defRPr sz="2400">
                <a:solidFill>
                  <a:srgbClr val="FFFFFF"/>
                </a:solidFill>
              </a:defRPr>
            </a:lvl1pPr>
          </a:lstStyle>
          <a:p>
            <a:pPr algn="ctr"/>
            <a:fld id="{1AD93096-5B34-4342-9326-69289CEAE4C2}" type="slidenum">
              <a:rPr lang="en-US" smtClean="0"/>
            </a:fld>
            <a:endParaRPr lang="en-US" sz="2400" dirty="0">
              <a:solidFill>
                <a:srgbClr val="FFFFFF"/>
              </a:solidFill>
            </a:endParaRPr>
          </a:p>
        </p:txBody>
      </p:sp>
      <p:sp>
        <p:nvSpPr>
          <p:cNvPr id="14" name="Footer Placeholder 13"/>
          <p:cNvSpPr>
            <a:spLocks noGrp="1"/>
          </p:cNvSpPr>
          <p:nvPr>
            <p:ph type="ftr" sz="quarter" idx="12"/>
          </p:nvPr>
        </p:nvSpPr>
        <p:spPr>
          <a:xfrm>
            <a:off x="597171" y="6248210"/>
            <a:ext cx="7443742" cy="365125"/>
          </a:xfrm>
          <a:prstGeom prst="rect">
            <a:avLst/>
          </a:prstGeo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9" name="Content Placeholder 8"/>
          <p:cNvSpPr>
            <a:spLocks noGrp="1"/>
          </p:cNvSpPr>
          <p:nvPr>
            <p:ph sz="quarter" idx="1"/>
          </p:nvPr>
        </p:nvSpPr>
        <p:spPr>
          <a:xfrm>
            <a:off x="550533" y="1589567"/>
            <a:ext cx="5181600" cy="457200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11" name="Content Placeholder 10"/>
          <p:cNvSpPr>
            <a:spLocks noGrp="1"/>
          </p:cNvSpPr>
          <p:nvPr>
            <p:ph sz="quarter" idx="2"/>
          </p:nvPr>
        </p:nvSpPr>
        <p:spPr>
          <a:xfrm>
            <a:off x="6459868" y="1589567"/>
            <a:ext cx="5181600" cy="45720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lang="zh-CN" altLang="en-US"/>
              <a:t>单击此处编辑母版标题样式</a:t>
            </a:r>
            <a:endParaRPr lang="en-US" dirty="0"/>
          </a:p>
        </p:txBody>
      </p:sp>
      <p:sp>
        <p:nvSpPr>
          <p:cNvPr id="11" name="Content Placeholder 10"/>
          <p:cNvSpPr>
            <a:spLocks noGrp="1"/>
          </p:cNvSpPr>
          <p:nvPr>
            <p:ph sz="quarter" idx="2"/>
          </p:nvPr>
        </p:nvSpPr>
        <p:spPr>
          <a:xfrm>
            <a:off x="812800" y="2438400"/>
            <a:ext cx="5181600" cy="35814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3" name="Content Placeholder 12"/>
          <p:cNvSpPr>
            <a:spLocks noGrp="1"/>
          </p:cNvSpPr>
          <p:nvPr>
            <p:ph sz="quarter" idx="4"/>
          </p:nvPr>
        </p:nvSpPr>
        <p:spPr>
          <a:xfrm>
            <a:off x="6400800" y="2438400"/>
            <a:ext cx="5181600" cy="35814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 name="Date Placeholder 9"/>
          <p:cNvSpPr>
            <a:spLocks noGrp="1"/>
          </p:cNvSpPr>
          <p:nvPr>
            <p:ph type="dt" sz="half" idx="15"/>
          </p:nvPr>
        </p:nvSpPr>
        <p:spPr>
          <a:xfrm>
            <a:off x="8128000" y="6448252"/>
            <a:ext cx="3556000" cy="365125"/>
          </a:xfrm>
          <a:prstGeom prst="rect">
            <a:avLst/>
          </a:prstGeom>
        </p:spPr>
        <p:txBody>
          <a:bodyPr rtlCol="0"/>
          <a:lstStyle/>
          <a:p>
            <a:fld id="{B7A8C118-B4EA-4F8F-B280-BEC0017066F1}" type="datetime1">
              <a:rPr lang="zh-CN" altLang="en-US" smtClean="0"/>
            </a:fld>
            <a:endParaRPr lang="en-US"/>
          </a:p>
        </p:txBody>
      </p:sp>
      <p:sp>
        <p:nvSpPr>
          <p:cNvPr id="12" name="Slide Number Placeholder 11"/>
          <p:cNvSpPr>
            <a:spLocks noGrp="1"/>
          </p:cNvSpPr>
          <p:nvPr>
            <p:ph type="sldNum" sz="quarter" idx="16"/>
          </p:nvPr>
        </p:nvSpPr>
        <p:spPr>
          <a:xfrm>
            <a:off x="558130" y="6381328"/>
            <a:ext cx="616218" cy="357402"/>
          </a:xfrm>
          <a:prstGeom prst="rect">
            <a:avLst/>
          </a:prstGeom>
        </p:spPr>
        <p:txBody>
          <a:bodyPr rtlCol="0"/>
          <a:lstStyle/>
          <a:p>
            <a:pPr algn="ctr"/>
            <a:fld id="{1AD93096-5B34-4342-9326-69289CEAE4C2}" type="slidenum">
              <a:rPr lang="en-US" smtClean="0"/>
            </a:fld>
            <a:endParaRPr lang="en-US"/>
          </a:p>
        </p:txBody>
      </p:sp>
      <p:sp>
        <p:nvSpPr>
          <p:cNvPr id="14" name="Footer Placeholder 13"/>
          <p:cNvSpPr>
            <a:spLocks noGrp="1"/>
          </p:cNvSpPr>
          <p:nvPr>
            <p:ph type="ftr" sz="quarter" idx="17"/>
          </p:nvPr>
        </p:nvSpPr>
        <p:spPr>
          <a:xfrm>
            <a:off x="597171" y="6248210"/>
            <a:ext cx="7443742" cy="365125"/>
          </a:xfrm>
          <a:prstGeom prst="rect">
            <a:avLst/>
          </a:prstGeom>
        </p:spPr>
        <p:txBody>
          <a:bodyPr rtlCol="0"/>
          <a:lstStyle/>
          <a:p>
            <a:endParaRPr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a:r>
              <a:rPr lang="zh-CN" altLang="en-US"/>
              <a:t>单击此处编辑母版文本样式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a:xfrm>
            <a:off x="8128000" y="6448252"/>
            <a:ext cx="3556000" cy="365125"/>
          </a:xfrm>
          <a:prstGeom prst="rect">
            <a:avLst/>
          </a:prstGeom>
        </p:spPr>
        <p:txBody>
          <a:bodyPr/>
          <a:lstStyle/>
          <a:p>
            <a:fld id="{34CCC27A-CD2D-4F14-8F78-FCFFD7611D1B}" type="datetime1">
              <a:rPr lang="zh-CN" altLang="en-US" smtClean="0"/>
            </a:fld>
            <a:endParaRPr lang="en-US"/>
          </a:p>
        </p:txBody>
      </p:sp>
      <p:sp>
        <p:nvSpPr>
          <p:cNvPr id="4" name="Footer Placeholder 3"/>
          <p:cNvSpPr>
            <a:spLocks noGrp="1"/>
          </p:cNvSpPr>
          <p:nvPr>
            <p:ph type="ftr" sz="quarter" idx="11"/>
          </p:nvPr>
        </p:nvSpPr>
        <p:spPr>
          <a:xfrm>
            <a:off x="597171" y="6248210"/>
            <a:ext cx="7443742"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558130" y="6381328"/>
            <a:ext cx="616218" cy="357402"/>
          </a:xfrm>
          <a:prstGeom prst="rect">
            <a:avLst/>
          </a:prstGeom>
        </p:spPr>
        <p:txBody>
          <a:bodyPr/>
          <a:lstStyle>
            <a:lvl1pPr>
              <a:defRPr>
                <a:solidFill>
                  <a:srgbClr val="FFFFFF"/>
                </a:solidFill>
              </a:defRPr>
            </a:lvl1pPr>
          </a:lstStyle>
          <a:p>
            <a:fld id="{1AD93096-5B34-4342-9326-69289CEAE4C2}" type="slidenum">
              <a:rPr lang="en-US" smtClean="0"/>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0" y="6448252"/>
            <a:ext cx="3556000" cy="365125"/>
          </a:xfrm>
          <a:prstGeom prst="rect">
            <a:avLst/>
          </a:prstGeom>
        </p:spPr>
        <p:txBody>
          <a:bodyPr/>
          <a:lstStyle/>
          <a:p>
            <a:fld id="{06A809B8-18EF-491B-9E98-44BF0ECCAC83}" type="datetime1">
              <a:rPr lang="zh-CN" altLang="en-US" smtClean="0"/>
            </a:fld>
            <a:endParaRPr lang="en-US"/>
          </a:p>
        </p:txBody>
      </p:sp>
      <p:sp>
        <p:nvSpPr>
          <p:cNvPr id="3" name="Footer Placeholder 2"/>
          <p:cNvSpPr>
            <a:spLocks noGrp="1"/>
          </p:cNvSpPr>
          <p:nvPr>
            <p:ph type="ftr" sz="quarter" idx="11"/>
          </p:nvPr>
        </p:nvSpPr>
        <p:spPr>
          <a:xfrm>
            <a:off x="597171" y="6248210"/>
            <a:ext cx="7443742"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0" y="6248400"/>
            <a:ext cx="711200" cy="381000"/>
          </a:xfrm>
          <a:prstGeom prst="rect">
            <a:avLst/>
          </a:prstGeom>
        </p:spPr>
        <p:txBody>
          <a:bodyPr/>
          <a:lstStyle>
            <a:lvl1pPr>
              <a:defRPr>
                <a:solidFill>
                  <a:schemeClr val="tx2"/>
                </a:solidFill>
              </a:defRPr>
            </a:lvl1pPr>
          </a:lstStyle>
          <a:p>
            <a:fld id="{1AD93096-5B34-4342-9326-69289CEAE4C2}" type="slidenum">
              <a:rPr lang="en-US" smtClean="0"/>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lang="zh-CN" altLang="en-US"/>
              <a:t>单击此处编辑母版标题样式</a:t>
            </a:r>
            <a:endParaRPr lang="en-US" dirty="0"/>
          </a:p>
        </p:txBody>
      </p:sp>
      <p:sp>
        <p:nvSpPr>
          <p:cNvPr id="5" name="Date Placeholder 4"/>
          <p:cNvSpPr>
            <a:spLocks noGrp="1"/>
          </p:cNvSpPr>
          <p:nvPr>
            <p:ph type="dt" sz="half" idx="10"/>
          </p:nvPr>
        </p:nvSpPr>
        <p:spPr>
          <a:xfrm>
            <a:off x="8128000" y="6448252"/>
            <a:ext cx="3556000" cy="365125"/>
          </a:xfrm>
          <a:prstGeom prst="rect">
            <a:avLst/>
          </a:prstGeom>
        </p:spPr>
        <p:txBody>
          <a:bodyPr/>
          <a:lstStyle/>
          <a:p>
            <a:fld id="{2DD03089-DCCC-45C0-A55C-324DDBBD19E4}" type="datetime1">
              <a:rPr lang="zh-CN" altLang="en-US" smtClean="0"/>
            </a:fld>
            <a:endParaRPr lang="en-US"/>
          </a:p>
        </p:txBody>
      </p:sp>
      <p:sp>
        <p:nvSpPr>
          <p:cNvPr id="6" name="Footer Placeholder 5"/>
          <p:cNvSpPr>
            <a:spLocks noGrp="1"/>
          </p:cNvSpPr>
          <p:nvPr>
            <p:ph type="ftr" sz="quarter" idx="11"/>
          </p:nvPr>
        </p:nvSpPr>
        <p:spPr>
          <a:xfrm>
            <a:off x="597171" y="6248210"/>
            <a:ext cx="7443742"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558130" y="6381328"/>
            <a:ext cx="616218" cy="357402"/>
          </a:xfrm>
          <a:prstGeom prst="rect">
            <a:avLst/>
          </a:prstGeom>
        </p:spPr>
        <p:txBody>
          <a:bodyPr/>
          <a:lstStyle>
            <a:lvl1pPr>
              <a:defRPr>
                <a:solidFill>
                  <a:srgbClr val="FFFFFF"/>
                </a:solidFill>
              </a:defRPr>
            </a:lvl1pPr>
          </a:lstStyle>
          <a:p>
            <a:fld id="{1AD93096-5B34-4342-9326-69289CEAE4C2}" type="slidenum">
              <a:rPr lang="en-US" smtClean="0"/>
            </a:fld>
            <a:endParaRPr lang="en-US" dirty="0">
              <a:solidFill>
                <a:srgbClr val="FFFFFF"/>
              </a:solidFill>
            </a:endParaRPr>
          </a:p>
        </p:txBody>
      </p:sp>
      <p:sp>
        <p:nvSpPr>
          <p:cNvPr id="9" name="Content Placeholder 8"/>
          <p:cNvSpPr>
            <a:spLocks noGrp="1"/>
          </p:cNvSpPr>
          <p:nvPr>
            <p:ph sz="quarter" idx="1"/>
          </p:nvPr>
        </p:nvSpPr>
        <p:spPr>
          <a:xfrm>
            <a:off x="3149600" y="1752600"/>
            <a:ext cx="8534400" cy="44196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pic>
        <p:nvPicPr>
          <p:cNvPr id="8" name="Picture 7" descr="sm_pencil.png"/>
          <p:cNvPicPr>
            <a:picLocks noChangeAspect="1"/>
          </p:cNvPicPr>
          <p:nvPr userDrawn="1"/>
        </p:nvPicPr>
        <p:blipFill>
          <a:blip r:embed="rId2"/>
          <a:stretch>
            <a:fillRect/>
          </a:stretch>
        </p:blipFill>
        <p:spPr>
          <a:xfrm>
            <a:off x="816864" y="1755651"/>
            <a:ext cx="2153743" cy="2145615"/>
          </a:xfrm>
          <a:prstGeom prst="rect">
            <a:avLst/>
          </a:prstGeom>
          <a:ln w="50800" cap="sq" cmpd="dbl">
            <a:solidFill>
              <a:schemeClr val="accent2"/>
            </a:solidFill>
            <a:miter lim="800000"/>
            <a:headEnd/>
            <a:tailEnd/>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endParaRPr lang="zh-CN" altLang="en-US"/>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lang="zh-CN" altLang="en-US"/>
              <a:t>单击此处编辑母版标题样式</a:t>
            </a:r>
            <a:endParaRPr lang="en-US" dirty="0"/>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2" name="Date Placeholder 11"/>
          <p:cNvSpPr>
            <a:spLocks noGrp="1"/>
          </p:cNvSpPr>
          <p:nvPr>
            <p:ph type="dt" sz="half" idx="10"/>
          </p:nvPr>
        </p:nvSpPr>
        <p:spPr>
          <a:xfrm>
            <a:off x="8331200" y="6248404"/>
            <a:ext cx="3556000" cy="365125"/>
          </a:xfrm>
          <a:prstGeom prst="rect">
            <a:avLst/>
          </a:prstGeom>
        </p:spPr>
        <p:txBody>
          <a:bodyPr rtlCol="0"/>
          <a:lstStyle/>
          <a:p>
            <a:fld id="{4B5E4466-AD65-4209-B65C-5868BC503B40}" type="datetime1">
              <a:rPr lang="zh-CN" altLang="en-US" smtClean="0"/>
            </a:fld>
            <a:endParaRPr lang="en-US"/>
          </a:p>
        </p:txBody>
      </p:sp>
      <p:sp>
        <p:nvSpPr>
          <p:cNvPr id="13" name="Slide Number Placeholder 12"/>
          <p:cNvSpPr>
            <a:spLocks noGrp="1"/>
          </p:cNvSpPr>
          <p:nvPr>
            <p:ph type="sldNum" sz="quarter" idx="11"/>
          </p:nvPr>
        </p:nvSpPr>
        <p:spPr>
          <a:xfrm>
            <a:off x="0" y="4667249"/>
            <a:ext cx="1930400" cy="663578"/>
          </a:xfrm>
          <a:prstGeom prst="rect">
            <a:avLst/>
          </a:prstGeom>
        </p:spPr>
        <p:txBody>
          <a:bodyPr rtlCol="0"/>
          <a:lstStyle>
            <a:lvl1pPr>
              <a:defRPr sz="2800"/>
            </a:lvl1pPr>
          </a:lstStyle>
          <a:p>
            <a:pPr algn="ctr"/>
            <a:fld id="{1AD93096-5B34-4342-9326-69289CEAE4C2}" type="slidenum">
              <a:rPr lang="en-US" smtClean="0"/>
            </a:fld>
            <a:endParaRPr lang="en-US" sz="2800" dirty="0"/>
          </a:p>
        </p:txBody>
      </p:sp>
      <p:sp>
        <p:nvSpPr>
          <p:cNvPr id="14" name="Footer Placeholder 13"/>
          <p:cNvSpPr>
            <a:spLocks noGrp="1"/>
          </p:cNvSpPr>
          <p:nvPr>
            <p:ph type="ftr" sz="quarter" idx="12"/>
          </p:nvPr>
        </p:nvSpPr>
        <p:spPr>
          <a:xfrm>
            <a:off x="2133600" y="6248210"/>
            <a:ext cx="6096000" cy="365125"/>
          </a:xfrm>
          <a:prstGeom prst="rect">
            <a:avLst/>
          </a:prstGeom>
        </p:spPr>
        <p:txBody>
          <a:bodyPr rtlCol="0"/>
          <a:lstStyle/>
          <a:p>
            <a:endParaRPr lang="en-US" dirty="0"/>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lang="zh-CN" altLang="en-US"/>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a:xfrm>
            <a:off x="8128000" y="6448252"/>
            <a:ext cx="3556000" cy="365125"/>
          </a:xfrm>
          <a:prstGeom prst="rect">
            <a:avLst/>
          </a:prstGeom>
        </p:spPr>
        <p:txBody>
          <a:bodyPr/>
          <a:lstStyle/>
          <a:p>
            <a:fld id="{C6F0F4B9-8654-4666-B278-A56EF8AD24B9}" type="datetime1">
              <a:rPr lang="zh-CN" altLang="en-US" smtClean="0">
                <a:solidFill>
                  <a:schemeClr val="tx2"/>
                </a:solidFill>
              </a:rPr>
            </a:fld>
            <a:endParaRPr lang="en-US"/>
          </a:p>
        </p:txBody>
      </p:sp>
      <p:sp>
        <p:nvSpPr>
          <p:cNvPr id="5" name="Footer Placeholder 4"/>
          <p:cNvSpPr>
            <a:spLocks noGrp="1"/>
          </p:cNvSpPr>
          <p:nvPr>
            <p:ph type="ftr" sz="quarter" idx="11"/>
          </p:nvPr>
        </p:nvSpPr>
        <p:spPr>
          <a:xfrm>
            <a:off x="597171" y="6248210"/>
            <a:ext cx="7443742"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558130" y="6381328"/>
            <a:ext cx="616218" cy="357402"/>
          </a:xfrm>
          <a:prstGeom prst="rect">
            <a:avLst/>
          </a:prstGeom>
        </p:spPr>
        <p:txBody>
          <a:bodyPr/>
          <a:lstStyle/>
          <a:p>
            <a:fld id="{72AC53DF-4216-466D-99A7-94400E6C2A25}" type="slidenum">
              <a:rPr lang="en-US" sz="1200" smtClean="0">
                <a:solidFill>
                  <a:schemeClr val="tx2"/>
                </a:solidFill>
              </a:rPr>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3"/>
            <a:ext cx="2743200" cy="5516563"/>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09600" y="609600"/>
            <a:ext cx="7416800" cy="551656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737600" y="6248406"/>
            <a:ext cx="2946400" cy="365125"/>
          </a:xfrm>
          <a:prstGeom prst="rect">
            <a:avLst/>
          </a:prstGeom>
        </p:spPr>
        <p:txBody>
          <a:bodyPr/>
          <a:lstStyle/>
          <a:p>
            <a:fld id="{576E0A97-5F99-4E84-B6F5-25253CC05384}" type="datetime1">
              <a:rPr lang="zh-CN" altLang="en-US" smtClean="0">
                <a:solidFill>
                  <a:schemeClr val="tx2"/>
                </a:solidFill>
              </a:rPr>
            </a:fld>
            <a:endParaRPr lang="en-US" dirty="0"/>
          </a:p>
        </p:txBody>
      </p:sp>
      <p:sp>
        <p:nvSpPr>
          <p:cNvPr id="5" name="Footer Placeholder 4"/>
          <p:cNvSpPr>
            <a:spLocks noGrp="1"/>
          </p:cNvSpPr>
          <p:nvPr>
            <p:ph type="ftr" sz="quarter" idx="11"/>
          </p:nvPr>
        </p:nvSpPr>
        <p:spPr>
          <a:xfrm>
            <a:off x="609604" y="6248211"/>
            <a:ext cx="7431311" cy="365125"/>
          </a:xfrm>
          <a:prstGeom prst="rect">
            <a:avLst/>
          </a:prstGeom>
        </p:spPr>
        <p:txBody>
          <a:bodyPr/>
          <a:lstStyle/>
          <a:p>
            <a:endParaRPr lang="en-US" dirty="0"/>
          </a:p>
        </p:txBody>
      </p:sp>
      <p:sp>
        <p:nvSpPr>
          <p:cNvPr id="7" name="Rectangle 6"/>
          <p:cNvSpPr/>
          <p:nvPr/>
        </p:nvSpPr>
        <p:spPr bwMode="white">
          <a:xfrm>
            <a:off x="8128425"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8189385"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p:nvSpPr>
        <p:spPr>
          <a:xfrm>
            <a:off x="8189385"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rot="5400000">
            <a:off x="8075085" y="103718"/>
            <a:ext cx="533400" cy="325968"/>
          </a:xfrm>
          <a:prstGeom prst="rect">
            <a:avLst/>
          </a:prstGeom>
        </p:spPr>
        <p:txBody>
          <a:bodyPr/>
          <a:lstStyle/>
          <a:p>
            <a:fld id="{72AC53DF-4216-466D-99A7-94400E6C2A25}" type="slidenum">
              <a:rPr lang="en-US" sz="1200" smtClean="0">
                <a:solidFill>
                  <a:schemeClr val="tx2"/>
                </a:solidFill>
              </a:rPr>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2107865" y="44624"/>
            <a:ext cx="9576135" cy="865294"/>
          </a:xfrm>
          <a:prstGeom prst="rect">
            <a:avLst/>
          </a:prstGeom>
        </p:spPr>
        <p:txBody>
          <a:bodyPr vert="horz" anchor="ctr">
            <a:normAutofit/>
          </a:bodyPr>
          <a:lstStyle/>
          <a:p>
            <a:r>
              <a:rPr lang="zh-CN" altLang="en-US" dirty="0"/>
              <a:t>单击此处编辑母版标题样式</a:t>
            </a:r>
            <a:endParaRPr lang="en-US" dirty="0"/>
          </a:p>
        </p:txBody>
      </p:sp>
      <p:sp>
        <p:nvSpPr>
          <p:cNvPr id="13" name="Text Placeholder 12"/>
          <p:cNvSpPr>
            <a:spLocks noGrp="1"/>
          </p:cNvSpPr>
          <p:nvPr>
            <p:ph type="body" idx="1"/>
          </p:nvPr>
        </p:nvSpPr>
        <p:spPr>
          <a:xfrm>
            <a:off x="508000" y="1520900"/>
            <a:ext cx="11180064" cy="4716412"/>
          </a:xfrm>
          <a:prstGeom prst="rect">
            <a:avLst/>
          </a:prstGeom>
        </p:spPr>
        <p:txBody>
          <a:bodyPr vert="horz">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Rectangle 6"/>
          <p:cNvSpPr/>
          <p:nvPr/>
        </p:nvSpPr>
        <p:spPr bwMode="white">
          <a:xfrm>
            <a:off x="0" y="903633"/>
            <a:ext cx="12192000" cy="437133"/>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ctr"/>
            <a:endParaRPr lang="en-US" sz="1800"/>
          </a:p>
        </p:txBody>
      </p:sp>
      <p:sp>
        <p:nvSpPr>
          <p:cNvPr id="8" name="Rectangle 7"/>
          <p:cNvSpPr/>
          <p:nvPr userDrawn="1"/>
        </p:nvSpPr>
        <p:spPr>
          <a:xfrm>
            <a:off x="0" y="903634"/>
            <a:ext cx="1959324" cy="4371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200" dirty="0">
              <a:solidFill>
                <a:schemeClr val="bg1"/>
              </a:solidFill>
            </a:endParaRPr>
          </a:p>
        </p:txBody>
      </p:sp>
      <p:sp>
        <p:nvSpPr>
          <p:cNvPr id="12" name="Rectangle 8"/>
          <p:cNvSpPr/>
          <p:nvPr userDrawn="1"/>
        </p:nvSpPr>
        <p:spPr>
          <a:xfrm>
            <a:off x="1" y="-1"/>
            <a:ext cx="1959324" cy="909919"/>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r>
              <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 </a:t>
            </a:r>
            <a:r>
              <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4" name="直接连接符 3"/>
          <p:cNvCxnSpPr/>
          <p:nvPr userDrawn="1"/>
        </p:nvCxnSpPr>
        <p:spPr>
          <a:xfrm>
            <a:off x="-1" y="6381328"/>
            <a:ext cx="12200321"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Date Placeholder 13"/>
          <p:cNvSpPr txBox="1"/>
          <p:nvPr userDrawn="1"/>
        </p:nvSpPr>
        <p:spPr>
          <a:xfrm>
            <a:off x="-1" y="903632"/>
            <a:ext cx="1959324" cy="437134"/>
          </a:xfrm>
          <a:prstGeom prst="rect">
            <a:avLst/>
          </a:prstGeom>
        </p:spPr>
        <p:txBody>
          <a:bodyPr vert="horz" anchor="ctr" anchorCtr="0"/>
          <a:lstStyle>
            <a:defPPr>
              <a:defRPr lang="en-US"/>
            </a:defPPr>
            <a:lvl1pPr marL="0" algn="l" defTabSz="914400" rtl="0" latinLnBrk="0">
              <a:defRPr sz="1400" kern="1200">
                <a:solidFill>
                  <a:srgbClr val="FF0000"/>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统计学</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 </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版</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Rectangle 11"/>
          <p:cNvSpPr>
            <a:spLocks noChangeArrowheads="1"/>
          </p:cNvSpPr>
          <p:nvPr userDrawn="1"/>
        </p:nvSpPr>
        <p:spPr bwMode="auto">
          <a:xfrm>
            <a:off x="10692446" y="6433651"/>
            <a:ext cx="85566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20000"/>
              </a:spcBef>
            </a:pPr>
            <a:r>
              <a:rPr lang="en-US" altLang="zh-CN" sz="1600" b="0" dirty="0">
                <a:solidFill>
                  <a:schemeClr val="bg1">
                    <a:lumMod val="50000"/>
                  </a:schemeClr>
                </a:solidFill>
                <a:latin typeface="微软雅黑" panose="020B0503020204020204" pitchFamily="34" charset="-122"/>
                <a:ea typeface="微软雅黑" panose="020B0503020204020204" pitchFamily="34" charset="-122"/>
              </a:rPr>
              <a:t>4 - </a:t>
            </a:r>
            <a:fld id="{16EAF49E-217F-4E01-A667-C6B4D41E8F57}" type="slidenum">
              <a:rPr lang="en-US" altLang="zh-CN" sz="1600" b="0" dirty="0" smtClean="0">
                <a:solidFill>
                  <a:schemeClr val="bg1">
                    <a:lumMod val="50000"/>
                  </a:schemeClr>
                </a:solidFill>
                <a:latin typeface="微软雅黑" panose="020B0503020204020204" pitchFamily="34" charset="-122"/>
                <a:ea typeface="微软雅黑" panose="020B0503020204020204" pitchFamily="34" charset="-122"/>
              </a:rPr>
            </a:fld>
            <a:endParaRPr lang="en-US" altLang="zh-CN" sz="1600" b="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7" name="页脚占位符 4"/>
          <p:cNvSpPr txBox="1"/>
          <p:nvPr userDrawn="1"/>
        </p:nvSpPr>
        <p:spPr>
          <a:xfrm>
            <a:off x="4217505" y="6415985"/>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统计学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第 </a:t>
            </a:r>
            <a:r>
              <a:rPr lang="en-US" altLang="zh-CN" dirty="0">
                <a:latin typeface="微软雅黑" panose="020B0503020204020204" pitchFamily="34" charset="-122"/>
                <a:ea typeface="微软雅黑" panose="020B0503020204020204" pitchFamily="34" charset="-122"/>
              </a:rPr>
              <a:t>8 </a:t>
            </a:r>
            <a:r>
              <a:rPr lang="zh-CN" altLang="en-US" dirty="0">
                <a:latin typeface="微软雅黑" panose="020B0503020204020204" pitchFamily="34" charset="-122"/>
                <a:ea typeface="微软雅黑" panose="020B0503020204020204" pitchFamily="34" charset="-122"/>
              </a:rPr>
              <a:t>版</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贾俊平</a:t>
            </a:r>
            <a:endParaRPr lang="zh-CN" altLang="en-US" dirty="0">
              <a:latin typeface="微软雅黑" panose="020B0503020204020204" pitchFamily="34" charset="-122"/>
              <a:ea typeface="微软雅黑" panose="020B0503020204020204" pitchFamily="34" charset="-122"/>
            </a:endParaRPr>
          </a:p>
        </p:txBody>
      </p:sp>
      <p:sp>
        <p:nvSpPr>
          <p:cNvPr id="18" name="副标题 2"/>
          <p:cNvSpPr txBox="1"/>
          <p:nvPr userDrawn="1"/>
        </p:nvSpPr>
        <p:spPr>
          <a:xfrm>
            <a:off x="387625" y="6366290"/>
            <a:ext cx="1803251" cy="392320"/>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fld id="{40D7A12C-C48C-4203-A694-F2B6F5190069}" type="datetime1">
              <a:rPr lang="zh-CN" altLang="en-US" sz="1600" b="1" smtClean="0">
                <a:solidFill>
                  <a:schemeClr val="bg1">
                    <a:lumMod val="50000"/>
                  </a:schemeClr>
                </a:solidFill>
                <a:effectLst/>
                <a:latin typeface="+mn-lt"/>
                <a:ea typeface="+mn-ea"/>
                <a:cs typeface="Arial" panose="020B0604020202020204" pitchFamily="34" charset="0"/>
              </a:rPr>
            </a:fld>
            <a:endParaRPr lang="zh-CN" altLang="en-US" sz="1600" b="1" dirty="0">
              <a:solidFill>
                <a:schemeClr val="bg1">
                  <a:lumMod val="50000"/>
                </a:schemeClr>
              </a:solidFill>
              <a:effectLst/>
              <a:latin typeface="+mn-lt"/>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rtl="0" eaLnBrk="1" latinLnBrk="0" hangingPunct="1">
        <a:spcBef>
          <a:spcPct val="0"/>
        </a:spcBef>
        <a:buNone/>
        <a:defRPr sz="3200" kern="1200">
          <a:solidFill>
            <a:schemeClr val="tx2"/>
          </a:solidFill>
          <a:latin typeface="华文细黑" panose="02010600040101010101" pitchFamily="2" charset="-122"/>
          <a:ea typeface="华文细黑" panose="02010600040101010101" pitchFamily="2" charset="-122"/>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4.xml"/><Relationship Id="rId3" Type="http://schemas.openxmlformats.org/officeDocument/2006/relationships/tags" Target="../tags/tag3.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tags" Target="../tags/tag5.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4.xml"/><Relationship Id="rId4" Type="http://schemas.openxmlformats.org/officeDocument/2006/relationships/tags" Target="../tags/tag6.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tags" Target="../tags/tag7.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tags" Target="../tags/tag8.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tags" Target="../tags/tag9.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tags" Target="../tags/tag10.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tags" Target="../tags/tag11.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4.xml"/><Relationship Id="rId3" Type="http://schemas.openxmlformats.org/officeDocument/2006/relationships/tags" Target="../tags/tag13.xml"/><Relationship Id="rId2" Type="http://schemas.openxmlformats.org/officeDocument/2006/relationships/image" Target="../media/image19.pn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4.xml"/><Relationship Id="rId3" Type="http://schemas.openxmlformats.org/officeDocument/2006/relationships/tags" Target="../tags/tag14.xml"/><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4.xml"/><Relationship Id="rId4" Type="http://schemas.openxmlformats.org/officeDocument/2006/relationships/tags" Target="../tags/tag15.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4.xml"/><Relationship Id="rId2" Type="http://schemas.openxmlformats.org/officeDocument/2006/relationships/tags" Target="../tags/tag16.xml"/><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7.xml"/><Relationship Id="rId2" Type="http://schemas.openxmlformats.org/officeDocument/2006/relationships/image" Target="../media/image27.png"/><Relationship Id="rId1" Type="http://schemas.openxmlformats.org/officeDocument/2006/relationships/image" Target="../media/image26.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4.xml"/><Relationship Id="rId3" Type="http://schemas.openxmlformats.org/officeDocument/2006/relationships/tags" Target="../tags/tag18.xml"/><Relationship Id="rId2" Type="http://schemas.openxmlformats.org/officeDocument/2006/relationships/image" Target="../media/image29.png"/><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4.xml"/><Relationship Id="rId2" Type="http://schemas.openxmlformats.org/officeDocument/2006/relationships/tags" Target="../tags/tag19.xml"/><Relationship Id="rId1"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4.xml"/><Relationship Id="rId2" Type="http://schemas.openxmlformats.org/officeDocument/2006/relationships/tags" Target="../tags/tag21.xml"/><Relationship Id="rId1" Type="http://schemas.openxmlformats.org/officeDocument/2006/relationships/image" Target="../media/image3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4.xml"/><Relationship Id="rId2" Type="http://schemas.openxmlformats.org/officeDocument/2006/relationships/tags" Target="../tags/tag22.xml"/><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tags" Target="../tags/tag23.xml"/><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tags" Target="../tags/tag24.xml"/><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p:cNvSpPr txBox="1"/>
          <p:nvPr/>
        </p:nvSpPr>
        <p:spPr>
          <a:xfrm>
            <a:off x="6096000" y="4864292"/>
            <a:ext cx="2653745" cy="1760996"/>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3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fld>
            <a:endPar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pic>
        <p:nvPicPr>
          <p:cNvPr id="5" name="图片 4"/>
          <p:cNvPicPr>
            <a:picLocks noChangeAspect="1"/>
          </p:cNvPicPr>
          <p:nvPr/>
        </p:nvPicPr>
        <p:blipFill>
          <a:blip r:embed="rId1"/>
          <a:stretch>
            <a:fillRect/>
          </a:stretch>
        </p:blipFill>
        <p:spPr>
          <a:xfrm>
            <a:off x="-57405" y="-85059"/>
            <a:ext cx="12423070" cy="6943059"/>
          </a:xfrm>
          <a:prstGeom prst="rect">
            <a:avLst/>
          </a:prstGeom>
        </p:spPr>
      </p:pic>
      <p:sp>
        <p:nvSpPr>
          <p:cNvPr id="9" name="圆角矩形 4"/>
          <p:cNvSpPr/>
          <p:nvPr/>
        </p:nvSpPr>
        <p:spPr>
          <a:xfrm>
            <a:off x="1318436" y="2232837"/>
            <a:ext cx="9803219" cy="3785191"/>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0" scaled="1"/>
            <a:tileRect/>
          </a:gra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4.1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集中趋势的度量 </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4.2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离散程度的度量</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4.3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rPr>
              <a:t>分布形状的度量 </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a:p>
            <a:pPr marL="609600" indent="-609600">
              <a:lnSpc>
                <a:spcPct val="150000"/>
              </a:lnSpc>
              <a:defRPr/>
            </a:pP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文本框 10"/>
          <p:cNvSpPr txBox="1"/>
          <p:nvPr/>
        </p:nvSpPr>
        <p:spPr>
          <a:xfrm>
            <a:off x="1456660" y="839972"/>
            <a:ext cx="9545916" cy="906915"/>
          </a:xfrm>
          <a:prstGeom prst="rect">
            <a:avLst/>
          </a:prstGeom>
          <a:noFill/>
        </p:spPr>
        <p:txBody>
          <a:bodyPr wrap="square" rtlCol="0">
            <a:spAutoFit/>
          </a:bodyPr>
          <a:lstStyle/>
          <a:p>
            <a:pPr>
              <a:lnSpc>
                <a:spcPct val="150000"/>
              </a:lnSpc>
            </a:pP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 </a:t>
            </a: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数据的概括性度量</a:t>
            </a:r>
            <a:endPar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250">
        <p:wipe dir="r"/>
      </p:transition>
    </mc:Choice>
    <mc:Fallback>
      <p:transition>
        <p:wipe dir="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lgn="ctr">
              <a:spcBef>
                <a:spcPts val="0"/>
              </a:spcBef>
            </a:pPr>
            <a:r>
              <a:rPr lang="zh-CN" altLang="en-US" sz="3000" b="1" dirty="0">
                <a:solidFill>
                  <a:srgbClr val="4F271C"/>
                </a:solidFill>
                <a:latin typeface="微软雅黑" panose="020B0503020204020204" pitchFamily="34" charset="-122"/>
                <a:ea typeface="微软雅黑" panose="020B0503020204020204" pitchFamily="34" charset="-122"/>
              </a:rPr>
              <a:t>导  读</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623392" y="1556792"/>
            <a:ext cx="10873208" cy="4680520"/>
          </a:xfrm>
          <a:ln w="12700" cmpd="dbl">
            <a:solidFill>
              <a:schemeClr val="accent1"/>
            </a:solidFill>
          </a:ln>
        </p:spPr>
        <p:txBody>
          <a:bodyPr>
            <a:normAutofit fontScale="92500" lnSpcReduction="20000"/>
          </a:bodyPr>
          <a:lstStyle/>
          <a:p>
            <a:pPr marL="447675" lvl="1" indent="-447675" algn="just">
              <a:lnSpc>
                <a:spcPct val="150000"/>
              </a:lnSpc>
              <a:spcBef>
                <a:spcPts val="700"/>
              </a:spcBef>
              <a:buSzPct val="100000"/>
              <a:buFont typeface="Wingdings" panose="05000000000000000000" pitchFamily="2" charset="2"/>
              <a:buChar char="l"/>
              <a:defRPr/>
            </a:pPr>
            <a:r>
              <a:rPr lang="zh-CN" altLang="zh-CN" dirty="0">
                <a:latin typeface="Arial" panose="020B0604020202020204" pitchFamily="34" charset="0"/>
                <a:cs typeface="Arial" panose="020B0604020202020204" pitchFamily="34" charset="0"/>
              </a:rPr>
              <a:t>费希尔在</a:t>
            </a:r>
            <a:r>
              <a:rPr lang="en-US" altLang="zh-CN" dirty="0">
                <a:latin typeface="Arial" panose="020B0604020202020204" pitchFamily="34" charset="0"/>
                <a:cs typeface="Arial" panose="020B0604020202020204" pitchFamily="34" charset="0"/>
              </a:rPr>
              <a:t>1952</a:t>
            </a:r>
            <a:r>
              <a:rPr lang="zh-CN" altLang="zh-CN" dirty="0">
                <a:latin typeface="Arial" panose="020B0604020202020204" pitchFamily="34" charset="0"/>
                <a:cs typeface="Arial" panose="020B0604020202020204" pitchFamily="34" charset="0"/>
              </a:rPr>
              <a:t>年的一篇文章中举了一个例子</a:t>
            </a:r>
            <a:r>
              <a:rPr lang="en-US" altLang="zh-CN" dirty="0">
                <a:latin typeface="Arial" panose="020B0604020202020204" pitchFamily="34" charset="0"/>
                <a:cs typeface="Arial" panose="020B0604020202020204" pitchFamily="34" charset="0"/>
              </a:rPr>
              <a:t>,</a:t>
            </a:r>
            <a:r>
              <a:rPr lang="zh-CN" altLang="zh-CN" dirty="0">
                <a:latin typeface="Arial" panose="020B0604020202020204" pitchFamily="34" charset="0"/>
                <a:cs typeface="Arial" panose="020B0604020202020204" pitchFamily="34" charset="0"/>
              </a:rPr>
              <a:t>说明如何由基本的描述统计量的知识引出一个重要的发现</a:t>
            </a:r>
            <a:r>
              <a:rPr lang="en-US" altLang="zh-CN" dirty="0">
                <a:latin typeface="Arial" panose="020B0604020202020204" pitchFamily="34" charset="0"/>
                <a:cs typeface="Arial" panose="020B0604020202020204" pitchFamily="34" charset="0"/>
              </a:rPr>
              <a:t>。</a:t>
            </a:r>
            <a:endParaRPr lang="zh-CN" altLang="zh-CN" dirty="0">
              <a:latin typeface="Arial" panose="020B0604020202020204" pitchFamily="34" charset="0"/>
              <a:cs typeface="Arial" panose="020B0604020202020204" pitchFamily="34" charset="0"/>
            </a:endParaRPr>
          </a:p>
          <a:p>
            <a:pPr marL="447675" lvl="1" indent="-447675" algn="just">
              <a:lnSpc>
                <a:spcPct val="150000"/>
              </a:lnSpc>
              <a:spcBef>
                <a:spcPts val="700"/>
              </a:spcBef>
              <a:buSzPct val="100000"/>
              <a:buFont typeface="Wingdings" panose="05000000000000000000" pitchFamily="2" charset="2"/>
              <a:buChar char="l"/>
              <a:defRPr/>
            </a:pPr>
            <a:r>
              <a:rPr lang="en-US" altLang="zh-CN" dirty="0">
                <a:latin typeface="Arial" panose="020B0604020202020204" pitchFamily="34" charset="0"/>
                <a:cs typeface="Arial" panose="020B0604020202020204" pitchFamily="34" charset="0"/>
              </a:rPr>
              <a:t>20</a:t>
            </a:r>
            <a:r>
              <a:rPr lang="zh-CN" altLang="zh-CN" dirty="0">
                <a:latin typeface="Arial" panose="020B0604020202020204" pitchFamily="34" charset="0"/>
                <a:cs typeface="Arial" panose="020B0604020202020204" pitchFamily="34" charset="0"/>
              </a:rPr>
              <a:t>世纪早期</a:t>
            </a:r>
            <a:r>
              <a:rPr lang="en-US" altLang="zh-CN" dirty="0">
                <a:latin typeface="Arial" panose="020B0604020202020204" pitchFamily="34" charset="0"/>
                <a:cs typeface="Arial" panose="020B0604020202020204" pitchFamily="34" charset="0"/>
              </a:rPr>
              <a:t>,</a:t>
            </a:r>
            <a:r>
              <a:rPr lang="zh-CN" altLang="zh-CN" dirty="0">
                <a:latin typeface="Arial" panose="020B0604020202020204" pitchFamily="34" charset="0"/>
                <a:cs typeface="Arial" panose="020B0604020202020204" pitchFamily="34" charset="0"/>
              </a:rPr>
              <a:t>哥本哈根卡尔堡实验室的施密特</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J.Schmidt</a:t>
            </a:r>
            <a:r>
              <a:rPr lang="en-US" altLang="zh-CN" dirty="0">
                <a:latin typeface="Arial" panose="020B0604020202020204" pitchFamily="34" charset="0"/>
                <a:cs typeface="Arial" panose="020B0604020202020204" pitchFamily="34" charset="0"/>
              </a:rPr>
              <a:t>)</a:t>
            </a:r>
            <a:r>
              <a:rPr lang="zh-CN" altLang="zh-CN" dirty="0">
                <a:latin typeface="Arial" panose="020B0604020202020204" pitchFamily="34" charset="0"/>
                <a:cs typeface="Arial" panose="020B0604020202020204" pitchFamily="34" charset="0"/>
              </a:rPr>
              <a:t>发现不同地区所捕获的同种鱼类的脊椎骨和鳃腺的数量有很大不同</a:t>
            </a:r>
            <a:r>
              <a:rPr lang="en-US" altLang="zh-CN" dirty="0">
                <a:latin typeface="Arial" panose="020B0604020202020204" pitchFamily="34" charset="0"/>
                <a:cs typeface="Arial" panose="020B0604020202020204" pitchFamily="34" charset="0"/>
              </a:rPr>
              <a:t>,</a:t>
            </a:r>
            <a:r>
              <a:rPr lang="zh-CN" altLang="zh-CN" dirty="0">
                <a:latin typeface="Arial" panose="020B0604020202020204" pitchFamily="34" charset="0"/>
                <a:cs typeface="Arial" panose="020B0604020202020204" pitchFamily="34" charset="0"/>
              </a:rPr>
              <a:t>甚至在同一海湾内不同地点所捕获的同种鱼类也是这样。然而</a:t>
            </a:r>
            <a:r>
              <a:rPr lang="en-US" altLang="zh-CN" dirty="0">
                <a:latin typeface="Arial" panose="020B0604020202020204" pitchFamily="34" charset="0"/>
                <a:cs typeface="Arial" panose="020B0604020202020204" pitchFamily="34" charset="0"/>
              </a:rPr>
              <a:t>,</a:t>
            </a:r>
            <a:r>
              <a:rPr lang="zh-CN" altLang="zh-CN" dirty="0">
                <a:latin typeface="Arial" panose="020B0604020202020204" pitchFamily="34" charset="0"/>
                <a:cs typeface="Arial" panose="020B0604020202020204" pitchFamily="34" charset="0"/>
              </a:rPr>
              <a:t>鳗鱼的脊椎骨的数量却变化不大。施密特在从欧洲各地、冰岛、亚速尔群岛和尼罗河等几乎分离的海域里所捕获的鳗鱼的样本中</a:t>
            </a:r>
            <a:r>
              <a:rPr lang="en-US" altLang="zh-CN" dirty="0">
                <a:latin typeface="Arial" panose="020B0604020202020204" pitchFamily="34" charset="0"/>
                <a:cs typeface="Arial" panose="020B0604020202020204" pitchFamily="34" charset="0"/>
              </a:rPr>
              <a:t>,</a:t>
            </a:r>
            <a:r>
              <a:rPr lang="zh-CN" altLang="zh-CN" dirty="0">
                <a:latin typeface="Arial" panose="020B0604020202020204" pitchFamily="34" charset="0"/>
                <a:cs typeface="Arial" panose="020B0604020202020204" pitchFamily="34" charset="0"/>
              </a:rPr>
              <a:t>通过计算发现了几乎一样的均值和标准偏差值</a:t>
            </a:r>
            <a:r>
              <a:rPr lang="en-US" altLang="zh-CN" dirty="0">
                <a:latin typeface="Arial" panose="020B0604020202020204" pitchFamily="34" charset="0"/>
                <a:cs typeface="Arial" panose="020B0604020202020204" pitchFamily="34" charset="0"/>
              </a:rPr>
              <a:t>。</a:t>
            </a:r>
            <a:endParaRPr lang="zh-CN" altLang="zh-CN" dirty="0">
              <a:latin typeface="Arial" panose="020B0604020202020204" pitchFamily="34" charset="0"/>
              <a:cs typeface="Arial" panose="020B0604020202020204" pitchFamily="34" charset="0"/>
            </a:endParaRPr>
          </a:p>
          <a:p>
            <a:pPr marL="447675" lvl="1" indent="-447675" algn="just">
              <a:lnSpc>
                <a:spcPct val="150000"/>
              </a:lnSpc>
              <a:spcBef>
                <a:spcPts val="700"/>
              </a:spcBef>
              <a:buSzPct val="100000"/>
              <a:buFont typeface="Wingdings" panose="05000000000000000000" pitchFamily="2" charset="2"/>
              <a:buChar char="l"/>
              <a:defRPr/>
            </a:pPr>
            <a:r>
              <a:rPr lang="zh-CN" altLang="zh-CN" dirty="0">
                <a:latin typeface="Arial" panose="020B0604020202020204" pitchFamily="34" charset="0"/>
                <a:cs typeface="Arial" panose="020B0604020202020204" pitchFamily="34" charset="0"/>
              </a:rPr>
              <a:t>施密特由此推断</a:t>
            </a:r>
            <a:r>
              <a:rPr lang="en-US" altLang="zh-CN" dirty="0">
                <a:latin typeface="Arial" panose="020B0604020202020204" pitchFamily="34" charset="0"/>
                <a:cs typeface="Arial" panose="020B0604020202020204" pitchFamily="34" charset="0"/>
              </a:rPr>
              <a:t>:</a:t>
            </a:r>
            <a:r>
              <a:rPr lang="zh-CN" altLang="zh-CN" dirty="0">
                <a:latin typeface="Arial" panose="020B0604020202020204" pitchFamily="34" charset="0"/>
                <a:cs typeface="Arial" panose="020B0604020202020204" pitchFamily="34" charset="0"/>
              </a:rPr>
              <a:t>各个不同海域内的鳗鱼是由海洋中某公共场所繁殖的。后来名为</a:t>
            </a:r>
            <a:r>
              <a:rPr lang="en-US" altLang="zh-CN" dirty="0">
                <a:latin typeface="Arial" panose="020B0604020202020204" pitchFamily="34" charset="0"/>
                <a:cs typeface="Arial" panose="020B0604020202020204" pitchFamily="34" charset="0"/>
              </a:rPr>
              <a:t>“</a:t>
            </a:r>
            <a:r>
              <a:rPr lang="zh-CN" altLang="zh-CN" dirty="0">
                <a:latin typeface="Arial" panose="020B0604020202020204" pitchFamily="34" charset="0"/>
                <a:cs typeface="Arial" panose="020B0604020202020204" pitchFamily="34" charset="0"/>
              </a:rPr>
              <a:t>戴纳</a:t>
            </a:r>
            <a:r>
              <a:rPr lang="en-US" altLang="zh-CN" dirty="0">
                <a:latin typeface="Arial" panose="020B0604020202020204" pitchFamily="34" charset="0"/>
                <a:cs typeface="Arial" panose="020B0604020202020204" pitchFamily="34" charset="0"/>
              </a:rPr>
              <a:t>”(Dana)</a:t>
            </a:r>
            <a:r>
              <a:rPr lang="zh-CN" altLang="zh-CN" dirty="0">
                <a:latin typeface="Arial" panose="020B0604020202020204" pitchFamily="34" charset="0"/>
                <a:cs typeface="Arial" panose="020B0604020202020204" pitchFamily="34" charset="0"/>
              </a:rPr>
              <a:t>的科学考察船在一次远征中发现了这个场所</a:t>
            </a:r>
            <a:r>
              <a:rPr lang="en-US" altLang="zh-CN"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鳗鱼的公共繁殖场所</a:t>
            </a:r>
            <a:endParaRPr lang="zh-CN"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551384" y="1556792"/>
                <a:ext cx="4896544" cy="4680520"/>
              </a:xfrm>
              <a:ln w="12700" cmpd="dbl">
                <a:solidFill>
                  <a:schemeClr val="accent1"/>
                </a:solidFill>
              </a:ln>
            </p:spPr>
            <p:txBody>
              <a:bodyPr>
                <a:normAutofit fontScale="92500"/>
              </a:bodyPr>
              <a:lstStyle/>
              <a:p>
                <a:pPr marL="0" indent="0" algn="just">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平均数（</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mean</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endParaRPr lang="en-US"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1800" dirty="0">
                    <a:latin typeface="Arial" panose="020B0604020202020204" pitchFamily="34" charset="0"/>
                    <a:cs typeface="Arial" panose="020B0604020202020204" pitchFamily="34" charset="0"/>
                  </a:rPr>
                  <a:t>也称均值</a:t>
                </a:r>
                <a:r>
                  <a:rPr lang="zh-CN" altLang="en-US" sz="1800" dirty="0">
                    <a:latin typeface="Arial" panose="020B0604020202020204" pitchFamily="34" charset="0"/>
                    <a:cs typeface="Arial" panose="020B0604020202020204" pitchFamily="34"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一组数据相加后除以数据的个数得到的结果</a:t>
                </a:r>
                <a:endParaRPr lang="en-US"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平均数是度量数据集中趋势的常用统计量，在参数估计和假设检验中经常用到</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447675" indent="-447675" algn="just">
                  <a:buClr>
                    <a:schemeClr val="accent1"/>
                  </a:buClr>
                  <a:buSzPct val="100000"/>
                  <a:buFont typeface="Wingdings" panose="05000000000000000000" pitchFamily="2" charset="2"/>
                  <a:buChar char="l"/>
                  <a:defRPr/>
                </a:pPr>
                <a:r>
                  <a:rPr lang="zh-CN" altLang="zh-CN" sz="1800" dirty="0">
                    <a:solidFill>
                      <a:srgbClr val="000000"/>
                    </a:solidFill>
                    <a:latin typeface="Calibri" panose="020F0502020204030204" pitchFamily="34" charset="0"/>
                    <a:cs typeface="Calibri" panose="020F0502020204030204" pitchFamily="34" charset="0"/>
                  </a:rPr>
                  <a:t>设一组样本数据为</a:t>
                </a:r>
                <a14:m>
                  <m:oMath xmlns:m="http://schemas.openxmlformats.org/officeDocument/2006/math">
                    <m:sSub>
                      <m:sSubPr>
                        <m:ctrlPr>
                          <a:rPr lang="zh-CN" altLang="zh-CN" sz="1800" i="1">
                            <a:solidFill>
                              <a:srgbClr val="000000"/>
                            </a:solidFill>
                            <a:latin typeface="Cambria Math" panose="02040503050406030204" pitchFamily="18" charset="0"/>
                            <a:cs typeface="Calibri" panose="020F0502020204030204" pitchFamily="34" charset="0"/>
                          </a:rPr>
                        </m:ctrlPr>
                      </m:sSubPr>
                      <m:e>
                        <m:r>
                          <a:rPr lang="en-US" altLang="zh-CN" sz="1800">
                            <a:solidFill>
                              <a:srgbClr val="000000"/>
                            </a:solidFill>
                            <a:latin typeface="Cambria Math" panose="02040503050406030204" pitchFamily="18" charset="0"/>
                            <a:cs typeface="Calibri" panose="020F0502020204030204" pitchFamily="34" charset="0"/>
                          </a:rPr>
                          <m:t>𝑥</m:t>
                        </m:r>
                      </m:e>
                      <m:sub>
                        <m:r>
                          <a:rPr lang="en-US" altLang="zh-CN" sz="1800">
                            <a:solidFill>
                              <a:srgbClr val="000000"/>
                            </a:solidFill>
                            <a:latin typeface="Cambria Math" panose="02040503050406030204" pitchFamily="18" charset="0"/>
                            <a:cs typeface="Calibri" panose="020F0502020204030204" pitchFamily="34" charset="0"/>
                          </a:rPr>
                          <m:t>1</m:t>
                        </m:r>
                      </m:sub>
                    </m:sSub>
                    <m:r>
                      <a:rPr lang="zh-CN" altLang="zh-CN" sz="1800">
                        <a:solidFill>
                          <a:srgbClr val="000000"/>
                        </a:solidFill>
                        <a:latin typeface="Cambria Math" panose="02040503050406030204" pitchFamily="18" charset="0"/>
                        <a:cs typeface="Calibri" panose="020F0502020204030204" pitchFamily="34" charset="0"/>
                      </a:rPr>
                      <m:t>，</m:t>
                    </m:r>
                    <m:sSub>
                      <m:sSubPr>
                        <m:ctrlPr>
                          <a:rPr lang="zh-CN" altLang="zh-CN" sz="1800" i="1">
                            <a:solidFill>
                              <a:srgbClr val="000000"/>
                            </a:solidFill>
                            <a:latin typeface="Cambria Math" panose="02040503050406030204" pitchFamily="18" charset="0"/>
                            <a:cs typeface="Calibri" panose="020F0502020204030204" pitchFamily="34" charset="0"/>
                          </a:rPr>
                        </m:ctrlPr>
                      </m:sSubPr>
                      <m:e>
                        <m:r>
                          <a:rPr lang="en-US" altLang="zh-CN" sz="1800">
                            <a:solidFill>
                              <a:srgbClr val="000000"/>
                            </a:solidFill>
                            <a:latin typeface="Cambria Math" panose="02040503050406030204" pitchFamily="18" charset="0"/>
                            <a:cs typeface="Calibri" panose="020F0502020204030204" pitchFamily="34" charset="0"/>
                          </a:rPr>
                          <m:t>𝑥</m:t>
                        </m:r>
                      </m:e>
                      <m:sub>
                        <m:r>
                          <a:rPr lang="en-US" altLang="zh-CN" sz="1800">
                            <a:solidFill>
                              <a:srgbClr val="000000"/>
                            </a:solidFill>
                            <a:latin typeface="Cambria Math" panose="02040503050406030204" pitchFamily="18" charset="0"/>
                            <a:cs typeface="Calibri" panose="020F0502020204030204" pitchFamily="34" charset="0"/>
                          </a:rPr>
                          <m:t>2</m:t>
                        </m:r>
                      </m:sub>
                    </m:sSub>
                    <m:r>
                      <a:rPr lang="zh-CN" altLang="zh-CN" sz="1800">
                        <a:solidFill>
                          <a:srgbClr val="000000"/>
                        </a:solidFill>
                        <a:latin typeface="Cambria Math" panose="02040503050406030204" pitchFamily="18" charset="0"/>
                        <a:cs typeface="Calibri" panose="020F0502020204030204" pitchFamily="34" charset="0"/>
                      </a:rPr>
                      <m:t>，</m:t>
                    </m:r>
                    <m:r>
                      <a:rPr lang="en-US" altLang="zh-CN" sz="1800">
                        <a:solidFill>
                          <a:srgbClr val="000000"/>
                        </a:solidFill>
                        <a:latin typeface="Cambria Math" panose="02040503050406030204" pitchFamily="18" charset="0"/>
                        <a:cs typeface="Calibri" panose="020F0502020204030204" pitchFamily="34" charset="0"/>
                      </a:rPr>
                      <m:t>⋯</m:t>
                    </m:r>
                    <m:r>
                      <a:rPr lang="zh-CN" altLang="zh-CN" sz="1800">
                        <a:solidFill>
                          <a:srgbClr val="000000"/>
                        </a:solidFill>
                        <a:latin typeface="Cambria Math" panose="02040503050406030204" pitchFamily="18" charset="0"/>
                        <a:cs typeface="Calibri" panose="020F0502020204030204" pitchFamily="34" charset="0"/>
                      </a:rPr>
                      <m:t>，</m:t>
                    </m:r>
                    <m:sSub>
                      <m:sSubPr>
                        <m:ctrlPr>
                          <a:rPr lang="zh-CN" altLang="zh-CN" sz="1800" i="1">
                            <a:solidFill>
                              <a:srgbClr val="000000"/>
                            </a:solidFill>
                            <a:latin typeface="Cambria Math" panose="02040503050406030204" pitchFamily="18" charset="0"/>
                            <a:cs typeface="Calibri" panose="020F0502020204030204" pitchFamily="34" charset="0"/>
                          </a:rPr>
                        </m:ctrlPr>
                      </m:sSubPr>
                      <m:e>
                        <m:r>
                          <a:rPr lang="en-US" altLang="zh-CN" sz="1800">
                            <a:solidFill>
                              <a:srgbClr val="000000"/>
                            </a:solidFill>
                            <a:latin typeface="Cambria Math" panose="02040503050406030204" pitchFamily="18" charset="0"/>
                            <a:cs typeface="Calibri" panose="020F0502020204030204" pitchFamily="34" charset="0"/>
                          </a:rPr>
                          <m:t>𝑥</m:t>
                        </m:r>
                      </m:e>
                      <m:sub>
                        <m:r>
                          <a:rPr lang="en-US" altLang="zh-CN" sz="1800">
                            <a:solidFill>
                              <a:srgbClr val="000000"/>
                            </a:solidFill>
                            <a:latin typeface="Cambria Math" panose="02040503050406030204" pitchFamily="18" charset="0"/>
                            <a:cs typeface="Calibri" panose="020F0502020204030204" pitchFamily="34" charset="0"/>
                          </a:rPr>
                          <m:t>𝑛</m:t>
                        </m:r>
                      </m:sub>
                    </m:sSub>
                  </m:oMath>
                </a14:m>
                <a:r>
                  <a:rPr lang="zh-CN" altLang="zh-CN" sz="1800" dirty="0">
                    <a:solidFill>
                      <a:srgbClr val="000000"/>
                    </a:solidFill>
                    <a:latin typeface="Calibri" panose="020F0502020204030204" pitchFamily="34" charset="0"/>
                    <a:cs typeface="Calibri" panose="020F0502020204030204" pitchFamily="34" charset="0"/>
                  </a:rPr>
                  <a:t>，样本量（样本数据的个数）为</a:t>
                </a:r>
                <a14:m>
                  <m:oMath xmlns:m="http://schemas.openxmlformats.org/officeDocument/2006/math">
                    <m:r>
                      <a:rPr lang="en-US" altLang="zh-CN" sz="1800">
                        <a:solidFill>
                          <a:srgbClr val="000000"/>
                        </a:solidFill>
                        <a:latin typeface="Cambria Math" panose="02040503050406030204" pitchFamily="18" charset="0"/>
                        <a:cs typeface="Calibri" panose="020F0502020204030204" pitchFamily="34" charset="0"/>
                      </a:rPr>
                      <m:t>𝑛</m:t>
                    </m:r>
                  </m:oMath>
                </a14:m>
                <a:r>
                  <a:rPr lang="zh-CN" altLang="zh-CN" sz="1800" dirty="0">
                    <a:solidFill>
                      <a:srgbClr val="000000"/>
                    </a:solidFill>
                    <a:latin typeface="Calibri" panose="020F0502020204030204" pitchFamily="34" charset="0"/>
                    <a:cs typeface="Calibri" panose="020F0502020204030204" pitchFamily="34" charset="0"/>
                  </a:rPr>
                  <a:t>，则样本平均数用</a:t>
                </a:r>
                <a14:m>
                  <m:oMath xmlns:m="http://schemas.openxmlformats.org/officeDocument/2006/math">
                    <m:acc>
                      <m:accPr>
                        <m:chr m:val="̄"/>
                        <m:ctrlPr>
                          <a:rPr lang="zh-CN" altLang="zh-CN" sz="1800" i="1">
                            <a:solidFill>
                              <a:srgbClr val="000000"/>
                            </a:solidFill>
                            <a:latin typeface="Cambria Math" panose="02040503050406030204" pitchFamily="18" charset="0"/>
                            <a:cs typeface="Calibri" panose="020F0502020204030204" pitchFamily="34" charset="0"/>
                          </a:rPr>
                        </m:ctrlPr>
                      </m:accPr>
                      <m:e>
                        <m:r>
                          <a:rPr lang="en-US" altLang="zh-CN" sz="1800">
                            <a:solidFill>
                              <a:srgbClr val="000000"/>
                            </a:solidFill>
                            <a:latin typeface="Cambria Math" panose="02040503050406030204" pitchFamily="18" charset="0"/>
                            <a:cs typeface="Calibri" panose="020F0502020204030204" pitchFamily="34" charset="0"/>
                          </a:rPr>
                          <m:t>𝑥</m:t>
                        </m:r>
                      </m:e>
                    </m:acc>
                  </m:oMath>
                </a14:m>
                <a:r>
                  <a:rPr lang="en-US" altLang="zh-CN" sz="1800" dirty="0">
                    <a:solidFill>
                      <a:srgbClr val="000000"/>
                    </a:solidFill>
                    <a:latin typeface="Calibri" panose="020F0502020204030204" pitchFamily="34" charset="0"/>
                    <a:cs typeface="Calibri" panose="020F0502020204030204" pitchFamily="34" charset="0"/>
                  </a:rPr>
                  <a:t> (</a:t>
                </a:r>
                <a:r>
                  <a:rPr lang="zh-CN" altLang="zh-CN" sz="1800" dirty="0">
                    <a:solidFill>
                      <a:srgbClr val="000000"/>
                    </a:solidFill>
                    <a:latin typeface="Calibri" panose="020F0502020204030204" pitchFamily="34" charset="0"/>
                    <a:cs typeface="Calibri" panose="020F0502020204030204" pitchFamily="34" charset="0"/>
                  </a:rPr>
                  <a:t>读作</a:t>
                </a:r>
                <a:r>
                  <a:rPr lang="en-US" altLang="zh-CN" sz="1800" dirty="0">
                    <a:solidFill>
                      <a:srgbClr val="000000"/>
                    </a:solidFill>
                    <a:latin typeface="Calibri" panose="020F0502020204030204" pitchFamily="34" charset="0"/>
                    <a:cs typeface="Calibri" panose="020F0502020204030204" pitchFamily="34" charset="0"/>
                  </a:rPr>
                  <a:t>x-bar)</a:t>
                </a:r>
                <a:r>
                  <a:rPr lang="zh-CN" altLang="zh-CN" sz="1800" dirty="0">
                    <a:solidFill>
                      <a:srgbClr val="000000"/>
                    </a:solidFill>
                    <a:latin typeface="Calibri" panose="020F0502020204030204" pitchFamily="34" charset="0"/>
                    <a:cs typeface="Calibri" panose="020F0502020204030204" pitchFamily="34" charset="0"/>
                  </a:rPr>
                  <a:t>表示，</a:t>
                </a:r>
                <a:r>
                  <a:rPr lang="zh-CN" altLang="en-US" sz="1800" dirty="0">
                    <a:solidFill>
                      <a:srgbClr val="000000"/>
                    </a:solidFill>
                    <a:latin typeface="Calibri" panose="020F0502020204030204" pitchFamily="34" charset="0"/>
                    <a:cs typeface="Calibri" panose="020F0502020204030204" pitchFamily="34" charset="0"/>
                  </a:rPr>
                  <a:t>简平均数</a:t>
                </a:r>
                <a:r>
                  <a:rPr lang="zh-CN" altLang="zh-CN" sz="1800" dirty="0">
                    <a:solidFill>
                      <a:srgbClr val="000000"/>
                    </a:solidFill>
                    <a:latin typeface="Calibri" panose="020F0502020204030204" pitchFamily="34" charset="0"/>
                    <a:cs typeface="Calibri" panose="020F0502020204030204" pitchFamily="34" charset="0"/>
                  </a:rPr>
                  <a:t>计算公式为</a:t>
                </a:r>
                <a:endParaRPr lang="zh-CN" altLang="zh-CN" sz="1800" dirty="0">
                  <a:solidFill>
                    <a:srgbClr val="000000"/>
                  </a:solidFill>
                  <a:latin typeface="Calibri" panose="020F0502020204030204" pitchFamily="34" charset="0"/>
                  <a:cs typeface="Calibri" panose="020F0502020204030204" pitchFamily="34" charset="0"/>
                </a:endParaRPr>
              </a:p>
              <a:p>
                <a:pPr marL="0" indent="0" algn="just">
                  <a:buNone/>
                </a:pPr>
                <a14:m>
                  <m:oMathPara xmlns:m="http://schemas.openxmlformats.org/officeDocument/2006/math">
                    <m:oMathParaPr>
                      <m:jc m:val="centerGroup"/>
                    </m:oMathParaPr>
                    <m:oMath xmlns:m="http://schemas.openxmlformats.org/officeDocument/2006/math">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acc>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MS Gothic" panose="020B0609070205080204" pitchFamily="49" charset="-128"/>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sub>
                          </m:sSub>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den>
                      </m:f>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nary>
                            <m:nary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naryPr>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sup>
                            <m:e>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e>
                          </m:nary>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den>
                      </m:f>
                    </m:oMath>
                  </m:oMathPara>
                </a14:m>
                <a:endParaRPr lang="en-US" altLang="zh-CN" sz="1800" dirty="0">
                  <a:solidFill>
                    <a:srgbClr val="000000"/>
                  </a:solidFill>
                  <a:effectLst/>
                  <a:ea typeface="华文细黑" panose="02010600040101010101" pitchFamily="2" charset="-122"/>
                  <a:cs typeface="Calibri" panose="020F0502020204030204" pitchFamily="34" charset="0"/>
                </a:endParaRPr>
              </a:p>
              <a:p>
                <a:pPr marL="0" indent="0" algn="just">
                  <a:buNone/>
                </a:pPr>
                <a:r>
                  <a:rPr lang="zh-CN" altLang="zh-CN" sz="1800" dirty="0">
                    <a:effectLst/>
                  </a:rPr>
                  <a:t> </a:t>
                </a:r>
                <a:r>
                  <a:rPr lang="zh-CN" altLang="en-US" sz="1800" dirty="0">
                    <a:effectLst/>
                  </a:rPr>
                  <a:t>注：</a:t>
                </a:r>
                <a:r>
                  <a:rPr lang="zh-CN" altLang="zh-CN" sz="1800" dirty="0">
                    <a:solidFill>
                      <a:srgbClr val="000000"/>
                    </a:solidFill>
                    <a:effectLst/>
                    <a:latin typeface="NEU-BZ-S92"/>
                    <a:ea typeface="华文细黑" panose="02010600040101010101" pitchFamily="2" charset="-122"/>
                    <a:cs typeface="Times New Roman" panose="02020603050405020304" pitchFamily="18" charset="0"/>
                  </a:rPr>
                  <a:t>如果有总体的全部数据</a:t>
                </a: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𝑥</m:t>
                        </m:r>
                      </m:e>
                      <m:sub>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1</m:t>
                        </m:r>
                      </m:sub>
                    </m:sSub>
                    <m:r>
                      <a:rPr lang="zh-CN"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𝑥</m:t>
                        </m:r>
                      </m:e>
                      <m:sub>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2</m:t>
                        </m:r>
                      </m:sub>
                    </m:sSub>
                    <m:r>
                      <a:rPr lang="zh-CN"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r>
                      <a:rPr lang="zh-CN" altLang="zh-CN" sz="1800">
                        <a:solidFill>
                          <a:srgbClr val="000000"/>
                        </a:solidFill>
                        <a:effectLst/>
                        <a:latin typeface="Cambria Math" panose="02040503050406030204" pitchFamily="18" charset="0"/>
                        <a:ea typeface="MS Gothic" panose="020B0609070205080204" pitchFamily="49" charset="-128"/>
                        <a:cs typeface="MS Gothic" panose="020B0609070205080204" pitchFamily="49" charset="-128"/>
                      </a:rPr>
                      <m:t>⋯</m:t>
                    </m:r>
                    <m:r>
                      <a:rPr lang="zh-CN"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𝑁</m:t>
                        </m:r>
                      </m:sub>
                    </m:sSub>
                  </m:oMath>
                </a14:m>
                <a:r>
                  <a:rPr lang="zh-CN" altLang="zh-CN" sz="1800" dirty="0">
                    <a:solidFill>
                      <a:srgbClr val="000000"/>
                    </a:solidFill>
                    <a:effectLst/>
                    <a:latin typeface="NEU-BZ-S92"/>
                    <a:ea typeface="华文细黑" panose="02010600040101010101" pitchFamily="2" charset="-122"/>
                    <a:cs typeface="Times New Roman" panose="02020603050405020304" pitchFamily="18" charset="0"/>
                  </a:rPr>
                  <a:t>，总体均数用</a:t>
                </a:r>
                <a14:m>
                  <m:oMath xmlns:m="http://schemas.openxmlformats.org/officeDocument/2006/math">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𝜇</m:t>
                    </m:r>
                  </m:oMath>
                </a14:m>
                <a:r>
                  <a:rPr lang="zh-CN" altLang="zh-CN" sz="1800" dirty="0">
                    <a:solidFill>
                      <a:srgbClr val="000000"/>
                    </a:solidFill>
                    <a:effectLst/>
                    <a:latin typeface="NEU-BZ-S92"/>
                    <a:ea typeface="华文细黑" panose="02010600040101010101" pitchFamily="2" charset="-122"/>
                    <a:cs typeface="Times New Roman" panose="02020603050405020304" pitchFamily="18" charset="0"/>
                  </a:rPr>
                  <a:t>表示，其计算公式为</a:t>
                </a:r>
                <a:endParaRPr lang="en-US" altLang="zh-CN" sz="1800" dirty="0">
                  <a:solidFill>
                    <a:srgbClr val="000000"/>
                  </a:solidFill>
                  <a:effectLst/>
                  <a:latin typeface="NEU-BZ-S92"/>
                  <a:ea typeface="华文细黑" panose="02010600040101010101" pitchFamily="2" charset="-122"/>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𝜇</m:t>
                      </m:r>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𝑥</m:t>
                              </m:r>
                            </m:e>
                            <m:sub>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1</m:t>
                              </m:r>
                            </m:sub>
                          </m:sSub>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𝑥</m:t>
                              </m:r>
                            </m:e>
                            <m:sub>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2</m:t>
                              </m:r>
                            </m:sub>
                          </m:sSub>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r>
                            <a:rPr lang="zh-CN" altLang="zh-CN" sz="1800">
                              <a:solidFill>
                                <a:srgbClr val="000000"/>
                              </a:solidFill>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𝑁</m:t>
                              </m:r>
                            </m:sub>
                          </m:sSub>
                        </m:num>
                        <m:den>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𝑁</m:t>
                          </m:r>
                        </m:den>
                      </m:f>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𝑖</m:t>
                              </m:r>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1</m:t>
                              </m:r>
                            </m:sub>
                            <m:sup>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𝑁</m:t>
                              </m:r>
                            </m:sup>
                            <m:e>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𝑖</m:t>
                                  </m:r>
                                </m:sub>
                              </m:sSub>
                            </m:e>
                          </m:nary>
                        </m:num>
                        <m:den>
                          <m:r>
                            <a:rPr lang="en-US" altLang="zh-CN" sz="18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𝑁</m:t>
                          </m:r>
                        </m:den>
                      </m:f>
                    </m:oMath>
                  </m:oMathPara>
                </a14:m>
                <a:endParaRPr lang="en-US" altLang="zh-CN" sz="1800" dirty="0">
                  <a:solidFill>
                    <a:srgbClr val="000000"/>
                  </a:solidFill>
                  <a:effectLst/>
                  <a:latin typeface="NEU-BZ-S92"/>
                  <a:ea typeface="华文细黑" panose="02010600040101010101" pitchFamily="2" charset="-122"/>
                  <a:cs typeface="Times New Roman" panose="02020603050405020304" pitchFamily="18" charset="0"/>
                </a:endParaRPr>
              </a:p>
              <a:p>
                <a:pPr marL="0" indent="0" algn="just">
                  <a:buNone/>
                </a:pPr>
                <a:r>
                  <a:rPr lang="en-US" altLang="zh-CN" sz="1800" dirty="0">
                    <a:solidFill>
                      <a:srgbClr val="000000"/>
                    </a:solidFill>
                    <a:effectLst/>
                    <a:latin typeface="NEU-BZ-S92"/>
                    <a:ea typeface="华文细黑" panose="02010600040101010101" pitchFamily="2" charset="-122"/>
                    <a:cs typeface="Times New Roman" panose="02020603050405020304" pitchFamily="18" charset="0"/>
                  </a:rPr>
                  <a:t> </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551384" y="1556792"/>
                <a:ext cx="4896544" cy="4680520"/>
              </a:xfrm>
              <a:blipFill rotWithShape="1">
                <a:blip r:embed="rId1"/>
                <a:stretch>
                  <a:fillRect l="-134" t="-144" r="-124"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平均数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简单平均数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Content Placeholder 8"/>
          <p:cNvSpPr txBox="1"/>
          <p:nvPr/>
        </p:nvSpPr>
        <p:spPr>
          <a:xfrm>
            <a:off x="5591944" y="1556792"/>
            <a:ext cx="6048672" cy="4680520"/>
          </a:xfrm>
          <a:prstGeom prst="rect">
            <a:avLst/>
          </a:prstGeom>
          <a:ln w="12700" cmpd="dbl">
            <a:solidFill>
              <a:schemeClr val="accent1"/>
            </a:solidFill>
          </a:ln>
        </p:spPr>
        <p:txBody>
          <a:bodyPr vert="horz">
            <a:norm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10000"/>
              </a:lnSpc>
              <a:buClr>
                <a:schemeClr val="accent1"/>
              </a:buClr>
              <a:buSzPct val="100000"/>
              <a:buNone/>
              <a:defRPr/>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rPr>
              <a:t>4.1</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随机抽取</a:t>
            </a:r>
            <a:r>
              <a:rPr lang="en-US" altLang="zh-CN" sz="1800" dirty="0">
                <a:effectLst/>
                <a:latin typeface="Calibri" panose="020F0502020204030204" pitchFamily="34" charset="0"/>
                <a:ea typeface="华文细黑" panose="02010600040101010101" pitchFamily="2" charset="-122"/>
              </a:rPr>
              <a:t>30</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个消费者，得到他们每月网购金额的数据如表</a:t>
            </a:r>
            <a:r>
              <a:rPr lang="en-US" altLang="zh-CN" sz="1800" dirty="0">
                <a:effectLst/>
                <a:latin typeface="Calibri" panose="020F0502020204030204" pitchFamily="34" charset="0"/>
                <a:ea typeface="华文细黑" panose="02010600040101010101" pitchFamily="2" charset="-122"/>
              </a:rPr>
              <a:t>4-1</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所示。计算</a:t>
            </a:r>
            <a:r>
              <a:rPr lang="en-US" altLang="zh-CN" sz="1800" dirty="0">
                <a:effectLst/>
                <a:latin typeface="Calibri" panose="020F0502020204030204" pitchFamily="34" charset="0"/>
                <a:ea typeface="华文细黑" panose="02010600040101010101" pitchFamily="2" charset="-122"/>
              </a:rPr>
              <a:t>30</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个人的平均网购金额</a:t>
            </a:r>
            <a:endParaRPr lang="zh-CN" altLang="en-US" sz="2200" dirty="0">
              <a:latin typeface="Arial" panose="020B0604020202020204" pitchFamily="34" charset="0"/>
              <a:ea typeface="华文细黑" panose="02010600040101010101" pitchFamily="2" charset="-122"/>
              <a:cs typeface="Arial" panose="020B0604020202020204" pitchFamily="34" charset="0"/>
            </a:endParaRPr>
          </a:p>
        </p:txBody>
      </p:sp>
      <p:graphicFrame>
        <p:nvGraphicFramePr>
          <p:cNvPr id="3" name="表格 2"/>
          <p:cNvGraphicFramePr>
            <a:graphicFrameLocks noGrp="1"/>
          </p:cNvGraphicFramePr>
          <p:nvPr/>
        </p:nvGraphicFramePr>
        <p:xfrm>
          <a:off x="5735960" y="2276872"/>
          <a:ext cx="5760640" cy="2520280"/>
        </p:xfrm>
        <a:graphic>
          <a:graphicData uri="http://schemas.openxmlformats.org/drawingml/2006/table">
            <a:tbl>
              <a:tblPr firstRow="1" firstCol="1" bandRow="1">
                <a:tableStyleId>{5C22544A-7EE6-4342-B048-85BDC9FD1C3A}</a:tableStyleId>
              </a:tblPr>
              <a:tblGrid>
                <a:gridCol w="959455"/>
                <a:gridCol w="960237"/>
                <a:gridCol w="960237"/>
                <a:gridCol w="960237"/>
                <a:gridCol w="960237"/>
                <a:gridCol w="960237"/>
              </a:tblGrid>
              <a:tr h="504056">
                <a:tc>
                  <a:txBody>
                    <a:bodyPr/>
                    <a:lstStyle/>
                    <a:p>
                      <a:pPr algn="ctr">
                        <a:lnSpc>
                          <a:spcPts val="1635"/>
                        </a:lnSpc>
                      </a:pPr>
                      <a:r>
                        <a:rPr lang="en-US" sz="1600" b="1">
                          <a:effectLst/>
                        </a:rPr>
                        <a:t>429.0</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671.2</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622.4</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678.7</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393.2</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331.3</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504056">
                <a:tc>
                  <a:txBody>
                    <a:bodyPr/>
                    <a:lstStyle/>
                    <a:p>
                      <a:pPr algn="ctr">
                        <a:lnSpc>
                          <a:spcPts val="1635"/>
                        </a:lnSpc>
                      </a:pPr>
                      <a:r>
                        <a:rPr lang="en-US" sz="1600" b="1">
                          <a:effectLst/>
                        </a:rPr>
                        <a:t>477.0</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450.0</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536.0</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450.0</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478.2</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583.8</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504056">
                <a:tc>
                  <a:txBody>
                    <a:bodyPr/>
                    <a:lstStyle/>
                    <a:p>
                      <a:pPr algn="ctr">
                        <a:lnSpc>
                          <a:spcPts val="1635"/>
                        </a:lnSpc>
                      </a:pPr>
                      <a:r>
                        <a:rPr lang="en-US" sz="1600" b="1">
                          <a:effectLst/>
                        </a:rPr>
                        <a:t>655.9</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373.5</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540.1</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303.6</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397.4</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515.3</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504056">
                <a:tc>
                  <a:txBody>
                    <a:bodyPr/>
                    <a:lstStyle/>
                    <a:p>
                      <a:pPr algn="ctr">
                        <a:lnSpc>
                          <a:spcPts val="1635"/>
                        </a:lnSpc>
                      </a:pPr>
                      <a:r>
                        <a:rPr lang="en-US" sz="1600" b="1">
                          <a:effectLst/>
                        </a:rPr>
                        <a:t>507.1</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431.3</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511.1</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570.1</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427.1</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386.2</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504056">
                <a:tc>
                  <a:txBody>
                    <a:bodyPr/>
                    <a:lstStyle/>
                    <a:p>
                      <a:pPr algn="ctr">
                        <a:lnSpc>
                          <a:spcPts val="1635"/>
                        </a:lnSpc>
                      </a:pPr>
                      <a:r>
                        <a:rPr lang="en-US" sz="1600" b="1">
                          <a:effectLst/>
                        </a:rPr>
                        <a:t>512.9</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455.1</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465.4</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452.7</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a:effectLst/>
                        </a:rPr>
                        <a:t>437.5</a:t>
                      </a:r>
                      <a:endParaRPr lang="zh-CN" sz="16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600" b="1" dirty="0">
                          <a:effectLst/>
                        </a:rPr>
                        <a:t>625.4</a:t>
                      </a:r>
                      <a:endParaRPr lang="zh-CN" sz="1600" b="1" dirty="0">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bl>
          </a:graphicData>
        </a:graphic>
      </p:graphicFrame>
      <mc:AlternateContent xmlns:mc="http://schemas.openxmlformats.org/markup-compatibility/2006">
        <mc:Choice xmlns:a14="http://schemas.microsoft.com/office/drawing/2010/main" Requires="a14">
          <p:sp>
            <p:nvSpPr>
              <p:cNvPr id="10" name="文本框 9"/>
              <p:cNvSpPr txBox="1"/>
              <p:nvPr/>
            </p:nvSpPr>
            <p:spPr>
              <a:xfrm>
                <a:off x="5735960" y="5013176"/>
                <a:ext cx="5760640" cy="8953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acc>
                        <m:accPr>
                          <m:chr m:val="̅"/>
                          <m:ctrlPr>
                            <a:rPr lang="zh-CN" altLang="en-US" i="1" smtClean="0">
                              <a:solidFill>
                                <a:srgbClr val="836967"/>
                              </a:solidFill>
                              <a:latin typeface="Cambria Math" panose="02040503050406030204" pitchFamily="18" charset="0"/>
                            </a:rPr>
                          </m:ctrlPr>
                        </m:accPr>
                        <m:e>
                          <m:r>
                            <a:rPr lang="zh-CN" altLang="en-US" i="1">
                              <a:latin typeface="Cambria Math" panose="02040503050406030204" pitchFamily="18" charset="0"/>
                            </a:rPr>
                            <m:t>𝑥</m:t>
                          </m:r>
                        </m:e>
                      </m:acc>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429</m:t>
                          </m:r>
                          <m:r>
                            <a:rPr lang="zh-CN" altLang="en-US" i="0">
                              <a:latin typeface="Cambria Math" panose="02040503050406030204" pitchFamily="18" charset="0"/>
                            </a:rPr>
                            <m:t>.</m:t>
                          </m:r>
                          <m:r>
                            <a:rPr lang="zh-CN" altLang="en-US" i="0">
                              <a:latin typeface="Cambria Math" panose="02040503050406030204" pitchFamily="18" charset="0"/>
                            </a:rPr>
                            <m:t>0</m:t>
                          </m:r>
                          <m:r>
                            <a:rPr lang="zh-CN" altLang="en-US" i="0">
                              <a:latin typeface="Cambria Math" panose="02040503050406030204" pitchFamily="18" charset="0"/>
                            </a:rPr>
                            <m:t>+</m:t>
                          </m:r>
                          <m:r>
                            <a:rPr lang="zh-CN" altLang="en-US" i="0">
                              <a:latin typeface="Cambria Math" panose="02040503050406030204" pitchFamily="18" charset="0"/>
                            </a:rPr>
                            <m:t>671</m:t>
                          </m:r>
                          <m:r>
                            <a:rPr lang="zh-CN" altLang="en-US" i="0">
                              <a:latin typeface="Cambria Math" panose="02040503050406030204" pitchFamily="18" charset="0"/>
                            </a:rPr>
                            <m:t>.</m:t>
                          </m:r>
                          <m:r>
                            <a:rPr lang="zh-CN" altLang="en-US" i="0">
                              <a:latin typeface="Cambria Math" panose="02040503050406030204" pitchFamily="18" charset="0"/>
                            </a:rPr>
                            <m:t>2</m:t>
                          </m:r>
                          <m:r>
                            <a:rPr lang="zh-CN" altLang="en-US" i="0">
                              <a:latin typeface="Cambria Math" panose="02040503050406030204" pitchFamily="18" charset="0"/>
                            </a:rPr>
                            <m:t>+⋯+</m:t>
                          </m:r>
                          <m:r>
                            <a:rPr lang="zh-CN" altLang="en-US" i="0">
                              <a:latin typeface="Cambria Math" panose="02040503050406030204" pitchFamily="18" charset="0"/>
                            </a:rPr>
                            <m:t>437</m:t>
                          </m:r>
                          <m:r>
                            <a:rPr lang="zh-CN" altLang="en-US" i="0">
                              <a:latin typeface="Cambria Math" panose="02040503050406030204" pitchFamily="18" charset="0"/>
                            </a:rPr>
                            <m:t>.</m:t>
                          </m:r>
                          <m:r>
                            <a:rPr lang="zh-CN" altLang="en-US" i="0">
                              <a:latin typeface="Cambria Math" panose="02040503050406030204" pitchFamily="18" charset="0"/>
                            </a:rPr>
                            <m:t>5</m:t>
                          </m:r>
                          <m:r>
                            <a:rPr lang="zh-CN" altLang="en-US" i="0">
                              <a:latin typeface="Cambria Math" panose="02040503050406030204" pitchFamily="18" charset="0"/>
                            </a:rPr>
                            <m:t>+</m:t>
                          </m:r>
                          <m:r>
                            <a:rPr lang="zh-CN" altLang="en-US" i="0">
                              <a:latin typeface="Cambria Math" panose="02040503050406030204" pitchFamily="18" charset="0"/>
                            </a:rPr>
                            <m:t>625</m:t>
                          </m:r>
                          <m:r>
                            <a:rPr lang="zh-CN" altLang="en-US" i="0">
                              <a:latin typeface="Cambria Math" panose="02040503050406030204" pitchFamily="18" charset="0"/>
                            </a:rPr>
                            <m:t>.</m:t>
                          </m:r>
                          <m:r>
                            <a:rPr lang="zh-CN" altLang="en-US" i="0">
                              <a:latin typeface="Cambria Math" panose="02040503050406030204" pitchFamily="18" charset="0"/>
                            </a:rPr>
                            <m:t>4</m:t>
                          </m:r>
                        </m:num>
                        <m:den>
                          <m:r>
                            <a:rPr lang="zh-CN" altLang="en-US" i="0">
                              <a:latin typeface="Cambria Math" panose="02040503050406030204" pitchFamily="18" charset="0"/>
                            </a:rPr>
                            <m:t>30</m:t>
                          </m:r>
                        </m:den>
                      </m:f>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14668</m:t>
                          </m:r>
                          <m:r>
                            <a:rPr lang="zh-CN" altLang="en-US" i="0">
                              <a:latin typeface="Cambria Math" panose="02040503050406030204" pitchFamily="18" charset="0"/>
                            </a:rPr>
                            <m:t>.</m:t>
                          </m:r>
                          <m:r>
                            <a:rPr lang="zh-CN" altLang="en-US" i="0">
                              <a:latin typeface="Cambria Math" panose="02040503050406030204" pitchFamily="18" charset="0"/>
                            </a:rPr>
                            <m:t>5</m:t>
                          </m:r>
                        </m:num>
                        <m:den>
                          <m:r>
                            <a:rPr lang="zh-CN" altLang="en-US" i="0">
                              <a:latin typeface="Cambria Math" panose="02040503050406030204" pitchFamily="18" charset="0"/>
                            </a:rPr>
                            <m:t>30</m:t>
                          </m:r>
                        </m:den>
                      </m:f>
                      <m:r>
                        <a:rPr lang="zh-CN" altLang="en-US" i="0">
                          <a:latin typeface="Cambria Math" panose="02040503050406030204" pitchFamily="18" charset="0"/>
                        </a:rPr>
                        <m:t>=</m:t>
                      </m:r>
                      <m:r>
                        <a:rPr lang="zh-CN" altLang="en-US" i="0">
                          <a:latin typeface="Cambria Math" panose="02040503050406030204" pitchFamily="18" charset="0"/>
                        </a:rPr>
                        <m:t>488</m:t>
                      </m:r>
                      <m:r>
                        <a:rPr lang="zh-CN" altLang="en-US" i="0">
                          <a:latin typeface="Cambria Math" panose="02040503050406030204" pitchFamily="18" charset="0"/>
                        </a:rPr>
                        <m:t>.</m:t>
                      </m:r>
                      <m:r>
                        <a:rPr lang="zh-CN" altLang="en-US" i="0">
                          <a:latin typeface="Cambria Math" panose="02040503050406030204" pitchFamily="18" charset="0"/>
                        </a:rPr>
                        <m:t>95</m:t>
                      </m:r>
                    </m:oMath>
                  </m:oMathPara>
                </a14:m>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5735960" y="5013176"/>
                <a:ext cx="5760640" cy="895310"/>
              </a:xfrm>
              <a:prstGeom prst="rect">
                <a:avLst/>
              </a:prstGeom>
              <a:blipFill rotWithShape="1">
                <a:blip r:embed="rId2"/>
                <a:stretch>
                  <a:fillRect t="-54" r="10" b="50"/>
                </a:stretch>
              </a:blipFill>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551384" y="1556792"/>
                <a:ext cx="4896544" cy="4680520"/>
              </a:xfrm>
              <a:ln w="12700" cmpd="dbl">
                <a:solidFill>
                  <a:schemeClr val="accent1"/>
                </a:solidFill>
              </a:ln>
            </p:spPr>
            <p:txBody>
              <a:bodyPr>
                <a:noAutofit/>
              </a:bodyPr>
              <a:lstStyle/>
              <a:p>
                <a:pPr marL="0" indent="0" algn="just">
                  <a:lnSpc>
                    <a:spcPct val="170000"/>
                  </a:lnSpc>
                  <a:buNone/>
                </a:pPr>
                <a:r>
                  <a:rPr lang="zh-CN" altLang="zh-CN" sz="1400" b="1" dirty="0">
                    <a:solidFill>
                      <a:srgbClr val="FF0000"/>
                    </a:solidFill>
                    <a:latin typeface="Calibri" panose="020F0502020204030204" pitchFamily="34" charset="0"/>
                    <a:cs typeface="Calibri" panose="020F0502020204030204" pitchFamily="34" charset="0"/>
                  </a:rPr>
                  <a:t>加权平均数（</a:t>
                </a:r>
                <a:r>
                  <a:rPr lang="en-US" altLang="zh-CN" sz="1400" b="1" dirty="0">
                    <a:solidFill>
                      <a:srgbClr val="FF0000"/>
                    </a:solidFill>
                    <a:latin typeface="Calibri" panose="020F0502020204030204" pitchFamily="34" charset="0"/>
                    <a:cs typeface="Calibri" panose="020F0502020204030204" pitchFamily="34" charset="0"/>
                  </a:rPr>
                  <a:t>weighted mean</a:t>
                </a:r>
                <a:r>
                  <a:rPr lang="zh-CN" altLang="zh-CN" sz="1400" b="1" dirty="0">
                    <a:solidFill>
                      <a:srgbClr val="FF0000"/>
                    </a:solidFill>
                    <a:latin typeface="Calibri" panose="020F0502020204030204" pitchFamily="34" charset="0"/>
                    <a:cs typeface="Calibri" panose="020F0502020204030204" pitchFamily="34" charset="0"/>
                  </a:rPr>
                  <a:t>）</a:t>
                </a:r>
                <a:endParaRPr lang="en-US" altLang="zh-CN" sz="1400" b="1" dirty="0">
                  <a:solidFill>
                    <a:srgbClr val="FF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如果样本数据被分成</a:t>
                </a:r>
                <a14:m>
                  <m:oMath xmlns:m="http://schemas.openxmlformats.org/officeDocument/2006/math">
                    <m:r>
                      <a:rPr lang="en-US" altLang="zh-CN" sz="1400">
                        <a:solidFill>
                          <a:srgbClr val="000000"/>
                        </a:solidFill>
                        <a:latin typeface="Cambria Math" panose="02040503050406030204" pitchFamily="18" charset="0"/>
                        <a:cs typeface="Calibri" panose="020F0502020204030204" pitchFamily="34" charset="0"/>
                      </a:rPr>
                      <m:t>𝑘</m:t>
                    </m:r>
                  </m:oMath>
                </a14:m>
                <a:r>
                  <a:rPr lang="zh-CN" altLang="zh-CN" sz="1400" dirty="0">
                    <a:solidFill>
                      <a:srgbClr val="000000"/>
                    </a:solidFill>
                    <a:latin typeface="Calibri" panose="020F0502020204030204" pitchFamily="34" charset="0"/>
                    <a:cs typeface="Calibri" panose="020F0502020204030204" pitchFamily="34" charset="0"/>
                  </a:rPr>
                  <a:t>组，各组的组中值（一个组中的中间值，是组的下限值与上限值的平均数）分别用</a:t>
                </a:r>
                <a14:m>
                  <m:oMath xmlns:m="http://schemas.openxmlformats.org/officeDocument/2006/math">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𝑚</m:t>
                        </m:r>
                      </m:e>
                      <m:sub>
                        <m:r>
                          <a:rPr lang="en-US" altLang="zh-CN" sz="1400">
                            <a:solidFill>
                              <a:srgbClr val="000000"/>
                            </a:solidFill>
                            <a:latin typeface="Cambria Math" panose="02040503050406030204" pitchFamily="18" charset="0"/>
                            <a:cs typeface="Calibri" panose="020F0502020204030204" pitchFamily="34" charset="0"/>
                          </a:rPr>
                          <m:t>1</m:t>
                        </m:r>
                      </m:sub>
                    </m:sSub>
                    <m:r>
                      <a:rPr lang="zh-CN"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𝑚</m:t>
                        </m:r>
                      </m:e>
                      <m:sub>
                        <m:r>
                          <a:rPr lang="en-US" altLang="zh-CN" sz="1400">
                            <a:solidFill>
                              <a:srgbClr val="000000"/>
                            </a:solidFill>
                            <a:latin typeface="Cambria Math" panose="02040503050406030204" pitchFamily="18" charset="0"/>
                            <a:cs typeface="Calibri" panose="020F0502020204030204" pitchFamily="34" charset="0"/>
                          </a:rPr>
                          <m:t>2</m:t>
                        </m:r>
                      </m:sub>
                    </m:sSub>
                    <m:r>
                      <a:rPr lang="zh-CN"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m:t>
                    </m:r>
                    <m:r>
                      <a:rPr lang="zh-CN"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𝑚</m:t>
                        </m:r>
                      </m:e>
                      <m:sub>
                        <m:r>
                          <a:rPr lang="en-US" altLang="zh-CN" sz="1400">
                            <a:solidFill>
                              <a:srgbClr val="000000"/>
                            </a:solidFill>
                            <a:latin typeface="Cambria Math" panose="02040503050406030204" pitchFamily="18" charset="0"/>
                            <a:cs typeface="Calibri" panose="020F0502020204030204" pitchFamily="34" charset="0"/>
                          </a:rPr>
                          <m:t>𝑘</m:t>
                        </m:r>
                      </m:sub>
                    </m:sSub>
                  </m:oMath>
                </a14:m>
                <a:r>
                  <a:rPr lang="zh-CN" altLang="zh-CN" sz="1400" dirty="0">
                    <a:solidFill>
                      <a:srgbClr val="000000"/>
                    </a:solidFill>
                    <a:latin typeface="Calibri" panose="020F0502020204030204" pitchFamily="34" charset="0"/>
                    <a:cs typeface="Calibri" panose="020F0502020204030204" pitchFamily="34" charset="0"/>
                  </a:rPr>
                  <a:t>表示，各组的频数分别用</a:t>
                </a:r>
                <a14:m>
                  <m:oMath xmlns:m="http://schemas.openxmlformats.org/officeDocument/2006/math">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1</m:t>
                        </m:r>
                      </m:sub>
                    </m:sSub>
                    <m:r>
                      <a:rPr lang="zh-CN"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2</m:t>
                        </m:r>
                      </m:sub>
                    </m:sSub>
                    <m:r>
                      <a:rPr lang="zh-CN"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m:t>
                    </m:r>
                    <m:r>
                      <a:rPr lang="zh-CN"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𝑘</m:t>
                        </m:r>
                      </m:sub>
                    </m:sSub>
                  </m:oMath>
                </a14:m>
                <a:r>
                  <a:rPr lang="zh-CN" altLang="zh-CN" sz="1400" dirty="0">
                    <a:solidFill>
                      <a:srgbClr val="000000"/>
                    </a:solidFill>
                    <a:latin typeface="Calibri" panose="020F0502020204030204" pitchFamily="34" charset="0"/>
                    <a:cs typeface="Calibri" panose="020F0502020204030204" pitchFamily="34" charset="0"/>
                  </a:rPr>
                  <a:t>表示，则样本平均数的计算公式为</a:t>
                </a:r>
                <a:endParaRPr lang="zh-CN" altLang="zh-CN" sz="1400" dirty="0">
                  <a:solidFill>
                    <a:srgbClr val="000000"/>
                  </a:solidFill>
                  <a:latin typeface="Calibri" panose="020F0502020204030204" pitchFamily="34" charset="0"/>
                  <a:cs typeface="Calibri" panose="020F0502020204030204" pitchFamily="34" charset="0"/>
                </a:endParaRPr>
              </a:p>
              <a:p>
                <a:pPr marL="0" indent="0" algn="just">
                  <a:lnSpc>
                    <a:spcPct val="170000"/>
                  </a:lnSpc>
                  <a:buClr>
                    <a:schemeClr val="accent1"/>
                  </a:buClr>
                  <a:buSzPct val="100000"/>
                  <a:buNone/>
                  <a:defRPr/>
                </a:pPr>
                <a14:m>
                  <m:oMathPara xmlns:m="http://schemas.openxmlformats.org/officeDocument/2006/math">
                    <m:oMathParaPr>
                      <m:jc m:val="centerGroup"/>
                    </m:oMathParaPr>
                    <m:oMath xmlns:m="http://schemas.openxmlformats.org/officeDocument/2006/math">
                      <m:acc>
                        <m:accPr>
                          <m:chr m:val="̄"/>
                          <m:ctrlPr>
                            <a:rPr lang="zh-CN" altLang="zh-CN" sz="1400" i="1">
                              <a:solidFill>
                                <a:srgbClr val="000000"/>
                              </a:solidFill>
                              <a:latin typeface="Cambria Math" panose="02040503050406030204" pitchFamily="18" charset="0"/>
                              <a:cs typeface="Calibri" panose="020F0502020204030204" pitchFamily="34" charset="0"/>
                            </a:rPr>
                          </m:ctrlPr>
                        </m:accPr>
                        <m:e>
                          <m:r>
                            <a:rPr lang="en-US" altLang="zh-CN" sz="1400">
                              <a:solidFill>
                                <a:srgbClr val="000000"/>
                              </a:solidFill>
                              <a:latin typeface="Cambria Math" panose="02040503050406030204" pitchFamily="18" charset="0"/>
                              <a:cs typeface="Calibri" panose="020F0502020204030204" pitchFamily="34" charset="0"/>
                            </a:rPr>
                            <m:t>𝑥</m:t>
                          </m:r>
                        </m:e>
                      </m:acc>
                      <m:r>
                        <a:rPr lang="en-US" altLang="zh-CN" sz="1400">
                          <a:solidFill>
                            <a:srgbClr val="000000"/>
                          </a:solidFill>
                          <a:latin typeface="Cambria Math" panose="02040503050406030204" pitchFamily="18" charset="0"/>
                          <a:cs typeface="Calibri" panose="020F0502020204030204" pitchFamily="34" charset="0"/>
                        </a:rPr>
                        <m:t>=</m:t>
                      </m:r>
                      <m:f>
                        <m:fPr>
                          <m:ctrlPr>
                            <a:rPr lang="zh-CN" altLang="zh-CN" sz="1400" i="1">
                              <a:solidFill>
                                <a:srgbClr val="000000"/>
                              </a:solidFill>
                              <a:latin typeface="Cambria Math" panose="02040503050406030204" pitchFamily="18" charset="0"/>
                              <a:cs typeface="Calibri" panose="020F0502020204030204" pitchFamily="34" charset="0"/>
                            </a:rPr>
                          </m:ctrlPr>
                        </m:fPr>
                        <m:num>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𝑚</m:t>
                              </m:r>
                            </m:e>
                            <m:sub>
                              <m:r>
                                <a:rPr lang="en-US" altLang="zh-CN" sz="1400">
                                  <a:solidFill>
                                    <a:srgbClr val="000000"/>
                                  </a:solidFill>
                                  <a:latin typeface="Cambria Math" panose="02040503050406030204" pitchFamily="18" charset="0"/>
                                  <a:cs typeface="Calibri" panose="020F0502020204030204" pitchFamily="34" charset="0"/>
                                </a:rPr>
                                <m:t>1</m:t>
                              </m:r>
                            </m:sub>
                          </m:sSub>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1</m:t>
                              </m:r>
                            </m:sub>
                          </m:sSub>
                          <m:r>
                            <a:rPr lang="en-US"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𝑚</m:t>
                              </m:r>
                            </m:e>
                            <m:sub>
                              <m:r>
                                <a:rPr lang="en-US" altLang="zh-CN" sz="1400">
                                  <a:solidFill>
                                    <a:srgbClr val="000000"/>
                                  </a:solidFill>
                                  <a:latin typeface="Cambria Math" panose="02040503050406030204" pitchFamily="18" charset="0"/>
                                  <a:cs typeface="Calibri" panose="020F0502020204030204" pitchFamily="34" charset="0"/>
                                </a:rPr>
                                <m:t>2</m:t>
                              </m:r>
                            </m:sub>
                          </m:sSub>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2</m:t>
                              </m:r>
                            </m:sub>
                          </m:sSub>
                          <m:r>
                            <a:rPr lang="en-US"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𝑚</m:t>
                              </m:r>
                            </m:e>
                            <m:sub>
                              <m:r>
                                <a:rPr lang="en-US" altLang="zh-CN" sz="1400">
                                  <a:solidFill>
                                    <a:srgbClr val="000000"/>
                                  </a:solidFill>
                                  <a:latin typeface="Cambria Math" panose="02040503050406030204" pitchFamily="18" charset="0"/>
                                  <a:cs typeface="Calibri" panose="020F0502020204030204" pitchFamily="34" charset="0"/>
                                </a:rPr>
                                <m:t>𝑘</m:t>
                              </m:r>
                            </m:sub>
                          </m:sSub>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𝑘</m:t>
                              </m:r>
                            </m:sub>
                          </m:sSub>
                        </m:num>
                        <m:den>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1</m:t>
                              </m:r>
                            </m:sub>
                          </m:sSub>
                          <m:r>
                            <a:rPr lang="en-US"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2</m:t>
                              </m:r>
                            </m:sub>
                          </m:sSub>
                          <m:r>
                            <a:rPr lang="en-US"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𝑘</m:t>
                              </m:r>
                            </m:sub>
                          </m:sSub>
                        </m:den>
                      </m:f>
                      <m:r>
                        <a:rPr lang="en-US" altLang="zh-CN" sz="1400">
                          <a:solidFill>
                            <a:srgbClr val="000000"/>
                          </a:solidFill>
                          <a:latin typeface="Cambria Math" panose="02040503050406030204" pitchFamily="18" charset="0"/>
                          <a:cs typeface="Calibri" panose="020F0502020204030204" pitchFamily="34" charset="0"/>
                        </a:rPr>
                        <m:t>=</m:t>
                      </m:r>
                      <m:f>
                        <m:fPr>
                          <m:ctrlPr>
                            <a:rPr lang="zh-CN" altLang="zh-CN" sz="1400" i="1">
                              <a:solidFill>
                                <a:srgbClr val="000000"/>
                              </a:solidFill>
                              <a:latin typeface="Cambria Math" panose="02040503050406030204" pitchFamily="18" charset="0"/>
                              <a:cs typeface="Calibri" panose="020F0502020204030204" pitchFamily="34" charset="0"/>
                            </a:rPr>
                          </m:ctrlPr>
                        </m:fPr>
                        <m:num>
                          <m:nary>
                            <m:naryPr>
                              <m:chr m:val="∑"/>
                              <m:ctrlPr>
                                <a:rPr lang="zh-CN" altLang="zh-CN" sz="1400" i="1">
                                  <a:solidFill>
                                    <a:srgbClr val="000000"/>
                                  </a:solidFill>
                                  <a:latin typeface="Cambria Math" panose="02040503050406030204" pitchFamily="18" charset="0"/>
                                  <a:cs typeface="Calibri" panose="020F0502020204030204" pitchFamily="34" charset="0"/>
                                </a:rPr>
                              </m:ctrlPr>
                            </m:naryPr>
                            <m:sub>
                              <m:r>
                                <a:rPr lang="en-US" altLang="zh-CN" sz="1400">
                                  <a:solidFill>
                                    <a:srgbClr val="000000"/>
                                  </a:solidFill>
                                  <a:latin typeface="Cambria Math" panose="02040503050406030204" pitchFamily="18" charset="0"/>
                                  <a:cs typeface="Calibri" panose="020F0502020204030204" pitchFamily="34" charset="0"/>
                                </a:rPr>
                                <m:t>𝑖</m:t>
                              </m:r>
                              <m:r>
                                <a:rPr lang="en-US"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1</m:t>
                              </m:r>
                            </m:sub>
                            <m:sup>
                              <m:r>
                                <a:rPr lang="en-US" altLang="zh-CN" sz="1400">
                                  <a:solidFill>
                                    <a:srgbClr val="000000"/>
                                  </a:solidFill>
                                  <a:latin typeface="Cambria Math" panose="02040503050406030204" pitchFamily="18" charset="0"/>
                                  <a:cs typeface="Calibri" panose="020F0502020204030204" pitchFamily="34" charset="0"/>
                                </a:rPr>
                                <m:t>𝑘</m:t>
                              </m:r>
                            </m:sup>
                            <m:e>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𝑚</m:t>
                                  </m:r>
                                </m:e>
                                <m:sub>
                                  <m:r>
                                    <a:rPr lang="en-US" altLang="zh-CN" sz="1400">
                                      <a:solidFill>
                                        <a:srgbClr val="000000"/>
                                      </a:solidFill>
                                      <a:latin typeface="Cambria Math" panose="02040503050406030204" pitchFamily="18" charset="0"/>
                                      <a:cs typeface="Calibri" panose="020F0502020204030204" pitchFamily="34" charset="0"/>
                                    </a:rPr>
                                    <m:t>𝑖</m:t>
                                  </m:r>
                                </m:sub>
                              </m:sSub>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𝑓</m:t>
                                  </m:r>
                                </m:e>
                                <m:sub>
                                  <m:r>
                                    <a:rPr lang="en-US" altLang="zh-CN" sz="1400">
                                      <a:solidFill>
                                        <a:srgbClr val="000000"/>
                                      </a:solidFill>
                                      <a:latin typeface="Cambria Math" panose="02040503050406030204" pitchFamily="18" charset="0"/>
                                      <a:cs typeface="Calibri" panose="020F0502020204030204" pitchFamily="34" charset="0"/>
                                    </a:rPr>
                                    <m:t>𝑖</m:t>
                                  </m:r>
                                </m:sub>
                              </m:sSub>
                            </m:e>
                          </m:nary>
                        </m:num>
                        <m:den>
                          <m:r>
                            <a:rPr lang="en-US" altLang="zh-CN" sz="1400">
                              <a:solidFill>
                                <a:srgbClr val="000000"/>
                              </a:solidFill>
                              <a:latin typeface="Cambria Math" panose="02040503050406030204" pitchFamily="18" charset="0"/>
                              <a:cs typeface="Calibri" panose="020F0502020204030204" pitchFamily="34" charset="0"/>
                            </a:rPr>
                            <m:t>𝑛</m:t>
                          </m:r>
                        </m:den>
                      </m:f>
                    </m:oMath>
                  </m:oMathPara>
                </a14:m>
                <a:endParaRPr lang="en-US" altLang="zh-CN" sz="1400" dirty="0">
                  <a:solidFill>
                    <a:srgbClr val="000000"/>
                  </a:solidFill>
                  <a:latin typeface="Calibri" panose="020F0502020204030204" pitchFamily="34" charset="0"/>
                  <a:cs typeface="Calibri" panose="020F0502020204030204" pitchFamily="34" charset="0"/>
                </a:endParaRPr>
              </a:p>
              <a:p>
                <a:pPr marL="0" indent="0" algn="just">
                  <a:lnSpc>
                    <a:spcPct val="170000"/>
                  </a:lnSpc>
                  <a:buClr>
                    <a:schemeClr val="accent1"/>
                  </a:buClr>
                  <a:buSzPct val="100000"/>
                  <a:buNone/>
                  <a:defRPr/>
                </a:pPr>
                <a:r>
                  <a:rPr lang="en-US" altLang="zh-CN" sz="1400" dirty="0">
                    <a:solidFill>
                      <a:srgbClr val="000000"/>
                    </a:solidFill>
                    <a:latin typeface="Calibri" panose="020F0502020204030204" pitchFamily="34" charset="0"/>
                    <a:cs typeface="Calibri" panose="020F0502020204030204" pitchFamily="34" charset="0"/>
                  </a:rPr>
                  <a:t> </a:t>
                </a:r>
                <a:r>
                  <a:rPr lang="zh-CN" altLang="en-US" sz="1400" dirty="0">
                    <a:solidFill>
                      <a:srgbClr val="000000"/>
                    </a:solidFill>
                    <a:latin typeface="Calibri" panose="020F0502020204030204" pitchFamily="34" charset="0"/>
                    <a:cs typeface="Calibri" panose="020F0502020204030204" pitchFamily="34" charset="0"/>
                  </a:rPr>
                  <a:t>注：</a:t>
                </a:r>
                <a:r>
                  <a:rPr lang="zh-CN" altLang="zh-CN" sz="1400" dirty="0">
                    <a:solidFill>
                      <a:srgbClr val="000000"/>
                    </a:solidFill>
                    <a:effectLst/>
                    <a:latin typeface="NEU-BZ-S92"/>
                    <a:ea typeface="华文细黑" panose="02010600040101010101" pitchFamily="2" charset="-122"/>
                    <a:cs typeface="Times New Roman" panose="02020603050405020304" pitchFamily="18" charset="0"/>
                  </a:rPr>
                  <a:t>如果总体数据被分成</a:t>
                </a:r>
                <a:r>
                  <a:rPr lang="en-US" altLang="zh-CN" sz="1400" i="1" dirty="0">
                    <a:solidFill>
                      <a:srgbClr val="000000"/>
                    </a:solidFill>
                    <a:effectLst/>
                    <a:latin typeface="NEU-BZ-S92"/>
                    <a:ea typeface="华文细黑" panose="02010600040101010101" pitchFamily="2" charset="-122"/>
                    <a:cs typeface="Times New Roman" panose="02020603050405020304" pitchFamily="18" charset="0"/>
                  </a:rPr>
                  <a:t>k</a:t>
                </a:r>
                <a:r>
                  <a:rPr lang="zh-CN" altLang="zh-CN" sz="1400" dirty="0">
                    <a:solidFill>
                      <a:srgbClr val="000000"/>
                    </a:solidFill>
                    <a:effectLst/>
                    <a:latin typeface="NEU-BZ-S92"/>
                    <a:ea typeface="华文细黑" panose="02010600040101010101" pitchFamily="2" charset="-122"/>
                    <a:cs typeface="Times New Roman" panose="02020603050405020304" pitchFamily="18" charset="0"/>
                  </a:rPr>
                  <a:t>组，各组的组中值分别用</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𝑀</m:t>
                        </m:r>
                      </m:e>
                      <m:sub>
                        <m:r>
                          <a:rPr lang="en-US"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1</m:t>
                        </m:r>
                      </m:sub>
                    </m:sSub>
                    <m:r>
                      <a:rPr lang="zh-CN"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𝑀</m:t>
                        </m:r>
                      </m:e>
                      <m:sub>
                        <m:r>
                          <a:rPr lang="en-US"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2</m:t>
                        </m:r>
                      </m:sub>
                    </m:sSub>
                    <m:r>
                      <a:rPr lang="zh-CN"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r>
                      <a:rPr lang="en-US"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r>
                      <a:rPr lang="zh-CN"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𝑀</m:t>
                        </m:r>
                      </m:e>
                      <m:sub>
                        <m:r>
                          <a:rPr lang="en-US" altLang="zh-CN" sz="14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𝑘</m:t>
                        </m:r>
                      </m:sub>
                    </m:sSub>
                  </m:oMath>
                </a14:m>
                <a:r>
                  <a:rPr lang="zh-CN" altLang="zh-CN" sz="1400" dirty="0">
                    <a:solidFill>
                      <a:srgbClr val="000000"/>
                    </a:solidFill>
                    <a:effectLst/>
                    <a:latin typeface="NEU-BZ-S92"/>
                    <a:ea typeface="华文细黑" panose="02010600040101010101" pitchFamily="2" charset="-122"/>
                    <a:cs typeface="Times New Roman" panose="02020603050405020304" pitchFamily="18" charset="0"/>
                  </a:rPr>
                  <a:t>表示，各组数据出现的频数分别用</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𝑓</m:t>
                        </m:r>
                      </m:e>
                      <m:sub>
                        <m:r>
                          <a:rPr lang="en-US"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1</m:t>
                        </m:r>
                      </m:sub>
                    </m:sSub>
                    <m:r>
                      <a:rPr lang="zh-CN"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𝑓</m:t>
                        </m:r>
                      </m:e>
                      <m:sub>
                        <m:r>
                          <a:rPr lang="en-US"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2</m:t>
                        </m:r>
                      </m:sub>
                    </m:sSub>
                    <m:r>
                      <a:rPr lang="zh-CN"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r>
                      <a:rPr lang="zh-CN" altLang="zh-CN" sz="1400">
                        <a:solidFill>
                          <a:srgbClr val="000000"/>
                        </a:solidFill>
                        <a:effectLst/>
                        <a:latin typeface="Cambria Math" panose="02040503050406030204" pitchFamily="18" charset="0"/>
                        <a:ea typeface="MS Gothic" panose="020B0609070205080204" pitchFamily="49" charset="-128"/>
                        <a:cs typeface="MS Gothic" panose="020B0609070205080204" pitchFamily="49" charset="-128"/>
                      </a:rPr>
                      <m:t>⋯</m:t>
                    </m:r>
                    <m:r>
                      <a:rPr lang="zh-CN" altLang="zh-CN" sz="1400">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𝑓</m:t>
                        </m:r>
                      </m:e>
                      <m:sub>
                        <m:r>
                          <a:rPr lang="en-US" altLang="zh-CN" sz="14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𝑘</m:t>
                        </m:r>
                      </m:sub>
                    </m:sSub>
                  </m:oMath>
                </a14:m>
                <a:r>
                  <a:rPr lang="zh-CN" altLang="zh-CN" sz="1400" dirty="0">
                    <a:solidFill>
                      <a:srgbClr val="000000"/>
                    </a:solidFill>
                    <a:effectLst/>
                    <a:latin typeface="NEU-BZ-S92"/>
                    <a:ea typeface="华文细黑" panose="02010600040101010101" pitchFamily="2" charset="-122"/>
                    <a:cs typeface="Times New Roman" panose="02020603050405020304" pitchFamily="18" charset="0"/>
                  </a:rPr>
                  <a:t>表示，则总体加权平均数的计算公式为</a:t>
                </a:r>
                <a:endParaRPr lang="en-US" altLang="zh-CN" sz="1400" dirty="0">
                  <a:solidFill>
                    <a:srgbClr val="000000"/>
                  </a:solidFill>
                  <a:effectLst/>
                  <a:latin typeface="NEU-BZ-S92"/>
                  <a:ea typeface="华文细黑" panose="02010600040101010101" pitchFamily="2" charset="-122"/>
                  <a:cs typeface="Times New Roman" panose="02020603050405020304" pitchFamily="18" charset="0"/>
                </a:endParaRPr>
              </a:p>
              <a:p>
                <a:pPr marL="0" indent="0" algn="just">
                  <a:lnSpc>
                    <a:spcPct val="170000"/>
                  </a:lnSpc>
                  <a:buClr>
                    <a:schemeClr val="accent1"/>
                  </a:buClr>
                  <a:buSzPct val="100000"/>
                  <a:buNone/>
                  <a:defRPr/>
                </a:pPr>
                <a14:m>
                  <m:oMathPara xmlns:m="http://schemas.openxmlformats.org/officeDocument/2006/math">
                    <m:oMathParaPr>
                      <m:jc m:val="centerGroup"/>
                    </m:oMathParaPr>
                    <m:oMath xmlns:m="http://schemas.openxmlformats.org/officeDocument/2006/math">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𝜇</m:t>
                      </m:r>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f>
                        <m:fPr>
                          <m:ctrlPr>
                            <a:rPr lang="zh-CN" altLang="zh-CN" sz="1400" i="1">
                              <a:effectLst/>
                              <a:latin typeface="Cambria Math" panose="02040503050406030204" pitchFamily="18" charset="0"/>
                              <a:ea typeface="Cambria Math" panose="02040503050406030204" pitchFamily="18" charset="0"/>
                            </a:rPr>
                          </m:ctrlPr>
                        </m:fPr>
                        <m:num>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𝑀</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1</m:t>
                              </m:r>
                            </m:sub>
                          </m:sSub>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𝑓</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1</m:t>
                              </m:r>
                            </m:sub>
                          </m:s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𝑀</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2</m:t>
                              </m:r>
                            </m:sub>
                          </m:sSub>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𝑓</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2</m:t>
                              </m:r>
                            </m:sub>
                          </m:s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r>
                            <a:rPr lang="zh-CN" altLang="zh-CN" sz="1400" i="1">
                              <a:solidFill>
                                <a:srgbClr val="000000"/>
                              </a:solidFill>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𝑀</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𝑘</m:t>
                              </m:r>
                            </m:sub>
                          </m:sSub>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𝑓</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𝑘</m:t>
                              </m:r>
                            </m:sub>
                          </m:sSub>
                        </m:num>
                        <m:den>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𝑓</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1</m:t>
                              </m:r>
                            </m:sub>
                          </m:s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𝑓</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2</m:t>
                              </m:r>
                            </m:sub>
                          </m:s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r>
                            <a:rPr lang="zh-CN" altLang="zh-CN" sz="1400" i="1">
                              <a:solidFill>
                                <a:srgbClr val="000000"/>
                              </a:solidFill>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𝑓</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𝑘</m:t>
                              </m:r>
                            </m:sub>
                          </m:sSub>
                        </m:den>
                      </m:f>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f>
                        <m:fPr>
                          <m:ctrlPr>
                            <a:rPr lang="zh-CN" altLang="zh-CN" sz="1400" i="1">
                              <a:effectLst/>
                              <a:latin typeface="Cambria Math" panose="02040503050406030204" pitchFamily="18" charset="0"/>
                              <a:ea typeface="Cambria Math" panose="02040503050406030204" pitchFamily="18" charset="0"/>
                            </a:rPr>
                          </m:ctrlPr>
                        </m:fPr>
                        <m:num>
                          <m:nary>
                            <m:naryPr>
                              <m:chr m:val="∑"/>
                              <m:ctrlPr>
                                <a:rPr lang="zh-CN" altLang="zh-CN" sz="1400" i="1">
                                  <a:effectLst/>
                                  <a:latin typeface="Cambria Math" panose="02040503050406030204" pitchFamily="18" charset="0"/>
                                  <a:ea typeface="Cambria Math" panose="02040503050406030204" pitchFamily="18" charset="0"/>
                                </a:rPr>
                              </m:ctrlPr>
                            </m:naryPr>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𝑖</m:t>
                              </m:r>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m:t>
                              </m:r>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1</m:t>
                              </m:r>
                            </m:sub>
                            <m:sup>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𝑘</m:t>
                              </m:r>
                            </m:sup>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𝑀</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𝑖</m:t>
                                  </m:r>
                                </m:sub>
                              </m:sSub>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𝑓</m:t>
                                  </m:r>
                                </m:e>
                                <m:sub>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𝑖</m:t>
                                  </m:r>
                                </m:sub>
                              </m:sSub>
                            </m:e>
                          </m:nary>
                        </m:num>
                        <m:den>
                          <m:r>
                            <a:rPr lang="en-US" altLang="zh-CN" sz="1400" i="1">
                              <a:solidFill>
                                <a:srgbClr val="000000"/>
                              </a:solidFill>
                              <a:effectLst/>
                              <a:latin typeface="Cambria Math" panose="02040503050406030204" pitchFamily="18" charset="0"/>
                              <a:ea typeface="方正书宋_GBK" panose="02000000000000000000" charset="-122"/>
                              <a:cs typeface="Times New Roman" panose="02020603050405020304" pitchFamily="18" charset="0"/>
                            </a:rPr>
                            <m:t>𝑁</m:t>
                          </m:r>
                        </m:den>
                      </m:f>
                    </m:oMath>
                  </m:oMathPara>
                </a14:m>
                <a:endParaRPr lang="zh-CN" altLang="zh-CN" sz="1400" dirty="0">
                  <a:solidFill>
                    <a:srgbClr val="000000"/>
                  </a:solidFill>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551384" y="1556792"/>
                <a:ext cx="4896544" cy="4680520"/>
              </a:xfrm>
              <a:blipFill rotWithShape="1">
                <a:blip r:embed="rId1"/>
                <a:stretch>
                  <a:fillRect l="-134" t="-144" r="-124" b="-2910"/>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平均数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加权平均数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Content Placeholder 8"/>
          <p:cNvSpPr txBox="1"/>
          <p:nvPr/>
        </p:nvSpPr>
        <p:spPr>
          <a:xfrm>
            <a:off x="5591944" y="1556792"/>
            <a:ext cx="6048672" cy="4680520"/>
          </a:xfrm>
          <a:prstGeom prst="rect">
            <a:avLst/>
          </a:prstGeom>
          <a:ln w="12700" cmpd="dbl">
            <a:solidFill>
              <a:schemeClr val="accent1"/>
            </a:solidFill>
          </a:ln>
        </p:spPr>
        <p:txBody>
          <a:bodyPr vert="horz">
            <a:norm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Clr>
                <a:schemeClr val="accent1"/>
              </a:buClr>
              <a:buSzPct val="100000"/>
              <a:buNone/>
              <a:defRPr/>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rPr>
              <a:t>4.2</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假定将表</a:t>
            </a:r>
            <a:r>
              <a:rPr lang="en-US" altLang="zh-CN" sz="1800" dirty="0">
                <a:effectLst/>
                <a:latin typeface="Calibri" panose="020F0502020204030204" pitchFamily="34" charset="0"/>
                <a:ea typeface="华文细黑" panose="02010600040101010101" pitchFamily="2" charset="-122"/>
              </a:rPr>
              <a:t>4-1</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的数据分成组距为</a:t>
            </a:r>
            <a:r>
              <a:rPr lang="en-US" altLang="zh-CN" sz="1800" dirty="0">
                <a:effectLst/>
                <a:latin typeface="Calibri" panose="020F0502020204030204" pitchFamily="34" charset="0"/>
                <a:ea typeface="华文细黑" panose="02010600040101010101" pitchFamily="2" charset="-122"/>
              </a:rPr>
              <a:t>50</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的组，分组结果如表</a:t>
            </a:r>
            <a:r>
              <a:rPr lang="en-US" altLang="zh-CN" sz="1800" dirty="0">
                <a:effectLst/>
                <a:latin typeface="Calibri" panose="020F0502020204030204" pitchFamily="34" charset="0"/>
                <a:ea typeface="华文细黑" panose="02010600040101010101" pitchFamily="2" charset="-122"/>
              </a:rPr>
              <a:t>4-2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所示，计算网购金额的平均数</a:t>
            </a:r>
            <a:endParaRPr lang="zh-CN" altLang="en-US" sz="2200" dirty="0">
              <a:latin typeface="Arial" panose="020B0604020202020204" pitchFamily="34" charset="0"/>
              <a:ea typeface="华文细黑" panose="02010600040101010101" pitchFamily="2" charset="-122"/>
              <a:cs typeface="Arial" panose="020B0604020202020204" pitchFamily="34" charset="0"/>
            </a:endParaRPr>
          </a:p>
        </p:txBody>
      </p:sp>
      <p:graphicFrame>
        <p:nvGraphicFramePr>
          <p:cNvPr id="4" name="表格 3"/>
          <p:cNvGraphicFramePr>
            <a:graphicFrameLocks noGrp="1"/>
          </p:cNvGraphicFramePr>
          <p:nvPr/>
        </p:nvGraphicFramePr>
        <p:xfrm>
          <a:off x="5758780" y="2492896"/>
          <a:ext cx="5593804" cy="3528393"/>
        </p:xfrm>
        <a:graphic>
          <a:graphicData uri="http://schemas.openxmlformats.org/drawingml/2006/table">
            <a:tbl>
              <a:tblPr firstRow="1" firstCol="1" bandRow="1">
                <a:tableStyleId>{5C22544A-7EE6-4342-B048-85BDC9FD1C3A}</a:tableStyleId>
              </a:tblPr>
              <a:tblGrid>
                <a:gridCol w="2796487"/>
                <a:gridCol w="2797317"/>
              </a:tblGrid>
              <a:tr h="394833">
                <a:tc>
                  <a:txBody>
                    <a:bodyPr/>
                    <a:lstStyle/>
                    <a:p>
                      <a:pPr algn="ctr">
                        <a:lnSpc>
                          <a:spcPts val="1635"/>
                        </a:lnSpc>
                      </a:pPr>
                      <a:r>
                        <a:rPr lang="zh-CN" sz="1800" b="1">
                          <a:effectLst/>
                        </a:rPr>
                        <a:t>分组</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zh-CN" sz="1800" b="1">
                          <a:effectLst/>
                        </a:rPr>
                        <a:t>人数</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91695">
                <a:tc>
                  <a:txBody>
                    <a:bodyPr/>
                    <a:lstStyle/>
                    <a:p>
                      <a:pPr algn="ctr">
                        <a:lnSpc>
                          <a:spcPts val="1635"/>
                        </a:lnSpc>
                      </a:pPr>
                      <a:r>
                        <a:rPr lang="en-US" sz="1800" b="1">
                          <a:effectLst/>
                        </a:rPr>
                        <a:t>300~350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2</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91695">
                <a:tc>
                  <a:txBody>
                    <a:bodyPr/>
                    <a:lstStyle/>
                    <a:p>
                      <a:pPr algn="ctr">
                        <a:lnSpc>
                          <a:spcPts val="1635"/>
                        </a:lnSpc>
                      </a:pPr>
                      <a:r>
                        <a:rPr lang="en-US" sz="1800" b="1">
                          <a:effectLst/>
                        </a:rPr>
                        <a:t>350~400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4</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91695">
                <a:tc>
                  <a:txBody>
                    <a:bodyPr/>
                    <a:lstStyle/>
                    <a:p>
                      <a:pPr algn="ctr">
                        <a:lnSpc>
                          <a:spcPts val="1635"/>
                        </a:lnSpc>
                      </a:pPr>
                      <a:r>
                        <a:rPr lang="en-US" sz="1800" b="1">
                          <a:effectLst/>
                        </a:rPr>
                        <a:t>400~450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6</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91695">
                <a:tc>
                  <a:txBody>
                    <a:bodyPr/>
                    <a:lstStyle/>
                    <a:p>
                      <a:pPr algn="ctr">
                        <a:lnSpc>
                          <a:spcPts val="1635"/>
                        </a:lnSpc>
                      </a:pPr>
                      <a:r>
                        <a:rPr lang="en-US" sz="1800" b="1">
                          <a:effectLst/>
                        </a:rPr>
                        <a:t>450~500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91695">
                <a:tc>
                  <a:txBody>
                    <a:bodyPr/>
                    <a:lstStyle/>
                    <a:p>
                      <a:pPr algn="ctr">
                        <a:lnSpc>
                          <a:spcPts val="1635"/>
                        </a:lnSpc>
                      </a:pPr>
                      <a:r>
                        <a:rPr lang="en-US" sz="1800" b="1">
                          <a:effectLst/>
                        </a:rPr>
                        <a:t>500~550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6</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91695">
                <a:tc>
                  <a:txBody>
                    <a:bodyPr/>
                    <a:lstStyle/>
                    <a:p>
                      <a:pPr algn="ctr">
                        <a:lnSpc>
                          <a:spcPts val="1635"/>
                        </a:lnSpc>
                      </a:pPr>
                      <a:r>
                        <a:rPr lang="en-US" sz="1800" b="1">
                          <a:effectLst/>
                        </a:rPr>
                        <a:t>550~600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2</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91695">
                <a:tc>
                  <a:txBody>
                    <a:bodyPr/>
                    <a:lstStyle/>
                    <a:p>
                      <a:pPr algn="ctr">
                        <a:lnSpc>
                          <a:spcPts val="1635"/>
                        </a:lnSpc>
                      </a:pPr>
                      <a:r>
                        <a:rPr lang="en-US" sz="1800" b="1">
                          <a:effectLst/>
                        </a:rPr>
                        <a:t>600~650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2</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91695">
                <a:tc>
                  <a:txBody>
                    <a:bodyPr/>
                    <a:lstStyle/>
                    <a:p>
                      <a:pPr algn="ctr">
                        <a:lnSpc>
                          <a:spcPts val="1635"/>
                        </a:lnSpc>
                      </a:pPr>
                      <a:r>
                        <a:rPr lang="en-US" sz="1800" b="1">
                          <a:effectLst/>
                        </a:rPr>
                        <a:t>650~700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dirty="0">
                          <a:effectLst/>
                        </a:rPr>
                        <a:t>3</a:t>
                      </a:r>
                      <a:endParaRPr lang="zh-CN" sz="1800" b="1" dirty="0">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bl>
          </a:graphicData>
        </a:graphic>
      </p:graphicFrame>
    </p:spTree>
    <p:custDataLst>
      <p:tags r:id="rId2"/>
    </p:custData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7032104" y="1484784"/>
                <a:ext cx="4608512" cy="4458430"/>
              </a:xfrm>
              <a:ln w="12700" cmpd="dbl">
                <a:solidFill>
                  <a:schemeClr val="accent1"/>
                </a:solidFill>
              </a:ln>
            </p:spPr>
            <p:txBody>
              <a:bodyPr>
                <a:noAutofit/>
              </a:bodyPr>
              <a:lstStyle/>
              <a:p>
                <a:pPr marL="0" indent="0" algn="just">
                  <a:lnSpc>
                    <a:spcPct val="200000"/>
                  </a:lnSpc>
                  <a:buNone/>
                </a:pPr>
                <a:r>
                  <a:rPr lang="zh-CN" altLang="zh-CN" sz="2800" b="1" dirty="0">
                    <a:solidFill>
                      <a:srgbClr val="FF0000"/>
                    </a:solidFill>
                    <a:latin typeface="Calibri" panose="020F0502020204030204" pitchFamily="34" charset="0"/>
                    <a:cs typeface="Calibri" panose="020F0502020204030204" pitchFamily="34" charset="0"/>
                  </a:rPr>
                  <a:t>加权平均数</a:t>
                </a:r>
                <a:r>
                  <a:rPr lang="zh-CN" altLang="en-US" sz="2800" b="1" dirty="0">
                    <a:solidFill>
                      <a:srgbClr val="FF0000"/>
                    </a:solidFill>
                    <a:latin typeface="Calibri" panose="020F0502020204030204" pitchFamily="34" charset="0"/>
                    <a:cs typeface="Calibri" panose="020F0502020204030204" pitchFamily="34" charset="0"/>
                  </a:rPr>
                  <a:t>计算结果</a:t>
                </a:r>
                <a:endParaRPr lang="en-US" altLang="zh-CN" sz="2800" b="1" dirty="0">
                  <a:solidFill>
                    <a:srgbClr val="FF0000"/>
                  </a:solidFill>
                  <a:latin typeface="Calibri" panose="020F0502020204030204" pitchFamily="34" charset="0"/>
                  <a:cs typeface="Calibri" panose="020F0502020204030204" pitchFamily="34" charset="0"/>
                </a:endParaRPr>
              </a:p>
              <a:p>
                <a:pPr marL="0" indent="0">
                  <a:lnSpc>
                    <a:spcPct val="200000"/>
                  </a:lnSpc>
                  <a:buNone/>
                </a:pPr>
                <a14:m>
                  <m:oMathPara xmlns:m="http://schemas.openxmlformats.org/officeDocument/2006/math">
                    <m:oMathParaPr>
                      <m:jc m:val="centerGroup"/>
                    </m:oMathParaPr>
                    <m:oMath xmlns:m="http://schemas.openxmlformats.org/officeDocument/2006/math">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𝑥</m:t>
                          </m:r>
                        </m:e>
                      </m:acc>
                      <m:r>
                        <a:rPr lang="en-US" altLang="zh-CN" sz="2800" i="1">
                          <a:latin typeface="Cambria Math" panose="02040503050406030204" pitchFamily="18" charset="0"/>
                        </a:rPr>
                        <m:t>=</m:t>
                      </m:r>
                      <m:f>
                        <m:fPr>
                          <m:ctrlPr>
                            <a:rPr lang="zh-CN" altLang="zh-CN" sz="2800" i="1">
                              <a:latin typeface="Cambria Math" panose="02040503050406030204" pitchFamily="18" charset="0"/>
                            </a:rPr>
                          </m:ctrlPr>
                        </m:fPr>
                        <m:num>
                          <m:nary>
                            <m:naryPr>
                              <m:chr m:val="∑"/>
                              <m:limLoc m:val="undOvr"/>
                              <m:ctrlPr>
                                <a:rPr lang="zh-CN" altLang="zh-CN" sz="2800" i="1">
                                  <a:latin typeface="Cambria Math" panose="02040503050406030204" pitchFamily="18" charset="0"/>
                                </a:rPr>
                              </m:ctrlPr>
                            </m:naryPr>
                            <m:sub>
                              <m:r>
                                <a:rPr lang="en-US" altLang="zh-CN" sz="2800" i="1">
                                  <a:latin typeface="Cambria Math" panose="02040503050406030204" pitchFamily="18" charset="0"/>
                                </a:rPr>
                                <m:t>𝑖</m:t>
                              </m:r>
                              <m:r>
                                <a:rPr lang="en-US" altLang="zh-CN" sz="2800" i="1">
                                  <a:latin typeface="Cambria Math" panose="02040503050406030204" pitchFamily="18" charset="0"/>
                                </a:rPr>
                                <m:t>=</m:t>
                              </m:r>
                              <m:r>
                                <a:rPr lang="en-US" altLang="zh-CN" sz="2800" i="1">
                                  <a:latin typeface="Cambria Math" panose="02040503050406030204" pitchFamily="18" charset="0"/>
                                </a:rPr>
                                <m:t>1</m:t>
                              </m:r>
                            </m:sub>
                            <m:sup>
                              <m:r>
                                <a:rPr lang="en-US" altLang="zh-CN" sz="2800" i="1">
                                  <a:latin typeface="Cambria Math" panose="02040503050406030204" pitchFamily="18" charset="0"/>
                                </a:rPr>
                                <m:t>𝑛</m:t>
                              </m:r>
                            </m:sup>
                            <m:e>
                              <m:sSub>
                                <m:sSubPr>
                                  <m:ctrlPr>
                                    <a:rPr lang="zh-CN" altLang="zh-CN" sz="2800" i="1">
                                      <a:latin typeface="Cambria Math" panose="02040503050406030204" pitchFamily="18" charset="0"/>
                                    </a:rPr>
                                  </m:ctrlPr>
                                </m:sSubPr>
                                <m:e>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𝑚</m:t>
                                      </m:r>
                                    </m:e>
                                    <m:sub>
                                      <m:r>
                                        <a:rPr lang="en-US" altLang="zh-CN" sz="2800" i="1">
                                          <a:latin typeface="Cambria Math" panose="02040503050406030204" pitchFamily="18" charset="0"/>
                                        </a:rPr>
                                        <m:t>𝑖</m:t>
                                      </m:r>
                                    </m:sub>
                                  </m:sSub>
                                  <m:r>
                                    <a:rPr lang="en-US" altLang="zh-CN" sz="2800" i="1">
                                      <a:latin typeface="Cambria Math" panose="02040503050406030204" pitchFamily="18" charset="0"/>
                                    </a:rPr>
                                    <m:t>𝑓</m:t>
                                  </m:r>
                                </m:e>
                                <m:sub>
                                  <m:r>
                                    <a:rPr lang="en-US" altLang="zh-CN" sz="2800" i="1">
                                      <a:latin typeface="Cambria Math" panose="02040503050406030204" pitchFamily="18" charset="0"/>
                                    </a:rPr>
                                    <m:t>𝑖</m:t>
                                  </m:r>
                                </m:sub>
                              </m:sSub>
                            </m:e>
                          </m:nary>
                        </m:num>
                        <m:den>
                          <m:r>
                            <a:rPr lang="en-US" altLang="zh-CN" sz="2800" i="1">
                              <a:latin typeface="Cambria Math" panose="02040503050406030204" pitchFamily="18" charset="0"/>
                            </a:rPr>
                            <m:t>𝑛</m:t>
                          </m:r>
                        </m:den>
                      </m:f>
                      <m:r>
                        <a:rPr lang="en-US" altLang="zh-CN" sz="2800">
                          <a:latin typeface="Cambria Math" panose="02040503050406030204" pitchFamily="18" charset="0"/>
                        </a:rPr>
                        <m:t>=</m:t>
                      </m:r>
                      <m:f>
                        <m:fPr>
                          <m:ctrlPr>
                            <a:rPr lang="zh-CN" altLang="zh-CN" sz="2800" i="1">
                              <a:latin typeface="Cambria Math" panose="02040503050406030204" pitchFamily="18" charset="0"/>
                            </a:rPr>
                          </m:ctrlPr>
                        </m:fPr>
                        <m:num>
                          <m:r>
                            <a:rPr lang="en-US" altLang="zh-CN" sz="2800" i="1">
                              <a:latin typeface="Cambria Math" panose="02040503050406030204" pitchFamily="18" charset="0"/>
                            </a:rPr>
                            <m:t>14650</m:t>
                          </m:r>
                        </m:num>
                        <m:den>
                          <m:r>
                            <a:rPr lang="en-US" altLang="zh-CN" sz="2800" i="1">
                              <a:latin typeface="Cambria Math" panose="02040503050406030204" pitchFamily="18" charset="0"/>
                            </a:rPr>
                            <m:t>30</m:t>
                          </m:r>
                        </m:den>
                      </m:f>
                      <m:r>
                        <a:rPr lang="en-US" altLang="zh-CN" sz="2800" i="1">
                          <a:latin typeface="Cambria Math" panose="02040503050406030204" pitchFamily="18" charset="0"/>
                        </a:rPr>
                        <m:t>=</m:t>
                      </m:r>
                      <m:r>
                        <a:rPr lang="en-US" altLang="zh-CN" sz="2800" i="1">
                          <a:latin typeface="Cambria Math" panose="02040503050406030204" pitchFamily="18" charset="0"/>
                        </a:rPr>
                        <m:t>488</m:t>
                      </m:r>
                      <m:r>
                        <a:rPr lang="en-US" altLang="zh-CN" sz="2800" i="1">
                          <a:latin typeface="Cambria Math" panose="02040503050406030204" pitchFamily="18" charset="0"/>
                        </a:rPr>
                        <m:t>.</m:t>
                      </m:r>
                      <m:r>
                        <a:rPr lang="en-US" altLang="zh-CN" sz="2800" i="1">
                          <a:latin typeface="Cambria Math" panose="02040503050406030204" pitchFamily="18" charset="0"/>
                        </a:rPr>
                        <m:t>33</m:t>
                      </m:r>
                    </m:oMath>
                  </m:oMathPara>
                </a14:m>
                <a:endParaRPr lang="zh-CN" altLang="zh-CN" sz="2800" dirty="0"/>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7032104" y="1484784"/>
                <a:ext cx="4608512" cy="4458430"/>
              </a:xfrm>
              <a:blipFill rotWithShape="1">
                <a:blip r:embed="rId1"/>
                <a:stretch>
                  <a:fillRect l="-140" t="-146" r="-128" b="-137"/>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平均数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加权平均数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Content Placeholder 8"/>
          <p:cNvSpPr txBox="1"/>
          <p:nvPr/>
        </p:nvSpPr>
        <p:spPr>
          <a:xfrm>
            <a:off x="873291" y="1484784"/>
            <a:ext cx="6048672" cy="4680520"/>
          </a:xfrm>
          <a:prstGeom prst="rect">
            <a:avLst/>
          </a:prstGeom>
          <a:ln w="12700" cmpd="dbl">
            <a:solidFill>
              <a:schemeClr val="accent1"/>
            </a:solidFill>
          </a:ln>
        </p:spPr>
        <p:txBody>
          <a:bodyPr vert="horz">
            <a:norm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Clr>
                <a:schemeClr val="accent1"/>
              </a:buClr>
              <a:buSzPct val="100000"/>
              <a:buNone/>
              <a:defRPr/>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rPr>
              <a:t>4.2</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假定将表</a:t>
            </a:r>
            <a:r>
              <a:rPr lang="en-US" altLang="zh-CN" sz="1800" dirty="0">
                <a:effectLst/>
                <a:latin typeface="Calibri" panose="020F0502020204030204" pitchFamily="34" charset="0"/>
                <a:ea typeface="华文细黑" panose="02010600040101010101" pitchFamily="2" charset="-122"/>
              </a:rPr>
              <a:t>4-1</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的数据分成组距为</a:t>
            </a:r>
            <a:r>
              <a:rPr lang="en-US" altLang="zh-CN" sz="1800" dirty="0">
                <a:effectLst/>
                <a:latin typeface="Calibri" panose="020F0502020204030204" pitchFamily="34" charset="0"/>
                <a:ea typeface="华文细黑" panose="02010600040101010101" pitchFamily="2" charset="-122"/>
              </a:rPr>
              <a:t>50</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的组，分组结果如表</a:t>
            </a:r>
            <a:r>
              <a:rPr lang="en-US" altLang="zh-CN" sz="1800" dirty="0">
                <a:effectLst/>
                <a:latin typeface="Calibri" panose="020F0502020204030204" pitchFamily="34" charset="0"/>
                <a:ea typeface="华文细黑" panose="02010600040101010101" pitchFamily="2" charset="-122"/>
              </a:rPr>
              <a:t>4-2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所示，计算网购金额的平均数</a:t>
            </a:r>
            <a:endParaRPr lang="zh-CN" altLang="en-US" sz="2200" dirty="0">
              <a:latin typeface="Arial" panose="020B0604020202020204" pitchFamily="34" charset="0"/>
              <a:ea typeface="华文细黑" panose="02010600040101010101" pitchFamily="2" charset="-122"/>
              <a:cs typeface="Arial" panose="020B0604020202020204" pitchFamily="34" charset="0"/>
            </a:endParaRPr>
          </a:p>
        </p:txBody>
      </p:sp>
      <p:graphicFrame>
        <p:nvGraphicFramePr>
          <p:cNvPr id="11" name="表格 10"/>
          <p:cNvGraphicFramePr>
            <a:graphicFrameLocks noGrp="1"/>
          </p:cNvGraphicFramePr>
          <p:nvPr/>
        </p:nvGraphicFramePr>
        <p:xfrm>
          <a:off x="1017307" y="2398142"/>
          <a:ext cx="5751445" cy="3695151"/>
        </p:xfrm>
        <a:graphic>
          <a:graphicData uri="http://schemas.openxmlformats.org/drawingml/2006/table">
            <a:tbl>
              <a:tblPr firstRow="1" firstCol="1" bandRow="1">
                <a:tableStyleId>{5C22544A-7EE6-4342-B048-85BDC9FD1C3A}</a:tableStyleId>
              </a:tblPr>
              <a:tblGrid>
                <a:gridCol w="1649394"/>
                <a:gridCol w="1537570"/>
                <a:gridCol w="1511478"/>
                <a:gridCol w="1053003"/>
              </a:tblGrid>
              <a:tr h="391539">
                <a:tc>
                  <a:txBody>
                    <a:bodyPr/>
                    <a:lstStyle/>
                    <a:p>
                      <a:pPr algn="ctr">
                        <a:lnSpc>
                          <a:spcPts val="1635"/>
                        </a:lnSpc>
                      </a:pPr>
                      <a:r>
                        <a:rPr lang="zh-CN" sz="1800" b="1">
                          <a:effectLst/>
                        </a:rPr>
                        <a:t>分组</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endParaRPr lang="zh-CN"/>
                    </a:p>
                  </a:txBody>
                  <a:tcPr marL="68580" marR="68580" marT="0" marB="0" anchor="ctr">
                    <a:blipFill>
                      <a:blip r:embed="rId2"/>
                      <a:stretch>
                        <a:fillRect l="-107510" t="-10938" r="-167984" b="-865625"/>
                      </a:stretch>
                    </a:blipFill>
                  </a:tcPr>
                </a:tc>
                <a:tc>
                  <a:txBody>
                    <a:bodyPr/>
                    <a:lstStyle/>
                    <a:p>
                      <a:endParaRPr lang="zh-CN"/>
                    </a:p>
                  </a:txBody>
                  <a:tcPr marL="68580" marR="68580" marT="0" marB="0" anchor="ctr">
                    <a:blipFill>
                      <a:blip r:embed="rId2"/>
                      <a:stretch>
                        <a:fillRect l="-211694" t="-10938" r="-71371" b="-865625"/>
                      </a:stretch>
                    </a:blipFill>
                  </a:tcPr>
                </a:tc>
                <a:tc>
                  <a:txBody>
                    <a:bodyPr/>
                    <a:lstStyle/>
                    <a:p>
                      <a:endParaRPr lang="zh-CN"/>
                    </a:p>
                  </a:txBody>
                  <a:tcPr marL="68580" marR="68580" marT="0" marB="0" anchor="ctr">
                    <a:blipFill>
                      <a:blip r:embed="rId2"/>
                      <a:stretch>
                        <a:fillRect l="-446821" t="-10938" r="-2312" b="-865625"/>
                      </a:stretch>
                    </a:blipFill>
                  </a:tcPr>
                </a:tc>
              </a:tr>
              <a:tr h="367068">
                <a:tc>
                  <a:txBody>
                    <a:bodyPr/>
                    <a:lstStyle/>
                    <a:p>
                      <a:pPr algn="ctr">
                        <a:lnSpc>
                          <a:spcPts val="1635"/>
                        </a:lnSpc>
                      </a:pPr>
                      <a:r>
                        <a:rPr lang="en-US" sz="1800" b="1">
                          <a:effectLst/>
                        </a:rPr>
                        <a:t>300~350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325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2</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650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67068">
                <a:tc>
                  <a:txBody>
                    <a:bodyPr/>
                    <a:lstStyle/>
                    <a:p>
                      <a:pPr algn="ctr">
                        <a:lnSpc>
                          <a:spcPts val="1635"/>
                        </a:lnSpc>
                      </a:pPr>
                      <a:r>
                        <a:rPr lang="en-US" sz="1800" b="1">
                          <a:effectLst/>
                        </a:rPr>
                        <a:t>350~400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375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4</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1500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67068">
                <a:tc>
                  <a:txBody>
                    <a:bodyPr/>
                    <a:lstStyle/>
                    <a:p>
                      <a:pPr algn="ctr">
                        <a:lnSpc>
                          <a:spcPts val="1635"/>
                        </a:lnSpc>
                      </a:pPr>
                      <a:r>
                        <a:rPr lang="en-US" sz="1800" b="1">
                          <a:effectLst/>
                        </a:rPr>
                        <a:t>400~450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425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6</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2550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67068">
                <a:tc>
                  <a:txBody>
                    <a:bodyPr/>
                    <a:lstStyle/>
                    <a:p>
                      <a:pPr algn="ctr">
                        <a:lnSpc>
                          <a:spcPts val="1635"/>
                        </a:lnSpc>
                      </a:pPr>
                      <a:r>
                        <a:rPr lang="en-US" sz="1800" b="1">
                          <a:effectLst/>
                        </a:rPr>
                        <a:t>450~500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475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dirty="0">
                          <a:effectLst/>
                        </a:rPr>
                        <a:t>2375</a:t>
                      </a:r>
                      <a:endParaRPr lang="zh-CN" sz="1800" b="1" dirty="0">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67068">
                <a:tc>
                  <a:txBody>
                    <a:bodyPr/>
                    <a:lstStyle/>
                    <a:p>
                      <a:pPr algn="ctr">
                        <a:lnSpc>
                          <a:spcPts val="1635"/>
                        </a:lnSpc>
                      </a:pPr>
                      <a:r>
                        <a:rPr lang="en-US" sz="1800" b="1">
                          <a:effectLst/>
                        </a:rPr>
                        <a:t>500~550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525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6</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3150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67068">
                <a:tc>
                  <a:txBody>
                    <a:bodyPr/>
                    <a:lstStyle/>
                    <a:p>
                      <a:pPr algn="ctr">
                        <a:lnSpc>
                          <a:spcPts val="1635"/>
                        </a:lnSpc>
                      </a:pPr>
                      <a:r>
                        <a:rPr lang="en-US" sz="1800" b="1">
                          <a:effectLst/>
                        </a:rPr>
                        <a:t>550~600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575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2</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1150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67068">
                <a:tc>
                  <a:txBody>
                    <a:bodyPr/>
                    <a:lstStyle/>
                    <a:p>
                      <a:pPr algn="ctr">
                        <a:lnSpc>
                          <a:spcPts val="1635"/>
                        </a:lnSpc>
                      </a:pPr>
                      <a:r>
                        <a:rPr lang="en-US" sz="1800" b="1">
                          <a:effectLst/>
                        </a:rPr>
                        <a:t>600~650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625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2</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1250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67068">
                <a:tc>
                  <a:txBody>
                    <a:bodyPr/>
                    <a:lstStyle/>
                    <a:p>
                      <a:pPr algn="ctr">
                        <a:lnSpc>
                          <a:spcPts val="1635"/>
                        </a:lnSpc>
                      </a:pPr>
                      <a:r>
                        <a:rPr lang="en-US" sz="1800" b="1">
                          <a:effectLst/>
                        </a:rPr>
                        <a:t>650~700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675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3</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2025</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367068">
                <a:tc>
                  <a:txBody>
                    <a:bodyPr/>
                    <a:lstStyle/>
                    <a:p>
                      <a:pPr algn="ctr">
                        <a:lnSpc>
                          <a:spcPts val="1635"/>
                        </a:lnSpc>
                      </a:pPr>
                      <a:r>
                        <a:rPr lang="zh-CN" sz="1800" b="1">
                          <a:effectLst/>
                        </a:rPr>
                        <a:t>合计</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a:effectLst/>
                        </a:rPr>
                        <a:t>30</a:t>
                      </a:r>
                      <a:endParaRPr lang="zh-CN" sz="18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800" b="1" dirty="0">
                          <a:effectLst/>
                        </a:rPr>
                        <a:t>14650</a:t>
                      </a:r>
                      <a:endParaRPr lang="zh-CN" sz="1800" b="1" dirty="0">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bl>
          </a:graphicData>
        </a:graphic>
      </p:graphicFrame>
    </p:spTree>
    <p:custDataLst>
      <p:tags r:id="rId3"/>
    </p:custData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767408" y="1556792"/>
                <a:ext cx="7128792" cy="4680520"/>
              </a:xfrm>
              <a:ln w="12700" cmpd="dbl">
                <a:solidFill>
                  <a:schemeClr val="accent1"/>
                </a:solidFill>
              </a:ln>
            </p:spPr>
            <p:txBody>
              <a:bodyPr>
                <a:noAutofit/>
              </a:bodyPr>
              <a:lstStyle/>
              <a:p>
                <a:pPr marL="0" indent="0" algn="just">
                  <a:lnSpc>
                    <a:spcPct val="170000"/>
                  </a:lnSpc>
                  <a:buNone/>
                </a:pPr>
                <a:r>
                  <a:rPr lang="zh-CN" altLang="en-US" sz="1400" b="1" dirty="0">
                    <a:solidFill>
                      <a:srgbClr val="FF0000"/>
                    </a:solidFill>
                    <a:latin typeface="Calibri" panose="020F0502020204030204" pitchFamily="34" charset="0"/>
                    <a:cs typeface="Calibri" panose="020F0502020204030204" pitchFamily="34" charset="0"/>
                  </a:rPr>
                  <a:t>中</a:t>
                </a:r>
                <a:r>
                  <a:rPr lang="zh-CN" altLang="zh-CN" sz="1400" b="1" dirty="0">
                    <a:solidFill>
                      <a:srgbClr val="FF0000"/>
                    </a:solidFill>
                    <a:latin typeface="Calibri" panose="020F0502020204030204" pitchFamily="34" charset="0"/>
                    <a:cs typeface="Calibri" panose="020F0502020204030204" pitchFamily="34" charset="0"/>
                  </a:rPr>
                  <a:t>位数（</a:t>
                </a:r>
                <a:r>
                  <a:rPr lang="en-US" altLang="zh-CN" sz="1400" b="1" dirty="0">
                    <a:solidFill>
                      <a:srgbClr val="FF0000"/>
                    </a:solidFill>
                    <a:latin typeface="Calibri" panose="020F0502020204030204" pitchFamily="34" charset="0"/>
                    <a:cs typeface="Calibri" panose="020F0502020204030204" pitchFamily="34" charset="0"/>
                  </a:rPr>
                  <a:t>median</a:t>
                </a:r>
                <a:r>
                  <a:rPr lang="zh-CN" altLang="zh-CN" sz="1400" b="1" dirty="0">
                    <a:solidFill>
                      <a:srgbClr val="FF0000"/>
                    </a:solidFill>
                    <a:latin typeface="Calibri" panose="020F0502020204030204" pitchFamily="34" charset="0"/>
                    <a:cs typeface="Calibri" panose="020F0502020204030204" pitchFamily="34" charset="0"/>
                  </a:rPr>
                  <a:t>）</a:t>
                </a:r>
                <a:endParaRPr lang="en-US" altLang="zh-CN" sz="1400" b="1" dirty="0">
                  <a:solidFill>
                    <a:srgbClr val="FF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一组数据排序后处在中间位置上的数值，用</a:t>
                </a:r>
                <a14:m>
                  <m:oMath xmlns:m="http://schemas.openxmlformats.org/officeDocument/2006/math">
                    <m:r>
                      <a:rPr lang="en-US" altLang="zh-CN" sz="1400">
                        <a:solidFill>
                          <a:srgbClr val="000000"/>
                        </a:solidFill>
                        <a:latin typeface="Cambria Math" panose="02040503050406030204" pitchFamily="18" charset="0"/>
                        <a:cs typeface="Calibri" panose="020F0502020204030204" pitchFamily="34" charset="0"/>
                      </a:rPr>
                      <m:t>𝑀𝑒</m:t>
                    </m:r>
                  </m:oMath>
                </a14:m>
                <a:r>
                  <a:rPr lang="zh-CN" altLang="zh-CN" sz="1400" dirty="0">
                    <a:solidFill>
                      <a:srgbClr val="000000"/>
                    </a:solidFill>
                    <a:latin typeface="Calibri" panose="020F0502020204030204" pitchFamily="34" charset="0"/>
                    <a:cs typeface="Calibri" panose="020F0502020204030204" pitchFamily="34" charset="0"/>
                  </a:rPr>
                  <a:t>表示</a:t>
                </a:r>
                <a:endParaRPr lang="en-US" altLang="zh-CN" sz="1400" dirty="0">
                  <a:solidFill>
                    <a:srgbClr val="00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用一个点将全部数据等分成两部分，每部分包含</a:t>
                </a:r>
                <a:r>
                  <a:rPr lang="en-US" altLang="zh-CN" sz="1400" dirty="0">
                    <a:solidFill>
                      <a:srgbClr val="000000"/>
                    </a:solidFill>
                    <a:latin typeface="Calibri" panose="020F0502020204030204" pitchFamily="34" charset="0"/>
                    <a:cs typeface="Calibri" panose="020F0502020204030204" pitchFamily="34" charset="0"/>
                  </a:rPr>
                  <a:t>50%</a:t>
                </a:r>
                <a:r>
                  <a:rPr lang="zh-CN" altLang="zh-CN" sz="1400" dirty="0">
                    <a:solidFill>
                      <a:srgbClr val="000000"/>
                    </a:solidFill>
                    <a:latin typeface="Calibri" panose="020F0502020204030204" pitchFamily="34" charset="0"/>
                    <a:cs typeface="Calibri" panose="020F0502020204030204" pitchFamily="34" charset="0"/>
                  </a:rPr>
                  <a:t>的数据，一部分数据比中位数大，另一部分比中位数小</a:t>
                </a:r>
                <a:r>
                  <a:rPr lang="zh-CN" altLang="en-US" sz="1400" dirty="0">
                    <a:solidFill>
                      <a:srgbClr val="000000"/>
                    </a:solidFill>
                    <a:latin typeface="Calibri" panose="020F0502020204030204" pitchFamily="34" charset="0"/>
                    <a:cs typeface="Calibri" panose="020F0502020204030204" pitchFamily="34" charset="0"/>
                  </a:rPr>
                  <a:t>，</a:t>
                </a:r>
                <a:r>
                  <a:rPr lang="zh-CN" altLang="zh-CN" sz="1400" dirty="0">
                    <a:solidFill>
                      <a:srgbClr val="000000"/>
                    </a:solidFill>
                    <a:latin typeface="Calibri" panose="020F0502020204030204" pitchFamily="34" charset="0"/>
                    <a:cs typeface="Calibri" panose="020F0502020204030204" pitchFamily="34" charset="0"/>
                  </a:rPr>
                  <a:t>其特点是不受极端值的影响</a:t>
                </a:r>
                <a:endParaRPr lang="en-US" altLang="zh-CN" sz="1400" dirty="0">
                  <a:solidFill>
                    <a:srgbClr val="00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计算中位数时，要先对</a:t>
                </a:r>
                <a14:m>
                  <m:oMath xmlns:m="http://schemas.openxmlformats.org/officeDocument/2006/math">
                    <m:r>
                      <a:rPr lang="en-US" altLang="zh-CN" sz="1400">
                        <a:solidFill>
                          <a:srgbClr val="000000"/>
                        </a:solidFill>
                        <a:latin typeface="Cambria Math" panose="02040503050406030204" pitchFamily="18" charset="0"/>
                        <a:cs typeface="Calibri" panose="020F0502020204030204" pitchFamily="34" charset="0"/>
                      </a:rPr>
                      <m:t>𝑛</m:t>
                    </m:r>
                  </m:oMath>
                </a14:m>
                <a:r>
                  <a:rPr lang="zh-CN" altLang="zh-CN" sz="1400" dirty="0">
                    <a:solidFill>
                      <a:srgbClr val="000000"/>
                    </a:solidFill>
                    <a:latin typeface="Calibri" panose="020F0502020204030204" pitchFamily="34" charset="0"/>
                    <a:cs typeface="Calibri" panose="020F0502020204030204" pitchFamily="34" charset="0"/>
                  </a:rPr>
                  <a:t>个数据从小到大进行排序，然后确定中位数的位置，最后确定中位数的具体数值。如果位置是整数值，中位数就是该位置所对应的数值；如果位置是整数加</a:t>
                </a:r>
                <a:r>
                  <a:rPr lang="en-US" altLang="zh-CN" sz="1400" dirty="0">
                    <a:solidFill>
                      <a:srgbClr val="000000"/>
                    </a:solidFill>
                    <a:latin typeface="Calibri" panose="020F0502020204030204" pitchFamily="34" charset="0"/>
                    <a:cs typeface="Calibri" panose="020F0502020204030204" pitchFamily="34" charset="0"/>
                  </a:rPr>
                  <a:t>0.5</a:t>
                </a:r>
                <a:r>
                  <a:rPr lang="zh-CN" altLang="zh-CN" sz="1400" dirty="0">
                    <a:solidFill>
                      <a:srgbClr val="000000"/>
                    </a:solidFill>
                    <a:latin typeface="Calibri" panose="020F0502020204030204" pitchFamily="34" charset="0"/>
                    <a:cs typeface="Calibri" panose="020F0502020204030204" pitchFamily="34" charset="0"/>
                  </a:rPr>
                  <a:t>的数值，中位数就是该位置两侧值的平均值。</a:t>
                </a:r>
                <a:endParaRPr lang="zh-CN" altLang="zh-CN" sz="1400" dirty="0">
                  <a:solidFill>
                    <a:srgbClr val="00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设一组数据</a:t>
                </a:r>
                <a14:m>
                  <m:oMath xmlns:m="http://schemas.openxmlformats.org/officeDocument/2006/math">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𝑥</m:t>
                        </m:r>
                      </m:e>
                      <m:sub>
                        <m:r>
                          <a:rPr lang="en-US" altLang="zh-CN" sz="1400">
                            <a:solidFill>
                              <a:srgbClr val="000000"/>
                            </a:solidFill>
                            <a:latin typeface="Cambria Math" panose="02040503050406030204" pitchFamily="18" charset="0"/>
                            <a:cs typeface="Calibri" panose="020F0502020204030204" pitchFamily="34" charset="0"/>
                          </a:rPr>
                          <m:t>1</m:t>
                        </m:r>
                      </m:sub>
                    </m:sSub>
                    <m:r>
                      <a:rPr lang="zh-CN"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𝑥</m:t>
                        </m:r>
                      </m:e>
                      <m:sub>
                        <m:r>
                          <a:rPr lang="en-US" altLang="zh-CN" sz="1400">
                            <a:solidFill>
                              <a:srgbClr val="000000"/>
                            </a:solidFill>
                            <a:latin typeface="Cambria Math" panose="02040503050406030204" pitchFamily="18" charset="0"/>
                            <a:cs typeface="Calibri" panose="020F0502020204030204" pitchFamily="34" charset="0"/>
                          </a:rPr>
                          <m:t>2</m:t>
                        </m:r>
                      </m:sub>
                    </m:sSub>
                    <m:r>
                      <a:rPr lang="zh-CN"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m:t>
                    </m:r>
                    <m:r>
                      <a:rPr lang="zh-CN"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𝑥</m:t>
                        </m:r>
                      </m:e>
                      <m:sub>
                        <m:r>
                          <a:rPr lang="en-US" altLang="zh-CN" sz="1400">
                            <a:solidFill>
                              <a:srgbClr val="000000"/>
                            </a:solidFill>
                            <a:latin typeface="Cambria Math" panose="02040503050406030204" pitchFamily="18" charset="0"/>
                            <a:cs typeface="Calibri" panose="020F0502020204030204" pitchFamily="34" charset="0"/>
                          </a:rPr>
                          <m:t>𝑛</m:t>
                        </m:r>
                      </m:sub>
                    </m:sSub>
                  </m:oMath>
                </a14:m>
                <a:r>
                  <a:rPr lang="zh-CN" altLang="zh-CN" sz="1400" dirty="0">
                    <a:solidFill>
                      <a:srgbClr val="000000"/>
                    </a:solidFill>
                    <a:latin typeface="Calibri" panose="020F0502020204030204" pitchFamily="34" charset="0"/>
                    <a:cs typeface="Calibri" panose="020F0502020204030204" pitchFamily="34" charset="0"/>
                  </a:rPr>
                  <a:t>按从小到大排序后为</a:t>
                </a:r>
                <a14:m>
                  <m:oMath xmlns:m="http://schemas.openxmlformats.org/officeDocument/2006/math">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𝑥</m:t>
                        </m:r>
                      </m:e>
                      <m:sub>
                        <m:r>
                          <a:rPr lang="en-US"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1</m:t>
                        </m:r>
                        <m:r>
                          <a:rPr lang="en-US" altLang="zh-CN" sz="1400">
                            <a:solidFill>
                              <a:srgbClr val="000000"/>
                            </a:solidFill>
                            <a:latin typeface="Cambria Math" panose="02040503050406030204" pitchFamily="18" charset="0"/>
                            <a:cs typeface="Calibri" panose="020F0502020204030204" pitchFamily="34" charset="0"/>
                          </a:rPr>
                          <m:t>)</m:t>
                        </m:r>
                      </m:sub>
                    </m:sSub>
                    <m:r>
                      <a:rPr lang="zh-CN"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𝑥</m:t>
                        </m:r>
                      </m:e>
                      <m:sub>
                        <m:r>
                          <a:rPr lang="en-US"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2</m:t>
                        </m:r>
                        <m:r>
                          <a:rPr lang="en-US" altLang="zh-CN" sz="1400">
                            <a:solidFill>
                              <a:srgbClr val="000000"/>
                            </a:solidFill>
                            <a:latin typeface="Cambria Math" panose="02040503050406030204" pitchFamily="18" charset="0"/>
                            <a:cs typeface="Calibri" panose="020F0502020204030204" pitchFamily="34" charset="0"/>
                          </a:rPr>
                          <m:t>)</m:t>
                        </m:r>
                      </m:sub>
                    </m:sSub>
                    <m:r>
                      <a:rPr lang="zh-CN"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m:t>
                    </m:r>
                    <m:r>
                      <a:rPr lang="zh-CN" altLang="zh-CN" sz="1400">
                        <a:solidFill>
                          <a:srgbClr val="000000"/>
                        </a:solidFill>
                        <a:latin typeface="Cambria Math" panose="02040503050406030204" pitchFamily="18" charset="0"/>
                        <a:cs typeface="Calibri" panose="020F0502020204030204" pitchFamily="34" charset="0"/>
                      </a:rPr>
                      <m:t>，</m:t>
                    </m:r>
                    <m:sSub>
                      <m:sSubPr>
                        <m:ctrlPr>
                          <a:rPr lang="zh-CN" altLang="zh-CN" sz="1400" i="1">
                            <a:solidFill>
                              <a:srgbClr val="000000"/>
                            </a:solidFill>
                            <a:latin typeface="Cambria Math" panose="02040503050406030204" pitchFamily="18" charset="0"/>
                            <a:cs typeface="Calibri" panose="020F0502020204030204" pitchFamily="34" charset="0"/>
                          </a:rPr>
                        </m:ctrlPr>
                      </m:sSubPr>
                      <m:e>
                        <m:r>
                          <a:rPr lang="en-US" altLang="zh-CN" sz="1400">
                            <a:solidFill>
                              <a:srgbClr val="000000"/>
                            </a:solidFill>
                            <a:latin typeface="Cambria Math" panose="02040503050406030204" pitchFamily="18" charset="0"/>
                            <a:cs typeface="Calibri" panose="020F0502020204030204" pitchFamily="34" charset="0"/>
                          </a:rPr>
                          <m:t>𝑥</m:t>
                        </m:r>
                      </m:e>
                      <m:sub>
                        <m:r>
                          <a:rPr lang="en-US"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𝑛</m:t>
                        </m:r>
                        <m:r>
                          <a:rPr lang="en-US" altLang="zh-CN" sz="1400">
                            <a:solidFill>
                              <a:srgbClr val="000000"/>
                            </a:solidFill>
                            <a:latin typeface="Cambria Math" panose="02040503050406030204" pitchFamily="18" charset="0"/>
                            <a:cs typeface="Calibri" panose="020F0502020204030204" pitchFamily="34" charset="0"/>
                          </a:rPr>
                          <m:t>)</m:t>
                        </m:r>
                      </m:sub>
                    </m:sSub>
                  </m:oMath>
                </a14:m>
                <a:r>
                  <a:rPr lang="zh-CN" altLang="zh-CN" sz="1400" dirty="0">
                    <a:solidFill>
                      <a:srgbClr val="000000"/>
                    </a:solidFill>
                    <a:latin typeface="Calibri" panose="020F0502020204030204" pitchFamily="34" charset="0"/>
                    <a:cs typeface="Calibri" panose="020F0502020204030204" pitchFamily="34" charset="0"/>
                  </a:rPr>
                  <a:t>，则中位数就是</a:t>
                </a:r>
                <a14:m>
                  <m:oMath xmlns:m="http://schemas.openxmlformats.org/officeDocument/2006/math">
                    <m:f>
                      <m:fPr>
                        <m:type m:val="lin"/>
                        <m:ctrlPr>
                          <a:rPr lang="zh-CN" altLang="zh-CN" sz="1400" i="1">
                            <a:solidFill>
                              <a:srgbClr val="000000"/>
                            </a:solidFill>
                            <a:latin typeface="Cambria Math" panose="02040503050406030204" pitchFamily="18" charset="0"/>
                            <a:cs typeface="Calibri" panose="020F0502020204030204" pitchFamily="34" charset="0"/>
                          </a:rPr>
                        </m:ctrlPr>
                      </m:fPr>
                      <m:num>
                        <m:r>
                          <a:rPr lang="en-US"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𝑛</m:t>
                        </m:r>
                        <m:r>
                          <a:rPr lang="en-US" altLang="zh-CN" sz="1400">
                            <a:solidFill>
                              <a:srgbClr val="000000"/>
                            </a:solidFill>
                            <a:latin typeface="Cambria Math" panose="02040503050406030204" pitchFamily="18" charset="0"/>
                            <a:cs typeface="Calibri" panose="020F0502020204030204" pitchFamily="34" charset="0"/>
                          </a:rPr>
                          <m:t>+</m:t>
                        </m:r>
                        <m:r>
                          <a:rPr lang="en-US" altLang="zh-CN" sz="1400">
                            <a:solidFill>
                              <a:srgbClr val="000000"/>
                            </a:solidFill>
                            <a:latin typeface="Cambria Math" panose="02040503050406030204" pitchFamily="18" charset="0"/>
                            <a:cs typeface="Calibri" panose="020F0502020204030204" pitchFamily="34" charset="0"/>
                          </a:rPr>
                          <m:t>1</m:t>
                        </m:r>
                        <m:r>
                          <a:rPr lang="en-US" altLang="zh-CN" sz="1400">
                            <a:solidFill>
                              <a:srgbClr val="000000"/>
                            </a:solidFill>
                            <a:latin typeface="Cambria Math" panose="02040503050406030204" pitchFamily="18" charset="0"/>
                            <a:cs typeface="Calibri" panose="020F0502020204030204" pitchFamily="34" charset="0"/>
                          </a:rPr>
                          <m:t>)</m:t>
                        </m:r>
                      </m:num>
                      <m:den>
                        <m:r>
                          <a:rPr lang="en-US" altLang="zh-CN" sz="1400">
                            <a:solidFill>
                              <a:srgbClr val="000000"/>
                            </a:solidFill>
                            <a:latin typeface="Cambria Math" panose="02040503050406030204" pitchFamily="18" charset="0"/>
                            <a:cs typeface="Calibri" panose="020F0502020204030204" pitchFamily="34" charset="0"/>
                          </a:rPr>
                          <m:t>2</m:t>
                        </m:r>
                      </m:den>
                    </m:f>
                  </m:oMath>
                </a14:m>
                <a:r>
                  <a:rPr lang="zh-CN" altLang="zh-CN" sz="1400" dirty="0">
                    <a:solidFill>
                      <a:srgbClr val="000000"/>
                    </a:solidFill>
                    <a:latin typeface="Calibri" panose="020F0502020204030204" pitchFamily="34" charset="0"/>
                    <a:cs typeface="Calibri" panose="020F0502020204030204" pitchFamily="34" charset="0"/>
                  </a:rPr>
                  <a:t>位置上的值。计算公式为</a:t>
                </a:r>
                <a:endParaRPr lang="zh-CN" altLang="zh-CN" sz="1400" dirty="0">
                  <a:solidFill>
                    <a:srgbClr val="000000"/>
                  </a:solidFill>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767408" y="1556792"/>
                <a:ext cx="7128792" cy="4680520"/>
              </a:xfrm>
              <a:blipFill rotWithShape="1">
                <a:blip r:embed="rId1"/>
                <a:stretch>
                  <a:fillRect l="-94" t="-144" r="-81"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中位数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文本框 9"/>
              <p:cNvSpPr txBox="1"/>
              <p:nvPr/>
            </p:nvSpPr>
            <p:spPr>
              <a:xfrm>
                <a:off x="4223792" y="4941168"/>
                <a:ext cx="3371290" cy="120218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𝑀</m:t>
                          </m:r>
                        </m:e>
                        <m:sub>
                          <m:r>
                            <a:rPr lang="zh-CN" altLang="en-US" sz="1600" i="1">
                              <a:latin typeface="Cambria Math" panose="02040503050406030204" pitchFamily="18" charset="0"/>
                            </a:rPr>
                            <m:t>𝑒</m:t>
                          </m:r>
                        </m:sub>
                      </m:sSub>
                      <m:r>
                        <a:rPr lang="zh-CN" altLang="en-US" sz="1600" i="0">
                          <a:latin typeface="Cambria Math" panose="02040503050406030204" pitchFamily="18" charset="0"/>
                        </a:rPr>
                        <m:t>=</m:t>
                      </m:r>
                      <m:d>
                        <m:dPr>
                          <m:begChr m:val="{"/>
                          <m:endChr m:val=""/>
                          <m:ctrlPr>
                            <a:rPr lang="zh-CN" altLang="en-US" sz="1600" i="1">
                              <a:solidFill>
                                <a:srgbClr val="836967"/>
                              </a:solidFill>
                              <a:latin typeface="Cambria Math" panose="02040503050406030204" pitchFamily="18" charset="0"/>
                            </a:rPr>
                          </m:ctrlPr>
                        </m:dPr>
                        <m:e>
                          <m:eqArr>
                            <m:eqArrPr>
                              <m:ctrlPr>
                                <a:rPr lang="zh-CN" altLang="en-US" sz="1600" i="1">
                                  <a:solidFill>
                                    <a:srgbClr val="836967"/>
                                  </a:solidFill>
                                  <a:latin typeface="Cambria Math" panose="02040503050406030204" pitchFamily="18" charset="0"/>
                                </a:rPr>
                              </m:ctrlPr>
                            </m:eqArrPr>
                            <m:e>
                              <m:r>
                                <a:rPr lang="zh-CN" altLang="en-US" sz="1600" i="0">
                                  <a:latin typeface="Cambria Math" panose="02040503050406030204" pitchFamily="18" charset="0"/>
                                </a:rPr>
                                <m:t>&amp;</m:t>
                              </m:r>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𝑥</m:t>
                                  </m:r>
                                </m:e>
                                <m:sub>
                                  <m:d>
                                    <m:dPr>
                                      <m:ctrlPr>
                                        <a:rPr lang="zh-CN" altLang="en-US" sz="1600" i="1">
                                          <a:solidFill>
                                            <a:srgbClr val="836967"/>
                                          </a:solidFill>
                                          <a:latin typeface="Cambria Math" panose="02040503050406030204" pitchFamily="18" charset="0"/>
                                        </a:rPr>
                                      </m:ctrlPr>
                                    </m:dPr>
                                    <m:e>
                                      <m:f>
                                        <m:fPr>
                                          <m:ctrlPr>
                                            <a:rPr lang="zh-CN" altLang="en-US" sz="1600" i="1">
                                              <a:solidFill>
                                                <a:srgbClr val="836967"/>
                                              </a:solidFill>
                                              <a:latin typeface="Cambria Math" panose="02040503050406030204" pitchFamily="18" charset="0"/>
                                            </a:rPr>
                                          </m:ctrlPr>
                                        </m:fPr>
                                        <m:num>
                                          <m:r>
                                            <a:rPr lang="zh-CN" altLang="en-US" sz="1600" i="1">
                                              <a:latin typeface="Cambria Math" panose="02040503050406030204" pitchFamily="18" charset="0"/>
                                            </a:rPr>
                                            <m:t>𝑛</m:t>
                                          </m:r>
                                          <m:r>
                                            <a:rPr lang="zh-CN" altLang="en-US" sz="1600" i="0">
                                              <a:latin typeface="Cambria Math" panose="02040503050406030204" pitchFamily="18" charset="0"/>
                                            </a:rPr>
                                            <m:t>+</m:t>
                                          </m:r>
                                          <m:r>
                                            <a:rPr lang="zh-CN" altLang="en-US" sz="1600" i="0">
                                              <a:latin typeface="Cambria Math" panose="02040503050406030204" pitchFamily="18" charset="0"/>
                                            </a:rPr>
                                            <m:t>1</m:t>
                                          </m:r>
                                        </m:num>
                                        <m:den>
                                          <m:r>
                                            <a:rPr lang="zh-CN" altLang="en-US" sz="1600" i="0">
                                              <a:latin typeface="Cambria Math" panose="02040503050406030204" pitchFamily="18" charset="0"/>
                                            </a:rPr>
                                            <m:t>2</m:t>
                                          </m:r>
                                        </m:den>
                                      </m:f>
                                    </m:e>
                                  </m:d>
                                  <m:r>
                                    <a:rPr lang="zh-CN" altLang="en-US" sz="1600" i="0">
                                      <a:latin typeface="Cambria Math" panose="02040503050406030204" pitchFamily="18" charset="0"/>
                                    </a:rPr>
                                    <m:t> </m:t>
                                  </m:r>
                                </m:sub>
                              </m:sSub>
                              <m:r>
                                <a:rPr lang="zh-CN" altLang="en-US" sz="1600" i="0">
                                  <a:latin typeface="Cambria Math" panose="02040503050406030204" pitchFamily="18" charset="0"/>
                                </a:rPr>
                                <m:t>      </m:t>
                              </m:r>
                              <m:r>
                                <a:rPr lang="zh-CN" altLang="en-US" sz="1600" i="1">
                                  <a:latin typeface="Cambria Math" panose="02040503050406030204" pitchFamily="18" charset="0"/>
                                </a:rPr>
                                <m:t>𝑛</m:t>
                              </m:r>
                              <m:r>
                                <a:rPr lang="zh-CN" altLang="en-US" sz="1600" i="0">
                                  <a:latin typeface="Cambria Math" panose="02040503050406030204" pitchFamily="18" charset="0"/>
                                </a:rPr>
                                <m:t>为奇数</m:t>
                              </m:r>
                            </m:e>
                            <m:e>
                              <m:r>
                                <a:rPr lang="zh-CN" altLang="en-US" sz="1600" i="0">
                                  <a:latin typeface="Cambria Math" panose="02040503050406030204" pitchFamily="18" charset="0"/>
                                </a:rPr>
                                <m:t>&amp;</m:t>
                              </m:r>
                              <m:f>
                                <m:fPr>
                                  <m:ctrlPr>
                                    <a:rPr lang="zh-CN" altLang="en-US" sz="1600" i="1">
                                      <a:solidFill>
                                        <a:srgbClr val="836967"/>
                                      </a:solidFill>
                                      <a:latin typeface="Cambria Math" panose="02040503050406030204" pitchFamily="18" charset="0"/>
                                    </a:rPr>
                                  </m:ctrlPr>
                                </m:fPr>
                                <m:num>
                                  <m:r>
                                    <a:rPr lang="zh-CN" altLang="en-US" sz="1600" i="0">
                                      <a:latin typeface="Cambria Math" panose="02040503050406030204" pitchFamily="18" charset="0"/>
                                    </a:rPr>
                                    <m:t>1</m:t>
                                  </m:r>
                                </m:num>
                                <m:den>
                                  <m:r>
                                    <a:rPr lang="zh-CN" altLang="en-US" sz="1600" i="0">
                                      <a:latin typeface="Cambria Math" panose="02040503050406030204" pitchFamily="18" charset="0"/>
                                    </a:rPr>
                                    <m:t>2</m:t>
                                  </m:r>
                                </m:den>
                              </m:f>
                              <m:d>
                                <m:dPr>
                                  <m:begChr m:val="{"/>
                                  <m:endChr m:val="}"/>
                                  <m:ctrlPr>
                                    <a:rPr lang="zh-CN" altLang="en-US" sz="1600" i="1">
                                      <a:solidFill>
                                        <a:srgbClr val="836967"/>
                                      </a:solidFill>
                                      <a:latin typeface="Cambria Math" panose="02040503050406030204" pitchFamily="18" charset="0"/>
                                    </a:rPr>
                                  </m:ctrlPr>
                                </m:dPr>
                                <m:e>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𝑥</m:t>
                                      </m:r>
                                    </m:e>
                                    <m:sub>
                                      <m:d>
                                        <m:dPr>
                                          <m:ctrlPr>
                                            <a:rPr lang="zh-CN" altLang="en-US" sz="1600" i="1">
                                              <a:solidFill>
                                                <a:srgbClr val="836967"/>
                                              </a:solidFill>
                                              <a:latin typeface="Cambria Math" panose="02040503050406030204" pitchFamily="18" charset="0"/>
                                            </a:rPr>
                                          </m:ctrlPr>
                                        </m:dPr>
                                        <m:e>
                                          <m:f>
                                            <m:fPr>
                                              <m:ctrlPr>
                                                <a:rPr lang="zh-CN" altLang="en-US" sz="1600" i="1">
                                                  <a:solidFill>
                                                    <a:srgbClr val="836967"/>
                                                  </a:solidFill>
                                                  <a:latin typeface="Cambria Math" panose="02040503050406030204" pitchFamily="18" charset="0"/>
                                                </a:rPr>
                                              </m:ctrlPr>
                                            </m:fPr>
                                            <m:num>
                                              <m:r>
                                                <a:rPr lang="zh-CN" altLang="en-US" sz="1600" i="1">
                                                  <a:latin typeface="Cambria Math" panose="02040503050406030204" pitchFamily="18" charset="0"/>
                                                </a:rPr>
                                                <m:t>𝑛</m:t>
                                              </m:r>
                                            </m:num>
                                            <m:den>
                                              <m:r>
                                                <a:rPr lang="zh-CN" altLang="en-US" sz="1600" i="0">
                                                  <a:latin typeface="Cambria Math" panose="02040503050406030204" pitchFamily="18" charset="0"/>
                                                </a:rPr>
                                                <m:t>2</m:t>
                                              </m:r>
                                            </m:den>
                                          </m:f>
                                        </m:e>
                                      </m:d>
                                    </m:sub>
                                  </m:sSub>
                                  <m:r>
                                    <a:rPr lang="zh-CN" altLang="en-US" sz="1600" i="0">
                                      <a:latin typeface="Cambria Math" panose="02040503050406030204" pitchFamily="18" charset="0"/>
                                    </a:rPr>
                                    <m:t>+</m:t>
                                  </m:r>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𝑥</m:t>
                                      </m:r>
                                    </m:e>
                                    <m:sub>
                                      <m:d>
                                        <m:dPr>
                                          <m:ctrlPr>
                                            <a:rPr lang="zh-CN" altLang="en-US" sz="1600" i="1">
                                              <a:solidFill>
                                                <a:srgbClr val="836967"/>
                                              </a:solidFill>
                                              <a:latin typeface="Cambria Math" panose="02040503050406030204" pitchFamily="18" charset="0"/>
                                            </a:rPr>
                                          </m:ctrlPr>
                                        </m:dPr>
                                        <m:e>
                                          <m:f>
                                            <m:fPr>
                                              <m:ctrlPr>
                                                <a:rPr lang="zh-CN" altLang="en-US" sz="1600" i="1">
                                                  <a:solidFill>
                                                    <a:srgbClr val="836967"/>
                                                  </a:solidFill>
                                                  <a:latin typeface="Cambria Math" panose="02040503050406030204" pitchFamily="18" charset="0"/>
                                                </a:rPr>
                                              </m:ctrlPr>
                                            </m:fPr>
                                            <m:num>
                                              <m:r>
                                                <a:rPr lang="zh-CN" altLang="en-US" sz="1600" i="1">
                                                  <a:latin typeface="Cambria Math" panose="02040503050406030204" pitchFamily="18" charset="0"/>
                                                </a:rPr>
                                                <m:t>𝑛</m:t>
                                              </m:r>
                                            </m:num>
                                            <m:den>
                                              <m:r>
                                                <a:rPr lang="zh-CN" altLang="en-US" sz="1600" i="0">
                                                  <a:latin typeface="Cambria Math" panose="02040503050406030204" pitchFamily="18" charset="0"/>
                                                </a:rPr>
                                                <m:t>2</m:t>
                                              </m:r>
                                            </m:den>
                                          </m:f>
                                          <m:r>
                                            <a:rPr lang="zh-CN" altLang="en-US" sz="1600" i="0">
                                              <a:latin typeface="Cambria Math" panose="02040503050406030204" pitchFamily="18" charset="0"/>
                                            </a:rPr>
                                            <m:t>+</m:t>
                                          </m:r>
                                          <m:r>
                                            <a:rPr lang="zh-CN" altLang="en-US" sz="1600" i="0">
                                              <a:latin typeface="Cambria Math" panose="02040503050406030204" pitchFamily="18" charset="0"/>
                                            </a:rPr>
                                            <m:t>1</m:t>
                                          </m:r>
                                        </m:e>
                                      </m:d>
                                    </m:sub>
                                  </m:sSub>
                                </m:e>
                              </m:d>
                              <m:r>
                                <a:rPr lang="zh-CN" altLang="en-US" sz="1600" i="0">
                                  <a:latin typeface="Cambria Math" panose="02040503050406030204" pitchFamily="18" charset="0"/>
                                </a:rPr>
                                <m:t>  </m:t>
                              </m:r>
                              <m:r>
                                <a:rPr lang="zh-CN" altLang="en-US" sz="1600" i="1">
                                  <a:latin typeface="Cambria Math" panose="02040503050406030204" pitchFamily="18" charset="0"/>
                                </a:rPr>
                                <m:t>𝑛</m:t>
                              </m:r>
                              <m:r>
                                <a:rPr lang="zh-CN" altLang="en-US" sz="1600" i="0">
                                  <a:latin typeface="Cambria Math" panose="02040503050406030204" pitchFamily="18" charset="0"/>
                                </a:rPr>
                                <m:t>为偶数</m:t>
                              </m:r>
                            </m:e>
                          </m:eqArr>
                        </m:e>
                      </m:d>
                    </m:oMath>
                  </m:oMathPara>
                </a14:m>
                <a:endParaRPr lang="zh-CN" altLang="en-US" sz="1600" dirty="0"/>
              </a:p>
            </p:txBody>
          </p:sp>
        </mc:Choice>
        <mc:Fallback>
          <p:sp>
            <p:nvSpPr>
              <p:cNvPr id="10" name="文本框 9"/>
              <p:cNvSpPr txBox="1">
                <a:spLocks noRot="1" noChangeAspect="1" noMove="1" noResize="1" noEditPoints="1" noAdjustHandles="1" noChangeArrowheads="1" noChangeShapeType="1" noTextEdit="1"/>
              </p:cNvSpPr>
              <p:nvPr/>
            </p:nvSpPr>
            <p:spPr>
              <a:xfrm>
                <a:off x="4223792" y="4941168"/>
                <a:ext cx="3371290" cy="1202189"/>
              </a:xfrm>
              <a:prstGeom prst="rect">
                <a:avLst/>
              </a:prstGeom>
              <a:blipFill rotWithShape="1">
                <a:blip r:embed="rId2"/>
                <a:stretch>
                  <a:fillRect l="-12" t="-19" r="14"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Content Placeholder 8"/>
              <p:cNvSpPr txBox="1"/>
              <p:nvPr/>
            </p:nvSpPr>
            <p:spPr>
              <a:xfrm>
                <a:off x="8040216" y="1556792"/>
                <a:ext cx="3600400" cy="4680520"/>
              </a:xfrm>
              <a:prstGeom prst="rect">
                <a:avLst/>
              </a:prstGeom>
              <a:ln w="12700" cmpd="dbl">
                <a:solidFill>
                  <a:schemeClr val="accent1"/>
                </a:solidFill>
              </a:ln>
            </p:spPr>
            <p:txBody>
              <a:bodyPr vert="horz">
                <a:norm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rPr>
                  <a:t>4.2</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latin typeface="Calibri" panose="020F0502020204030204" pitchFamily="34" charset="0"/>
                    <a:ea typeface="华文细黑" panose="02010600040101010101" pitchFamily="2" charset="-122"/>
                    <a:cs typeface="Calibri" panose="020F0502020204030204" pitchFamily="34" charset="0"/>
                  </a:rPr>
                  <a:t>沿用例</a:t>
                </a:r>
                <a:r>
                  <a:rPr lang="en-US" altLang="zh-CN" sz="1800" dirty="0">
                    <a:latin typeface="Calibri" panose="020F0502020204030204" pitchFamily="34" charset="0"/>
                    <a:ea typeface="华文细黑" panose="02010600040101010101" pitchFamily="2" charset="-122"/>
                    <a:cs typeface="Calibri" panose="020F0502020204030204" pitchFamily="34" charset="0"/>
                  </a:rPr>
                  <a:t>4.1</a:t>
                </a:r>
                <a:r>
                  <a:rPr lang="zh-CN" altLang="zh-CN" sz="1800" dirty="0">
                    <a:latin typeface="Calibri" panose="020F0502020204030204" pitchFamily="34" charset="0"/>
                    <a:ea typeface="华文细黑" panose="02010600040101010101" pitchFamily="2" charset="-122"/>
                    <a:cs typeface="Calibri" panose="020F0502020204030204" pitchFamily="34" charset="0"/>
                  </a:rPr>
                  <a:t>。计算</a:t>
                </a:r>
                <a:r>
                  <a:rPr lang="en-US" altLang="zh-CN" sz="1800" dirty="0">
                    <a:latin typeface="Calibri" panose="020F0502020204030204" pitchFamily="34" charset="0"/>
                    <a:ea typeface="华文细黑" panose="02010600040101010101" pitchFamily="2" charset="-122"/>
                    <a:cs typeface="Calibri" panose="020F0502020204030204" pitchFamily="34" charset="0"/>
                  </a:rPr>
                  <a:t>30</a:t>
                </a:r>
                <a:r>
                  <a:rPr lang="zh-CN" altLang="zh-CN" sz="1800" dirty="0">
                    <a:latin typeface="Calibri" panose="020F0502020204030204" pitchFamily="34" charset="0"/>
                    <a:ea typeface="华文细黑" panose="02010600040101010101" pitchFamily="2" charset="-122"/>
                    <a:cs typeface="Calibri" panose="020F0502020204030204" pitchFamily="34" charset="0"/>
                  </a:rPr>
                  <a:t>个网购金额的中位数。</a:t>
                </a:r>
                <a:endParaRPr lang="zh-CN" altLang="zh-CN" sz="1800" dirty="0">
                  <a:latin typeface="Calibri" panose="020F0502020204030204" pitchFamily="34" charset="0"/>
                  <a:ea typeface="华文细黑" panose="02010600040101010101" pitchFamily="2" charset="-122"/>
                  <a:cs typeface="Calibri" panose="020F0502020204030204" pitchFamily="34" charset="0"/>
                </a:endParaRPr>
              </a:p>
              <a:p>
                <a:pPr marL="0" indent="0">
                  <a:lnSpc>
                    <a:spcPct val="150000"/>
                  </a:lnSpc>
                  <a:buNone/>
                </a:pPr>
                <a:r>
                  <a:rPr lang="zh-CN" altLang="zh-CN" sz="1800" b="1" dirty="0">
                    <a:solidFill>
                      <a:srgbClr val="FF0000"/>
                    </a:solidFill>
                    <a:latin typeface="Calibri" panose="020F0502020204030204" pitchFamily="34" charset="0"/>
                    <a:ea typeface="华文细黑" panose="02010600040101010101" pitchFamily="2" charset="-122"/>
                    <a:cs typeface="Calibri" panose="020F0502020204030204" pitchFamily="34" charset="0"/>
                  </a:rPr>
                  <a:t>解：</a:t>
                </a:r>
                <a:r>
                  <a:rPr lang="zh-CN" altLang="zh-CN" sz="1800" dirty="0">
                    <a:latin typeface="Calibri" panose="020F0502020204030204" pitchFamily="34" charset="0"/>
                    <a:ea typeface="华文细黑" panose="02010600040101010101" pitchFamily="2" charset="-122"/>
                    <a:cs typeface="Calibri" panose="020F0502020204030204" pitchFamily="34" charset="0"/>
                  </a:rPr>
                  <a:t>首先，将</a:t>
                </a:r>
                <a:r>
                  <a:rPr lang="en-US" altLang="zh-CN" sz="1800" dirty="0">
                    <a:latin typeface="Calibri" panose="020F0502020204030204" pitchFamily="34" charset="0"/>
                    <a:ea typeface="华文细黑" panose="02010600040101010101" pitchFamily="2" charset="-122"/>
                    <a:cs typeface="Calibri" panose="020F0502020204030204" pitchFamily="34" charset="0"/>
                  </a:rPr>
                  <a:t>30</a:t>
                </a:r>
                <a:r>
                  <a:rPr lang="zh-CN" altLang="zh-CN" sz="1800" dirty="0">
                    <a:latin typeface="Calibri" panose="020F0502020204030204" pitchFamily="34" charset="0"/>
                    <a:ea typeface="华文细黑" panose="02010600040101010101" pitchFamily="2" charset="-122"/>
                    <a:cs typeface="Calibri" panose="020F0502020204030204" pitchFamily="34" charset="0"/>
                  </a:rPr>
                  <a:t>人的网购金额数据排序，然后确定中位数的位置：</a:t>
                </a:r>
                <a14:m>
                  <m:oMath xmlns:m="http://schemas.openxmlformats.org/officeDocument/2006/math">
                    <m:d>
                      <m:dPr>
                        <m:ctrlPr>
                          <a:rPr lang="zh-CN" altLang="zh-CN" sz="1800" i="1">
                            <a:latin typeface="Cambria Math" panose="02040503050406030204" pitchFamily="18" charset="0"/>
                          </a:rPr>
                        </m:ctrlPr>
                      </m:dPr>
                      <m:e>
                        <m:r>
                          <a:rPr lang="en-US" altLang="zh-CN" sz="1800">
                            <a:latin typeface="Cambria Math" panose="02040503050406030204" pitchFamily="18" charset="0"/>
                          </a:rPr>
                          <m:t>30</m:t>
                        </m:r>
                        <m:r>
                          <a:rPr lang="en-US" altLang="zh-CN" sz="1800">
                            <a:latin typeface="Cambria Math" panose="02040503050406030204" pitchFamily="18" charset="0"/>
                          </a:rPr>
                          <m:t>+</m:t>
                        </m:r>
                        <m:r>
                          <a:rPr lang="en-US" altLang="zh-CN" sz="1800">
                            <a:latin typeface="Cambria Math" panose="02040503050406030204" pitchFamily="18" charset="0"/>
                          </a:rPr>
                          <m:t>1</m:t>
                        </m:r>
                      </m:e>
                    </m:d>
                    <m:r>
                      <a:rPr lang="en-US" altLang="zh-CN" sz="1800">
                        <a:latin typeface="Cambria Math" panose="02040503050406030204" pitchFamily="18" charset="0"/>
                      </a:rPr>
                      <m:t>÷</m:t>
                    </m:r>
                    <m:r>
                      <a:rPr lang="en-US" altLang="zh-CN" sz="1800">
                        <a:latin typeface="Cambria Math" panose="02040503050406030204" pitchFamily="18" charset="0"/>
                      </a:rPr>
                      <m:t>2</m:t>
                    </m:r>
                    <m:r>
                      <a:rPr lang="en-US" altLang="zh-CN" sz="1800">
                        <a:latin typeface="Cambria Math" panose="02040503050406030204" pitchFamily="18" charset="0"/>
                      </a:rPr>
                      <m:t>=</m:t>
                    </m:r>
                    <m:r>
                      <a:rPr lang="en-US" altLang="zh-CN" sz="1800">
                        <a:latin typeface="Cambria Math" panose="02040503050406030204" pitchFamily="18" charset="0"/>
                      </a:rPr>
                      <m:t>15</m:t>
                    </m:r>
                    <m:r>
                      <a:rPr lang="en-US" altLang="zh-CN" sz="1800">
                        <a:latin typeface="Cambria Math" panose="02040503050406030204" pitchFamily="18" charset="0"/>
                      </a:rPr>
                      <m:t>.</m:t>
                    </m:r>
                    <m:r>
                      <a:rPr lang="en-US" altLang="zh-CN" sz="1800">
                        <a:latin typeface="Cambria Math" panose="02040503050406030204" pitchFamily="18" charset="0"/>
                      </a:rPr>
                      <m:t>5</m:t>
                    </m:r>
                  </m:oMath>
                </a14:m>
                <a:r>
                  <a:rPr lang="zh-CN" altLang="zh-CN" sz="1800" dirty="0">
                    <a:latin typeface="Calibri" panose="020F0502020204030204" pitchFamily="34" charset="0"/>
                    <a:ea typeface="华文细黑" panose="02010600040101010101" pitchFamily="2" charset="-122"/>
                    <a:cs typeface="Calibri" panose="020F0502020204030204" pitchFamily="34" charset="0"/>
                  </a:rPr>
                  <a:t>，中位数是排序后的第</a:t>
                </a:r>
                <a:r>
                  <a:rPr lang="en-US" altLang="zh-CN" sz="1800" dirty="0">
                    <a:latin typeface="Calibri" panose="020F0502020204030204" pitchFamily="34" charset="0"/>
                    <a:ea typeface="华文细黑" panose="02010600040101010101" pitchFamily="2" charset="-122"/>
                    <a:cs typeface="Calibri" panose="020F0502020204030204" pitchFamily="34" charset="0"/>
                  </a:rPr>
                  <a:t>15.5</a:t>
                </a:r>
                <a:r>
                  <a:rPr lang="zh-CN" altLang="zh-CN" sz="1800" dirty="0">
                    <a:latin typeface="Calibri" panose="020F0502020204030204" pitchFamily="34" charset="0"/>
                    <a:ea typeface="华文细黑" panose="02010600040101010101" pitchFamily="2" charset="-122"/>
                    <a:cs typeface="Calibri" panose="020F0502020204030204" pitchFamily="34" charset="0"/>
                  </a:rPr>
                  <a:t>位置上的数值，即中位数在第</a:t>
                </a:r>
                <a:r>
                  <a:rPr lang="en-US" altLang="zh-CN" sz="1800" dirty="0">
                    <a:latin typeface="Calibri" panose="020F0502020204030204" pitchFamily="34" charset="0"/>
                    <a:ea typeface="华文细黑" panose="02010600040101010101" pitchFamily="2" charset="-122"/>
                    <a:cs typeface="Calibri" panose="020F0502020204030204" pitchFamily="34" charset="0"/>
                  </a:rPr>
                  <a:t>16</a:t>
                </a:r>
                <a:r>
                  <a:rPr lang="zh-CN" altLang="zh-CN" sz="1800" dirty="0">
                    <a:latin typeface="Calibri" panose="020F0502020204030204" pitchFamily="34" charset="0"/>
                    <a:ea typeface="华文细黑" panose="02010600040101010101" pitchFamily="2" charset="-122"/>
                    <a:cs typeface="Calibri" panose="020F0502020204030204" pitchFamily="34" charset="0"/>
                  </a:rPr>
                  <a:t>个数值（</a:t>
                </a:r>
                <a:r>
                  <a:rPr lang="en-US" altLang="zh-CN" sz="1800" dirty="0">
                    <a:latin typeface="Calibri" panose="020F0502020204030204" pitchFamily="34" charset="0"/>
                    <a:ea typeface="华文细黑" panose="02010600040101010101" pitchFamily="2" charset="-122"/>
                    <a:cs typeface="Calibri" panose="020F0502020204030204" pitchFamily="34" charset="0"/>
                  </a:rPr>
                  <a:t>465.4</a:t>
                </a:r>
                <a:r>
                  <a:rPr lang="zh-CN" altLang="zh-CN" sz="1800" dirty="0">
                    <a:latin typeface="Calibri" panose="020F0502020204030204" pitchFamily="34" charset="0"/>
                    <a:ea typeface="华文细黑" panose="02010600040101010101" pitchFamily="2" charset="-122"/>
                    <a:cs typeface="Calibri" panose="020F0502020204030204" pitchFamily="34" charset="0"/>
                  </a:rPr>
                  <a:t>）和第</a:t>
                </a:r>
                <a:r>
                  <a:rPr lang="en-US" altLang="zh-CN" sz="1800" dirty="0">
                    <a:latin typeface="Calibri" panose="020F0502020204030204" pitchFamily="34" charset="0"/>
                    <a:ea typeface="华文细黑" panose="02010600040101010101" pitchFamily="2" charset="-122"/>
                    <a:cs typeface="Calibri" panose="020F0502020204030204" pitchFamily="34" charset="0"/>
                  </a:rPr>
                  <a:t>16</a:t>
                </a:r>
                <a:r>
                  <a:rPr lang="zh-CN" altLang="zh-CN" sz="1800" dirty="0">
                    <a:latin typeface="Calibri" panose="020F0502020204030204" pitchFamily="34" charset="0"/>
                    <a:ea typeface="华文细黑" panose="02010600040101010101" pitchFamily="2" charset="-122"/>
                    <a:cs typeface="Calibri" panose="020F0502020204030204" pitchFamily="34" charset="0"/>
                  </a:rPr>
                  <a:t>个数值（</a:t>
                </a:r>
                <a:r>
                  <a:rPr lang="en-US" altLang="zh-CN" sz="1800" dirty="0">
                    <a:latin typeface="Calibri" panose="020F0502020204030204" pitchFamily="34" charset="0"/>
                    <a:ea typeface="华文细黑" panose="02010600040101010101" pitchFamily="2" charset="-122"/>
                    <a:cs typeface="Calibri" panose="020F0502020204030204" pitchFamily="34" charset="0"/>
                  </a:rPr>
                  <a:t>477.0</a:t>
                </a:r>
                <a:r>
                  <a:rPr lang="zh-CN" altLang="zh-CN" sz="1800" dirty="0">
                    <a:latin typeface="Calibri" panose="020F0502020204030204" pitchFamily="34" charset="0"/>
                    <a:ea typeface="华文细黑" panose="02010600040101010101" pitchFamily="2" charset="-122"/>
                    <a:cs typeface="Calibri" panose="020F0502020204030204" pitchFamily="34" charset="0"/>
                  </a:rPr>
                  <a:t>）中间（</a:t>
                </a:r>
                <a:r>
                  <a:rPr lang="en-US" altLang="zh-CN" sz="1800" dirty="0">
                    <a:latin typeface="Calibri" panose="020F0502020204030204" pitchFamily="34" charset="0"/>
                    <a:ea typeface="华文细黑" panose="02010600040101010101" pitchFamily="2" charset="-122"/>
                    <a:cs typeface="Calibri" panose="020F0502020204030204" pitchFamily="34" charset="0"/>
                  </a:rPr>
                  <a:t>0.5</a:t>
                </a:r>
                <a:r>
                  <a:rPr lang="zh-CN" altLang="zh-CN" sz="1800" dirty="0">
                    <a:latin typeface="Calibri" panose="020F0502020204030204" pitchFamily="34" charset="0"/>
                    <a:ea typeface="华文细黑" panose="02010600040101010101" pitchFamily="2" charset="-122"/>
                    <a:cs typeface="Calibri" panose="020F0502020204030204" pitchFamily="34" charset="0"/>
                  </a:rPr>
                  <a:t>）的位置上。因此</a:t>
                </a:r>
                <a14:m>
                  <m:oMath xmlns:m="http://schemas.openxmlformats.org/officeDocument/2006/math">
                    <m:f>
                      <m:fPr>
                        <m:type m:val="lin"/>
                        <m:ctrlPr>
                          <a:rPr lang="zh-CN" altLang="zh-CN" sz="1800" i="1">
                            <a:latin typeface="Cambria Math" panose="02040503050406030204" pitchFamily="18" charset="0"/>
                          </a:rPr>
                        </m:ctrlPr>
                      </m:fPr>
                      <m:num>
                        <m:d>
                          <m:dPr>
                            <m:ctrlPr>
                              <a:rPr lang="zh-CN" altLang="zh-CN" sz="1800" i="1">
                                <a:latin typeface="Cambria Math" panose="02040503050406030204" pitchFamily="18" charset="0"/>
                              </a:rPr>
                            </m:ctrlPr>
                          </m:dPr>
                          <m:e>
                            <m:r>
                              <a:rPr lang="en-US" altLang="zh-CN" sz="1800">
                                <a:latin typeface="Cambria Math" panose="02040503050406030204" pitchFamily="18" charset="0"/>
                              </a:rPr>
                              <m:t>465</m:t>
                            </m:r>
                            <m:r>
                              <a:rPr lang="en-US" altLang="zh-CN" sz="1800">
                                <a:latin typeface="Cambria Math" panose="02040503050406030204" pitchFamily="18" charset="0"/>
                              </a:rPr>
                              <m:t>.</m:t>
                            </m:r>
                            <m:r>
                              <a:rPr lang="en-US" altLang="zh-CN" sz="1800">
                                <a:latin typeface="Cambria Math" panose="02040503050406030204" pitchFamily="18" charset="0"/>
                              </a:rPr>
                              <m:t>4</m:t>
                            </m:r>
                            <m:r>
                              <a:rPr lang="en-US" altLang="zh-CN" sz="1800">
                                <a:latin typeface="Cambria Math" panose="02040503050406030204" pitchFamily="18" charset="0"/>
                              </a:rPr>
                              <m:t>+</m:t>
                            </m:r>
                            <m:r>
                              <a:rPr lang="en-US" altLang="zh-CN" sz="1800">
                                <a:latin typeface="Cambria Math" panose="02040503050406030204" pitchFamily="18" charset="0"/>
                              </a:rPr>
                              <m:t>477</m:t>
                            </m:r>
                            <m:r>
                              <a:rPr lang="en-US" altLang="zh-CN" sz="1800">
                                <a:latin typeface="Cambria Math" panose="02040503050406030204" pitchFamily="18" charset="0"/>
                              </a:rPr>
                              <m:t>.</m:t>
                            </m:r>
                            <m:r>
                              <a:rPr lang="en-US" altLang="zh-CN" sz="1800">
                                <a:latin typeface="Cambria Math" panose="02040503050406030204" pitchFamily="18" charset="0"/>
                              </a:rPr>
                              <m:t>0</m:t>
                            </m:r>
                          </m:e>
                        </m:d>
                      </m:num>
                      <m:den>
                        <m:r>
                          <a:rPr lang="en-US" altLang="zh-CN" sz="1800">
                            <a:latin typeface="Cambria Math" panose="02040503050406030204" pitchFamily="18" charset="0"/>
                          </a:rPr>
                          <m:t>2</m:t>
                        </m:r>
                      </m:den>
                    </m:f>
                    <m:r>
                      <a:rPr lang="en-US" altLang="zh-CN" sz="1800">
                        <a:latin typeface="Cambria Math" panose="02040503050406030204" pitchFamily="18" charset="0"/>
                      </a:rPr>
                      <m:t>=</m:t>
                    </m:r>
                    <m:r>
                      <a:rPr lang="en-US" altLang="zh-CN" sz="1800">
                        <a:latin typeface="Cambria Math" panose="02040503050406030204" pitchFamily="18" charset="0"/>
                      </a:rPr>
                      <m:t>471</m:t>
                    </m:r>
                    <m:r>
                      <a:rPr lang="en-US" altLang="zh-CN" sz="1800">
                        <a:latin typeface="Cambria Math" panose="02040503050406030204" pitchFamily="18" charset="0"/>
                      </a:rPr>
                      <m:t>.</m:t>
                    </m:r>
                    <m:r>
                      <a:rPr lang="en-US" altLang="zh-CN" sz="1800">
                        <a:latin typeface="Cambria Math" panose="02040503050406030204" pitchFamily="18" charset="0"/>
                      </a:rPr>
                      <m:t>2</m:t>
                    </m:r>
                  </m:oMath>
                </a14:m>
                <a:endParaRPr lang="zh-CN" altLang="en-US" sz="1800" dirty="0">
                  <a:latin typeface="Calibri" panose="020F0502020204030204" pitchFamily="34" charset="0"/>
                  <a:ea typeface="华文细黑" panose="02010600040101010101" pitchFamily="2" charset="-122"/>
                  <a:cs typeface="Calibri" panose="020F0502020204030204" pitchFamily="34" charset="0"/>
                </a:endParaRPr>
              </a:p>
            </p:txBody>
          </p:sp>
        </mc:Choice>
        <mc:Fallback>
          <p:sp>
            <p:nvSpPr>
              <p:cNvPr id="11" name="Content Placeholder 8"/>
              <p:cNvSpPr txBox="1">
                <a:spLocks noRot="1" noChangeAspect="1" noMove="1" noResize="1" noEditPoints="1" noAdjustHandles="1" noChangeArrowheads="1" noChangeShapeType="1" noTextEdit="1"/>
              </p:cNvSpPr>
              <p:nvPr/>
            </p:nvSpPr>
            <p:spPr>
              <a:xfrm>
                <a:off x="8040216" y="1556792"/>
                <a:ext cx="3600400" cy="4680520"/>
              </a:xfrm>
              <a:prstGeom prst="rect">
                <a:avLst/>
              </a:prstGeom>
              <a:blipFill rotWithShape="1">
                <a:blip r:embed="rId3"/>
                <a:stretch>
                  <a:fillRect l="-190" t="-144" r="-164" b="-128"/>
                </a:stretch>
              </a:blipFill>
              <a:ln w="12700" cmpd="dbl">
                <a:solidFill>
                  <a:schemeClr val="accent1"/>
                </a:solidFill>
              </a:ln>
            </p:spPr>
            <p:txBody>
              <a:bodyPr/>
              <a:lstStyle/>
              <a:p>
                <a:r>
                  <a:rPr lang="zh-CN" altLang="en-US">
                    <a:noFill/>
                  </a:rPr>
                  <a:t> </a:t>
                </a:r>
              </a:p>
            </p:txBody>
          </p:sp>
        </mc:Fallback>
      </mc:AlternateContent>
    </p:spTree>
    <p:custDataLst>
      <p:tags r:id="rId4"/>
    </p:custData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551384" y="1556792"/>
                <a:ext cx="10945216" cy="4680520"/>
              </a:xfrm>
              <a:ln w="12700" cmpd="dbl">
                <a:solidFill>
                  <a:schemeClr val="accent1"/>
                </a:solidFill>
              </a:ln>
            </p:spPr>
            <p:txBody>
              <a:bodyPr>
                <a:noAutofit/>
              </a:bodyPr>
              <a:lstStyle/>
              <a:p>
                <a:pPr marL="0" indent="0" algn="just">
                  <a:lnSpc>
                    <a:spcPct val="170000"/>
                  </a:lnSpc>
                  <a:buNone/>
                </a:pPr>
                <a:r>
                  <a:rPr lang="zh-CN" altLang="zh-CN" sz="1400" b="1" dirty="0">
                    <a:solidFill>
                      <a:srgbClr val="FF0000"/>
                    </a:solidFill>
                    <a:latin typeface="Calibri" panose="020F0502020204030204" pitchFamily="34" charset="0"/>
                    <a:cs typeface="Calibri" panose="020F0502020204030204" pitchFamily="34" charset="0"/>
                  </a:rPr>
                  <a:t>四分位数（</a:t>
                </a:r>
                <a:r>
                  <a:rPr lang="en-US" altLang="zh-CN" sz="1400" b="1" dirty="0">
                    <a:solidFill>
                      <a:srgbClr val="FF0000"/>
                    </a:solidFill>
                    <a:latin typeface="Calibri" panose="020F0502020204030204" pitchFamily="34" charset="0"/>
                    <a:cs typeface="Calibri" panose="020F0502020204030204" pitchFamily="34" charset="0"/>
                  </a:rPr>
                  <a:t>quartile</a:t>
                </a:r>
                <a:r>
                  <a:rPr lang="zh-CN" altLang="zh-CN" sz="1400" b="1" dirty="0">
                    <a:solidFill>
                      <a:srgbClr val="FF0000"/>
                    </a:solidFill>
                    <a:latin typeface="Calibri" panose="020F0502020204030204" pitchFamily="34" charset="0"/>
                    <a:cs typeface="Calibri" panose="020F0502020204030204" pitchFamily="34" charset="0"/>
                  </a:rPr>
                  <a:t>）</a:t>
                </a:r>
                <a:endParaRPr lang="en-US" altLang="zh-CN" sz="1400" b="1" dirty="0">
                  <a:solidFill>
                    <a:srgbClr val="FF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一组数据排序后处于</a:t>
                </a:r>
                <a:r>
                  <a:rPr lang="en-US" altLang="zh-CN" sz="1400" dirty="0">
                    <a:solidFill>
                      <a:srgbClr val="000000"/>
                    </a:solidFill>
                    <a:latin typeface="Calibri" panose="020F0502020204030204" pitchFamily="34" charset="0"/>
                    <a:cs typeface="Calibri" panose="020F0502020204030204" pitchFamily="34" charset="0"/>
                  </a:rPr>
                  <a:t>25%</a:t>
                </a:r>
                <a:r>
                  <a:rPr lang="zh-CN" altLang="zh-CN" sz="1400" dirty="0">
                    <a:solidFill>
                      <a:srgbClr val="000000"/>
                    </a:solidFill>
                    <a:latin typeface="Calibri" panose="020F0502020204030204" pitchFamily="34" charset="0"/>
                    <a:cs typeface="Calibri" panose="020F0502020204030204" pitchFamily="34" charset="0"/>
                  </a:rPr>
                  <a:t>和</a:t>
                </a:r>
                <a:r>
                  <a:rPr lang="en-US" altLang="zh-CN" sz="1400" dirty="0">
                    <a:solidFill>
                      <a:srgbClr val="000000"/>
                    </a:solidFill>
                    <a:latin typeface="Calibri" panose="020F0502020204030204" pitchFamily="34" charset="0"/>
                    <a:cs typeface="Calibri" panose="020F0502020204030204" pitchFamily="34" charset="0"/>
                  </a:rPr>
                  <a:t>75%</a:t>
                </a:r>
                <a:r>
                  <a:rPr lang="zh-CN" altLang="zh-CN" sz="1400" dirty="0">
                    <a:solidFill>
                      <a:srgbClr val="000000"/>
                    </a:solidFill>
                    <a:latin typeface="Calibri" panose="020F0502020204030204" pitchFamily="34" charset="0"/>
                    <a:cs typeface="Calibri" panose="020F0502020204030204" pitchFamily="34" charset="0"/>
                  </a:rPr>
                  <a:t>位置上的数值。它是用</a:t>
                </a:r>
                <a:r>
                  <a:rPr lang="en-US" altLang="zh-CN" sz="1400" dirty="0">
                    <a:solidFill>
                      <a:srgbClr val="000000"/>
                    </a:solidFill>
                    <a:latin typeface="Calibri" panose="020F0502020204030204" pitchFamily="34" charset="0"/>
                    <a:cs typeface="Calibri" panose="020F0502020204030204" pitchFamily="34" charset="0"/>
                  </a:rPr>
                  <a:t>3</a:t>
                </a:r>
                <a:r>
                  <a:rPr lang="zh-CN" altLang="zh-CN" sz="1400" dirty="0">
                    <a:solidFill>
                      <a:srgbClr val="000000"/>
                    </a:solidFill>
                    <a:latin typeface="Calibri" panose="020F0502020204030204" pitchFamily="34" charset="0"/>
                    <a:cs typeface="Calibri" panose="020F0502020204030204" pitchFamily="34" charset="0"/>
                  </a:rPr>
                  <a:t>个点将全部数据等分为</a:t>
                </a:r>
                <a:r>
                  <a:rPr lang="en-US" altLang="zh-CN" sz="1400" dirty="0">
                    <a:solidFill>
                      <a:srgbClr val="000000"/>
                    </a:solidFill>
                    <a:latin typeface="Calibri" panose="020F0502020204030204" pitchFamily="34" charset="0"/>
                    <a:cs typeface="Calibri" panose="020F0502020204030204" pitchFamily="34" charset="0"/>
                  </a:rPr>
                  <a:t>4</a:t>
                </a:r>
                <a:r>
                  <a:rPr lang="zh-CN" altLang="zh-CN" sz="1400" dirty="0">
                    <a:solidFill>
                      <a:srgbClr val="000000"/>
                    </a:solidFill>
                    <a:latin typeface="Calibri" panose="020F0502020204030204" pitchFamily="34" charset="0"/>
                    <a:cs typeface="Calibri" panose="020F0502020204030204" pitchFamily="34" charset="0"/>
                  </a:rPr>
                  <a:t>部分，其中每部分包含</a:t>
                </a:r>
                <a:r>
                  <a:rPr lang="en-US" altLang="zh-CN" sz="1400" dirty="0">
                    <a:solidFill>
                      <a:srgbClr val="000000"/>
                    </a:solidFill>
                    <a:latin typeface="Calibri" panose="020F0502020204030204" pitchFamily="34" charset="0"/>
                    <a:cs typeface="Calibri" panose="020F0502020204030204" pitchFamily="34" charset="0"/>
                  </a:rPr>
                  <a:t>25%</a:t>
                </a:r>
                <a:r>
                  <a:rPr lang="zh-CN" altLang="zh-CN" sz="1400" dirty="0">
                    <a:solidFill>
                      <a:srgbClr val="000000"/>
                    </a:solidFill>
                    <a:latin typeface="Calibri" panose="020F0502020204030204" pitchFamily="34" charset="0"/>
                    <a:cs typeface="Calibri" panose="020F0502020204030204" pitchFamily="34" charset="0"/>
                  </a:rPr>
                  <a:t>的数据。很显然，中间的四分位数就是中位数，因此通常所说的四分位数是指处在</a:t>
                </a:r>
                <a:r>
                  <a:rPr lang="en-US" altLang="zh-CN" sz="1400" dirty="0">
                    <a:solidFill>
                      <a:srgbClr val="000000"/>
                    </a:solidFill>
                    <a:latin typeface="Calibri" panose="020F0502020204030204" pitchFamily="34" charset="0"/>
                    <a:cs typeface="Calibri" panose="020F0502020204030204" pitchFamily="34" charset="0"/>
                  </a:rPr>
                  <a:t>25%</a:t>
                </a:r>
                <a:r>
                  <a:rPr lang="zh-CN" altLang="zh-CN" sz="1400" dirty="0">
                    <a:solidFill>
                      <a:srgbClr val="000000"/>
                    </a:solidFill>
                    <a:latin typeface="Calibri" panose="020F0502020204030204" pitchFamily="34" charset="0"/>
                    <a:cs typeface="Calibri" panose="020F0502020204030204" pitchFamily="34" charset="0"/>
                  </a:rPr>
                  <a:t>位置上和处在</a:t>
                </a:r>
                <a:r>
                  <a:rPr lang="en-US" altLang="zh-CN" sz="1400" dirty="0">
                    <a:solidFill>
                      <a:srgbClr val="000000"/>
                    </a:solidFill>
                    <a:latin typeface="Calibri" panose="020F0502020204030204" pitchFamily="34" charset="0"/>
                    <a:cs typeface="Calibri" panose="020F0502020204030204" pitchFamily="34" charset="0"/>
                  </a:rPr>
                  <a:t>75%</a:t>
                </a:r>
                <a:r>
                  <a:rPr lang="zh-CN" altLang="zh-CN" sz="1400" dirty="0">
                    <a:solidFill>
                      <a:srgbClr val="000000"/>
                    </a:solidFill>
                    <a:latin typeface="Calibri" panose="020F0502020204030204" pitchFamily="34" charset="0"/>
                    <a:cs typeface="Calibri" panose="020F0502020204030204" pitchFamily="34" charset="0"/>
                  </a:rPr>
                  <a:t>位置上的两个数值</a:t>
                </a:r>
                <a:endParaRPr lang="zh-CN" altLang="zh-CN" sz="1400" dirty="0">
                  <a:solidFill>
                    <a:srgbClr val="00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计算四分位数时，首先对数据进行排序，然后确定四分位数所在的位置，该位置上的数值就是四分位数。与中位数不同的是，四分位数位置的确定方法有多种，每种方法得到的结果可能会有一定差异，但差异不会很大</a:t>
                </a:r>
                <a:endParaRPr lang="en-US" altLang="zh-CN" sz="1400" dirty="0">
                  <a:solidFill>
                    <a:srgbClr val="00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设</a:t>
                </a:r>
                <a:r>
                  <a:rPr lang="en-US" altLang="zh-CN" sz="1400" dirty="0">
                    <a:solidFill>
                      <a:srgbClr val="000000"/>
                    </a:solidFill>
                    <a:latin typeface="Calibri" panose="020F0502020204030204" pitchFamily="34" charset="0"/>
                    <a:cs typeface="Calibri" panose="020F0502020204030204" pitchFamily="34" charset="0"/>
                  </a:rPr>
                  <a:t>25%</a:t>
                </a:r>
                <a:r>
                  <a:rPr lang="zh-CN" altLang="zh-CN" sz="1400" dirty="0">
                    <a:solidFill>
                      <a:srgbClr val="000000"/>
                    </a:solidFill>
                    <a:latin typeface="Calibri" panose="020F0502020204030204" pitchFamily="34" charset="0"/>
                    <a:cs typeface="Calibri" panose="020F0502020204030204" pitchFamily="34" charset="0"/>
                  </a:rPr>
                  <a:t>位置上的四分位数为</a:t>
                </a: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𝑄</m:t>
                        </m:r>
                      </m:e>
                      <m:sub>
                        <m:r>
                          <a:rPr lang="en-US" altLang="zh-CN" sz="1400">
                            <a:solidFill>
                              <a:srgbClr val="000000"/>
                            </a:solidFill>
                            <a:latin typeface="Cambria Math" panose="02040503050406030204" pitchFamily="18" charset="0"/>
                          </a:rPr>
                          <m:t>25</m:t>
                        </m:r>
                        <m:r>
                          <a:rPr lang="en-US" altLang="zh-CN" sz="1400">
                            <a:solidFill>
                              <a:srgbClr val="000000"/>
                            </a:solidFill>
                            <a:latin typeface="Cambria Math" panose="02040503050406030204" pitchFamily="18" charset="0"/>
                          </a:rPr>
                          <m:t>%</m:t>
                        </m:r>
                      </m:sub>
                    </m:sSub>
                  </m:oMath>
                </a14:m>
                <a:r>
                  <a:rPr lang="zh-CN" altLang="zh-CN" sz="1400" dirty="0">
                    <a:solidFill>
                      <a:srgbClr val="000000"/>
                    </a:solidFill>
                    <a:latin typeface="Calibri" panose="020F0502020204030204" pitchFamily="34" charset="0"/>
                    <a:cs typeface="Calibri" panose="020F0502020204030204" pitchFamily="34" charset="0"/>
                  </a:rPr>
                  <a:t>，</a:t>
                </a:r>
                <a:r>
                  <a:rPr lang="en-US" altLang="zh-CN" sz="1400" dirty="0">
                    <a:solidFill>
                      <a:srgbClr val="000000"/>
                    </a:solidFill>
                    <a:latin typeface="Calibri" panose="020F0502020204030204" pitchFamily="34" charset="0"/>
                    <a:cs typeface="Calibri" panose="020F0502020204030204" pitchFamily="34" charset="0"/>
                  </a:rPr>
                  <a:t>75%</a:t>
                </a:r>
                <a:r>
                  <a:rPr lang="zh-CN" altLang="zh-CN" sz="1400" dirty="0">
                    <a:solidFill>
                      <a:srgbClr val="000000"/>
                    </a:solidFill>
                    <a:latin typeface="Calibri" panose="020F0502020204030204" pitchFamily="34" charset="0"/>
                    <a:cs typeface="Calibri" panose="020F0502020204030204" pitchFamily="34" charset="0"/>
                  </a:rPr>
                  <a:t>位置上的四分位数为</a:t>
                </a: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𝑄</m:t>
                        </m:r>
                      </m:e>
                      <m:sub>
                        <m:r>
                          <a:rPr lang="en-US" altLang="zh-CN" sz="1400">
                            <a:solidFill>
                              <a:srgbClr val="000000"/>
                            </a:solidFill>
                            <a:latin typeface="Cambria Math" panose="02040503050406030204" pitchFamily="18" charset="0"/>
                          </a:rPr>
                          <m:t>75</m:t>
                        </m:r>
                        <m:r>
                          <a:rPr lang="en-US" altLang="zh-CN" sz="1400">
                            <a:solidFill>
                              <a:srgbClr val="000000"/>
                            </a:solidFill>
                            <a:latin typeface="Cambria Math" panose="02040503050406030204" pitchFamily="18" charset="0"/>
                          </a:rPr>
                          <m:t>%</m:t>
                        </m:r>
                      </m:sub>
                    </m:sSub>
                  </m:oMath>
                </a14:m>
                <a:r>
                  <a:rPr lang="zh-CN" altLang="zh-CN" sz="1400" dirty="0">
                    <a:solidFill>
                      <a:srgbClr val="000000"/>
                    </a:solidFill>
                    <a:latin typeface="Calibri" panose="020F0502020204030204" pitchFamily="34" charset="0"/>
                    <a:cs typeface="Calibri" panose="020F0502020204030204" pitchFamily="34" charset="0"/>
                  </a:rPr>
                  <a:t>，四分位数位置的公式为</a:t>
                </a:r>
                <a:endParaRPr lang="zh-CN" altLang="zh-CN" sz="1400" dirty="0">
                  <a:solidFill>
                    <a:srgbClr val="000000"/>
                  </a:solidFill>
                  <a:latin typeface="Calibri" panose="020F0502020204030204" pitchFamily="34" charset="0"/>
                  <a:cs typeface="Calibri" panose="020F0502020204030204" pitchFamily="34" charset="0"/>
                </a:endParaRPr>
              </a:p>
              <a:p>
                <a:pPr marL="0" indent="0" algn="ctr">
                  <a:lnSpc>
                    <a:spcPct val="170000"/>
                  </a:lnSpc>
                  <a:buClr>
                    <a:schemeClr val="accent1"/>
                  </a:buClr>
                  <a:buSzPct val="100000"/>
                  <a:buNone/>
                  <a:defRPr/>
                </a:pP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𝑄</m:t>
                        </m:r>
                      </m:e>
                      <m:sub>
                        <m:r>
                          <a:rPr lang="en-US" altLang="zh-CN" sz="1400">
                            <a:solidFill>
                              <a:srgbClr val="000000"/>
                            </a:solidFill>
                            <a:latin typeface="Cambria Math" panose="02040503050406030204" pitchFamily="18" charset="0"/>
                          </a:rPr>
                          <m:t>25</m:t>
                        </m:r>
                        <m:r>
                          <a:rPr lang="en-US" altLang="zh-CN" sz="1400">
                            <a:solidFill>
                              <a:srgbClr val="000000"/>
                            </a:solidFill>
                            <a:latin typeface="Cambria Math" panose="02040503050406030204" pitchFamily="18" charset="0"/>
                          </a:rPr>
                          <m:t>%</m:t>
                        </m:r>
                      </m:sub>
                    </m:sSub>
                    <m:r>
                      <a:rPr lang="en-US" altLang="zh-CN" sz="1400">
                        <a:solidFill>
                          <a:srgbClr val="000000"/>
                        </a:solidFill>
                        <a:latin typeface="Cambria Math" panose="02040503050406030204" pitchFamily="18" charset="0"/>
                      </a:rPr>
                      <m:t>=</m:t>
                    </m:r>
                    <m:f>
                      <m:fPr>
                        <m:ctrlPr>
                          <a:rPr lang="zh-CN" altLang="zh-CN" sz="1400" i="1">
                            <a:solidFill>
                              <a:srgbClr val="000000"/>
                            </a:solidFill>
                            <a:latin typeface="Cambria Math" panose="02040503050406030204" pitchFamily="18" charset="0"/>
                          </a:rPr>
                        </m:ctrlPr>
                      </m:fPr>
                      <m:num>
                        <m:r>
                          <a:rPr lang="en-US" altLang="zh-CN" sz="1400">
                            <a:solidFill>
                              <a:srgbClr val="000000"/>
                            </a:solidFill>
                            <a:latin typeface="Cambria Math" panose="02040503050406030204" pitchFamily="18" charset="0"/>
                          </a:rPr>
                          <m:t>𝑛</m:t>
                        </m:r>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1</m:t>
                        </m:r>
                      </m:num>
                      <m:den>
                        <m:r>
                          <a:rPr lang="en-US" altLang="zh-CN" sz="1400">
                            <a:solidFill>
                              <a:srgbClr val="000000"/>
                            </a:solidFill>
                            <a:latin typeface="Cambria Math" panose="02040503050406030204" pitchFamily="18" charset="0"/>
                          </a:rPr>
                          <m:t>4</m:t>
                        </m:r>
                      </m:den>
                    </m:f>
                  </m:oMath>
                </a14:m>
                <a:r>
                  <a:rPr lang="zh-CN" altLang="zh-CN" sz="1400" dirty="0">
                    <a:solidFill>
                      <a:srgbClr val="000000"/>
                    </a:solidFill>
                    <a:latin typeface="Calibri" panose="020F0502020204030204" pitchFamily="34" charset="0"/>
                    <a:cs typeface="Calibri" panose="020F0502020204030204" pitchFamily="34" charset="0"/>
                  </a:rPr>
                  <a:t>，</a:t>
                </a: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𝑄</m:t>
                        </m:r>
                      </m:e>
                      <m:sub>
                        <m:r>
                          <a:rPr lang="en-US" altLang="zh-CN" sz="1400">
                            <a:solidFill>
                              <a:srgbClr val="000000"/>
                            </a:solidFill>
                            <a:latin typeface="Cambria Math" panose="02040503050406030204" pitchFamily="18" charset="0"/>
                          </a:rPr>
                          <m:t>75</m:t>
                        </m:r>
                        <m:r>
                          <a:rPr lang="en-US" altLang="zh-CN" sz="1400">
                            <a:solidFill>
                              <a:srgbClr val="000000"/>
                            </a:solidFill>
                            <a:latin typeface="Cambria Math" panose="02040503050406030204" pitchFamily="18" charset="0"/>
                          </a:rPr>
                          <m:t>%</m:t>
                        </m:r>
                      </m:sub>
                    </m:sSub>
                    <m:r>
                      <a:rPr lang="en-US" altLang="zh-CN" sz="1400">
                        <a:solidFill>
                          <a:srgbClr val="000000"/>
                        </a:solidFill>
                        <a:latin typeface="Cambria Math" panose="02040503050406030204" pitchFamily="18" charset="0"/>
                      </a:rPr>
                      <m:t>=</m:t>
                    </m:r>
                    <m:f>
                      <m:fPr>
                        <m:ctrlPr>
                          <a:rPr lang="zh-CN" altLang="zh-CN" sz="1400" i="1">
                            <a:solidFill>
                              <a:srgbClr val="000000"/>
                            </a:solidFill>
                            <a:latin typeface="Cambria Math" panose="02040503050406030204" pitchFamily="18" charset="0"/>
                          </a:rPr>
                        </m:ctrlPr>
                      </m:fPr>
                      <m:num>
                        <m:r>
                          <a:rPr lang="en-US" altLang="zh-CN" sz="1400">
                            <a:solidFill>
                              <a:srgbClr val="000000"/>
                            </a:solidFill>
                            <a:latin typeface="Cambria Math" panose="02040503050406030204" pitchFamily="18" charset="0"/>
                          </a:rPr>
                          <m:t>3</m:t>
                        </m:r>
                        <m:d>
                          <m:dPr>
                            <m:ctrlPr>
                              <a:rPr lang="zh-CN" altLang="zh-CN" sz="1400" i="1">
                                <a:solidFill>
                                  <a:srgbClr val="000000"/>
                                </a:solidFill>
                                <a:latin typeface="Cambria Math" panose="02040503050406030204" pitchFamily="18" charset="0"/>
                              </a:rPr>
                            </m:ctrlPr>
                          </m:dPr>
                          <m:e>
                            <m:r>
                              <a:rPr lang="en-US" altLang="zh-CN" sz="1400">
                                <a:solidFill>
                                  <a:srgbClr val="000000"/>
                                </a:solidFill>
                                <a:latin typeface="Cambria Math" panose="02040503050406030204" pitchFamily="18" charset="0"/>
                              </a:rPr>
                              <m:t>𝑛</m:t>
                            </m:r>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1</m:t>
                            </m:r>
                          </m:e>
                        </m:d>
                      </m:num>
                      <m:den>
                        <m:r>
                          <a:rPr lang="en-US" altLang="zh-CN" sz="1400">
                            <a:solidFill>
                              <a:srgbClr val="000000"/>
                            </a:solidFill>
                            <a:latin typeface="Cambria Math" panose="02040503050406030204" pitchFamily="18" charset="0"/>
                          </a:rPr>
                          <m:t>4</m:t>
                        </m:r>
                      </m:den>
                    </m:f>
                  </m:oMath>
                </a14:m>
                <a:endParaRPr lang="en-US" altLang="zh-CN" sz="1400" dirty="0">
                  <a:solidFill>
                    <a:srgbClr val="000000"/>
                  </a:solidFill>
                  <a:latin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1400" dirty="0">
                    <a:solidFill>
                      <a:srgbClr val="000000"/>
                    </a:solidFill>
                    <a:latin typeface="Calibri" panose="020F0502020204030204" pitchFamily="34" charset="0"/>
                    <a:cs typeface="Calibri" panose="020F0502020204030204" pitchFamily="34" charset="0"/>
                  </a:rPr>
                  <a:t>如果位置是整数，四分位数就是该位置对应的数值；如果是在整数加</a:t>
                </a:r>
                <a:r>
                  <a:rPr lang="en-US" altLang="zh-CN" sz="1400" dirty="0">
                    <a:solidFill>
                      <a:srgbClr val="000000"/>
                    </a:solidFill>
                    <a:latin typeface="Calibri" panose="020F0502020204030204" pitchFamily="34" charset="0"/>
                    <a:cs typeface="Calibri" panose="020F0502020204030204" pitchFamily="34" charset="0"/>
                  </a:rPr>
                  <a:t>0.5</a:t>
                </a:r>
                <a:r>
                  <a:rPr lang="zh-CN" altLang="zh-CN" sz="1400" dirty="0">
                    <a:solidFill>
                      <a:srgbClr val="000000"/>
                    </a:solidFill>
                    <a:latin typeface="Calibri" panose="020F0502020204030204" pitchFamily="34" charset="0"/>
                    <a:cs typeface="Calibri" panose="020F0502020204030204" pitchFamily="34" charset="0"/>
                  </a:rPr>
                  <a:t>的位置上，则取该位置两侧数值的平均数；如果是在整数加</a:t>
                </a:r>
                <a:r>
                  <a:rPr lang="en-US" altLang="zh-CN" sz="1400" dirty="0">
                    <a:solidFill>
                      <a:srgbClr val="000000"/>
                    </a:solidFill>
                    <a:latin typeface="Calibri" panose="020F0502020204030204" pitchFamily="34" charset="0"/>
                    <a:cs typeface="Calibri" panose="020F0502020204030204" pitchFamily="34" charset="0"/>
                  </a:rPr>
                  <a:t>0.25</a:t>
                </a:r>
                <a:r>
                  <a:rPr lang="zh-CN" altLang="zh-CN" sz="1400" dirty="0">
                    <a:solidFill>
                      <a:srgbClr val="000000"/>
                    </a:solidFill>
                    <a:latin typeface="Calibri" panose="020F0502020204030204" pitchFamily="34" charset="0"/>
                    <a:cs typeface="Calibri" panose="020F0502020204030204" pitchFamily="34" charset="0"/>
                  </a:rPr>
                  <a:t>或</a:t>
                </a:r>
                <a:r>
                  <a:rPr lang="en-US" altLang="zh-CN" sz="1400" dirty="0">
                    <a:solidFill>
                      <a:srgbClr val="000000"/>
                    </a:solidFill>
                    <a:latin typeface="Calibri" panose="020F0502020204030204" pitchFamily="34" charset="0"/>
                    <a:cs typeface="Calibri" panose="020F0502020204030204" pitchFamily="34" charset="0"/>
                  </a:rPr>
                  <a:t>0.75</a:t>
                </a:r>
                <a:r>
                  <a:rPr lang="zh-CN" altLang="zh-CN" sz="1400" dirty="0">
                    <a:solidFill>
                      <a:srgbClr val="000000"/>
                    </a:solidFill>
                    <a:latin typeface="Calibri" panose="020F0502020204030204" pitchFamily="34" charset="0"/>
                    <a:cs typeface="Calibri" panose="020F0502020204030204" pitchFamily="34" charset="0"/>
                  </a:rPr>
                  <a:t>的位置上，则四分位数等于该位置前面的数值加上按比例分摊的位置两侧数值的差值 </a:t>
                </a:r>
                <a:endParaRPr lang="en-US" altLang="zh-CN" sz="1400" dirty="0">
                  <a:solidFill>
                    <a:srgbClr val="000000"/>
                  </a:solidFill>
                  <a:latin typeface="Calibri" panose="020F0502020204030204" pitchFamily="34" charset="0"/>
                  <a:cs typeface="Calibri" panose="020F0502020204030204" pitchFamily="34" charset="0"/>
                </a:endParaRPr>
              </a:p>
              <a:p>
                <a:pPr marL="0" indent="0" algn="just">
                  <a:lnSpc>
                    <a:spcPct val="170000"/>
                  </a:lnSpc>
                  <a:buClr>
                    <a:schemeClr val="accent1"/>
                  </a:buClr>
                  <a:buSzPct val="100000"/>
                  <a:buNone/>
                  <a:defRPr/>
                </a:pPr>
                <a:r>
                  <a:rPr lang="zh-CN" altLang="en-US" sz="1400" dirty="0">
                    <a:solidFill>
                      <a:srgbClr val="000000"/>
                    </a:solidFill>
                    <a:latin typeface="Calibri" panose="020F0502020204030204" pitchFamily="34" charset="0"/>
                    <a:cs typeface="Calibri" panose="020F0502020204030204" pitchFamily="34" charset="0"/>
                  </a:rPr>
                  <a:t>注：</a:t>
                </a:r>
                <a:r>
                  <a:rPr lang="en-US" altLang="zh-CN" sz="1400" dirty="0">
                    <a:solidFill>
                      <a:srgbClr val="000000"/>
                    </a:solidFill>
                    <a:latin typeface="Calibri" panose="020F0502020204030204" pitchFamily="34" charset="0"/>
                    <a:cs typeface="Calibri" panose="020F0502020204030204" pitchFamily="34" charset="0"/>
                  </a:rPr>
                  <a:t>Excel</a:t>
                </a:r>
                <a:r>
                  <a:rPr lang="zh-CN" altLang="zh-CN" sz="1400" dirty="0">
                    <a:solidFill>
                      <a:srgbClr val="000000"/>
                    </a:solidFill>
                    <a:latin typeface="Calibri" panose="020F0502020204030204" pitchFamily="34" charset="0"/>
                    <a:cs typeface="Calibri" panose="020F0502020204030204" pitchFamily="34" charset="0"/>
                  </a:rPr>
                  <a:t>四分位数位置的计算公式为：</a:t>
                </a: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𝑄</m:t>
                        </m:r>
                      </m:e>
                      <m:sub>
                        <m:r>
                          <a:rPr lang="en-US" altLang="zh-CN" sz="1400">
                            <a:solidFill>
                              <a:srgbClr val="000000"/>
                            </a:solidFill>
                            <a:latin typeface="Cambria Math" panose="02040503050406030204" pitchFamily="18" charset="0"/>
                          </a:rPr>
                          <m:t>25</m:t>
                        </m:r>
                        <m:r>
                          <a:rPr lang="en-US" altLang="zh-CN" sz="1400">
                            <a:solidFill>
                              <a:srgbClr val="000000"/>
                            </a:solidFill>
                            <a:latin typeface="Cambria Math" panose="02040503050406030204" pitchFamily="18" charset="0"/>
                          </a:rPr>
                          <m:t>%</m:t>
                        </m:r>
                      </m:sub>
                    </m:sSub>
                    <m:r>
                      <a:rPr lang="zh-CN" altLang="zh-CN" sz="1400">
                        <a:solidFill>
                          <a:srgbClr val="000000"/>
                        </a:solidFill>
                        <a:latin typeface="Cambria Math" panose="02040503050406030204" pitchFamily="18" charset="0"/>
                      </a:rPr>
                      <m:t>位置</m:t>
                    </m:r>
                    <m:r>
                      <a:rPr lang="en-US" altLang="zh-CN" sz="1400">
                        <a:solidFill>
                          <a:srgbClr val="000000"/>
                        </a:solidFill>
                        <a:latin typeface="Cambria Math" panose="02040503050406030204" pitchFamily="18" charset="0"/>
                      </a:rPr>
                      <m:t>=</m:t>
                    </m:r>
                    <m:f>
                      <m:fPr>
                        <m:ctrlPr>
                          <a:rPr lang="zh-CN" altLang="zh-CN" sz="1400" i="1">
                            <a:solidFill>
                              <a:srgbClr val="000000"/>
                            </a:solidFill>
                            <a:latin typeface="Cambria Math" panose="02040503050406030204" pitchFamily="18" charset="0"/>
                          </a:rPr>
                        </m:ctrlPr>
                      </m:fPr>
                      <m:num>
                        <m:r>
                          <a:rPr lang="en-US" altLang="zh-CN" sz="1400">
                            <a:solidFill>
                              <a:srgbClr val="000000"/>
                            </a:solidFill>
                            <a:latin typeface="Cambria Math" panose="02040503050406030204" pitchFamily="18" charset="0"/>
                          </a:rPr>
                          <m:t>𝑛</m:t>
                        </m:r>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3</m:t>
                        </m:r>
                      </m:num>
                      <m:den>
                        <m:r>
                          <a:rPr lang="en-US" altLang="zh-CN" sz="1400">
                            <a:solidFill>
                              <a:srgbClr val="000000"/>
                            </a:solidFill>
                            <a:latin typeface="Cambria Math" panose="02040503050406030204" pitchFamily="18" charset="0"/>
                          </a:rPr>
                          <m:t>4</m:t>
                        </m:r>
                      </m:den>
                    </m:f>
                  </m:oMath>
                </a14:m>
                <a:r>
                  <a:rPr lang="zh-CN" altLang="zh-CN" sz="1400" dirty="0">
                    <a:solidFill>
                      <a:srgbClr val="000000"/>
                    </a:solidFill>
                    <a:latin typeface="Calibri" panose="020F0502020204030204" pitchFamily="34" charset="0"/>
                    <a:cs typeface="Calibri" panose="020F0502020204030204" pitchFamily="34" charset="0"/>
                  </a:rPr>
                  <a:t>，</a:t>
                </a:r>
                <a14:m>
                  <m:oMath xmlns:m="http://schemas.openxmlformats.org/officeDocument/2006/math">
                    <m:sSub>
                      <m:sSubPr>
                        <m:ctrlPr>
                          <a:rPr lang="zh-CN" altLang="zh-CN" sz="1400" i="1">
                            <a:solidFill>
                              <a:srgbClr val="000000"/>
                            </a:solidFill>
                            <a:latin typeface="Cambria Math" panose="02040503050406030204" pitchFamily="18" charset="0"/>
                          </a:rPr>
                        </m:ctrlPr>
                      </m:sSubPr>
                      <m:e>
                        <m:r>
                          <a:rPr lang="en-US" altLang="zh-CN" sz="1400">
                            <a:solidFill>
                              <a:srgbClr val="000000"/>
                            </a:solidFill>
                            <a:latin typeface="Cambria Math" panose="02040503050406030204" pitchFamily="18" charset="0"/>
                          </a:rPr>
                          <m:t>𝑄</m:t>
                        </m:r>
                      </m:e>
                      <m:sub>
                        <m:r>
                          <a:rPr lang="en-US" altLang="zh-CN" sz="1400">
                            <a:solidFill>
                              <a:srgbClr val="000000"/>
                            </a:solidFill>
                            <a:latin typeface="Cambria Math" panose="02040503050406030204" pitchFamily="18" charset="0"/>
                          </a:rPr>
                          <m:t>75</m:t>
                        </m:r>
                        <m:r>
                          <a:rPr lang="en-US" altLang="zh-CN" sz="1400">
                            <a:solidFill>
                              <a:srgbClr val="000000"/>
                            </a:solidFill>
                            <a:latin typeface="Cambria Math" panose="02040503050406030204" pitchFamily="18" charset="0"/>
                          </a:rPr>
                          <m:t>%</m:t>
                        </m:r>
                      </m:sub>
                    </m:sSub>
                    <m:r>
                      <a:rPr lang="zh-CN" altLang="zh-CN" sz="1400">
                        <a:solidFill>
                          <a:srgbClr val="000000"/>
                        </a:solidFill>
                        <a:latin typeface="Cambria Math" panose="02040503050406030204" pitchFamily="18" charset="0"/>
                      </a:rPr>
                      <m:t>位置</m:t>
                    </m:r>
                    <m:r>
                      <a:rPr lang="en-US" altLang="zh-CN" sz="1400">
                        <a:solidFill>
                          <a:srgbClr val="000000"/>
                        </a:solidFill>
                        <a:latin typeface="Cambria Math" panose="02040503050406030204" pitchFamily="18" charset="0"/>
                      </a:rPr>
                      <m:t>=</m:t>
                    </m:r>
                    <m:f>
                      <m:fPr>
                        <m:ctrlPr>
                          <a:rPr lang="zh-CN" altLang="zh-CN" sz="1400" i="1">
                            <a:solidFill>
                              <a:srgbClr val="000000"/>
                            </a:solidFill>
                            <a:latin typeface="Cambria Math" panose="02040503050406030204" pitchFamily="18" charset="0"/>
                          </a:rPr>
                        </m:ctrlPr>
                      </m:fPr>
                      <m:num>
                        <m:r>
                          <a:rPr lang="en-US" altLang="zh-CN" sz="1400">
                            <a:solidFill>
                              <a:srgbClr val="000000"/>
                            </a:solidFill>
                            <a:latin typeface="Cambria Math" panose="02040503050406030204" pitchFamily="18" charset="0"/>
                          </a:rPr>
                          <m:t>3</m:t>
                        </m:r>
                        <m:r>
                          <a:rPr lang="en-US" altLang="zh-CN" sz="1400">
                            <a:solidFill>
                              <a:srgbClr val="000000"/>
                            </a:solidFill>
                            <a:latin typeface="Cambria Math" panose="02040503050406030204" pitchFamily="18" charset="0"/>
                          </a:rPr>
                          <m:t>𝑛</m:t>
                        </m:r>
                        <m:r>
                          <a:rPr lang="en-US" altLang="zh-CN" sz="1400">
                            <a:solidFill>
                              <a:srgbClr val="000000"/>
                            </a:solidFill>
                            <a:latin typeface="Cambria Math" panose="02040503050406030204" pitchFamily="18" charset="0"/>
                          </a:rPr>
                          <m:t>+</m:t>
                        </m:r>
                        <m:r>
                          <a:rPr lang="en-US" altLang="zh-CN" sz="1400">
                            <a:solidFill>
                              <a:srgbClr val="000000"/>
                            </a:solidFill>
                            <a:latin typeface="Cambria Math" panose="02040503050406030204" pitchFamily="18" charset="0"/>
                          </a:rPr>
                          <m:t>1</m:t>
                        </m:r>
                      </m:num>
                      <m:den>
                        <m:r>
                          <a:rPr lang="en-US" altLang="zh-CN" sz="1400">
                            <a:solidFill>
                              <a:srgbClr val="000000"/>
                            </a:solidFill>
                            <a:latin typeface="Cambria Math" panose="02040503050406030204" pitchFamily="18" charset="0"/>
                          </a:rPr>
                          <m:t>4</m:t>
                        </m:r>
                      </m:den>
                    </m:f>
                  </m:oMath>
                </a14:m>
                <a:endParaRPr lang="zh-CN" altLang="zh-CN" sz="1400" dirty="0">
                  <a:solidFill>
                    <a:srgbClr val="000000"/>
                  </a:solidFill>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551384" y="1556792"/>
                <a:ext cx="10945216" cy="4680520"/>
              </a:xfrm>
              <a:blipFill rotWithShape="1">
                <a:blip r:embed="rId1"/>
                <a:stretch>
                  <a:fillRect l="-60" t="-144" r="-53"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四分位数</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23392" y="1556792"/>
                <a:ext cx="10945216" cy="4680520"/>
              </a:xfrm>
              <a:ln w="12700" cmpd="dbl">
                <a:solidFill>
                  <a:schemeClr val="accent1"/>
                </a:solidFill>
              </a:ln>
            </p:spPr>
            <p:txBody>
              <a:bodyPr>
                <a:noAutofit/>
              </a:bodyPr>
              <a:lstStyle/>
              <a:p>
                <a:pPr marL="0" indent="0" algn="just">
                  <a:lnSpc>
                    <a:spcPct val="15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4.4</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沿用例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。计算</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个网购金额的四分位数</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r>
                  <a:rPr lang="zh-CN" altLang="zh-CN" sz="1800" b="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解：</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先对</a:t>
                </a:r>
                <a14:m>
                  <m:oMath xmlns:m="http://schemas.openxmlformats.org/officeDocument/2006/math">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个数据从小到大进行排序，然后计算出四分位数的位置：</a:t>
                </a:r>
                <a:r>
                  <a:rPr lang="zh-CN" altLang="zh-CN" sz="1800" dirty="0">
                    <a:solidFill>
                      <a:srgbClr val="000000"/>
                    </a:solidFill>
                    <a:effectLst/>
                    <a:latin typeface="NEU-BZ-S92"/>
                    <a:ea typeface="Calibri" panose="020F0502020204030204" pitchFamily="34" charset="0"/>
                    <a:cs typeface="Times New Roman" panose="02020603050405020304" pitchFamily="18" charset="0"/>
                  </a:rPr>
                  <a:t> </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𝑄</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ub>
                    </m:sSub>
                    <m:r>
                      <a:rPr lang="zh-CN"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位置</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m:t>
                        </m:r>
                      </m:den>
                    </m:f>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75</m:t>
                    </m:r>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a:t>
                </a: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𝑄</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ub>
                    </m:sSub>
                    <m:r>
                      <a:rPr lang="zh-CN"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位置</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m:t>
                        </m:r>
                      </m:den>
                    </m:f>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23</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oMath>
                </a14:m>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𝑄</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ub>
                    </m:sSub>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在第</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7</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个数值（</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427.1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）和第</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8</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个数值（</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429.0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）之间</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0.75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的位置上</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𝑄</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ub>
                    </m:s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427</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d>
                      <m:d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429</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427</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e>
                    </m:d>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428</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525</m:t>
                    </m:r>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𝑄</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ub>
                    </m:sSub>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在第</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23</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个数值（</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540.1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）和第</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24</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个数值（</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570.1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）之间</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0.25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的位置上，因此，</a:t>
                </a: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𝑄</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ub>
                    </m:s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540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d>
                      <m:d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570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540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e>
                    </m:d>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547</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m:t>
                    </m:r>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由于在</a:t>
                </a: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𝑄</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ub>
                    </m:sSub>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和</a:t>
                </a: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𝑄</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ub>
                    </m:sSub>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之间大约包含了</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的数据。就上面</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人的网购金额而言，可以说大约有一半人的网购金额在</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428.525</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元和</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547.6</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元之间</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23392" y="1556792"/>
                <a:ext cx="10945216" cy="4680520"/>
              </a:xfrm>
              <a:blipFill rotWithShape="1">
                <a:blip r:embed="rId1"/>
                <a:stretch>
                  <a:fillRect l="-62" t="-144" r="-56"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四分位数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10801200" cy="4680520"/>
              </a:xfrm>
              <a:ln w="12700" cmpd="dbl">
                <a:solidFill>
                  <a:schemeClr val="accent1"/>
                </a:solidFill>
              </a:ln>
            </p:spPr>
            <p:txBody>
              <a:bodyPr>
                <a:noAutofit/>
              </a:bodyPr>
              <a:lstStyle/>
              <a:p>
                <a:pPr marL="0" indent="0" algn="just">
                  <a:lnSpc>
                    <a:spcPct val="170000"/>
                  </a:lnSpc>
                  <a:buNone/>
                </a:pPr>
                <a:r>
                  <a:rPr lang="zh-CN" altLang="zh-CN" sz="2000" b="1" dirty="0">
                    <a:solidFill>
                      <a:srgbClr val="FF0000"/>
                    </a:solidFill>
                    <a:latin typeface="Calibri" panose="020F0502020204030204" pitchFamily="34" charset="0"/>
                    <a:cs typeface="Calibri" panose="020F0502020204030204" pitchFamily="34" charset="0"/>
                  </a:rPr>
                  <a:t>众数（</a:t>
                </a:r>
                <a:r>
                  <a:rPr lang="en-US" altLang="zh-CN" sz="2000" b="1" dirty="0">
                    <a:solidFill>
                      <a:srgbClr val="FF0000"/>
                    </a:solidFill>
                    <a:latin typeface="Calibri" panose="020F0502020204030204" pitchFamily="34" charset="0"/>
                    <a:cs typeface="Calibri" panose="020F0502020204030204" pitchFamily="34" charset="0"/>
                  </a:rPr>
                  <a:t>mode</a:t>
                </a:r>
                <a:r>
                  <a:rPr lang="zh-CN" altLang="zh-CN" sz="2000" b="1" dirty="0">
                    <a:solidFill>
                      <a:srgbClr val="FF0000"/>
                    </a:solidFill>
                    <a:latin typeface="Calibri" panose="020F0502020204030204" pitchFamily="34" charset="0"/>
                    <a:cs typeface="Calibri" panose="020F0502020204030204" pitchFamily="34" charset="0"/>
                  </a:rPr>
                  <a:t>）</a:t>
                </a:r>
                <a:endParaRPr lang="en-US" altLang="zh-CN" sz="2000" b="1" dirty="0">
                  <a:solidFill>
                    <a:srgbClr val="FF0000"/>
                  </a:solidFill>
                  <a:latin typeface="Calibri" panose="020F0502020204030204" pitchFamily="34" charset="0"/>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是一组数据中出现频数最多的数值，用</a:t>
                </a:r>
                <a14:m>
                  <m:oMath xmlns:m="http://schemas.openxmlformats.org/officeDocument/2006/math">
                    <m:sSub>
                      <m:sSubPr>
                        <m:ctrlPr>
                          <a:rPr lang="zh-CN" altLang="zh-CN" sz="2000" i="1">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effectLst/>
                            <a:latin typeface="Cambria Math" panose="02040503050406030204" pitchFamily="18" charset="0"/>
                            <a:ea typeface="华文细黑" panose="02010600040101010101" pitchFamily="2" charset="-122"/>
                            <a:cs typeface="Calibri" panose="020F0502020204030204" pitchFamily="34" charset="0"/>
                          </a:rPr>
                          <m:t>𝑀</m:t>
                        </m:r>
                      </m:e>
                      <m:sub>
                        <m:r>
                          <a:rPr lang="en-US" altLang="zh-CN" sz="2000" i="1">
                            <a:effectLst/>
                            <a:latin typeface="Cambria Math" panose="02040503050406030204" pitchFamily="18" charset="0"/>
                            <a:ea typeface="华文细黑" panose="02010600040101010101" pitchFamily="2" charset="-122"/>
                            <a:cs typeface="Calibri" panose="020F0502020204030204" pitchFamily="34" charset="0"/>
                          </a:rPr>
                          <m:t>𝑜</m:t>
                        </m:r>
                      </m:sub>
                    </m:sSub>
                  </m:oMath>
                </a14:m>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表示</a:t>
                </a:r>
                <a:endParaRPr lang="en-US" altLang="zh-CN" sz="2000" dirty="0">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一般情况下，只有在数据量较大时众数才有意义</a:t>
                </a:r>
                <a:endParaRPr lang="en-US" altLang="zh-CN" sz="2000" dirty="0">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从分布的角度看，众数是一组数据分布的峰值点所对应的数值</a:t>
                </a:r>
                <a:endParaRPr lang="en-US" altLang="zh-CN" sz="2000" dirty="0">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如果数据的分布没有明显的峰值，众数也可能不存在；如果有两个或多个峰值，也可以有两个或多个众数</a:t>
                </a:r>
                <a:endParaRPr lang="en-US" altLang="zh-CN" sz="2000" dirty="0">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lnSpc>
                    <a:spcPct val="170000"/>
                  </a:lnSpc>
                  <a:buClr>
                    <a:schemeClr val="accent1"/>
                  </a:buClr>
                  <a:buSzPct val="100000"/>
                  <a:buFont typeface="Wingdings" panose="05000000000000000000" pitchFamily="2" charset="2"/>
                  <a:buChar char="l"/>
                  <a:defRPr/>
                </a:pP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例</a:t>
                </a:r>
                <a:r>
                  <a:rPr lang="en-US" altLang="zh-CN" sz="2000" dirty="0">
                    <a:effectLst/>
                    <a:latin typeface="Calibri" panose="020F0502020204030204" pitchFamily="34" charset="0"/>
                    <a:ea typeface="华文细黑" panose="02010600040101010101" pitchFamily="2" charset="-122"/>
                  </a:rPr>
                  <a:t>4.1</a:t>
                </a:r>
                <a:r>
                  <a:rPr lang="en-US" altLang="zh-CN" sz="2000" dirty="0">
                    <a:latin typeface="Calibri" panose="020F0502020204030204" pitchFamily="34" charset="0"/>
                    <a:cs typeface="Calibri" panose="020F0502020204030204" pitchFamily="34" charset="0"/>
                  </a:rPr>
                  <a:t>——</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出现金额最多的是</a:t>
                </a:r>
                <a:r>
                  <a:rPr lang="en-US" altLang="zh-CN" sz="2000" dirty="0">
                    <a:effectLst/>
                    <a:latin typeface="Calibri" panose="020F0502020204030204" pitchFamily="34" charset="0"/>
                    <a:ea typeface="华文细黑" panose="02010600040101010101" pitchFamily="2" charset="-122"/>
                  </a:rPr>
                  <a:t>450</a:t>
                </a:r>
                <a:r>
                  <a:rPr lang="zh-CN" altLang="zh-CN" sz="2000" dirty="0">
                    <a:effectLst/>
                    <a:latin typeface="Calibri" panose="020F0502020204030204" pitchFamily="34" charset="0"/>
                    <a:ea typeface="华文细黑" panose="02010600040101010101" pitchFamily="2" charset="-122"/>
                    <a:cs typeface="Calibri" panose="020F0502020204030204" pitchFamily="34" charset="0"/>
                  </a:rPr>
                  <a:t>，因此</a:t>
                </a:r>
                <a14:m>
                  <m:oMath xmlns:m="http://schemas.openxmlformats.org/officeDocument/2006/math">
                    <m:sSub>
                      <m:sSubPr>
                        <m:ctrlPr>
                          <a:rPr lang="zh-CN" altLang="zh-CN" sz="2000" i="1">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effectLst/>
                            <a:latin typeface="Cambria Math" panose="02040503050406030204" pitchFamily="18" charset="0"/>
                            <a:ea typeface="华文细黑" panose="02010600040101010101" pitchFamily="2" charset="-122"/>
                            <a:cs typeface="Calibri" panose="020F0502020204030204" pitchFamily="34" charset="0"/>
                          </a:rPr>
                          <m:t>𝑀</m:t>
                        </m:r>
                      </m:e>
                      <m:sub>
                        <m:r>
                          <a:rPr lang="en-US" altLang="zh-CN" sz="2000" i="1">
                            <a:effectLst/>
                            <a:latin typeface="Cambria Math" panose="02040503050406030204" pitchFamily="18" charset="0"/>
                            <a:ea typeface="华文细黑" panose="02010600040101010101" pitchFamily="2" charset="-122"/>
                            <a:cs typeface="Calibri" panose="020F0502020204030204" pitchFamily="34" charset="0"/>
                          </a:rPr>
                          <m:t>𝑜</m:t>
                        </m:r>
                      </m:sub>
                    </m:sSub>
                    <m:r>
                      <a:rPr lang="en-US" altLang="zh-CN" sz="2000" i="1">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effectLst/>
                        <a:latin typeface="Cambria Math" panose="02040503050406030204" pitchFamily="18" charset="0"/>
                        <a:ea typeface="华文细黑" panose="02010600040101010101" pitchFamily="2" charset="-122"/>
                        <a:cs typeface="Calibri" panose="020F0502020204030204" pitchFamily="34" charset="0"/>
                      </a:rPr>
                      <m:t>450</m:t>
                    </m:r>
                  </m:oMath>
                </a14:m>
                <a:endParaRPr lang="zh-CN" altLang="zh-CN" sz="2000" dirty="0">
                  <a:solidFill>
                    <a:srgbClr val="000000"/>
                  </a:solidFill>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10801200" cy="4680520"/>
              </a:xfrm>
              <a:blipFill rotWithShape="1">
                <a:blip r:embed="rId1"/>
                <a:stretch>
                  <a:fillRect l="-59" t="-144" r="-54"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众数</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10801200" cy="4680520"/>
              </a:xfrm>
              <a:ln w="12700" cmpd="dbl">
                <a:solidFill>
                  <a:schemeClr val="accent1"/>
                </a:solidFill>
              </a:ln>
            </p:spPr>
            <p:txBody>
              <a:bodyPr>
                <a:noAutofit/>
              </a:bodyPr>
              <a:lstStyle/>
              <a:p>
                <a:pPr marL="0" indent="0" algn="just">
                  <a:lnSpc>
                    <a:spcPct val="150000"/>
                  </a:lnSpc>
                  <a:buNone/>
                </a:pPr>
                <a:r>
                  <a:rPr lang="zh-CN" altLang="zh-CN" sz="2000" b="1" dirty="0">
                    <a:solidFill>
                      <a:srgbClr val="FF0000"/>
                    </a:solidFill>
                    <a:latin typeface="Calibri" panose="020F0502020204030204" pitchFamily="34" charset="0"/>
                    <a:cs typeface="Calibri" panose="020F0502020204030204" pitchFamily="34" charset="0"/>
                  </a:rPr>
                  <a:t>几何平均数</a:t>
                </a:r>
                <a:r>
                  <a:rPr lang="en-US" altLang="zh-CN" sz="2000" b="1" dirty="0">
                    <a:solidFill>
                      <a:srgbClr val="FF0000"/>
                    </a:solidFill>
                    <a:latin typeface="Calibri" panose="020F0502020204030204" pitchFamily="34" charset="0"/>
                    <a:cs typeface="Calibri" panose="020F0502020204030204" pitchFamily="34" charset="0"/>
                  </a:rPr>
                  <a:t>(geometric mean)</a:t>
                </a:r>
                <a:endParaRPr lang="en-US" altLang="zh-CN" sz="2000" b="1" dirty="0">
                  <a:solidFill>
                    <a:srgbClr val="FF0000"/>
                  </a:solidFill>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14:m>
                  <m:oMath xmlns:m="http://schemas.openxmlformats.org/officeDocument/2006/math">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个变量值乘积的</a:t>
                </a:r>
                <a14:m>
                  <m:oMath xmlns:m="http://schemas.openxmlformats.org/officeDocument/2006/math">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次方根</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用</a:t>
                </a:r>
                <a14:m>
                  <m:oMath xmlns:m="http://schemas.openxmlformats.org/officeDocument/2006/math">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𝐺</m:t>
                    </m:r>
                  </m:oMath>
                </a14:m>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表示。计算公式为</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indent="0" algn="just">
                  <a:lnSpc>
                    <a:spcPct val="150000"/>
                  </a:lnSpc>
                  <a:buNone/>
                </a:pPr>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G=</a:t>
                </a:r>
                <a14:m>
                  <m:oMath xmlns:m="http://schemas.openxmlformats.org/officeDocument/2006/math">
                    <m:rad>
                      <m:rad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n</m:t>
                        </m:r>
                      </m:deg>
                      <m:e>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ub>
                        </m:s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b>
                        </m:sSub>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sub>
                        </m:sSub>
                      </m:e>
                    </m:rad>
                  </m:oMath>
                </a14:m>
                <a:r>
                  <a:rPr lang="en-US" altLang="zh-CN" sz="1800" i="1"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14:m>
                  <m:oMath xmlns:m="http://schemas.openxmlformats.org/officeDocument/2006/math">
                    <m:rad>
                      <m:rad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radPr>
                      <m:deg>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deg>
                      <m:e>
                        <m:limUpp>
                          <m:limUp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UppPr>
                          <m:e>
                            <m:limLow>
                              <m:limLow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limLowPr>
                              <m:e>
                                <m:r>
                                  <m:rPr>
                                    <m:nor/>
                                  </m:rPr>
                                  <a:rPr lang="en-US" altLang="zh-CN" sz="180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m:t>∏</m:t>
                                </m:r>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lim>
                            </m:limLow>
                          </m:e>
                          <m:li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lim>
                        </m:limUpp>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e>
                    </m:rad>
                  </m:oMath>
                </a14:m>
                <a:endParaRPr lang="en-US" altLang="zh-CN" sz="1800" i="1"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indent="0" algn="just">
                  <a:lnSpc>
                    <a:spcPct val="15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式中</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为连乘符号。</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solidFill>
                      <a:srgbClr val="000000"/>
                    </a:solidFill>
                    <a:latin typeface="Cambria Math" panose="02040503050406030204" pitchFamily="18" charset="0"/>
                    <a:cs typeface="Calibri" panose="020F0502020204030204" pitchFamily="34" charset="0"/>
                  </a:rPr>
                  <a:t>几何平均数是适用于特殊数据的一种平均数</a:t>
                </a:r>
                <a:r>
                  <a:rPr lang="en-US" altLang="zh-CN" sz="1800" dirty="0">
                    <a:solidFill>
                      <a:srgbClr val="000000"/>
                    </a:solidFill>
                    <a:latin typeface="Cambria Math" panose="02040503050406030204" pitchFamily="18" charset="0"/>
                    <a:cs typeface="Calibri" panose="020F0502020204030204" pitchFamily="34" charset="0"/>
                  </a:rPr>
                  <a:t>,</a:t>
                </a:r>
                <a:r>
                  <a:rPr lang="zh-CN" altLang="zh-CN" sz="1800" dirty="0">
                    <a:solidFill>
                      <a:srgbClr val="000000"/>
                    </a:solidFill>
                    <a:latin typeface="Cambria Math" panose="02040503050406030204" pitchFamily="18" charset="0"/>
                    <a:cs typeface="Calibri" panose="020F0502020204030204" pitchFamily="34" charset="0"/>
                  </a:rPr>
                  <a:t>它主要用于计算平均比率</a:t>
                </a:r>
                <a:endParaRPr lang="en-US" altLang="zh-CN" sz="1800" dirty="0">
                  <a:solidFill>
                    <a:srgbClr val="000000"/>
                  </a:solidFill>
                  <a:latin typeface="Cambria Math" panose="02040503050406030204" pitchFamily="18"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solidFill>
                      <a:srgbClr val="000000"/>
                    </a:solidFill>
                    <a:latin typeface="Cambria Math" panose="02040503050406030204" pitchFamily="18" charset="0"/>
                    <a:cs typeface="Calibri" panose="020F0502020204030204" pitchFamily="34" charset="0"/>
                  </a:rPr>
                  <a:t>当所掌握的变量值本身是比率形式时</a:t>
                </a:r>
                <a:r>
                  <a:rPr lang="en-US" altLang="zh-CN" sz="1800" dirty="0">
                    <a:solidFill>
                      <a:srgbClr val="000000"/>
                    </a:solidFill>
                    <a:latin typeface="Cambria Math" panose="02040503050406030204" pitchFamily="18" charset="0"/>
                    <a:cs typeface="Calibri" panose="020F0502020204030204" pitchFamily="34" charset="0"/>
                  </a:rPr>
                  <a:t>,</a:t>
                </a:r>
                <a:r>
                  <a:rPr lang="zh-CN" altLang="zh-CN" sz="1800" dirty="0">
                    <a:solidFill>
                      <a:srgbClr val="000000"/>
                    </a:solidFill>
                    <a:latin typeface="Cambria Math" panose="02040503050406030204" pitchFamily="18" charset="0"/>
                    <a:cs typeface="Calibri" panose="020F0502020204030204" pitchFamily="34" charset="0"/>
                  </a:rPr>
                  <a:t>采用几何平均法计算平均比率更为合理</a:t>
                </a:r>
                <a:endParaRPr lang="en-US" altLang="zh-CN" sz="1800" dirty="0">
                  <a:solidFill>
                    <a:srgbClr val="000000"/>
                  </a:solidFill>
                  <a:latin typeface="Cambria Math" panose="02040503050406030204" pitchFamily="18"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solidFill>
                      <a:srgbClr val="000000"/>
                    </a:solidFill>
                    <a:latin typeface="Cambria Math" panose="02040503050406030204" pitchFamily="18" charset="0"/>
                    <a:cs typeface="Calibri" panose="020F0502020204030204" pitchFamily="34" charset="0"/>
                  </a:rPr>
                  <a:t>在实际应用中</a:t>
                </a:r>
                <a:r>
                  <a:rPr lang="en-US" altLang="zh-CN" sz="1800" dirty="0">
                    <a:solidFill>
                      <a:srgbClr val="000000"/>
                    </a:solidFill>
                    <a:latin typeface="Cambria Math" panose="02040503050406030204" pitchFamily="18" charset="0"/>
                    <a:cs typeface="Calibri" panose="020F0502020204030204" pitchFamily="34" charset="0"/>
                  </a:rPr>
                  <a:t>,</a:t>
                </a:r>
                <a:r>
                  <a:rPr lang="zh-CN" altLang="zh-CN" sz="1800" dirty="0">
                    <a:solidFill>
                      <a:srgbClr val="000000"/>
                    </a:solidFill>
                    <a:latin typeface="Cambria Math" panose="02040503050406030204" pitchFamily="18" charset="0"/>
                    <a:cs typeface="Calibri" panose="020F0502020204030204" pitchFamily="34" charset="0"/>
                  </a:rPr>
                  <a:t>几何平均数主要用于计算现象的平均增长率 当数据中出现零值或负值时</a:t>
                </a:r>
                <a:r>
                  <a:rPr lang="en-US" altLang="zh-CN" sz="1800" dirty="0">
                    <a:solidFill>
                      <a:srgbClr val="000000"/>
                    </a:solidFill>
                    <a:latin typeface="Cambria Math" panose="02040503050406030204" pitchFamily="18" charset="0"/>
                    <a:cs typeface="Calibri" panose="020F0502020204030204" pitchFamily="34" charset="0"/>
                  </a:rPr>
                  <a:t>,</a:t>
                </a:r>
                <a:r>
                  <a:rPr lang="zh-CN" altLang="zh-CN" sz="1800" dirty="0">
                    <a:solidFill>
                      <a:srgbClr val="000000"/>
                    </a:solidFill>
                    <a:latin typeface="Cambria Math" panose="02040503050406030204" pitchFamily="18" charset="0"/>
                    <a:cs typeface="Calibri" panose="020F0502020204030204" pitchFamily="34" charset="0"/>
                  </a:rPr>
                  <a:t>不宜计算几何平均数</a:t>
                </a:r>
                <a:endParaRPr lang="zh-CN" altLang="zh-CN" sz="1800" dirty="0">
                  <a:solidFill>
                    <a:srgbClr val="000000"/>
                  </a:solidFill>
                  <a:latin typeface="Cambria Math" panose="02040503050406030204" pitchFamily="18"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10801200" cy="4680520"/>
              </a:xfrm>
              <a:blipFill rotWithShape="1">
                <a:blip r:embed="rId1"/>
                <a:stretch>
                  <a:fillRect l="-59" t="-144" r="-54"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几何平均数</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10801200" cy="4680520"/>
              </a:xfrm>
              <a:ln w="12700" cmpd="dbl">
                <a:solidFill>
                  <a:schemeClr val="accent1"/>
                </a:solidFill>
              </a:ln>
            </p:spPr>
            <p:txBody>
              <a:bodyPr>
                <a:noAutofit/>
              </a:bodyPr>
              <a:lstStyle/>
              <a:p>
                <a:pPr marL="0" indent="0">
                  <a:lnSpc>
                    <a:spcPct val="200000"/>
                  </a:lnSpc>
                  <a:buNone/>
                </a:pPr>
                <a:r>
                  <a:rPr lang="zh-CN" altLang="zh-CN" sz="2200" b="1" dirty="0">
                    <a:solidFill>
                      <a:srgbClr val="FF0000"/>
                    </a:solidFill>
                  </a:rPr>
                  <a:t>【例</a:t>
                </a:r>
                <a:r>
                  <a:rPr lang="en-US" altLang="zh-CN" sz="2200" b="1" dirty="0">
                    <a:solidFill>
                      <a:srgbClr val="FF0000"/>
                    </a:solidFill>
                  </a:rPr>
                  <a:t>4.5</a:t>
                </a:r>
                <a:r>
                  <a:rPr lang="zh-CN" altLang="zh-CN" sz="2200" b="1" dirty="0">
                    <a:solidFill>
                      <a:srgbClr val="FF0000"/>
                    </a:solidFill>
                  </a:rPr>
                  <a:t>】</a:t>
                </a:r>
                <a:r>
                  <a:rPr lang="zh-CN" altLang="zh-CN" sz="2200" dirty="0"/>
                  <a:t>一位投资者持有一种股票</a:t>
                </a:r>
                <a:r>
                  <a:rPr lang="en-US" altLang="zh-CN" sz="2200" dirty="0"/>
                  <a:t>,</a:t>
                </a:r>
                <a:r>
                  <a:rPr lang="zh-CN" altLang="zh-CN" sz="2200" dirty="0"/>
                  <a:t>连续</a:t>
                </a:r>
                <a:r>
                  <a:rPr lang="en-US" altLang="zh-CN" sz="2200" dirty="0"/>
                  <a:t>4</a:t>
                </a:r>
                <a:r>
                  <a:rPr lang="zh-CN" altLang="zh-CN" sz="2200" dirty="0"/>
                  <a:t>年的收益率分别为</a:t>
                </a:r>
                <a:r>
                  <a:rPr lang="en-US" altLang="zh-CN" sz="2200" dirty="0"/>
                  <a:t>4.5%,2.1%,25.5%,1.9%</a:t>
                </a:r>
                <a:r>
                  <a:rPr lang="zh-CN" altLang="zh-CN" sz="2200" dirty="0"/>
                  <a:t>。计算该投资者在这</a:t>
                </a:r>
                <a:r>
                  <a:rPr lang="en-US" altLang="zh-CN" sz="2200" dirty="0"/>
                  <a:t>4</a:t>
                </a:r>
                <a:r>
                  <a:rPr lang="zh-CN" altLang="zh-CN" sz="2200" dirty="0"/>
                  <a:t>年内的平均收益率</a:t>
                </a:r>
                <a:endParaRPr lang="zh-CN" altLang="zh-CN" sz="2200" dirty="0"/>
              </a:p>
              <a:p>
                <a:pPr marL="0" indent="0">
                  <a:lnSpc>
                    <a:spcPct val="200000"/>
                  </a:lnSpc>
                  <a:buNone/>
                </a:pPr>
                <a:r>
                  <a:rPr lang="zh-CN" altLang="zh-CN" sz="2200" b="1" dirty="0">
                    <a:solidFill>
                      <a:srgbClr val="FF0000"/>
                    </a:solidFill>
                  </a:rPr>
                  <a:t>解</a:t>
                </a:r>
                <a:r>
                  <a:rPr lang="zh-CN" altLang="en-US" sz="2200" b="1" dirty="0">
                    <a:solidFill>
                      <a:srgbClr val="FF0000"/>
                    </a:solidFill>
                  </a:rPr>
                  <a:t>：</a:t>
                </a:r>
                <a:r>
                  <a:rPr lang="zh-CN" altLang="zh-CN" sz="2200" dirty="0"/>
                  <a:t>设平均收益率为</a:t>
                </a:r>
                <a14:m>
                  <m:oMath xmlns:m="http://schemas.openxmlformats.org/officeDocument/2006/math">
                    <m:acc>
                      <m:accPr>
                        <m:chr m:val="̅"/>
                        <m:ctrlPr>
                          <a:rPr lang="zh-CN" altLang="zh-CN" sz="2200" i="1">
                            <a:latin typeface="Cambria Math" panose="02040503050406030204" pitchFamily="18" charset="0"/>
                          </a:rPr>
                        </m:ctrlPr>
                      </m:accPr>
                      <m:e>
                        <m:r>
                          <m:rPr>
                            <m:sty m:val="p"/>
                          </m:rPr>
                          <a:rPr lang="en-US" altLang="zh-CN" sz="2200">
                            <a:latin typeface="Cambria Math" panose="02040503050406030204" pitchFamily="18" charset="0"/>
                          </a:rPr>
                          <m:t>G</m:t>
                        </m:r>
                      </m:e>
                    </m:acc>
                  </m:oMath>
                </a14:m>
                <a:r>
                  <a:rPr lang="en-US" altLang="zh-CN" sz="2200" dirty="0"/>
                  <a:t>,</a:t>
                </a:r>
                <a:r>
                  <a:rPr lang="zh-CN" altLang="zh-CN" sz="2200" dirty="0"/>
                  <a:t>有</a:t>
                </a:r>
                <a:endParaRPr lang="zh-CN" altLang="zh-CN" sz="2200" dirty="0"/>
              </a:p>
              <a:p>
                <a:pPr marL="0" indent="0">
                  <a:lnSpc>
                    <a:spcPct val="200000"/>
                  </a:lnSpc>
                  <a:buNone/>
                </a:pPr>
                <a:r>
                  <a:rPr lang="zh-CN" altLang="zh-CN" sz="2200" i="1" dirty="0"/>
                  <a:t>　　</a:t>
                </a:r>
                <a14:m>
                  <m:oMath xmlns:m="http://schemas.openxmlformats.org/officeDocument/2006/math">
                    <m:acc>
                      <m:accPr>
                        <m:chr m:val="̅"/>
                        <m:ctrlPr>
                          <a:rPr lang="zh-CN" altLang="zh-CN" sz="2200" i="1">
                            <a:latin typeface="Cambria Math" panose="02040503050406030204" pitchFamily="18" charset="0"/>
                          </a:rPr>
                        </m:ctrlPr>
                      </m:accPr>
                      <m:e>
                        <m:r>
                          <m:rPr>
                            <m:sty m:val="p"/>
                          </m:rPr>
                          <a:rPr lang="en-US" altLang="zh-CN" sz="2200">
                            <a:latin typeface="Cambria Math" panose="02040503050406030204" pitchFamily="18" charset="0"/>
                          </a:rPr>
                          <m:t>G</m:t>
                        </m:r>
                      </m:e>
                    </m:acc>
                  </m:oMath>
                </a14:m>
                <a:r>
                  <a:rPr lang="en-US" altLang="zh-CN" sz="2200" i="1" dirty="0"/>
                  <a:t>=</a:t>
                </a:r>
                <a14:m>
                  <m:oMath xmlns:m="http://schemas.openxmlformats.org/officeDocument/2006/math">
                    <m:rad>
                      <m:radPr>
                        <m:ctrlPr>
                          <a:rPr lang="zh-CN" altLang="zh-CN" sz="2200" i="1">
                            <a:latin typeface="Cambria Math" panose="02040503050406030204" pitchFamily="18" charset="0"/>
                          </a:rPr>
                        </m:ctrlPr>
                      </m:radPr>
                      <m:deg>
                        <m:r>
                          <m:rPr>
                            <m:sty m:val="p"/>
                          </m:rPr>
                          <a:rPr lang="en-US" altLang="zh-CN" sz="2200">
                            <a:latin typeface="Cambria Math" panose="02040503050406030204" pitchFamily="18" charset="0"/>
                          </a:rPr>
                          <m:t>n</m:t>
                        </m:r>
                      </m:deg>
                      <m:e>
                        <m:limUpp>
                          <m:limUppPr>
                            <m:ctrlPr>
                              <a:rPr lang="zh-CN" altLang="zh-CN" sz="2200" i="1">
                                <a:latin typeface="Cambria Math" panose="02040503050406030204" pitchFamily="18" charset="0"/>
                              </a:rPr>
                            </m:ctrlPr>
                          </m:limUppPr>
                          <m:e>
                            <m:limLow>
                              <m:limLowPr>
                                <m:ctrlPr>
                                  <a:rPr lang="zh-CN" altLang="zh-CN" sz="2200" i="1">
                                    <a:latin typeface="Cambria Math" panose="02040503050406030204" pitchFamily="18" charset="0"/>
                                  </a:rPr>
                                </m:ctrlPr>
                              </m:limLowPr>
                              <m:e>
                                <m:r>
                                  <m:rPr>
                                    <m:nor/>
                                  </m:rPr>
                                  <a:rPr lang="en-US" altLang="zh-CN" sz="2200">
                                    <a:latin typeface="DejaVu Math TeX Gyre" panose="02000503000000000000" charset="0"/>
                                  </a:rPr>
                                  <m:t>∏</m:t>
                                </m:r>
                              </m:e>
                              <m:lim>
                                <m:r>
                                  <m:rPr>
                                    <m:sty m:val="p"/>
                                  </m:rPr>
                                  <a:rPr lang="en-US" altLang="zh-CN" sz="2200">
                                    <a:latin typeface="Cambria Math" panose="02040503050406030204" pitchFamily="18" charset="0"/>
                                  </a:rPr>
                                  <m:t>i</m:t>
                                </m:r>
                                <m:r>
                                  <a:rPr lang="en-US" altLang="zh-CN" sz="2200">
                                    <a:latin typeface="Cambria Math" panose="02040503050406030204" pitchFamily="18" charset="0"/>
                                  </a:rPr>
                                  <m:t>=</m:t>
                                </m:r>
                                <m:r>
                                  <a:rPr lang="en-US" altLang="zh-CN" sz="2200">
                                    <a:latin typeface="Cambria Math" panose="02040503050406030204" pitchFamily="18" charset="0"/>
                                  </a:rPr>
                                  <m:t>1</m:t>
                                </m:r>
                              </m:lim>
                            </m:limLow>
                          </m:e>
                          <m:lim>
                            <m:r>
                              <m:rPr>
                                <m:sty m:val="p"/>
                              </m:rPr>
                              <a:rPr lang="en-US" altLang="zh-CN" sz="2200">
                                <a:latin typeface="Cambria Math" panose="02040503050406030204" pitchFamily="18" charset="0"/>
                              </a:rPr>
                              <m:t>n</m:t>
                            </m:r>
                          </m:lim>
                        </m:limUpp>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𝑖</m:t>
                            </m:r>
                          </m:sub>
                        </m:sSub>
                      </m:e>
                    </m:rad>
                  </m:oMath>
                </a14:m>
                <a:r>
                  <a:rPr lang="en-US" altLang="zh-CN" sz="2200" i="1" dirty="0"/>
                  <a:t>-</a:t>
                </a:r>
                <a:r>
                  <a:rPr lang="en-US" altLang="zh-CN" sz="2200" dirty="0"/>
                  <a:t>1</a:t>
                </a:r>
                <a:r>
                  <a:rPr lang="en-US" altLang="zh-CN" sz="2200" i="1" dirty="0"/>
                  <a:t>=</a:t>
                </a:r>
                <a14:m>
                  <m:oMath xmlns:m="http://schemas.openxmlformats.org/officeDocument/2006/math">
                    <m:rad>
                      <m:radPr>
                        <m:ctrlPr>
                          <a:rPr lang="zh-CN" altLang="zh-CN" sz="2200" i="1">
                            <a:latin typeface="Cambria Math" panose="02040503050406030204" pitchFamily="18" charset="0"/>
                          </a:rPr>
                        </m:ctrlPr>
                      </m:radPr>
                      <m:deg>
                        <m:r>
                          <a:rPr lang="en-US" altLang="zh-CN" sz="2200">
                            <a:latin typeface="Cambria Math" panose="02040503050406030204" pitchFamily="18" charset="0"/>
                          </a:rPr>
                          <m:t>4</m:t>
                        </m:r>
                      </m:deg>
                      <m:e>
                        <m:r>
                          <a:rPr lang="en-US" altLang="zh-CN" sz="2200">
                            <a:latin typeface="Cambria Math" panose="02040503050406030204" pitchFamily="18" charset="0"/>
                          </a:rPr>
                          <m:t>104</m:t>
                        </m:r>
                        <m:r>
                          <m:rPr>
                            <m:nor/>
                          </m:rPr>
                          <a:rPr lang="en-US" altLang="zh-CN" sz="2200">
                            <a:latin typeface="DejaVu Math TeX Gyre" panose="02000503000000000000" charset="0"/>
                          </a:rPr>
                          <m:t>.</m:t>
                        </m:r>
                        <m:r>
                          <a:rPr lang="en-US" altLang="zh-CN" sz="2200">
                            <a:latin typeface="Cambria Math" panose="02040503050406030204" pitchFamily="18" charset="0"/>
                          </a:rPr>
                          <m:t>5</m:t>
                        </m:r>
                        <m:r>
                          <m:rPr>
                            <m:nor/>
                          </m:rPr>
                          <a:rPr lang="en-US" altLang="zh-CN" sz="2200">
                            <a:latin typeface="DejaVu Math TeX Gyre" panose="02000503000000000000" charset="0"/>
                          </a:rPr>
                          <m:t>%</m:t>
                        </m:r>
                        <m:r>
                          <a:rPr lang="en-US" altLang="zh-CN" sz="2200">
                            <a:latin typeface="Cambria Math" panose="02040503050406030204" pitchFamily="18" charset="0"/>
                          </a:rPr>
                          <m:t>×</m:t>
                        </m:r>
                        <m:r>
                          <a:rPr lang="en-US" altLang="zh-CN" sz="2200">
                            <a:latin typeface="Cambria Math" panose="02040503050406030204" pitchFamily="18" charset="0"/>
                          </a:rPr>
                          <m:t>102</m:t>
                        </m:r>
                        <m:r>
                          <m:rPr>
                            <m:nor/>
                          </m:rPr>
                          <a:rPr lang="en-US" altLang="zh-CN" sz="2200">
                            <a:latin typeface="DejaVu Math TeX Gyre" panose="02000503000000000000" charset="0"/>
                          </a:rPr>
                          <m:t>.</m:t>
                        </m:r>
                        <m:r>
                          <a:rPr lang="en-US" altLang="zh-CN" sz="2200">
                            <a:latin typeface="Cambria Math" panose="02040503050406030204" pitchFamily="18" charset="0"/>
                          </a:rPr>
                          <m:t>1</m:t>
                        </m:r>
                        <m:r>
                          <m:rPr>
                            <m:nor/>
                          </m:rPr>
                          <a:rPr lang="en-US" altLang="zh-CN" sz="2200">
                            <a:latin typeface="DejaVu Math TeX Gyre" panose="02000503000000000000" charset="0"/>
                          </a:rPr>
                          <m:t>%</m:t>
                        </m:r>
                        <m:r>
                          <a:rPr lang="en-US" altLang="zh-CN" sz="2200">
                            <a:latin typeface="Cambria Math" panose="02040503050406030204" pitchFamily="18" charset="0"/>
                          </a:rPr>
                          <m:t>×</m:t>
                        </m:r>
                        <m:r>
                          <a:rPr lang="en-US" altLang="zh-CN" sz="2200">
                            <a:latin typeface="Cambria Math" panose="02040503050406030204" pitchFamily="18" charset="0"/>
                          </a:rPr>
                          <m:t>125</m:t>
                        </m:r>
                        <m:r>
                          <m:rPr>
                            <m:nor/>
                          </m:rPr>
                          <a:rPr lang="en-US" altLang="zh-CN" sz="2200">
                            <a:latin typeface="DejaVu Math TeX Gyre" panose="02000503000000000000" charset="0"/>
                          </a:rPr>
                          <m:t>.</m:t>
                        </m:r>
                        <m:r>
                          <a:rPr lang="en-US" altLang="zh-CN" sz="2200">
                            <a:latin typeface="Cambria Math" panose="02040503050406030204" pitchFamily="18" charset="0"/>
                          </a:rPr>
                          <m:t>5</m:t>
                        </m:r>
                        <m:r>
                          <m:rPr>
                            <m:nor/>
                          </m:rPr>
                          <a:rPr lang="en-US" altLang="zh-CN" sz="2200">
                            <a:latin typeface="DejaVu Math TeX Gyre" panose="02000503000000000000" charset="0"/>
                          </a:rPr>
                          <m:t>%</m:t>
                        </m:r>
                        <m:r>
                          <a:rPr lang="en-US" altLang="zh-CN" sz="2200">
                            <a:latin typeface="Cambria Math" panose="02040503050406030204" pitchFamily="18" charset="0"/>
                          </a:rPr>
                          <m:t>×</m:t>
                        </m:r>
                        <m:r>
                          <a:rPr lang="en-US" altLang="zh-CN" sz="2200">
                            <a:latin typeface="Cambria Math" panose="02040503050406030204" pitchFamily="18" charset="0"/>
                          </a:rPr>
                          <m:t>101</m:t>
                        </m:r>
                        <m:r>
                          <m:rPr>
                            <m:nor/>
                          </m:rPr>
                          <a:rPr lang="en-US" altLang="zh-CN" sz="2200">
                            <a:latin typeface="DejaVu Math TeX Gyre" panose="02000503000000000000" charset="0"/>
                          </a:rPr>
                          <m:t>.</m:t>
                        </m:r>
                        <m:r>
                          <a:rPr lang="en-US" altLang="zh-CN" sz="2200">
                            <a:latin typeface="Cambria Math" panose="02040503050406030204" pitchFamily="18" charset="0"/>
                          </a:rPr>
                          <m:t>9</m:t>
                        </m:r>
                        <m:r>
                          <m:rPr>
                            <m:nor/>
                          </m:rPr>
                          <a:rPr lang="en-US" altLang="zh-CN" sz="2200">
                            <a:latin typeface="DejaVu Math TeX Gyre" panose="02000503000000000000" charset="0"/>
                          </a:rPr>
                          <m:t>%</m:t>
                        </m:r>
                      </m:e>
                    </m:rad>
                  </m:oMath>
                </a14:m>
                <a:r>
                  <a:rPr lang="en-US" altLang="zh-CN" sz="2200" dirty="0"/>
                  <a:t>-1=8.078 7%</a:t>
                </a:r>
                <a:endParaRPr lang="zh-CN" altLang="zh-CN" sz="2200" dirty="0"/>
              </a:p>
              <a:p>
                <a:pPr marL="0" indent="0">
                  <a:lnSpc>
                    <a:spcPct val="200000"/>
                  </a:lnSpc>
                  <a:buNone/>
                </a:pPr>
                <a:r>
                  <a:rPr lang="en-US" altLang="zh-CN" sz="2200" dirty="0"/>
                  <a:t>        </a:t>
                </a:r>
                <a:r>
                  <a:rPr lang="zh-CN" altLang="zh-CN" sz="2200" dirty="0"/>
                  <a:t>即该投资者的投资年平均收益率为</a:t>
                </a:r>
                <a:r>
                  <a:rPr lang="en-US" altLang="zh-CN" sz="2200" dirty="0"/>
                  <a:t>8.078 7%</a:t>
                </a:r>
                <a:endParaRPr lang="zh-CN" altLang="zh-CN" sz="2200" dirty="0"/>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10801200" cy="4680520"/>
              </a:xfrm>
              <a:blipFill rotWithShape="1">
                <a:blip r:embed="rId1"/>
                <a:stretch>
                  <a:fillRect l="-59" t="-144" r="-54" b="-6437"/>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几何平均数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集中趋势的度量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众数、中位数和平均数的比较</a:t>
            </a:r>
            <a:endParaRPr lang="zh-CN"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Rectangle 3"/>
          <p:cNvSpPr txBox="1">
            <a:spLocks noChangeArrowheads="1"/>
          </p:cNvSpPr>
          <p:nvPr/>
        </p:nvSpPr>
        <p:spPr>
          <a:xfrm>
            <a:off x="767408" y="1484784"/>
            <a:ext cx="10620121" cy="4756990"/>
          </a:xfrm>
          <a:prstGeom prst="rect">
            <a:avLst/>
          </a:prstGeom>
          <a:noFill/>
          <a:ln w="12700">
            <a:solidFill>
              <a:schemeClr val="accent1"/>
            </a:solidFill>
            <a:miter lim="800000"/>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9580" indent="-449580" algn="just">
              <a:lnSpc>
                <a:spcPct val="100000"/>
              </a:lnSpc>
              <a:buClr>
                <a:srgbClr val="000099"/>
              </a:buClr>
              <a:buFont typeface="Wingdings" panose="05000000000000000000" pitchFamily="2" charset="2"/>
              <a:buChar char="l"/>
              <a:defRPr/>
            </a:pPr>
            <a:r>
              <a:rPr lang="zh-CN" altLang="en-US" sz="1800" dirty="0">
                <a:latin typeface="Times New Roman" panose="02020603050405020304" pitchFamily="18" charset="0"/>
                <a:ea typeface="华文细黑" panose="02010600040101010101" pitchFamily="2" charset="-122"/>
                <a:cs typeface="Times New Roman" panose="02020603050405020304" pitchFamily="18" charset="0"/>
              </a:rPr>
              <a:t>平均数</a:t>
            </a:r>
            <a:endParaRPr lang="zh-CN" altLang="en-US" sz="1800" dirty="0">
              <a:latin typeface="Times New Roman" panose="02020603050405020304" pitchFamily="18" charset="0"/>
              <a:ea typeface="华文细黑" panose="02010600040101010101" pitchFamily="2" charset="-122"/>
              <a:cs typeface="Times New Roman" panose="02020603050405020304" pitchFamily="18" charset="0"/>
            </a:endParaRPr>
          </a:p>
          <a:p>
            <a:pPr marL="811530" lvl="1" indent="-368300" algn="just" eaLnBrk="0" hangingPunct="0">
              <a:lnSpc>
                <a:spcPct val="100000"/>
              </a:lnSpc>
              <a:spcBef>
                <a:spcPct val="50000"/>
              </a:spcBef>
              <a:buClr>
                <a:srgbClr val="C00000"/>
              </a:buClr>
              <a:buSzPct val="100000"/>
              <a:buFont typeface="Wingdings" panose="05000000000000000000" pitchFamily="2" charset="2"/>
              <a:buChar char="Ø"/>
              <a:defRPr/>
            </a:pPr>
            <a:r>
              <a:rPr lang="zh-CN" altLang="en-US" dirty="0">
                <a:ea typeface="华文细黑" panose="02010600040101010101" pitchFamily="2" charset="-122"/>
              </a:rPr>
              <a:t>易受极端值影响</a:t>
            </a:r>
            <a:endParaRPr lang="zh-CN" altLang="en-US" dirty="0">
              <a:ea typeface="华文细黑" panose="02010600040101010101" pitchFamily="2" charset="-122"/>
            </a:endParaRPr>
          </a:p>
          <a:p>
            <a:pPr marL="811530" lvl="1" indent="-368300" algn="just" eaLnBrk="0" hangingPunct="0">
              <a:lnSpc>
                <a:spcPct val="100000"/>
              </a:lnSpc>
              <a:spcBef>
                <a:spcPct val="50000"/>
              </a:spcBef>
              <a:buClr>
                <a:srgbClr val="C00000"/>
              </a:buClr>
              <a:buSzPct val="100000"/>
              <a:buFont typeface="Wingdings" panose="05000000000000000000" pitchFamily="2" charset="2"/>
              <a:buChar char="Ø"/>
              <a:defRPr/>
            </a:pPr>
            <a:r>
              <a:rPr lang="zh-CN" altLang="en-US" dirty="0">
                <a:ea typeface="华文细黑" panose="02010600040101010101" pitchFamily="2" charset="-122"/>
              </a:rPr>
              <a:t>数学性质优良，实际中最常用</a:t>
            </a:r>
            <a:endParaRPr lang="zh-CN" altLang="en-US" dirty="0">
              <a:ea typeface="华文细黑" panose="02010600040101010101" pitchFamily="2" charset="-122"/>
            </a:endParaRPr>
          </a:p>
          <a:p>
            <a:pPr marL="811530" lvl="1" indent="-368300" algn="just" eaLnBrk="0" hangingPunct="0">
              <a:lnSpc>
                <a:spcPct val="100000"/>
              </a:lnSpc>
              <a:spcBef>
                <a:spcPct val="50000"/>
              </a:spcBef>
              <a:buClr>
                <a:srgbClr val="C00000"/>
              </a:buClr>
              <a:buSzPct val="100000"/>
              <a:buFont typeface="Wingdings" panose="05000000000000000000" pitchFamily="2" charset="2"/>
              <a:buChar char="Ø"/>
              <a:defRPr/>
            </a:pPr>
            <a:r>
              <a:rPr lang="zh-CN" altLang="en-US" dirty="0">
                <a:ea typeface="华文细黑" panose="02010600040101010101" pitchFamily="2" charset="-122"/>
              </a:rPr>
              <a:t>数据对称分布或接近对称分布时代表性较好</a:t>
            </a:r>
            <a:endParaRPr lang="zh-CN" altLang="en-US" dirty="0">
              <a:ea typeface="华文细黑" panose="02010600040101010101" pitchFamily="2" charset="-122"/>
            </a:endParaRPr>
          </a:p>
          <a:p>
            <a:pPr marL="449580" indent="-449580" algn="just">
              <a:lnSpc>
                <a:spcPct val="100000"/>
              </a:lnSpc>
              <a:buClr>
                <a:srgbClr val="000099"/>
              </a:buClr>
              <a:buFont typeface="Wingdings" panose="05000000000000000000" pitchFamily="2" charset="2"/>
              <a:buChar char="l"/>
              <a:defRPr/>
            </a:pPr>
            <a:r>
              <a:rPr lang="zh-CN" altLang="en-US" sz="1800" dirty="0">
                <a:latin typeface="Times New Roman" panose="02020603050405020304" pitchFamily="18" charset="0"/>
                <a:ea typeface="华文细黑" panose="02010600040101010101" pitchFamily="2" charset="-122"/>
                <a:cs typeface="Times New Roman" panose="02020603050405020304" pitchFamily="18" charset="0"/>
              </a:rPr>
              <a:t>中位数</a:t>
            </a:r>
            <a:endParaRPr lang="zh-CN" altLang="en-US" sz="1800" dirty="0">
              <a:latin typeface="Times New Roman" panose="02020603050405020304" pitchFamily="18" charset="0"/>
              <a:ea typeface="华文细黑" panose="02010600040101010101" pitchFamily="2" charset="-122"/>
              <a:cs typeface="Times New Roman" panose="02020603050405020304" pitchFamily="18" charset="0"/>
            </a:endParaRPr>
          </a:p>
          <a:p>
            <a:pPr marL="811530" lvl="1" indent="-368300" algn="just" eaLnBrk="0" hangingPunct="0">
              <a:lnSpc>
                <a:spcPct val="100000"/>
              </a:lnSpc>
              <a:spcBef>
                <a:spcPct val="50000"/>
              </a:spcBef>
              <a:buClr>
                <a:srgbClr val="C00000"/>
              </a:buClr>
              <a:buSzPct val="100000"/>
              <a:buFont typeface="Wingdings" panose="05000000000000000000" pitchFamily="2" charset="2"/>
              <a:buChar char="Ø"/>
              <a:defRPr/>
            </a:pPr>
            <a:r>
              <a:rPr lang="zh-CN" altLang="en-US" dirty="0">
                <a:ea typeface="华文细黑" panose="02010600040101010101" pitchFamily="2" charset="-122"/>
              </a:rPr>
              <a:t>不受极端值影响</a:t>
            </a:r>
            <a:endParaRPr lang="zh-CN" altLang="en-US" dirty="0">
              <a:ea typeface="华文细黑" panose="02010600040101010101" pitchFamily="2" charset="-122"/>
            </a:endParaRPr>
          </a:p>
          <a:p>
            <a:pPr marL="811530" lvl="1" indent="-368300" algn="just" eaLnBrk="0" hangingPunct="0">
              <a:lnSpc>
                <a:spcPct val="100000"/>
              </a:lnSpc>
              <a:spcBef>
                <a:spcPct val="50000"/>
              </a:spcBef>
              <a:buClr>
                <a:srgbClr val="C00000"/>
              </a:buClr>
              <a:buSzPct val="100000"/>
              <a:buFont typeface="Wingdings" panose="05000000000000000000" pitchFamily="2" charset="2"/>
              <a:buChar char="Ø"/>
              <a:defRPr/>
            </a:pPr>
            <a:r>
              <a:rPr lang="zh-CN" altLang="en-US" dirty="0">
                <a:ea typeface="华文细黑" panose="02010600040101010101" pitchFamily="2" charset="-122"/>
              </a:rPr>
              <a:t>数据分布偏斜程度较大时代表性接好</a:t>
            </a:r>
            <a:endParaRPr lang="zh-CN" altLang="en-US" dirty="0">
              <a:ea typeface="华文细黑" panose="02010600040101010101" pitchFamily="2" charset="-122"/>
            </a:endParaRPr>
          </a:p>
          <a:p>
            <a:pPr marL="449580" indent="-449580" algn="just">
              <a:lnSpc>
                <a:spcPct val="100000"/>
              </a:lnSpc>
              <a:buClr>
                <a:srgbClr val="000099"/>
              </a:buClr>
              <a:buFont typeface="Wingdings" panose="05000000000000000000" pitchFamily="2" charset="2"/>
              <a:buChar char="l"/>
              <a:defRPr/>
            </a:pPr>
            <a:r>
              <a:rPr lang="zh-CN" altLang="en-US" sz="1800" dirty="0">
                <a:latin typeface="Times New Roman" panose="02020603050405020304" pitchFamily="18" charset="0"/>
                <a:ea typeface="华文细黑" panose="02010600040101010101" pitchFamily="2" charset="-122"/>
                <a:cs typeface="Times New Roman" panose="02020603050405020304" pitchFamily="18" charset="0"/>
              </a:rPr>
              <a:t>众数</a:t>
            </a:r>
            <a:endParaRPr lang="zh-CN" altLang="en-US" sz="1800" dirty="0">
              <a:latin typeface="Times New Roman" panose="02020603050405020304" pitchFamily="18" charset="0"/>
              <a:ea typeface="华文细黑" panose="02010600040101010101" pitchFamily="2" charset="-122"/>
              <a:cs typeface="Times New Roman" panose="02020603050405020304" pitchFamily="18" charset="0"/>
            </a:endParaRPr>
          </a:p>
          <a:p>
            <a:pPr marL="811530" lvl="1" indent="-368300" algn="just" eaLnBrk="0" hangingPunct="0">
              <a:lnSpc>
                <a:spcPct val="100000"/>
              </a:lnSpc>
              <a:spcBef>
                <a:spcPct val="50000"/>
              </a:spcBef>
              <a:buClr>
                <a:srgbClr val="C00000"/>
              </a:buClr>
              <a:buSzPct val="100000"/>
              <a:buFont typeface="Wingdings" panose="05000000000000000000" pitchFamily="2" charset="2"/>
              <a:buChar char="Ø"/>
              <a:defRPr/>
            </a:pPr>
            <a:r>
              <a:rPr lang="zh-CN" altLang="en-US" dirty="0">
                <a:ea typeface="华文细黑" panose="02010600040101010101" pitchFamily="2" charset="-122"/>
              </a:rPr>
              <a:t>不受极端值影响</a:t>
            </a:r>
            <a:endParaRPr lang="zh-CN" altLang="en-US" dirty="0">
              <a:ea typeface="华文细黑" panose="02010600040101010101" pitchFamily="2" charset="-122"/>
            </a:endParaRPr>
          </a:p>
          <a:p>
            <a:pPr marL="811530" lvl="1" indent="-368300" algn="just" eaLnBrk="0" hangingPunct="0">
              <a:lnSpc>
                <a:spcPct val="100000"/>
              </a:lnSpc>
              <a:spcBef>
                <a:spcPct val="50000"/>
              </a:spcBef>
              <a:buClr>
                <a:srgbClr val="C00000"/>
              </a:buClr>
              <a:buSzPct val="100000"/>
              <a:buFont typeface="Wingdings" panose="05000000000000000000" pitchFamily="2" charset="2"/>
              <a:buChar char="Ø"/>
              <a:defRPr/>
            </a:pPr>
            <a:r>
              <a:rPr lang="zh-CN" altLang="en-US" dirty="0">
                <a:ea typeface="华文细黑" panose="02010600040101010101" pitchFamily="2" charset="-122"/>
              </a:rPr>
              <a:t>具有不惟一性</a:t>
            </a:r>
            <a:endParaRPr lang="zh-CN" altLang="en-US" dirty="0">
              <a:ea typeface="华文细黑" panose="02010600040101010101" pitchFamily="2" charset="-122"/>
            </a:endParaRPr>
          </a:p>
          <a:p>
            <a:pPr marL="811530" lvl="1" indent="-368300" algn="just" eaLnBrk="0" hangingPunct="0">
              <a:lnSpc>
                <a:spcPct val="100000"/>
              </a:lnSpc>
              <a:spcBef>
                <a:spcPct val="50000"/>
              </a:spcBef>
              <a:buClr>
                <a:srgbClr val="C00000"/>
              </a:buClr>
              <a:buSzPct val="100000"/>
              <a:buFont typeface="Wingdings" panose="05000000000000000000" pitchFamily="2" charset="2"/>
              <a:buChar char="Ø"/>
              <a:defRPr/>
            </a:pPr>
            <a:r>
              <a:rPr lang="zh-CN" altLang="en-US" dirty="0">
                <a:ea typeface="华文细黑" panose="02010600040101010101" pitchFamily="2" charset="-122"/>
              </a:rPr>
              <a:t>数据分布偏斜程度较大且有明显峰值时代表性较好</a:t>
            </a:r>
            <a:endParaRPr lang="zh-CN" altLang="en-US" dirty="0">
              <a:ea typeface="华文细黑" panose="02010600040101010101" pitchFamily="2" charset="-122"/>
            </a:endParaRPr>
          </a:p>
          <a:p>
            <a:pPr marL="0" indent="0" algn="just">
              <a:lnSpc>
                <a:spcPct val="100000"/>
              </a:lnSpc>
              <a:buClr>
                <a:srgbClr val="000099"/>
              </a:buClr>
              <a:buNone/>
              <a:defRPr/>
            </a:pPr>
            <a:endParaRPr lang="en-US" altLang="zh-CN" sz="1800" dirty="0">
              <a:latin typeface="Times New Roman" panose="02020603050405020304" pitchFamily="18" charset="0"/>
              <a:ea typeface="华文细黑" panose="02010600040101010101" pitchFamily="2" charset="-122"/>
              <a:cs typeface="Times New Roman" panose="02020603050405020304" pitchFamily="18" charset="0"/>
            </a:endParaRPr>
          </a:p>
        </p:txBody>
      </p:sp>
    </p:spTree>
    <p:custDataLst>
      <p:tags r:id="rId1"/>
    </p:custData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离散程度的度量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5400600" cy="4680520"/>
              </a:xfrm>
              <a:ln w="12700" cmpd="dbl">
                <a:solidFill>
                  <a:schemeClr val="accent1"/>
                </a:solidFill>
              </a:ln>
            </p:spPr>
            <p:txBody>
              <a:bodyPr>
                <a:noAutofit/>
              </a:bodyPr>
              <a:lstStyle/>
              <a:p>
                <a:pPr marL="0" indent="0" algn="just">
                  <a:lnSpc>
                    <a:spcPct val="150000"/>
                  </a:lnSpc>
                  <a:buNone/>
                </a:pPr>
                <a:r>
                  <a:rPr lang="zh-CN" altLang="zh-CN" sz="1800" b="1" dirty="0">
                    <a:solidFill>
                      <a:srgbClr val="FF0000"/>
                    </a:solidFill>
                    <a:latin typeface="Calibri" panose="020F0502020204030204" pitchFamily="34" charset="0"/>
                    <a:cs typeface="Calibri" panose="020F0502020204030204" pitchFamily="34" charset="0"/>
                  </a:rPr>
                  <a:t>全距（</a:t>
                </a:r>
                <a:r>
                  <a:rPr lang="en-US" altLang="zh-CN" sz="1800" b="1" dirty="0">
                    <a:solidFill>
                      <a:srgbClr val="FF0000"/>
                    </a:solidFill>
                    <a:latin typeface="Calibri" panose="020F0502020204030204" pitchFamily="34" charset="0"/>
                    <a:cs typeface="Calibri" panose="020F0502020204030204" pitchFamily="34" charset="0"/>
                  </a:rPr>
                  <a:t>range</a:t>
                </a:r>
                <a:r>
                  <a:rPr lang="zh-CN" altLang="zh-CN" sz="1800" b="1" dirty="0">
                    <a:solidFill>
                      <a:srgbClr val="FF0000"/>
                    </a:solidFill>
                    <a:latin typeface="Calibri" panose="020F0502020204030204" pitchFamily="34" charset="0"/>
                    <a:cs typeface="Calibri" panose="020F0502020204030204" pitchFamily="34" charset="0"/>
                  </a:rPr>
                  <a:t>）</a:t>
                </a:r>
                <a:endParaRPr lang="en-US" altLang="zh-CN" sz="1800" b="1" dirty="0">
                  <a:solidFill>
                    <a:srgbClr val="FF0000"/>
                  </a:solidFill>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latin typeface="Calibri" panose="020F0502020204030204" pitchFamily="34" charset="0"/>
                    <a:cs typeface="Calibri" panose="020F0502020204030204" pitchFamily="34" charset="0"/>
                  </a:rPr>
                  <a:t>一组数据的最大值与最小值之差，也称极差，用</a:t>
                </a:r>
                <a:r>
                  <a:rPr lang="en-US" altLang="zh-CN" sz="1800" dirty="0">
                    <a:latin typeface="Calibri" panose="020F0502020204030204" pitchFamily="34" charset="0"/>
                    <a:cs typeface="Calibri" panose="020F0502020204030204" pitchFamily="34" charset="0"/>
                  </a:rPr>
                  <a:t>R</a:t>
                </a:r>
                <a:r>
                  <a:rPr lang="zh-CN" altLang="zh-CN" sz="1800" dirty="0">
                    <a:latin typeface="Calibri" panose="020F0502020204030204" pitchFamily="34" charset="0"/>
                    <a:cs typeface="Calibri" panose="020F0502020204030204" pitchFamily="34" charset="0"/>
                  </a:rPr>
                  <a:t>表示。计算公式为</a:t>
                </a:r>
                <a:endParaRPr lang="zh-CN" altLang="zh-CN" sz="1800" dirty="0">
                  <a:latin typeface="Calibri" panose="020F0502020204030204" pitchFamily="34" charset="0"/>
                  <a:cs typeface="Calibri" panose="020F0502020204030204" pitchFamily="34" charset="0"/>
                </a:endParaRPr>
              </a:p>
              <a:p>
                <a:pPr indent="0" algn="just">
                  <a:lnSpc>
                    <a:spcPct val="150000"/>
                  </a:lnSpc>
                  <a:buNone/>
                </a:pPr>
                <a14:m>
                  <m:oMathPara xmlns:m="http://schemas.openxmlformats.org/officeDocument/2006/math">
                    <m:oMathParaPr>
                      <m:jc m:val="centerGroup"/>
                    </m:oMathParaPr>
                    <m:oMath xmlns:m="http://schemas.openxmlformats.org/officeDocument/2006/math">
                      <m:r>
                        <a:rPr lang="en-US" altLang="zh-CN" sz="1800" i="1" smtClean="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𝑅</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unc>
                        <m:func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uncPr>
                        <m:fName>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max</m:t>
                          </m:r>
                        </m:fName>
                        <m:e>
                          <m:d>
                            <m:d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d>
                        </m:e>
                      </m:func>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m:rPr>
                          <m:sty m:val="p"/>
                        </m:rP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min</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oMath>
                  </m:oMathPara>
                </a14:m>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indent="0" algn="just">
                  <a:lnSpc>
                    <a:spcPct val="150000"/>
                  </a:lnSpc>
                  <a:buNone/>
                </a:pP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例如，根据例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中的数据，计算</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个人网购金额的全距为：</a:t>
                </a:r>
                <a14:m>
                  <m:oMath xmlns:m="http://schemas.openxmlformats.org/officeDocument/2006/math">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𝑅</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678</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7</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303</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375</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oMath>
                </a14:m>
                <a:endParaRPr lang="en-US"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latin typeface="Calibri" panose="020F0502020204030204" pitchFamily="34" charset="0"/>
                    <a:cs typeface="Calibri" panose="020F0502020204030204" pitchFamily="34" charset="0"/>
                  </a:rPr>
                  <a:t>由于全距只是利用了一组数据两端的信息，容易受极端值的影响，不能全面反映数据的差异状况。虽然全距在实际中很少单独使用，但它总是作为分析数据离散程度的一个参考值。</a:t>
                </a:r>
                <a:endParaRPr lang="zh-CN" altLang="zh-CN" sz="1800" dirty="0">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5400600" cy="4680520"/>
              </a:xfrm>
              <a:blipFill rotWithShape="1">
                <a:blip r:embed="rId1"/>
                <a:stretch>
                  <a:fillRect l="-119" t="-144" r="-118"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全距和四分位距</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6168008" y="1556792"/>
                <a:ext cx="5400600"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70000"/>
                  </a:lnSpc>
                  <a:buNone/>
                </a:pPr>
                <a:r>
                  <a:rPr lang="zh-CN" altLang="zh-CN" sz="2000" b="1" dirty="0">
                    <a:solidFill>
                      <a:srgbClr val="FF0000"/>
                    </a:solidFill>
                    <a:latin typeface="Calibri" panose="020F0502020204030204" pitchFamily="34" charset="0"/>
                    <a:cs typeface="Calibri" panose="020F0502020204030204" pitchFamily="34" charset="0"/>
                  </a:rPr>
                  <a:t>四分位距（</a:t>
                </a:r>
                <a:r>
                  <a:rPr lang="en-US" altLang="zh-CN" sz="2000" b="1" dirty="0">
                    <a:solidFill>
                      <a:srgbClr val="FF0000"/>
                    </a:solidFill>
                    <a:latin typeface="Calibri" panose="020F0502020204030204" pitchFamily="34" charset="0"/>
                    <a:cs typeface="Calibri" panose="020F0502020204030204" pitchFamily="34" charset="0"/>
                  </a:rPr>
                  <a:t>inter-quartile range</a:t>
                </a:r>
                <a:r>
                  <a:rPr lang="zh-CN" altLang="zh-CN" sz="2000" b="1" dirty="0">
                    <a:solidFill>
                      <a:srgbClr val="FF0000"/>
                    </a:solidFill>
                    <a:latin typeface="Calibri" panose="020F0502020204030204" pitchFamily="34" charset="0"/>
                    <a:cs typeface="Calibri" panose="020F0502020204030204" pitchFamily="34" charset="0"/>
                  </a:rPr>
                  <a:t>）</a:t>
                </a:r>
                <a:endParaRPr lang="en-US" altLang="zh-CN" sz="2000" b="1" dirty="0">
                  <a:solidFill>
                    <a:srgbClr val="FF0000"/>
                  </a:solidFill>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latin typeface="Calibri" panose="020F0502020204030204" pitchFamily="34" charset="0"/>
                    <a:cs typeface="Calibri" panose="020F0502020204030204" pitchFamily="34" charset="0"/>
                  </a:rPr>
                  <a:t>是一组数据</a:t>
                </a:r>
                <a:r>
                  <a:rPr lang="en-US" altLang="zh-CN" sz="1800" dirty="0">
                    <a:latin typeface="Calibri" panose="020F0502020204030204" pitchFamily="34" charset="0"/>
                    <a:cs typeface="Calibri" panose="020F0502020204030204" pitchFamily="34" charset="0"/>
                  </a:rPr>
                  <a:t>75%</a:t>
                </a:r>
                <a:r>
                  <a:rPr lang="zh-CN" altLang="zh-CN" sz="1800" dirty="0">
                    <a:latin typeface="Calibri" panose="020F0502020204030204" pitchFamily="34" charset="0"/>
                    <a:cs typeface="Calibri" panose="020F0502020204030204" pitchFamily="34" charset="0"/>
                  </a:rPr>
                  <a:t>位置上的四分位数与</a:t>
                </a:r>
                <a:r>
                  <a:rPr lang="en-US" altLang="zh-CN" sz="1800" dirty="0">
                    <a:latin typeface="Calibri" panose="020F0502020204030204" pitchFamily="34" charset="0"/>
                    <a:cs typeface="Calibri" panose="020F0502020204030204" pitchFamily="34" charset="0"/>
                  </a:rPr>
                  <a:t>25%</a:t>
                </a:r>
                <a:r>
                  <a:rPr lang="zh-CN" altLang="zh-CN" sz="1800" dirty="0">
                    <a:latin typeface="Calibri" panose="020F0502020204030204" pitchFamily="34" charset="0"/>
                    <a:cs typeface="Calibri" panose="020F0502020204030204" pitchFamily="34" charset="0"/>
                  </a:rPr>
                  <a:t>位置上的四分位数之差，也称四分位差。用</a:t>
                </a:r>
                <a14:m>
                  <m:oMath xmlns:m="http://schemas.openxmlformats.org/officeDocument/2006/math">
                    <m:r>
                      <a:rPr lang="en-US" altLang="zh-CN" sz="1800">
                        <a:latin typeface="Cambria Math" panose="02040503050406030204" pitchFamily="18" charset="0"/>
                        <a:cs typeface="Calibri" panose="020F0502020204030204" pitchFamily="34" charset="0"/>
                      </a:rPr>
                      <m:t>𝐼𝑄𝑅</m:t>
                    </m:r>
                  </m:oMath>
                </a14:m>
                <a:r>
                  <a:rPr lang="zh-CN" altLang="zh-CN" sz="1800" dirty="0">
                    <a:latin typeface="Calibri" panose="020F0502020204030204" pitchFamily="34" charset="0"/>
                    <a:cs typeface="Calibri" panose="020F0502020204030204" pitchFamily="34" charset="0"/>
                  </a:rPr>
                  <a:t>表示四分位距，计算公式为：</a:t>
                </a:r>
                <a:endParaRPr lang="zh-CN" altLang="zh-CN" sz="1800" dirty="0">
                  <a:latin typeface="Calibri" panose="020F0502020204030204" pitchFamily="34" charset="0"/>
                  <a:cs typeface="Calibri" panose="020F0502020204030204" pitchFamily="34" charset="0"/>
                </a:endParaRPr>
              </a:p>
              <a:p>
                <a:pPr indent="0" algn="just">
                  <a:lnSpc>
                    <a:spcPts val="1635"/>
                  </a:lnSpc>
                  <a:buNone/>
                </a:pPr>
                <a14:m>
                  <m:oMathPara xmlns:m="http://schemas.openxmlformats.org/officeDocument/2006/math">
                    <m:oMathParaPr>
                      <m:jc m:val="centerGroup"/>
                    </m:oMathParaPr>
                    <m:oMath xmlns:m="http://schemas.openxmlformats.org/officeDocument/2006/math">
                      <m:r>
                        <a:rPr lang="en-US" altLang="zh-CN" sz="1800" i="1">
                          <a:solidFill>
                            <a:srgbClr val="000000"/>
                          </a:solidFill>
                          <a:latin typeface="Cambria Math" panose="02040503050406030204" pitchFamily="18" charset="0"/>
                          <a:cs typeface="Calibri" panose="020F0502020204030204" pitchFamily="34" charset="0"/>
                        </a:rPr>
                        <m:t>𝐼𝑄𝑅</m:t>
                      </m:r>
                      <m:r>
                        <a:rPr lang="en-US" altLang="zh-CN" sz="1800">
                          <a:solidFill>
                            <a:srgbClr val="000000"/>
                          </a:solidFill>
                          <a:latin typeface="Cambria Math" panose="02040503050406030204" pitchFamily="18" charset="0"/>
                          <a:cs typeface="Calibri" panose="020F0502020204030204" pitchFamily="34" charset="0"/>
                        </a:rPr>
                        <m:t>=</m:t>
                      </m:r>
                      <m:sSub>
                        <m:sSubPr>
                          <m:ctrlPr>
                            <a:rPr lang="zh-CN" altLang="zh-CN" sz="1800"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latin typeface="Cambria Math" panose="02040503050406030204" pitchFamily="18" charset="0"/>
                              <a:cs typeface="Calibri" panose="020F0502020204030204" pitchFamily="34" charset="0"/>
                            </a:rPr>
                            <m:t>𝑄</m:t>
                          </m:r>
                        </m:e>
                        <m:sub>
                          <m:r>
                            <a:rPr lang="en-US" altLang="zh-CN" sz="1800" i="1">
                              <a:solidFill>
                                <a:srgbClr val="000000"/>
                              </a:solidFill>
                              <a:latin typeface="Cambria Math" panose="02040503050406030204" pitchFamily="18" charset="0"/>
                              <a:cs typeface="Calibri" panose="020F0502020204030204" pitchFamily="34" charset="0"/>
                            </a:rPr>
                            <m:t>75</m:t>
                          </m:r>
                          <m:r>
                            <a:rPr lang="en-US" altLang="zh-CN" sz="1800" i="1">
                              <a:solidFill>
                                <a:srgbClr val="000000"/>
                              </a:solidFill>
                              <a:latin typeface="Cambria Math" panose="02040503050406030204" pitchFamily="18" charset="0"/>
                              <a:cs typeface="Calibri" panose="020F0502020204030204" pitchFamily="34" charset="0"/>
                            </a:rPr>
                            <m:t>%</m:t>
                          </m:r>
                        </m:sub>
                      </m:sSub>
                      <m:r>
                        <a:rPr lang="en-US" altLang="zh-CN" sz="1800" i="1">
                          <a:solidFill>
                            <a:srgbClr val="000000"/>
                          </a:solidFill>
                          <a:latin typeface="Cambria Math" panose="02040503050406030204" pitchFamily="18" charset="0"/>
                          <a:cs typeface="Calibri" panose="020F0502020204030204" pitchFamily="34" charset="0"/>
                        </a:rPr>
                        <m:t>−</m:t>
                      </m:r>
                      <m:sSub>
                        <m:sSubPr>
                          <m:ctrlPr>
                            <a:rPr lang="zh-CN" altLang="zh-CN" sz="1800" i="1">
                              <a:solidFill>
                                <a:srgbClr val="000000"/>
                              </a:solidFill>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latin typeface="Cambria Math" panose="02040503050406030204" pitchFamily="18" charset="0"/>
                              <a:cs typeface="Calibri" panose="020F0502020204030204" pitchFamily="34" charset="0"/>
                            </a:rPr>
                            <m:t>𝑄</m:t>
                          </m:r>
                        </m:e>
                        <m:sub>
                          <m:r>
                            <a:rPr lang="en-US" altLang="zh-CN" sz="1800" i="1">
                              <a:solidFill>
                                <a:srgbClr val="000000"/>
                              </a:solidFill>
                              <a:latin typeface="Cambria Math" panose="02040503050406030204" pitchFamily="18" charset="0"/>
                              <a:cs typeface="Calibri" panose="020F0502020204030204" pitchFamily="34" charset="0"/>
                            </a:rPr>
                            <m:t>25</m:t>
                          </m:r>
                          <m:r>
                            <a:rPr lang="en-US" altLang="zh-CN" sz="1800" i="1">
                              <a:solidFill>
                                <a:srgbClr val="000000"/>
                              </a:solidFill>
                              <a:latin typeface="Cambria Math" panose="02040503050406030204" pitchFamily="18" charset="0"/>
                              <a:cs typeface="Calibri" panose="020F0502020204030204" pitchFamily="34" charset="0"/>
                            </a:rPr>
                            <m:t>%</m:t>
                          </m:r>
                        </m:sub>
                      </m:sSub>
                    </m:oMath>
                  </m:oMathPara>
                </a14:m>
                <a:endParaRPr lang="zh-CN" altLang="zh-CN" sz="1800" dirty="0">
                  <a:solidFill>
                    <a:srgbClr val="000000"/>
                  </a:solidFill>
                  <a:latin typeface="NEU-BZ-S92"/>
                  <a:ea typeface="方正书宋_GBK" panose="02000000000000000000" charset="-122"/>
                  <a:cs typeface="Times New Roman" panose="02020603050405020304" pitchFamily="18"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latin typeface="Calibri" panose="020F0502020204030204" pitchFamily="34" charset="0"/>
                    <a:cs typeface="Calibri" panose="020F0502020204030204" pitchFamily="34" charset="0"/>
                  </a:rPr>
                  <a:t>四分位距反映了中间</a:t>
                </a:r>
                <a:r>
                  <a:rPr lang="en-US" altLang="zh-CN" sz="1800" dirty="0">
                    <a:latin typeface="Calibri" panose="020F0502020204030204" pitchFamily="34" charset="0"/>
                    <a:cs typeface="Calibri" panose="020F0502020204030204" pitchFamily="34" charset="0"/>
                  </a:rPr>
                  <a:t>50%</a:t>
                </a:r>
                <a:r>
                  <a:rPr lang="zh-CN" altLang="zh-CN" sz="1800" dirty="0">
                    <a:latin typeface="Calibri" panose="020F0502020204030204" pitchFamily="34" charset="0"/>
                    <a:cs typeface="Calibri" panose="020F0502020204030204" pitchFamily="34" charset="0"/>
                  </a:rPr>
                  <a:t>数据的离散程度</a:t>
                </a:r>
                <a:r>
                  <a:rPr lang="zh-CN" altLang="en-US" sz="1800" dirty="0">
                    <a:latin typeface="Calibri" panose="020F0502020204030204" pitchFamily="34" charset="0"/>
                    <a:cs typeface="Calibri" panose="020F0502020204030204" pitchFamily="34" charset="0"/>
                  </a:rPr>
                  <a:t>。</a:t>
                </a:r>
                <a:r>
                  <a:rPr lang="zh-CN" altLang="zh-CN" sz="1800" dirty="0">
                    <a:latin typeface="Calibri" panose="020F0502020204030204" pitchFamily="34" charset="0"/>
                    <a:cs typeface="Calibri" panose="020F0502020204030204" pitchFamily="34" charset="0"/>
                  </a:rPr>
                  <a:t>由于中位数处于数据的中间位置，因此，四分位距的大小说明了中位数对一组数据的代表程度</a:t>
                </a:r>
                <a:endParaRPr lang="en-US" altLang="zh-CN" sz="1800" dirty="0">
                  <a:latin typeface="Calibri" panose="020F0502020204030204" pitchFamily="34" charset="0"/>
                  <a:cs typeface="Calibri" panose="020F0502020204030204" pitchFamily="34" charset="0"/>
                </a:endParaRPr>
              </a:p>
              <a:p>
                <a:pPr marL="452755" indent="0" algn="just">
                  <a:lnSpc>
                    <a:spcPct val="150000"/>
                  </a:lnSpc>
                  <a:buClr>
                    <a:schemeClr val="accent1"/>
                  </a:buClr>
                  <a:buSzPct val="100000"/>
                  <a:buNone/>
                  <a:defRPr/>
                </a:pPr>
                <a:r>
                  <a:rPr lang="zh-CN" altLang="zh-CN" sz="1800" dirty="0">
                    <a:latin typeface="Calibri" panose="020F0502020204030204" pitchFamily="34" charset="0"/>
                    <a:cs typeface="Calibri" panose="020F0502020204030204" pitchFamily="34" charset="0"/>
                  </a:rPr>
                  <a:t>例如，根据例</a:t>
                </a:r>
                <a:r>
                  <a:rPr lang="en-US" altLang="zh-CN" sz="1800" dirty="0">
                    <a:latin typeface="Calibri" panose="020F0502020204030204" pitchFamily="34" charset="0"/>
                    <a:cs typeface="Calibri" panose="020F0502020204030204" pitchFamily="34" charset="0"/>
                  </a:rPr>
                  <a:t>4.1</a:t>
                </a:r>
                <a:r>
                  <a:rPr lang="zh-CN" altLang="zh-CN" sz="1800" dirty="0">
                    <a:latin typeface="Calibri" panose="020F0502020204030204" pitchFamily="34" charset="0"/>
                    <a:cs typeface="Calibri" panose="020F0502020204030204" pitchFamily="34" charset="0"/>
                  </a:rPr>
                  <a:t>计算的</a:t>
                </a:r>
                <a:r>
                  <a:rPr lang="en-US" altLang="zh-CN" sz="1800" dirty="0">
                    <a:latin typeface="Calibri" panose="020F0502020204030204" pitchFamily="34" charset="0"/>
                    <a:cs typeface="Calibri" panose="020F0502020204030204" pitchFamily="34" charset="0"/>
                  </a:rPr>
                  <a:t>30</a:t>
                </a:r>
                <a:r>
                  <a:rPr lang="zh-CN" altLang="zh-CN" sz="1800" dirty="0">
                    <a:latin typeface="Calibri" panose="020F0502020204030204" pitchFamily="34" charset="0"/>
                    <a:cs typeface="Calibri" panose="020F0502020204030204" pitchFamily="34" charset="0"/>
                  </a:rPr>
                  <a:t>个人网购金额的四分位数得，</a:t>
                </a:r>
                <a14:m>
                  <m:oMath xmlns:m="http://schemas.openxmlformats.org/officeDocument/2006/math">
                    <m:r>
                      <a:rPr lang="en-US" altLang="zh-CN" sz="1800">
                        <a:latin typeface="Cambria Math" panose="02040503050406030204" pitchFamily="18" charset="0"/>
                        <a:cs typeface="Calibri" panose="020F0502020204030204" pitchFamily="34" charset="0"/>
                      </a:rPr>
                      <m:t>𝐼𝑄𝑅</m:t>
                    </m:r>
                    <m:r>
                      <a:rPr lang="en-US" altLang="zh-CN" sz="1800">
                        <a:latin typeface="Cambria Math" panose="02040503050406030204" pitchFamily="18" charset="0"/>
                        <a:cs typeface="Calibri" panose="020F0502020204030204" pitchFamily="34" charset="0"/>
                      </a:rPr>
                      <m:t>=</m:t>
                    </m:r>
                    <m:r>
                      <a:rPr lang="en-US" altLang="zh-CN" sz="1800">
                        <a:latin typeface="Cambria Math" panose="02040503050406030204" pitchFamily="18" charset="0"/>
                        <a:cs typeface="Calibri" panose="020F0502020204030204" pitchFamily="34" charset="0"/>
                      </a:rPr>
                      <m:t>547</m:t>
                    </m:r>
                    <m:r>
                      <a:rPr lang="en-US" altLang="zh-CN" sz="1800">
                        <a:latin typeface="Cambria Math" panose="02040503050406030204" pitchFamily="18" charset="0"/>
                        <a:cs typeface="Calibri" panose="020F0502020204030204" pitchFamily="34" charset="0"/>
                      </a:rPr>
                      <m:t>.</m:t>
                    </m:r>
                    <m:r>
                      <a:rPr lang="en-US" altLang="zh-CN" sz="1800">
                        <a:latin typeface="Cambria Math" panose="02040503050406030204" pitchFamily="18" charset="0"/>
                        <a:cs typeface="Calibri" panose="020F0502020204030204" pitchFamily="34" charset="0"/>
                      </a:rPr>
                      <m:t>6</m:t>
                    </m:r>
                    <m:r>
                      <a:rPr lang="en-US" altLang="zh-CN" sz="1800">
                        <a:latin typeface="Cambria Math" panose="02040503050406030204" pitchFamily="18" charset="0"/>
                        <a:cs typeface="Calibri" panose="020F0502020204030204" pitchFamily="34" charset="0"/>
                      </a:rPr>
                      <m:t>−</m:t>
                    </m:r>
                    <m:r>
                      <a:rPr lang="en-US" altLang="zh-CN" sz="1800">
                        <a:latin typeface="Cambria Math" panose="02040503050406030204" pitchFamily="18" charset="0"/>
                        <a:cs typeface="Calibri" panose="020F0502020204030204" pitchFamily="34" charset="0"/>
                      </a:rPr>
                      <m:t>428</m:t>
                    </m:r>
                    <m:r>
                      <a:rPr lang="en-US" altLang="zh-CN" sz="1800">
                        <a:latin typeface="Cambria Math" panose="02040503050406030204" pitchFamily="18" charset="0"/>
                        <a:cs typeface="Calibri" panose="020F0502020204030204" pitchFamily="34" charset="0"/>
                      </a:rPr>
                      <m:t>.</m:t>
                    </m:r>
                    <m:r>
                      <a:rPr lang="en-US" altLang="zh-CN" sz="1800">
                        <a:latin typeface="Cambria Math" panose="02040503050406030204" pitchFamily="18" charset="0"/>
                        <a:cs typeface="Calibri" panose="020F0502020204030204" pitchFamily="34" charset="0"/>
                      </a:rPr>
                      <m:t>525</m:t>
                    </m:r>
                    <m:r>
                      <a:rPr lang="zh-CN" altLang="zh-CN" sz="1800">
                        <a:latin typeface="Cambria Math" panose="02040503050406030204" pitchFamily="18" charset="0"/>
                        <a:cs typeface="Calibri" panose="020F0502020204030204" pitchFamily="34" charset="0"/>
                      </a:rPr>
                      <m:t>元</m:t>
                    </m:r>
                    <m:r>
                      <a:rPr lang="en-US" altLang="zh-CN" sz="1800">
                        <a:latin typeface="Cambria Math" panose="02040503050406030204" pitchFamily="18" charset="0"/>
                        <a:cs typeface="Calibri" panose="020F0502020204030204" pitchFamily="34" charset="0"/>
                      </a:rPr>
                      <m:t>=</m:t>
                    </m:r>
                    <m:r>
                      <a:rPr lang="en-US" altLang="zh-CN" sz="1800">
                        <a:latin typeface="Cambria Math" panose="02040503050406030204" pitchFamily="18" charset="0"/>
                        <a:cs typeface="Calibri" panose="020F0502020204030204" pitchFamily="34" charset="0"/>
                      </a:rPr>
                      <m:t>119</m:t>
                    </m:r>
                    <m:r>
                      <a:rPr lang="en-US" altLang="zh-CN" sz="1800">
                        <a:latin typeface="Cambria Math" panose="02040503050406030204" pitchFamily="18" charset="0"/>
                        <a:cs typeface="Calibri" panose="020F0502020204030204" pitchFamily="34" charset="0"/>
                      </a:rPr>
                      <m:t>.</m:t>
                    </m:r>
                    <m:r>
                      <a:rPr lang="en-US" altLang="zh-CN" sz="1800">
                        <a:latin typeface="Cambria Math" panose="02040503050406030204" pitchFamily="18" charset="0"/>
                        <a:cs typeface="Calibri" panose="020F0502020204030204" pitchFamily="34" charset="0"/>
                      </a:rPr>
                      <m:t>075</m:t>
                    </m:r>
                  </m:oMath>
                </a14:m>
                <a:r>
                  <a:rPr lang="zh-CN" altLang="zh-CN" sz="1800" dirty="0">
                    <a:latin typeface="Calibri" panose="020F0502020204030204" pitchFamily="34" charset="0"/>
                    <a:cs typeface="Calibri" panose="020F0502020204030204" pitchFamily="34" charset="0"/>
                  </a:rPr>
                  <a:t>。</a:t>
                </a:r>
                <a:endParaRPr lang="zh-CN" altLang="zh-CN" sz="1800" dirty="0">
                  <a:latin typeface="Calibri" panose="020F0502020204030204" pitchFamily="34" charset="0"/>
                  <a:cs typeface="Calibri" panose="020F0502020204030204" pitchFamily="34" charset="0"/>
                </a:endParaRPr>
              </a:p>
            </p:txBody>
          </p:sp>
        </mc:Choice>
        <mc:Fallback>
          <p:sp>
            <p:nvSpPr>
              <p:cNvPr id="5" name="Content Placeholder 8"/>
              <p:cNvSpPr txBox="1">
                <a:spLocks noRot="1" noChangeAspect="1" noMove="1" noResize="1" noEditPoints="1" noAdjustHandles="1" noChangeArrowheads="1" noChangeShapeType="1" noTextEdit="1"/>
              </p:cNvSpPr>
              <p:nvPr/>
            </p:nvSpPr>
            <p:spPr>
              <a:xfrm>
                <a:off x="6168008" y="1556792"/>
                <a:ext cx="5400600" cy="4680520"/>
              </a:xfrm>
              <a:prstGeom prst="rect">
                <a:avLst/>
              </a:prstGeom>
              <a:blipFill rotWithShape="1">
                <a:blip r:embed="rId2"/>
                <a:stretch>
                  <a:fillRect l="-122" t="-144" r="-114" b="-128"/>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离散程度的度量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5400600" cy="4680520"/>
              </a:xfrm>
              <a:ln w="12700" cmpd="dbl">
                <a:solidFill>
                  <a:schemeClr val="accent1"/>
                </a:solidFill>
              </a:ln>
            </p:spPr>
            <p:txBody>
              <a:bodyPr>
                <a:noAutofit/>
              </a:bodyPr>
              <a:lstStyle/>
              <a:p>
                <a:pPr marL="0" indent="0" algn="just">
                  <a:lnSpc>
                    <a:spcPct val="150000"/>
                  </a:lnSpc>
                  <a:buNone/>
                </a:pPr>
                <a:r>
                  <a:rPr lang="zh-CN" altLang="zh-CN" sz="2200" b="1" dirty="0">
                    <a:solidFill>
                      <a:srgbClr val="FF0000"/>
                    </a:solidFill>
                    <a:latin typeface="Calibri" panose="020F0502020204030204" pitchFamily="34" charset="0"/>
                    <a:cs typeface="Calibri" panose="020F0502020204030204" pitchFamily="34" charset="0"/>
                  </a:rPr>
                  <a:t>方差（</a:t>
                </a:r>
                <a:r>
                  <a:rPr lang="en-US" altLang="zh-CN" sz="2200" b="1" dirty="0">
                    <a:solidFill>
                      <a:srgbClr val="FF0000"/>
                    </a:solidFill>
                    <a:latin typeface="Calibri" panose="020F0502020204030204" pitchFamily="34" charset="0"/>
                    <a:cs typeface="Calibri" panose="020F0502020204030204" pitchFamily="34" charset="0"/>
                  </a:rPr>
                  <a:t>variance</a:t>
                </a:r>
                <a:r>
                  <a:rPr lang="zh-CN" altLang="zh-CN" sz="2200" b="1" dirty="0">
                    <a:solidFill>
                      <a:srgbClr val="FF0000"/>
                    </a:solidFill>
                    <a:latin typeface="Calibri" panose="020F0502020204030204" pitchFamily="34" charset="0"/>
                    <a:cs typeface="Calibri" panose="020F0502020204030204" pitchFamily="34" charset="0"/>
                  </a:rPr>
                  <a:t>）</a:t>
                </a:r>
                <a:r>
                  <a:rPr lang="en-US" altLang="zh-CN" sz="2200" b="1" dirty="0">
                    <a:solidFill>
                      <a:srgbClr val="FF0000"/>
                    </a:solidFill>
                    <a:latin typeface="Calibri" panose="020F0502020204030204" pitchFamily="34" charset="0"/>
                    <a:cs typeface="Calibri" panose="020F0502020204030204" pitchFamily="34" charset="0"/>
                  </a:rPr>
                  <a:t>——</a:t>
                </a:r>
                <a:r>
                  <a:rPr lang="zh-CN" altLang="en-US" sz="2200" b="1" dirty="0">
                    <a:solidFill>
                      <a:srgbClr val="FF0000"/>
                    </a:solidFill>
                    <a:latin typeface="Calibri" panose="020F0502020204030204" pitchFamily="34" charset="0"/>
                    <a:cs typeface="Calibri" panose="020F0502020204030204" pitchFamily="34" charset="0"/>
                  </a:rPr>
                  <a:t>原始数据</a:t>
                </a:r>
                <a:endParaRPr lang="en-US" altLang="zh-CN" sz="2200" b="1" dirty="0">
                  <a:solidFill>
                    <a:srgbClr val="FF0000"/>
                  </a:solidFill>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2200" dirty="0">
                    <a:latin typeface="Calibri" panose="020F0502020204030204" pitchFamily="34" charset="0"/>
                    <a:cs typeface="Calibri" panose="020F0502020204030204" pitchFamily="34" charset="0"/>
                  </a:rPr>
                  <a:t>设样本方差为</a:t>
                </a:r>
                <a14:m>
                  <m:oMath xmlns:m="http://schemas.openxmlformats.org/officeDocument/2006/math">
                    <m:sSup>
                      <m:sSupPr>
                        <m:ctrlPr>
                          <a:rPr lang="zh-CN" altLang="zh-CN" sz="2200" i="1">
                            <a:latin typeface="Cambria Math" panose="02040503050406030204" pitchFamily="18" charset="0"/>
                            <a:cs typeface="Calibri" panose="020F0502020204030204" pitchFamily="34" charset="0"/>
                          </a:rPr>
                        </m:ctrlPr>
                      </m:sSupPr>
                      <m:e>
                        <m:r>
                          <a:rPr lang="en-US" altLang="zh-CN" sz="2200">
                            <a:latin typeface="Cambria Math" panose="02040503050406030204" pitchFamily="18" charset="0"/>
                            <a:cs typeface="Calibri" panose="020F0502020204030204" pitchFamily="34" charset="0"/>
                          </a:rPr>
                          <m:t>𝑠</m:t>
                        </m:r>
                      </m:e>
                      <m:sup>
                        <m:r>
                          <a:rPr lang="en-US" altLang="zh-CN" sz="2200">
                            <a:latin typeface="Cambria Math" panose="02040503050406030204" pitchFamily="18" charset="0"/>
                            <a:cs typeface="Calibri" panose="020F0502020204030204" pitchFamily="34" charset="0"/>
                          </a:rPr>
                          <m:t>2</m:t>
                        </m:r>
                      </m:sup>
                    </m:sSup>
                  </m:oMath>
                </a14:m>
                <a:r>
                  <a:rPr lang="zh-CN" altLang="zh-CN" sz="2200" dirty="0">
                    <a:latin typeface="Calibri" panose="020F0502020204030204" pitchFamily="34" charset="0"/>
                    <a:cs typeface="Calibri" panose="020F0502020204030204" pitchFamily="34" charset="0"/>
                  </a:rPr>
                  <a:t>，根据原始数据计算样本方差的公式为</a:t>
                </a:r>
                <a:endParaRPr lang="zh-CN" altLang="zh-CN" sz="2200" dirty="0">
                  <a:latin typeface="Calibri" panose="020F0502020204030204" pitchFamily="34" charset="0"/>
                  <a:cs typeface="Calibri" panose="020F0502020204030204" pitchFamily="34" charset="0"/>
                </a:endParaRPr>
              </a:p>
              <a:p>
                <a:pPr marL="0" indent="0" algn="just">
                  <a:buNone/>
                </a:pPr>
                <a14:m>
                  <m:oMathPara xmlns:m="http://schemas.openxmlformats.org/officeDocument/2006/math">
                    <m:oMathParaPr>
                      <m:jc m:val="centerGroup"/>
                    </m:oMathParaPr>
                    <m:oMath xmlns:m="http://schemas.openxmlformats.org/officeDocument/2006/math">
                      <m:sSup>
                        <m:sSupPr>
                          <m:ctrlPr>
                            <a:rPr lang="zh-CN" altLang="zh-CN" sz="2200" i="1">
                              <a:latin typeface="Cambria Math" panose="02040503050406030204" pitchFamily="18" charset="0"/>
                            </a:rPr>
                          </m:ctrlPr>
                        </m:sSupPr>
                        <m:e>
                          <m:r>
                            <a:rPr lang="en-US" altLang="zh-CN" sz="2200" i="1">
                              <a:latin typeface="Cambria Math" panose="02040503050406030204" pitchFamily="18" charset="0"/>
                            </a:rPr>
                            <m:t>𝑠</m:t>
                          </m:r>
                        </m:e>
                        <m:sup>
                          <m:r>
                            <a:rPr lang="en-US" altLang="zh-CN" sz="2200" i="1">
                              <a:latin typeface="Cambria Math" panose="02040503050406030204" pitchFamily="18" charset="0"/>
                            </a:rPr>
                            <m:t>2</m:t>
                          </m:r>
                        </m:sup>
                      </m:sSup>
                      <m:r>
                        <a:rPr lang="en-US" altLang="zh-CN" sz="2200" i="1">
                          <a:latin typeface="Cambria Math" panose="02040503050406030204" pitchFamily="18" charset="0"/>
                        </a:rPr>
                        <m:t>=</m:t>
                      </m:r>
                      <m:f>
                        <m:fPr>
                          <m:ctrlPr>
                            <a:rPr lang="zh-CN" altLang="zh-CN" sz="2200" i="1">
                              <a:latin typeface="Cambria Math" panose="02040503050406030204" pitchFamily="18" charset="0"/>
                            </a:rPr>
                          </m:ctrlPr>
                        </m:fPr>
                        <m:num>
                          <m:nary>
                            <m:naryPr>
                              <m:chr m:val="∑"/>
                              <m:ctrlPr>
                                <a:rPr lang="zh-CN" altLang="zh-CN" sz="2200" i="1">
                                  <a:latin typeface="Cambria Math" panose="02040503050406030204" pitchFamily="18" charset="0"/>
                                </a:rPr>
                              </m:ctrlPr>
                            </m:naryPr>
                            <m:sub>
                              <m: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1</m:t>
                              </m:r>
                            </m:sub>
                            <m:sup>
                              <m:r>
                                <a:rPr lang="en-US" altLang="zh-CN" sz="2200" i="1">
                                  <a:latin typeface="Cambria Math" panose="02040503050406030204" pitchFamily="18" charset="0"/>
                                </a:rPr>
                                <m:t>𝑛</m:t>
                              </m:r>
                            </m:sup>
                            <m:e>
                              <m:r>
                                <a:rPr lang="en-US" altLang="zh-CN" sz="2200" i="1">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𝑖</m:t>
                                  </m:r>
                                </m:sub>
                              </m:sSub>
                              <m:r>
                                <a:rPr lang="en-US" altLang="zh-CN" sz="2200" i="1">
                                  <a:latin typeface="Cambria Math" panose="02040503050406030204" pitchFamily="18" charset="0"/>
                                </a:rPr>
                                <m:t>−</m:t>
                              </m:r>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𝑥</m:t>
                                  </m:r>
                                </m:e>
                              </m:acc>
                              <m:sSup>
                                <m:sSupPr>
                                  <m:ctrlPr>
                                    <a:rPr lang="zh-CN" altLang="zh-CN" sz="2200" i="1">
                                      <a:latin typeface="Cambria Math" panose="02040503050406030204" pitchFamily="18" charset="0"/>
                                    </a:rPr>
                                  </m:ctrlPr>
                                </m:sSupPr>
                                <m:e>
                                  <m:r>
                                    <a:rPr lang="en-US" altLang="zh-CN" sz="2200" i="1">
                                      <a:latin typeface="Cambria Math" panose="02040503050406030204" pitchFamily="18" charset="0"/>
                                    </a:rPr>
                                    <m:t>)</m:t>
                                  </m:r>
                                </m:e>
                                <m:sup>
                                  <m:r>
                                    <a:rPr lang="en-US" altLang="zh-CN" sz="2200" i="1">
                                      <a:latin typeface="Cambria Math" panose="02040503050406030204" pitchFamily="18" charset="0"/>
                                    </a:rPr>
                                    <m:t>2</m:t>
                                  </m:r>
                                </m:sup>
                              </m:sSup>
                            </m:e>
                          </m:nary>
                        </m:num>
                        <m:den>
                          <m:r>
                            <a:rPr lang="en-US" altLang="zh-CN" sz="2200" i="1">
                              <a:latin typeface="Cambria Math" panose="02040503050406030204" pitchFamily="18" charset="0"/>
                            </a:rPr>
                            <m:t>𝑛</m:t>
                          </m:r>
                          <m:r>
                            <a:rPr lang="en-US" altLang="zh-CN" sz="2200" i="1">
                              <a:latin typeface="Cambria Math" panose="02040503050406030204" pitchFamily="18" charset="0"/>
                            </a:rPr>
                            <m:t>−</m:t>
                          </m:r>
                          <m:r>
                            <a:rPr lang="en-US" altLang="zh-CN" sz="2200" i="1">
                              <a:latin typeface="Cambria Math" panose="02040503050406030204" pitchFamily="18" charset="0"/>
                            </a:rPr>
                            <m:t>1</m:t>
                          </m:r>
                        </m:den>
                      </m:f>
                    </m:oMath>
                  </m:oMathPara>
                </a14:m>
                <a:endParaRPr lang="zh-CN" altLang="zh-CN" sz="2200" dirty="0"/>
              </a:p>
              <a:p>
                <a:pPr marL="447675" indent="-447675" algn="just">
                  <a:lnSpc>
                    <a:spcPct val="150000"/>
                  </a:lnSpc>
                  <a:buClr>
                    <a:schemeClr val="accent1"/>
                  </a:buClr>
                  <a:buSzPct val="100000"/>
                  <a:buFont typeface="Wingdings" panose="05000000000000000000" pitchFamily="2" charset="2"/>
                  <a:buChar char="l"/>
                  <a:defRPr/>
                </a:pPr>
                <a:r>
                  <a:rPr lang="zh-CN" altLang="zh-CN" sz="2200" dirty="0">
                    <a:latin typeface="Calibri" panose="020F0502020204030204" pitchFamily="34" charset="0"/>
                    <a:cs typeface="Calibri" panose="020F0502020204030204" pitchFamily="34" charset="0"/>
                  </a:rPr>
                  <a:t>样本标准差的计算公式为</a:t>
                </a:r>
                <a:endParaRPr lang="zh-CN" altLang="zh-CN" sz="2200" dirty="0">
                  <a:latin typeface="Calibri" panose="020F0502020204030204" pitchFamily="34" charset="0"/>
                  <a:cs typeface="Calibri" panose="020F050202020403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𝑠</m:t>
                      </m:r>
                      <m:r>
                        <a:rPr lang="en-US" altLang="zh-CN" sz="2200" i="1">
                          <a:latin typeface="Cambria Math" panose="02040503050406030204" pitchFamily="18" charset="0"/>
                        </a:rPr>
                        <m:t>=</m:t>
                      </m:r>
                      <m:rad>
                        <m:radPr>
                          <m:degHide m:val="on"/>
                          <m:ctrlPr>
                            <a:rPr lang="zh-CN" altLang="zh-CN" sz="2200" i="1">
                              <a:latin typeface="Cambria Math" panose="02040503050406030204" pitchFamily="18" charset="0"/>
                            </a:rPr>
                          </m:ctrlPr>
                        </m:radPr>
                        <m:deg/>
                        <m:e>
                          <m:f>
                            <m:fPr>
                              <m:ctrlPr>
                                <a:rPr lang="zh-CN" altLang="zh-CN" sz="2200" i="1">
                                  <a:latin typeface="Cambria Math" panose="02040503050406030204" pitchFamily="18" charset="0"/>
                                </a:rPr>
                              </m:ctrlPr>
                            </m:fPr>
                            <m:num>
                              <m:nary>
                                <m:naryPr>
                                  <m:chr m:val="∑"/>
                                  <m:ctrlPr>
                                    <a:rPr lang="zh-CN" altLang="zh-CN" sz="2200" i="1">
                                      <a:latin typeface="Cambria Math" panose="02040503050406030204" pitchFamily="18" charset="0"/>
                                    </a:rPr>
                                  </m:ctrlPr>
                                </m:naryPr>
                                <m:sub>
                                  <m: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1</m:t>
                                  </m:r>
                                </m:sub>
                                <m:sup>
                                  <m:r>
                                    <a:rPr lang="en-US" altLang="zh-CN" sz="2200" i="1">
                                      <a:latin typeface="Cambria Math" panose="02040503050406030204" pitchFamily="18" charset="0"/>
                                    </a:rPr>
                                    <m:t>𝑛</m:t>
                                  </m:r>
                                </m:sup>
                                <m:e>
                                  <m:r>
                                    <a:rPr lang="en-US" altLang="zh-CN" sz="2200" i="1">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𝑖</m:t>
                                      </m:r>
                                    </m:sub>
                                  </m:sSub>
                                  <m:r>
                                    <a:rPr lang="en-US" altLang="zh-CN" sz="2200" i="1">
                                      <a:latin typeface="Cambria Math" panose="02040503050406030204" pitchFamily="18" charset="0"/>
                                    </a:rPr>
                                    <m:t>−</m:t>
                                  </m:r>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𝑥</m:t>
                                      </m:r>
                                    </m:e>
                                  </m:acc>
                                  <m:sSup>
                                    <m:sSupPr>
                                      <m:ctrlPr>
                                        <a:rPr lang="zh-CN" altLang="zh-CN" sz="2200" i="1">
                                          <a:latin typeface="Cambria Math" panose="02040503050406030204" pitchFamily="18" charset="0"/>
                                        </a:rPr>
                                      </m:ctrlPr>
                                    </m:sSupPr>
                                    <m:e>
                                      <m:r>
                                        <a:rPr lang="en-US" altLang="zh-CN" sz="2200" i="1">
                                          <a:latin typeface="Cambria Math" panose="02040503050406030204" pitchFamily="18" charset="0"/>
                                        </a:rPr>
                                        <m:t>)</m:t>
                                      </m:r>
                                    </m:e>
                                    <m:sup>
                                      <m:r>
                                        <a:rPr lang="en-US" altLang="zh-CN" sz="2200" i="1">
                                          <a:latin typeface="Cambria Math" panose="02040503050406030204" pitchFamily="18" charset="0"/>
                                        </a:rPr>
                                        <m:t>2</m:t>
                                      </m:r>
                                    </m:sup>
                                  </m:sSup>
                                </m:e>
                              </m:nary>
                            </m:num>
                            <m:den>
                              <m:r>
                                <a:rPr lang="en-US" altLang="zh-CN" sz="2200" i="1">
                                  <a:latin typeface="Cambria Math" panose="02040503050406030204" pitchFamily="18" charset="0"/>
                                </a:rPr>
                                <m:t>𝑛</m:t>
                              </m:r>
                              <m:r>
                                <a:rPr lang="en-US" altLang="zh-CN" sz="2200" i="1">
                                  <a:latin typeface="Cambria Math" panose="02040503050406030204" pitchFamily="18" charset="0"/>
                                </a:rPr>
                                <m:t>−</m:t>
                              </m:r>
                              <m:r>
                                <a:rPr lang="en-US" altLang="zh-CN" sz="2200" i="1">
                                  <a:latin typeface="Cambria Math" panose="02040503050406030204" pitchFamily="18" charset="0"/>
                                </a:rPr>
                                <m:t>1</m:t>
                              </m:r>
                            </m:den>
                          </m:f>
                        </m:e>
                      </m:rad>
                    </m:oMath>
                  </m:oMathPara>
                </a14:m>
                <a:endParaRPr lang="zh-CN" altLang="zh-CN" sz="2200" dirty="0"/>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5400600" cy="4680520"/>
              </a:xfrm>
              <a:blipFill rotWithShape="1">
                <a:blip r:embed="rId1"/>
                <a:stretch>
                  <a:fillRect l="-119" t="-144" r="-118"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方差和标准差</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6240016" y="1556792"/>
                <a:ext cx="5328592"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None/>
                </a:pPr>
                <a:r>
                  <a:rPr lang="zh-CN" altLang="zh-CN" sz="2000" b="1" dirty="0">
                    <a:solidFill>
                      <a:srgbClr val="FF0000"/>
                    </a:solidFill>
                    <a:latin typeface="Calibri" panose="020F0502020204030204" pitchFamily="34" charset="0"/>
                    <a:cs typeface="Calibri" panose="020F0502020204030204" pitchFamily="34" charset="0"/>
                  </a:rPr>
                  <a:t>方差（</a:t>
                </a:r>
                <a:r>
                  <a:rPr lang="en-US" altLang="zh-CN" sz="2000" b="1" dirty="0">
                    <a:solidFill>
                      <a:srgbClr val="FF0000"/>
                    </a:solidFill>
                    <a:latin typeface="Calibri" panose="020F0502020204030204" pitchFamily="34" charset="0"/>
                    <a:cs typeface="Calibri" panose="020F0502020204030204" pitchFamily="34" charset="0"/>
                  </a:rPr>
                  <a:t>variance</a:t>
                </a:r>
                <a:r>
                  <a:rPr lang="zh-CN" altLang="zh-CN" sz="2000" b="1" dirty="0">
                    <a:solidFill>
                      <a:srgbClr val="FF0000"/>
                    </a:solidFill>
                    <a:latin typeface="Calibri" panose="020F0502020204030204" pitchFamily="34" charset="0"/>
                    <a:cs typeface="Calibri" panose="020F0502020204030204" pitchFamily="34" charset="0"/>
                  </a:rPr>
                  <a:t>）</a:t>
                </a:r>
                <a:r>
                  <a:rPr lang="en-US" altLang="zh-CN" sz="2000" b="1" dirty="0">
                    <a:solidFill>
                      <a:srgbClr val="FF0000"/>
                    </a:solidFill>
                    <a:latin typeface="Calibri" panose="020F0502020204030204" pitchFamily="34" charset="0"/>
                    <a:cs typeface="Calibri" panose="020F0502020204030204" pitchFamily="34" charset="0"/>
                  </a:rPr>
                  <a:t>——</a:t>
                </a:r>
                <a:r>
                  <a:rPr lang="zh-CN" altLang="en-US" sz="2000" b="1" dirty="0">
                    <a:solidFill>
                      <a:srgbClr val="FF0000"/>
                    </a:solidFill>
                    <a:latin typeface="Calibri" panose="020F0502020204030204" pitchFamily="34" charset="0"/>
                    <a:cs typeface="Calibri" panose="020F0502020204030204" pitchFamily="34" charset="0"/>
                  </a:rPr>
                  <a:t>分组数据</a:t>
                </a:r>
                <a:endParaRPr lang="en-US" altLang="zh-CN" sz="2000" b="1" dirty="0">
                  <a:solidFill>
                    <a:srgbClr val="FF0000"/>
                  </a:solidFill>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如果原始数据被分成</a:t>
                </a:r>
                <a:r>
                  <a:rPr lang="en-US" altLang="zh-CN" sz="2000" dirty="0">
                    <a:latin typeface="Calibri" panose="020F0502020204030204" pitchFamily="34" charset="0"/>
                    <a:cs typeface="Calibri" panose="020F0502020204030204" pitchFamily="34" charset="0"/>
                  </a:rPr>
                  <a:t>k</a:t>
                </a:r>
                <a:r>
                  <a:rPr lang="zh-CN" altLang="zh-CN" sz="2000" dirty="0">
                    <a:latin typeface="Calibri" panose="020F0502020204030204" pitchFamily="34" charset="0"/>
                    <a:cs typeface="Calibri" panose="020F0502020204030204" pitchFamily="34" charset="0"/>
                  </a:rPr>
                  <a:t>组，各组的组中值分别为</a:t>
                </a:r>
                <a14:m>
                  <m:oMath xmlns:m="http://schemas.openxmlformats.org/officeDocument/2006/math">
                    <m:sSub>
                      <m:sSubPr>
                        <m:ctrlPr>
                          <a:rPr lang="zh-CN" altLang="zh-CN" sz="2000" i="1">
                            <a:latin typeface="Cambria Math" panose="02040503050406030204" pitchFamily="18" charset="0"/>
                            <a:cs typeface="Calibri" panose="020F0502020204030204" pitchFamily="34" charset="0"/>
                          </a:rPr>
                        </m:ctrlPr>
                      </m:sSubPr>
                      <m:e>
                        <m:r>
                          <a:rPr lang="en-US" altLang="zh-CN" sz="2000">
                            <a:latin typeface="Cambria Math" panose="02040503050406030204" pitchFamily="18" charset="0"/>
                            <a:cs typeface="Calibri" panose="020F0502020204030204" pitchFamily="34" charset="0"/>
                          </a:rPr>
                          <m:t>𝑚</m:t>
                        </m:r>
                      </m:e>
                      <m:sub>
                        <m:r>
                          <a:rPr lang="en-US" altLang="zh-CN" sz="2000">
                            <a:latin typeface="Cambria Math" panose="02040503050406030204" pitchFamily="18" charset="0"/>
                            <a:cs typeface="Calibri" panose="020F0502020204030204" pitchFamily="34" charset="0"/>
                          </a:rPr>
                          <m:t>1</m:t>
                        </m:r>
                      </m:sub>
                    </m:sSub>
                    <m:r>
                      <a:rPr lang="zh-CN" altLang="zh-CN" sz="2000">
                        <a:latin typeface="Cambria Math" panose="02040503050406030204" pitchFamily="18" charset="0"/>
                        <a:cs typeface="Calibri" panose="020F0502020204030204" pitchFamily="34" charset="0"/>
                      </a:rPr>
                      <m:t>，</m:t>
                    </m:r>
                    <m:sSub>
                      <m:sSubPr>
                        <m:ctrlPr>
                          <a:rPr lang="zh-CN" altLang="zh-CN" sz="2000" i="1">
                            <a:latin typeface="Cambria Math" panose="02040503050406030204" pitchFamily="18" charset="0"/>
                            <a:cs typeface="Calibri" panose="020F0502020204030204" pitchFamily="34" charset="0"/>
                          </a:rPr>
                        </m:ctrlPr>
                      </m:sSubPr>
                      <m:e>
                        <m:r>
                          <a:rPr lang="en-US" altLang="zh-CN" sz="2000">
                            <a:latin typeface="Cambria Math" panose="02040503050406030204" pitchFamily="18" charset="0"/>
                            <a:cs typeface="Calibri" panose="020F0502020204030204" pitchFamily="34" charset="0"/>
                          </a:rPr>
                          <m:t>𝑚</m:t>
                        </m:r>
                      </m:e>
                      <m:sub>
                        <m:r>
                          <a:rPr lang="en-US" altLang="zh-CN" sz="2000">
                            <a:latin typeface="Cambria Math" panose="02040503050406030204" pitchFamily="18" charset="0"/>
                            <a:cs typeface="Calibri" panose="020F0502020204030204" pitchFamily="34" charset="0"/>
                          </a:rPr>
                          <m:t>2</m:t>
                        </m:r>
                      </m:sub>
                    </m:sSub>
                    <m:r>
                      <a:rPr lang="zh-CN"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m:t>
                    </m:r>
                    <m:r>
                      <a:rPr lang="zh-CN" altLang="zh-CN" sz="2000">
                        <a:latin typeface="Cambria Math" panose="02040503050406030204" pitchFamily="18" charset="0"/>
                        <a:cs typeface="Calibri" panose="020F0502020204030204" pitchFamily="34" charset="0"/>
                      </a:rPr>
                      <m:t>，</m:t>
                    </m:r>
                    <m:sSub>
                      <m:sSubPr>
                        <m:ctrlPr>
                          <a:rPr lang="zh-CN" altLang="zh-CN" sz="2000" i="1">
                            <a:latin typeface="Cambria Math" panose="02040503050406030204" pitchFamily="18" charset="0"/>
                            <a:cs typeface="Calibri" panose="020F0502020204030204" pitchFamily="34" charset="0"/>
                          </a:rPr>
                        </m:ctrlPr>
                      </m:sSubPr>
                      <m:e>
                        <m:r>
                          <a:rPr lang="en-US" altLang="zh-CN" sz="2000">
                            <a:latin typeface="Cambria Math" panose="02040503050406030204" pitchFamily="18" charset="0"/>
                            <a:cs typeface="Calibri" panose="020F0502020204030204" pitchFamily="34" charset="0"/>
                          </a:rPr>
                          <m:t>𝑚</m:t>
                        </m:r>
                      </m:e>
                      <m:sub>
                        <m:r>
                          <a:rPr lang="en-US" altLang="zh-CN" sz="2000">
                            <a:latin typeface="Cambria Math" panose="02040503050406030204" pitchFamily="18" charset="0"/>
                            <a:cs typeface="Calibri" panose="020F0502020204030204" pitchFamily="34" charset="0"/>
                          </a:rPr>
                          <m:t>𝑘</m:t>
                        </m:r>
                      </m:sub>
                    </m:sSub>
                  </m:oMath>
                </a14:m>
                <a:r>
                  <a:rPr lang="zh-CN" altLang="zh-CN" sz="2000" dirty="0">
                    <a:latin typeface="Calibri" panose="020F0502020204030204" pitchFamily="34" charset="0"/>
                    <a:cs typeface="Calibri" panose="020F0502020204030204" pitchFamily="34" charset="0"/>
                  </a:rPr>
                  <a:t>，各组的频数分别为</a:t>
                </a:r>
                <a14:m>
                  <m:oMath xmlns:m="http://schemas.openxmlformats.org/officeDocument/2006/math">
                    <m:sSub>
                      <m:sSubPr>
                        <m:ctrlPr>
                          <a:rPr lang="zh-CN" altLang="zh-CN" sz="2000" i="1">
                            <a:latin typeface="Cambria Math" panose="02040503050406030204" pitchFamily="18" charset="0"/>
                            <a:cs typeface="Calibri" panose="020F0502020204030204" pitchFamily="34" charset="0"/>
                          </a:rPr>
                        </m:ctrlPr>
                      </m:sSubPr>
                      <m:e>
                        <m:r>
                          <a:rPr lang="en-US" altLang="zh-CN" sz="2000">
                            <a:latin typeface="Cambria Math" panose="02040503050406030204" pitchFamily="18" charset="0"/>
                            <a:cs typeface="Calibri" panose="020F0502020204030204" pitchFamily="34" charset="0"/>
                          </a:rPr>
                          <m:t>𝑓</m:t>
                        </m:r>
                      </m:e>
                      <m:sub>
                        <m:r>
                          <a:rPr lang="en-US" altLang="zh-CN" sz="2000">
                            <a:latin typeface="Cambria Math" panose="02040503050406030204" pitchFamily="18" charset="0"/>
                            <a:cs typeface="Calibri" panose="020F0502020204030204" pitchFamily="34" charset="0"/>
                          </a:rPr>
                          <m:t>1</m:t>
                        </m:r>
                      </m:sub>
                    </m:sSub>
                    <m:r>
                      <a:rPr lang="zh-CN" altLang="zh-CN" sz="2000">
                        <a:latin typeface="Cambria Math" panose="02040503050406030204" pitchFamily="18" charset="0"/>
                        <a:cs typeface="Calibri" panose="020F0502020204030204" pitchFamily="34" charset="0"/>
                      </a:rPr>
                      <m:t>，</m:t>
                    </m:r>
                    <m:sSub>
                      <m:sSubPr>
                        <m:ctrlPr>
                          <a:rPr lang="zh-CN" altLang="zh-CN" sz="2000" i="1">
                            <a:latin typeface="Cambria Math" panose="02040503050406030204" pitchFamily="18" charset="0"/>
                            <a:cs typeface="Calibri" panose="020F0502020204030204" pitchFamily="34" charset="0"/>
                          </a:rPr>
                        </m:ctrlPr>
                      </m:sSubPr>
                      <m:e>
                        <m:r>
                          <a:rPr lang="en-US" altLang="zh-CN" sz="2000">
                            <a:latin typeface="Cambria Math" panose="02040503050406030204" pitchFamily="18" charset="0"/>
                            <a:cs typeface="Calibri" panose="020F0502020204030204" pitchFamily="34" charset="0"/>
                          </a:rPr>
                          <m:t>𝑓</m:t>
                        </m:r>
                      </m:e>
                      <m:sub>
                        <m:r>
                          <a:rPr lang="en-US" altLang="zh-CN" sz="2000">
                            <a:latin typeface="Cambria Math" panose="02040503050406030204" pitchFamily="18" charset="0"/>
                            <a:cs typeface="Calibri" panose="020F0502020204030204" pitchFamily="34" charset="0"/>
                          </a:rPr>
                          <m:t>2</m:t>
                        </m:r>
                      </m:sub>
                    </m:sSub>
                    <m:r>
                      <a:rPr lang="zh-CN"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m:t>
                    </m:r>
                    <m:r>
                      <a:rPr lang="zh-CN" altLang="zh-CN" sz="2000">
                        <a:latin typeface="Cambria Math" panose="02040503050406030204" pitchFamily="18" charset="0"/>
                        <a:cs typeface="Calibri" panose="020F0502020204030204" pitchFamily="34" charset="0"/>
                      </a:rPr>
                      <m:t>，</m:t>
                    </m:r>
                    <m:sSub>
                      <m:sSubPr>
                        <m:ctrlPr>
                          <a:rPr lang="zh-CN" altLang="zh-CN" sz="2000" i="1">
                            <a:latin typeface="Cambria Math" panose="02040503050406030204" pitchFamily="18" charset="0"/>
                            <a:cs typeface="Calibri" panose="020F0502020204030204" pitchFamily="34" charset="0"/>
                          </a:rPr>
                        </m:ctrlPr>
                      </m:sSubPr>
                      <m:e>
                        <m:r>
                          <a:rPr lang="en-US" altLang="zh-CN" sz="2000">
                            <a:latin typeface="Cambria Math" panose="02040503050406030204" pitchFamily="18" charset="0"/>
                            <a:cs typeface="Calibri" panose="020F0502020204030204" pitchFamily="34" charset="0"/>
                          </a:rPr>
                          <m:t>𝑓</m:t>
                        </m:r>
                      </m:e>
                      <m:sub>
                        <m:r>
                          <a:rPr lang="en-US" altLang="zh-CN" sz="2000">
                            <a:latin typeface="Cambria Math" panose="02040503050406030204" pitchFamily="18" charset="0"/>
                            <a:cs typeface="Calibri" panose="020F0502020204030204" pitchFamily="34" charset="0"/>
                          </a:rPr>
                          <m:t>𝑘</m:t>
                        </m:r>
                      </m:sub>
                    </m:sSub>
                  </m:oMath>
                </a14:m>
                <a:r>
                  <a:rPr lang="zh-CN" altLang="zh-CN" sz="2000" dirty="0">
                    <a:latin typeface="Calibri" panose="020F0502020204030204" pitchFamily="34" charset="0"/>
                    <a:cs typeface="Calibri" panose="020F0502020204030204" pitchFamily="34" charset="0"/>
                  </a:rPr>
                  <a:t>，则加权样本方差的计算公式为：</a:t>
                </a:r>
                <a:endParaRPr lang="zh-CN" altLang="zh-CN" sz="2000" dirty="0">
                  <a:latin typeface="Calibri" panose="020F0502020204030204" pitchFamily="34" charset="0"/>
                  <a:cs typeface="Calibri" panose="020F0502020204030204" pitchFamily="34" charset="0"/>
                </a:endParaRPr>
              </a:p>
              <a:p>
                <a:pPr marL="0" indent="0" algn="just">
                  <a:buNone/>
                </a:pPr>
                <a14:m>
                  <m:oMathPara xmlns:m="http://schemas.openxmlformats.org/officeDocument/2006/math">
                    <m:oMathParaPr>
                      <m:jc m:val="centerGroup"/>
                    </m:oMathParaPr>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𝑠</m:t>
                          </m:r>
                        </m:e>
                        <m:sup>
                          <m:r>
                            <a:rPr lang="en-US" altLang="zh-CN" sz="2000" i="1">
                              <a:latin typeface="Cambria Math" panose="02040503050406030204" pitchFamily="18" charset="0"/>
                            </a:rPr>
                            <m:t>2</m:t>
                          </m:r>
                        </m:sup>
                      </m:sSup>
                      <m:r>
                        <a:rPr lang="en-US" altLang="zh-CN" sz="2000" i="1">
                          <a:latin typeface="Cambria Math" panose="02040503050406030204" pitchFamily="18" charset="0"/>
                        </a:rPr>
                        <m:t>=</m:t>
                      </m:r>
                      <m:f>
                        <m:fPr>
                          <m:ctrlPr>
                            <a:rPr lang="zh-CN" altLang="zh-CN" sz="2000" i="1">
                              <a:latin typeface="Cambria Math" panose="02040503050406030204" pitchFamily="18" charset="0"/>
                            </a:rPr>
                          </m:ctrlPr>
                        </m:fPr>
                        <m:num>
                          <m:nary>
                            <m:naryPr>
                              <m:chr m:val="∑"/>
                              <m:ctrlPr>
                                <a:rPr lang="zh-CN"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m:t>
                              </m:r>
                              <m:r>
                                <a:rPr lang="en-US" altLang="zh-CN" sz="2000" i="1">
                                  <a:latin typeface="Cambria Math" panose="02040503050406030204" pitchFamily="18" charset="0"/>
                                </a:rPr>
                                <m:t>1</m:t>
                              </m:r>
                            </m:sub>
                            <m:sup>
                              <m:r>
                                <a:rPr lang="en-US" altLang="zh-CN" sz="2000" i="1">
                                  <a:latin typeface="Cambria Math" panose="02040503050406030204" pitchFamily="18" charset="0"/>
                                </a:rPr>
                                <m:t>𝑘</m:t>
                              </m:r>
                            </m:sup>
                            <m:e>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e>
                                <m:sup>
                                  <m:r>
                                    <a:rPr lang="en-US" altLang="zh-CN" sz="2000" i="1">
                                      <a:latin typeface="Cambria Math" panose="02040503050406030204" pitchFamily="18" charset="0"/>
                                    </a:rPr>
                                    <m:t>2</m:t>
                                  </m:r>
                                </m:sup>
                              </m:sSup>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𝑓</m:t>
                                  </m:r>
                                </m:e>
                                <m:sub>
                                  <m:r>
                                    <a:rPr lang="en-US" altLang="zh-CN" sz="2000" i="1">
                                      <a:latin typeface="Cambria Math" panose="02040503050406030204" pitchFamily="18" charset="0"/>
                                    </a:rPr>
                                    <m:t>𝑖</m:t>
                                  </m:r>
                                </m:sub>
                              </m:sSub>
                            </m:e>
                          </m:nary>
                        </m:num>
                        <m:den>
                          <m:r>
                            <a:rPr lang="en-US" altLang="zh-CN" sz="2000" i="1">
                              <a:latin typeface="Cambria Math" panose="02040503050406030204" pitchFamily="18" charset="0"/>
                            </a:rPr>
                            <m:t>𝑛</m:t>
                          </m:r>
                          <m:r>
                            <a:rPr lang="en-US" altLang="zh-CN" sz="2000" i="1">
                              <a:latin typeface="Cambria Math" panose="02040503050406030204" pitchFamily="18" charset="0"/>
                            </a:rPr>
                            <m:t>−</m:t>
                          </m:r>
                          <m:r>
                            <a:rPr lang="en-US" altLang="zh-CN" sz="2000" i="1">
                              <a:latin typeface="Cambria Math" panose="02040503050406030204" pitchFamily="18" charset="0"/>
                            </a:rPr>
                            <m:t>1</m:t>
                          </m:r>
                        </m:den>
                      </m:f>
                    </m:oMath>
                  </m:oMathPara>
                </a14:m>
                <a:endParaRPr lang="zh-CN" altLang="zh-CN" sz="2000" dirty="0"/>
              </a:p>
              <a:p>
                <a:pPr marL="447675" indent="-447675" algn="just">
                  <a:lnSpc>
                    <a:spcPct val="150000"/>
                  </a:lnSpc>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加权样本标准差的计算公式为</a:t>
                </a:r>
                <a:endParaRPr lang="zh-CN" altLang="zh-CN" sz="2000" dirty="0">
                  <a:latin typeface="Calibri" panose="020F0502020204030204" pitchFamily="34" charset="0"/>
                  <a:cs typeface="Calibri" panose="020F050202020403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𝑠</m:t>
                      </m:r>
                      <m:r>
                        <a:rPr lang="en-US" altLang="zh-CN" sz="2000" i="1">
                          <a:latin typeface="Cambria Math" panose="02040503050406030204" pitchFamily="18" charset="0"/>
                        </a:rPr>
                        <m:t>=</m:t>
                      </m:r>
                      <m:rad>
                        <m:radPr>
                          <m:degHide m:val="on"/>
                          <m:ctrlPr>
                            <a:rPr lang="zh-CN" altLang="zh-CN" sz="2000" i="1">
                              <a:latin typeface="Cambria Math" panose="02040503050406030204" pitchFamily="18" charset="0"/>
                            </a:rPr>
                          </m:ctrlPr>
                        </m:radPr>
                        <m:deg/>
                        <m:e>
                          <m:f>
                            <m:fPr>
                              <m:ctrlPr>
                                <a:rPr lang="zh-CN" altLang="zh-CN" sz="2000" i="1">
                                  <a:latin typeface="Cambria Math" panose="02040503050406030204" pitchFamily="18" charset="0"/>
                                </a:rPr>
                              </m:ctrlPr>
                            </m:fPr>
                            <m:num>
                              <m:nary>
                                <m:naryPr>
                                  <m:chr m:val="∑"/>
                                  <m:ctrlPr>
                                    <a:rPr lang="zh-CN"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m:t>
                                  </m:r>
                                  <m:r>
                                    <a:rPr lang="en-US" altLang="zh-CN" sz="2000" i="1">
                                      <a:latin typeface="Cambria Math" panose="02040503050406030204" pitchFamily="18" charset="0"/>
                                    </a:rPr>
                                    <m:t>1</m:t>
                                  </m:r>
                                </m:sub>
                                <m:sup>
                                  <m:r>
                                    <a:rPr lang="en-US" altLang="zh-CN" sz="2000" i="1">
                                      <a:latin typeface="Cambria Math" panose="02040503050406030204" pitchFamily="18" charset="0"/>
                                    </a:rPr>
                                    <m:t>𝑘</m:t>
                                  </m:r>
                                </m:sup>
                                <m:e>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𝑚</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e>
                                    <m:sup>
                                      <m:r>
                                        <a:rPr lang="en-US" altLang="zh-CN" sz="2000" i="1">
                                          <a:latin typeface="Cambria Math" panose="02040503050406030204" pitchFamily="18" charset="0"/>
                                        </a:rPr>
                                        <m:t>2</m:t>
                                      </m:r>
                                    </m:sup>
                                  </m:sSup>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𝑓</m:t>
                                      </m:r>
                                    </m:e>
                                    <m:sub>
                                      <m:r>
                                        <a:rPr lang="en-US" altLang="zh-CN" sz="2000" i="1">
                                          <a:latin typeface="Cambria Math" panose="02040503050406030204" pitchFamily="18" charset="0"/>
                                        </a:rPr>
                                        <m:t>𝑖</m:t>
                                      </m:r>
                                    </m:sub>
                                  </m:sSub>
                                </m:e>
                              </m:nary>
                            </m:num>
                            <m:den>
                              <m:r>
                                <a:rPr lang="en-US" altLang="zh-CN" sz="2000" i="1">
                                  <a:latin typeface="Cambria Math" panose="02040503050406030204" pitchFamily="18" charset="0"/>
                                </a:rPr>
                                <m:t>𝑛</m:t>
                              </m:r>
                              <m:r>
                                <a:rPr lang="en-US" altLang="zh-CN" sz="2000" i="1">
                                  <a:latin typeface="Cambria Math" panose="02040503050406030204" pitchFamily="18" charset="0"/>
                                </a:rPr>
                                <m:t>−</m:t>
                              </m:r>
                              <m:r>
                                <a:rPr lang="en-US" altLang="zh-CN" sz="2000" i="1">
                                  <a:latin typeface="Cambria Math" panose="02040503050406030204" pitchFamily="18" charset="0"/>
                                </a:rPr>
                                <m:t>1</m:t>
                              </m:r>
                            </m:den>
                          </m:f>
                        </m:e>
                      </m:rad>
                    </m:oMath>
                  </m:oMathPara>
                </a14:m>
                <a:endParaRPr lang="zh-CN" altLang="zh-CN" sz="2000" dirty="0"/>
              </a:p>
            </p:txBody>
          </p:sp>
        </mc:Choice>
        <mc:Fallback>
          <p:sp>
            <p:nvSpPr>
              <p:cNvPr id="5" name="Content Placeholder 8"/>
              <p:cNvSpPr txBox="1">
                <a:spLocks noRot="1" noChangeAspect="1" noMove="1" noResize="1" noEditPoints="1" noAdjustHandles="1" noChangeArrowheads="1" noChangeShapeType="1" noTextEdit="1"/>
              </p:cNvSpPr>
              <p:nvPr/>
            </p:nvSpPr>
            <p:spPr>
              <a:xfrm>
                <a:off x="6240016" y="1556792"/>
                <a:ext cx="5328592" cy="4680520"/>
              </a:xfrm>
              <a:prstGeom prst="rect">
                <a:avLst/>
              </a:prstGeom>
              <a:blipFill rotWithShape="1">
                <a:blip r:embed="rId2"/>
                <a:stretch>
                  <a:fillRect l="-129" t="-144" r="-116" b="-128"/>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离散程度的度量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5328592" cy="4680520"/>
              </a:xfrm>
              <a:ln w="12700" cmpd="dbl">
                <a:solidFill>
                  <a:schemeClr val="accent1"/>
                </a:solidFill>
              </a:ln>
            </p:spPr>
            <p:txBody>
              <a:bodyPr>
                <a:noAutofit/>
              </a:bodyPr>
              <a:lstStyle/>
              <a:p>
                <a:pPr marL="0" indent="0" algn="just">
                  <a:lnSpc>
                    <a:spcPct val="15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4.6</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沿用例</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。计算</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30</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个人网购金额的方差和标准差。</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r>
                  <a:rPr lang="zh-CN" altLang="zh-CN" sz="1800" b="1" dirty="0">
                    <a:solidFill>
                      <a:srgbClr val="FF0000"/>
                    </a:solidFill>
                    <a:latin typeface="Calibri" panose="020F0502020204030204" pitchFamily="34" charset="0"/>
                    <a:cs typeface="Calibri" panose="020F0502020204030204" pitchFamily="34" charset="0"/>
                  </a:rPr>
                  <a:t>解：</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18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4.11</a:t>
                </a:r>
                <a:r>
                  <a:rPr lang="zh-CN"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14:m>
                  <m:oMathPara xmlns:m="http://schemas.openxmlformats.org/officeDocument/2006/math">
                    <m:oMathParaPr>
                      <m:jc m:val="centerGroup"/>
                    </m:oMathParaPr>
                    <m:oMath xmlns:m="http://schemas.openxmlformats.org/officeDocument/2006/math">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e>
                        <m: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d>
                                <m:d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429</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488</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95</m:t>
                                  </m:r>
                                </m:e>
                              </m:d>
                            </m:e>
                            <m: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d>
                                <m:d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625</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488</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95</m:t>
                                  </m:r>
                                </m:e>
                              </m:d>
                            </m:e>
                            <m: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den>
                      </m:f>
                      <m:r>
                        <a:rPr lang="en-US" altLang="zh-CN" sz="18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9529</m:t>
                      </m:r>
                      <m:r>
                        <a:rPr lang="en-US" altLang="zh-CN" sz="18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m:t>
                      </m:r>
                      <m:r>
                        <a:rPr lang="en-US" altLang="zh-CN" sz="18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6812</m:t>
                      </m:r>
                    </m:oMath>
                  </m:oMathPara>
                </a14:m>
                <a:endParaRPr lang="zh-CN" altLang="zh-CN" sz="1800" dirty="0">
                  <a:solidFill>
                    <a:srgbClr val="000000"/>
                  </a:solidFill>
                  <a:effectLst/>
                  <a:latin typeface="NEU-BZ-S92"/>
                  <a:ea typeface="方正书宋_GBK" panose="02000000000000000000" charset="-122"/>
                  <a:cs typeface="Times New Roman" panose="02020603050405020304" pitchFamily="18" charset="0"/>
                </a:endParaRPr>
              </a:p>
              <a:p>
                <a:pPr marL="0" indent="0">
                  <a:lnSpc>
                    <a:spcPct val="150000"/>
                  </a:lnSpc>
                  <a:buNone/>
                </a:pP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标准差为：</a:t>
                </a:r>
                <a14:m>
                  <m:oMath xmlns:m="http://schemas.openxmlformats.org/officeDocument/2006/math">
                    <m:rad>
                      <m:radPr>
                        <m:degHide m:val="on"/>
                        <m:ctrlPr>
                          <a:rPr lang="zh-CN" altLang="zh-CN" sz="1800" i="1">
                            <a:effectLst/>
                            <a:latin typeface="Cambria Math" panose="02040503050406030204" pitchFamily="18" charset="0"/>
                            <a:ea typeface="Cambria Math" panose="02040503050406030204" pitchFamily="18" charset="0"/>
                            <a:cs typeface="Calibri" panose="020F0502020204030204" pitchFamily="34" charset="0"/>
                          </a:rPr>
                        </m:ctrlPr>
                      </m:radPr>
                      <m:deg/>
                      <m:e>
                        <m:r>
                          <a:rPr lang="en-US" altLang="zh-CN" sz="1800">
                            <a:effectLst/>
                            <a:latin typeface="Cambria Math" panose="02040503050406030204" pitchFamily="18" charset="0"/>
                            <a:ea typeface="等线" panose="02010600030101010101" pitchFamily="2" charset="-122"/>
                            <a:cs typeface="宋体" panose="02010600030101010101" pitchFamily="2" charset="-122"/>
                          </a:rPr>
                          <m:t>9529</m:t>
                        </m:r>
                        <m:r>
                          <a:rPr lang="en-US" altLang="zh-CN" sz="1800">
                            <a:effectLst/>
                            <a:latin typeface="Cambria Math" panose="02040503050406030204" pitchFamily="18" charset="0"/>
                            <a:ea typeface="等线" panose="02010600030101010101" pitchFamily="2" charset="-122"/>
                            <a:cs typeface="宋体" panose="02010600030101010101" pitchFamily="2" charset="-122"/>
                          </a:rPr>
                          <m:t>.</m:t>
                        </m:r>
                        <m:r>
                          <a:rPr lang="en-US" altLang="zh-CN" sz="1800">
                            <a:effectLst/>
                            <a:latin typeface="Cambria Math" panose="02040503050406030204" pitchFamily="18" charset="0"/>
                            <a:ea typeface="等线" panose="02010600030101010101" pitchFamily="2" charset="-122"/>
                            <a:cs typeface="宋体" panose="02010600030101010101" pitchFamily="2" charset="-122"/>
                          </a:rPr>
                          <m:t>6812</m:t>
                        </m:r>
                      </m:e>
                    </m:rad>
                    <m:r>
                      <a:rPr lang="en-US" altLang="zh-CN" sz="1800">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effectLst/>
                        <a:latin typeface="Cambria Math" panose="02040503050406030204" pitchFamily="18" charset="0"/>
                        <a:ea typeface="华文细黑" panose="02010600040101010101" pitchFamily="2" charset="-122"/>
                        <a:cs typeface="Calibri" panose="020F0502020204030204" pitchFamily="34" charset="0"/>
                      </a:rPr>
                      <m:t>97</m:t>
                    </m:r>
                    <m:r>
                      <a:rPr lang="en-US" altLang="zh-CN" sz="1800">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a:effectLst/>
                        <a:latin typeface="Cambria Math" panose="02040503050406030204" pitchFamily="18" charset="0"/>
                        <a:ea typeface="华文细黑" panose="02010600040101010101" pitchFamily="2" charset="-122"/>
                        <a:cs typeface="Calibri" panose="020F0502020204030204" pitchFamily="34" charset="0"/>
                      </a:rPr>
                      <m:t>62</m:t>
                    </m:r>
                  </m:oMath>
                </a14:m>
                <a:endParaRPr lang="zh-CN" altLang="zh-CN" sz="1800" dirty="0"/>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5328592" cy="4680520"/>
              </a:xfrm>
              <a:blipFill rotWithShape="1">
                <a:blip r:embed="rId1"/>
                <a:stretch>
                  <a:fillRect l="-121" t="-144" r="-112"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方差和标准差</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Content Placeholder 8"/>
          <p:cNvSpPr txBox="1"/>
          <p:nvPr/>
        </p:nvSpPr>
        <p:spPr>
          <a:xfrm>
            <a:off x="6168010" y="1556792"/>
            <a:ext cx="5400598"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None/>
            </a:pP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1800" b="1" dirty="0">
                <a:solidFill>
                  <a:srgbClr val="FF0000"/>
                </a:solidFill>
                <a:effectLst/>
                <a:latin typeface="Calibri" panose="020F0502020204030204" pitchFamily="34" charset="0"/>
                <a:ea typeface="华文细黑" panose="02010600040101010101" pitchFamily="2" charset="-122"/>
              </a:rPr>
              <a:t>4.7</a:t>
            </a:r>
            <a:r>
              <a:rPr lang="zh-CN" altLang="zh-CN" sz="18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沿用例</a:t>
            </a:r>
            <a:r>
              <a:rPr lang="en-US" altLang="zh-CN" sz="1800" dirty="0">
                <a:effectLst/>
                <a:latin typeface="Calibri" panose="020F0502020204030204" pitchFamily="34" charset="0"/>
                <a:ea typeface="华文细黑" panose="02010600040101010101" pitchFamily="2" charset="-122"/>
              </a:rPr>
              <a:t>4.2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。根据表</a:t>
            </a:r>
            <a:r>
              <a:rPr lang="en-US" altLang="zh-CN" sz="1800" dirty="0">
                <a:effectLst/>
                <a:latin typeface="Calibri" panose="020F0502020204030204" pitchFamily="34" charset="0"/>
                <a:ea typeface="华文细黑" panose="02010600040101010101" pitchFamily="2" charset="-122"/>
              </a:rPr>
              <a:t>4-2</a:t>
            </a:r>
            <a:r>
              <a:rPr lang="zh-CN" altLang="zh-CN" sz="1800" dirty="0">
                <a:effectLst/>
                <a:latin typeface="Calibri" panose="020F0502020204030204" pitchFamily="34" charset="0"/>
                <a:ea typeface="华文细黑" panose="02010600040101010101" pitchFamily="2" charset="-122"/>
                <a:cs typeface="Calibri" panose="020F0502020204030204" pitchFamily="34" charset="0"/>
              </a:rPr>
              <a:t>的分组数据，计算网购金额的标准差</a:t>
            </a:r>
            <a:endParaRPr lang="zh-CN" altLang="zh-CN" sz="2000" dirty="0"/>
          </a:p>
        </p:txBody>
      </p:sp>
      <p:graphicFrame>
        <p:nvGraphicFramePr>
          <p:cNvPr id="3" name="表格 2"/>
          <p:cNvGraphicFramePr>
            <a:graphicFrameLocks noGrp="1"/>
          </p:cNvGraphicFramePr>
          <p:nvPr/>
        </p:nvGraphicFramePr>
        <p:xfrm>
          <a:off x="6384032" y="2461678"/>
          <a:ext cx="4968554" cy="2119694"/>
        </p:xfrm>
        <a:graphic>
          <a:graphicData uri="http://schemas.openxmlformats.org/drawingml/2006/table">
            <a:tbl>
              <a:tblPr firstRow="1" firstCol="1" bandRow="1">
                <a:tableStyleId>{5C22544A-7EE6-4342-B048-85BDC9FD1C3A}</a:tableStyleId>
              </a:tblPr>
              <a:tblGrid>
                <a:gridCol w="993126"/>
                <a:gridCol w="993857"/>
                <a:gridCol w="993857"/>
                <a:gridCol w="993857"/>
                <a:gridCol w="993857"/>
              </a:tblGrid>
              <a:tr h="386080">
                <a:tc>
                  <a:txBody>
                    <a:bodyPr/>
                    <a:lstStyle/>
                    <a:p>
                      <a:pPr algn="ctr">
                        <a:lnSpc>
                          <a:spcPts val="1635"/>
                        </a:lnSpc>
                      </a:pPr>
                      <a:r>
                        <a:rPr lang="zh-CN" sz="1200" b="1">
                          <a:effectLst/>
                        </a:rPr>
                        <a:t>营业额分组</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endParaRPr lang="zh-CN"/>
                    </a:p>
                  </a:txBody>
                  <a:tcPr marL="68580" marR="68580" marT="0" marB="0" anchor="ctr">
                    <a:blipFill>
                      <a:blip r:embed="rId2"/>
                      <a:stretch>
                        <a:fillRect l="-100613" t="-1563" r="-303067" b="-468750"/>
                      </a:stretch>
                    </a:blipFill>
                  </a:tcPr>
                </a:tc>
                <a:tc>
                  <a:txBody>
                    <a:bodyPr/>
                    <a:lstStyle/>
                    <a:p>
                      <a:endParaRPr lang="zh-CN"/>
                    </a:p>
                  </a:txBody>
                  <a:tcPr marL="68580" marR="68580" marT="0" marB="0" anchor="ctr">
                    <a:blipFill>
                      <a:blip r:embed="rId2"/>
                      <a:stretch>
                        <a:fillRect l="-199390" t="-1563" r="-201220" b="-468750"/>
                      </a:stretch>
                    </a:blipFill>
                  </a:tcPr>
                </a:tc>
                <a:tc>
                  <a:txBody>
                    <a:bodyPr/>
                    <a:lstStyle/>
                    <a:p>
                      <a:endParaRPr lang="zh-CN"/>
                    </a:p>
                  </a:txBody>
                  <a:tcPr marL="68580" marR="68580" marT="0" marB="0" anchor="ctr">
                    <a:blipFill>
                      <a:blip r:embed="rId2"/>
                      <a:stretch>
                        <a:fillRect l="-301227" t="-1563" r="-102454" b="-468750"/>
                      </a:stretch>
                    </a:blipFill>
                  </a:tcPr>
                </a:tc>
                <a:tc>
                  <a:txBody>
                    <a:bodyPr/>
                    <a:lstStyle/>
                    <a:p>
                      <a:endParaRPr lang="zh-CN"/>
                    </a:p>
                  </a:txBody>
                  <a:tcPr marL="68580" marR="68580" marT="0" marB="0" anchor="ctr">
                    <a:blipFill>
                      <a:blip r:embed="rId2"/>
                      <a:stretch>
                        <a:fillRect l="-401227" t="-1563" r="-2454" b="-468750"/>
                      </a:stretch>
                    </a:blipFill>
                  </a:tcPr>
                </a:tc>
              </a:tr>
              <a:tr h="192405">
                <a:tc>
                  <a:txBody>
                    <a:bodyPr/>
                    <a:lstStyle/>
                    <a:p>
                      <a:pPr algn="ctr">
                        <a:lnSpc>
                          <a:spcPts val="1635"/>
                        </a:lnSpc>
                      </a:pPr>
                      <a:r>
                        <a:rPr lang="en-US" sz="1200" b="1">
                          <a:effectLst/>
                        </a:rPr>
                        <a:t>300~350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325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2</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26676.69</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53353.38</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192405">
                <a:tc>
                  <a:txBody>
                    <a:bodyPr/>
                    <a:lstStyle/>
                    <a:p>
                      <a:pPr algn="ctr">
                        <a:lnSpc>
                          <a:spcPts val="1635"/>
                        </a:lnSpc>
                      </a:pPr>
                      <a:r>
                        <a:rPr lang="en-US" sz="1200" b="1">
                          <a:effectLst/>
                        </a:rPr>
                        <a:t>350~400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375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4</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12843.69</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51374.76</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192405">
                <a:tc>
                  <a:txBody>
                    <a:bodyPr/>
                    <a:lstStyle/>
                    <a:p>
                      <a:pPr algn="ctr">
                        <a:lnSpc>
                          <a:spcPts val="1635"/>
                        </a:lnSpc>
                      </a:pPr>
                      <a:r>
                        <a:rPr lang="en-US" sz="1200" b="1">
                          <a:effectLst/>
                        </a:rPr>
                        <a:t>400~450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425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6</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4010.69</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24064.13</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192405">
                <a:tc>
                  <a:txBody>
                    <a:bodyPr/>
                    <a:lstStyle/>
                    <a:p>
                      <a:pPr algn="ctr">
                        <a:lnSpc>
                          <a:spcPts val="1635"/>
                        </a:lnSpc>
                      </a:pPr>
                      <a:r>
                        <a:rPr lang="en-US" sz="1200" b="1">
                          <a:effectLst/>
                        </a:rPr>
                        <a:t>450~500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475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177.69</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888.44</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192405">
                <a:tc>
                  <a:txBody>
                    <a:bodyPr/>
                    <a:lstStyle/>
                    <a:p>
                      <a:pPr algn="ctr">
                        <a:lnSpc>
                          <a:spcPts val="1635"/>
                        </a:lnSpc>
                      </a:pPr>
                      <a:r>
                        <a:rPr lang="en-US" sz="1200" b="1">
                          <a:effectLst/>
                        </a:rPr>
                        <a:t>500~550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525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6</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1344.69</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8068.13</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192405">
                <a:tc>
                  <a:txBody>
                    <a:bodyPr/>
                    <a:lstStyle/>
                    <a:p>
                      <a:pPr algn="ctr">
                        <a:lnSpc>
                          <a:spcPts val="1635"/>
                        </a:lnSpc>
                      </a:pPr>
                      <a:r>
                        <a:rPr lang="en-US" sz="1200" b="1">
                          <a:effectLst/>
                        </a:rPr>
                        <a:t>550~600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575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2</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7511.69</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15023.38</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192405">
                <a:tc>
                  <a:txBody>
                    <a:bodyPr/>
                    <a:lstStyle/>
                    <a:p>
                      <a:pPr algn="ctr">
                        <a:lnSpc>
                          <a:spcPts val="1635"/>
                        </a:lnSpc>
                      </a:pPr>
                      <a:r>
                        <a:rPr lang="en-US" sz="1200" b="1">
                          <a:effectLst/>
                        </a:rPr>
                        <a:t>600~650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625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2</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18678.69</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37357.38</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192405">
                <a:tc>
                  <a:txBody>
                    <a:bodyPr/>
                    <a:lstStyle/>
                    <a:p>
                      <a:pPr algn="ctr">
                        <a:lnSpc>
                          <a:spcPts val="1635"/>
                        </a:lnSpc>
                      </a:pPr>
                      <a:r>
                        <a:rPr lang="en-US" sz="1200" b="1">
                          <a:effectLst/>
                        </a:rPr>
                        <a:t>650~700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675</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3</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34845.69</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104537.07</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194374">
                <a:tc>
                  <a:txBody>
                    <a:bodyPr/>
                    <a:lstStyle/>
                    <a:p>
                      <a:pPr algn="ctr">
                        <a:lnSpc>
                          <a:spcPts val="1635"/>
                        </a:lnSpc>
                      </a:pPr>
                      <a:r>
                        <a:rPr lang="zh-CN" sz="1200" b="1">
                          <a:effectLst/>
                        </a:rPr>
                        <a:t>合计</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zh-CN" sz="1200" b="1">
                          <a:effectLst/>
                        </a:rPr>
                        <a:t>—</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30.00</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a:effectLst/>
                        </a:rPr>
                        <a:t>106089.51</a:t>
                      </a:r>
                      <a:endParaRPr lang="zh-CN" sz="12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200" b="1" dirty="0">
                          <a:effectLst/>
                        </a:rPr>
                        <a:t>294666.67</a:t>
                      </a:r>
                      <a:endParaRPr lang="zh-CN" sz="1200" b="1" dirty="0">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bl>
          </a:graphicData>
        </a:graphic>
      </p:graphicFrame>
      <mc:AlternateContent xmlns:mc="http://schemas.openxmlformats.org/markup-compatibility/2006">
        <mc:Choice xmlns:a14="http://schemas.microsoft.com/office/drawing/2010/main" Requires="a14">
          <p:sp>
            <p:nvSpPr>
              <p:cNvPr id="10" name="文本框 9"/>
              <p:cNvSpPr txBox="1"/>
              <p:nvPr/>
            </p:nvSpPr>
            <p:spPr>
              <a:xfrm>
                <a:off x="6528048" y="4980107"/>
                <a:ext cx="4824538" cy="757836"/>
              </a:xfrm>
              <a:prstGeom prst="rect">
                <a:avLst/>
              </a:prstGeom>
              <a:noFill/>
            </p:spPr>
            <p:txBody>
              <a:bodyPr wrap="square">
                <a:spAutoFit/>
              </a:bodyPr>
              <a:lstStyle/>
              <a:p>
                <a:r>
                  <a:rPr lang="en-US" altLang="zh-CN" sz="2000" dirty="0"/>
                  <a:t>s</a:t>
                </a:r>
                <a14:m>
                  <m:oMath xmlns:m="http://schemas.openxmlformats.org/officeDocument/2006/math">
                    <m:r>
                      <a:rPr lang="zh-CN" altLang="en-US" sz="2000" smtClean="0">
                        <a:latin typeface="Cambria Math" panose="02040503050406030204" pitchFamily="18" charset="0"/>
                      </a:rPr>
                      <m:t>=</m:t>
                    </m:r>
                    <m:rad>
                      <m:radPr>
                        <m:degHide m:val="on"/>
                        <m:ctrlPr>
                          <a:rPr lang="zh-CN" altLang="en-US" sz="2000" i="1">
                            <a:solidFill>
                              <a:srgbClr val="836967"/>
                            </a:solidFill>
                            <a:latin typeface="Cambria Math" panose="02040503050406030204" pitchFamily="18" charset="0"/>
                          </a:rPr>
                        </m:ctrlPr>
                      </m:radPr>
                      <m:deg/>
                      <m:e>
                        <m:f>
                          <m:fPr>
                            <m:ctrlPr>
                              <a:rPr lang="zh-CN" altLang="en-US" sz="2000" i="1">
                                <a:solidFill>
                                  <a:srgbClr val="836967"/>
                                </a:solidFill>
                                <a:latin typeface="Cambria Math" panose="02040503050406030204" pitchFamily="18" charset="0"/>
                              </a:rPr>
                            </m:ctrlPr>
                          </m:fPr>
                          <m:num>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m:t>
                                </m:r>
                                <m:r>
                                  <a:rPr lang="zh-CN" altLang="en-US" sz="2000" i="0">
                                    <a:latin typeface="Cambria Math" panose="02040503050406030204" pitchFamily="18" charset="0"/>
                                  </a:rPr>
                                  <m:t>1</m:t>
                                </m:r>
                              </m:sub>
                              <m:sup>
                                <m:r>
                                  <a:rPr lang="zh-CN" altLang="en-US" sz="2000" i="1">
                                    <a:latin typeface="Cambria Math" panose="02040503050406030204" pitchFamily="18" charset="0"/>
                                  </a:rPr>
                                  <m:t>𝑘</m:t>
                                </m:r>
                              </m:sup>
                              <m:e>
                                <m:sSup>
                                  <m:sSupPr>
                                    <m:ctrlPr>
                                      <a:rPr lang="zh-CN" altLang="en-US" sz="2000" i="1">
                                        <a:solidFill>
                                          <a:srgbClr val="836967"/>
                                        </a:solidFill>
                                        <a:latin typeface="Cambria Math" panose="02040503050406030204" pitchFamily="18" charset="0"/>
                                      </a:rPr>
                                    </m:ctrlPr>
                                  </m:sSupPr>
                                  <m:e>
                                    <m:d>
                                      <m:dPr>
                                        <m:ctrlPr>
                                          <a:rPr lang="zh-CN" altLang="en-US" sz="2000" i="1">
                                            <a:solidFill>
                                              <a:srgbClr val="836967"/>
                                            </a:solidFill>
                                            <a:latin typeface="Cambria Math" panose="02040503050406030204" pitchFamily="18" charset="0"/>
                                          </a:rPr>
                                        </m:ctrlPr>
                                      </m:dPr>
                                      <m:e>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𝑚</m:t>
                                            </m:r>
                                          </m:e>
                                          <m:sub>
                                            <m:r>
                                              <a:rPr lang="zh-CN" altLang="en-US" sz="2000" i="1">
                                                <a:latin typeface="Cambria Math" panose="02040503050406030204" pitchFamily="18" charset="0"/>
                                              </a:rPr>
                                              <m:t>𝑖</m:t>
                                            </m:r>
                                          </m:sub>
                                        </m:sSub>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𝑥</m:t>
                                            </m:r>
                                          </m:e>
                                        </m:acc>
                                      </m:e>
                                    </m:d>
                                  </m:e>
                                  <m:sup>
                                    <m:r>
                                      <a:rPr lang="zh-CN" altLang="en-US" sz="2000" i="0">
                                        <a:latin typeface="Cambria Math" panose="02040503050406030204" pitchFamily="18" charset="0"/>
                                      </a:rPr>
                                      <m:t>2</m:t>
                                    </m:r>
                                  </m:sup>
                                </m:sSup>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𝑓</m:t>
                                    </m:r>
                                  </m:e>
                                  <m:sub>
                                    <m:r>
                                      <a:rPr lang="zh-CN" altLang="en-US" sz="2000" i="1">
                                        <a:latin typeface="Cambria Math" panose="02040503050406030204" pitchFamily="18" charset="0"/>
                                      </a:rPr>
                                      <m:t>𝑖</m:t>
                                    </m:r>
                                  </m:sub>
                                </m:sSub>
                              </m:e>
                            </m:nary>
                          </m:num>
                          <m:den>
                            <m:r>
                              <a:rPr lang="zh-CN" altLang="en-US" sz="2000" i="1">
                                <a:latin typeface="Cambria Math" panose="02040503050406030204" pitchFamily="18" charset="0"/>
                              </a:rPr>
                              <m:t>𝑛</m:t>
                            </m:r>
                            <m:r>
                              <a:rPr lang="zh-CN" altLang="en-US" sz="2000" i="0">
                                <a:latin typeface="Cambria Math" panose="02040503050406030204" pitchFamily="18" charset="0"/>
                              </a:rPr>
                              <m:t>−</m:t>
                            </m:r>
                            <m:r>
                              <a:rPr lang="zh-CN" altLang="en-US" sz="2000" i="0">
                                <a:latin typeface="Cambria Math" panose="02040503050406030204" pitchFamily="18" charset="0"/>
                              </a:rPr>
                              <m:t>1</m:t>
                            </m:r>
                          </m:den>
                        </m:f>
                      </m:e>
                    </m:rad>
                    <m:r>
                      <a:rPr lang="zh-CN" altLang="en-US" sz="2000" i="0">
                        <a:latin typeface="Cambria Math" panose="02040503050406030204" pitchFamily="18" charset="0"/>
                      </a:rPr>
                      <m:t>=</m:t>
                    </m:r>
                    <m:rad>
                      <m:radPr>
                        <m:degHide m:val="on"/>
                        <m:ctrlPr>
                          <a:rPr lang="zh-CN" altLang="en-US" sz="2000" i="1">
                            <a:solidFill>
                              <a:srgbClr val="836967"/>
                            </a:solidFill>
                            <a:latin typeface="Cambria Math" panose="02040503050406030204" pitchFamily="18" charset="0"/>
                          </a:rPr>
                        </m:ctrlPr>
                      </m:radPr>
                      <m:deg/>
                      <m:e>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294666</m:t>
                            </m:r>
                            <m:r>
                              <a:rPr lang="zh-CN" altLang="en-US" sz="2000" i="0">
                                <a:latin typeface="Cambria Math" panose="02040503050406030204" pitchFamily="18" charset="0"/>
                              </a:rPr>
                              <m:t>.</m:t>
                            </m:r>
                            <m:r>
                              <a:rPr lang="zh-CN" altLang="en-US" sz="2000" i="0">
                                <a:latin typeface="Cambria Math" panose="02040503050406030204" pitchFamily="18" charset="0"/>
                              </a:rPr>
                              <m:t>67</m:t>
                            </m:r>
                          </m:num>
                          <m:den>
                            <m:r>
                              <a:rPr lang="zh-CN" altLang="en-US" sz="2000" i="0">
                                <a:latin typeface="Cambria Math" panose="02040503050406030204" pitchFamily="18" charset="0"/>
                              </a:rPr>
                              <m:t>30</m:t>
                            </m:r>
                            <m:r>
                              <a:rPr lang="zh-CN" altLang="en-US" sz="2000" i="0">
                                <a:latin typeface="Cambria Math" panose="02040503050406030204" pitchFamily="18" charset="0"/>
                              </a:rPr>
                              <m:t>−</m:t>
                            </m:r>
                            <m:r>
                              <a:rPr lang="zh-CN" altLang="en-US" sz="2000" i="0">
                                <a:latin typeface="Cambria Math" panose="02040503050406030204" pitchFamily="18" charset="0"/>
                              </a:rPr>
                              <m:t>1</m:t>
                            </m:r>
                          </m:den>
                        </m:f>
                      </m:e>
                    </m:rad>
                    <m:r>
                      <a:rPr lang="zh-CN" altLang="en-US" sz="2000" i="0">
                        <a:latin typeface="Cambria Math" panose="02040503050406030204" pitchFamily="18" charset="0"/>
                      </a:rPr>
                      <m:t>=</m:t>
                    </m:r>
                    <m:r>
                      <a:rPr lang="zh-CN" altLang="en-US" sz="2000" i="0">
                        <a:latin typeface="Cambria Math" panose="02040503050406030204" pitchFamily="18" charset="0"/>
                      </a:rPr>
                      <m:t>100</m:t>
                    </m:r>
                    <m:r>
                      <a:rPr lang="zh-CN" altLang="en-US" sz="2000" i="0">
                        <a:latin typeface="Cambria Math" panose="02040503050406030204" pitchFamily="18" charset="0"/>
                      </a:rPr>
                      <m:t>.</m:t>
                    </m:r>
                    <m:r>
                      <a:rPr lang="zh-CN" altLang="en-US" sz="2000" i="0">
                        <a:latin typeface="Cambria Math" panose="02040503050406030204" pitchFamily="18" charset="0"/>
                      </a:rPr>
                      <m:t>80</m:t>
                    </m:r>
                  </m:oMath>
                </a14:m>
                <a:endParaRPr lang="zh-CN" altLang="en-US" sz="2000" dirty="0"/>
              </a:p>
            </p:txBody>
          </p:sp>
        </mc:Choice>
        <mc:Fallback>
          <p:sp>
            <p:nvSpPr>
              <p:cNvPr id="10" name="文本框 9"/>
              <p:cNvSpPr txBox="1">
                <a:spLocks noRot="1" noChangeAspect="1" noMove="1" noResize="1" noEditPoints="1" noAdjustHandles="1" noChangeArrowheads="1" noChangeShapeType="1" noTextEdit="1"/>
              </p:cNvSpPr>
              <p:nvPr/>
            </p:nvSpPr>
            <p:spPr>
              <a:xfrm>
                <a:off x="6528048" y="4980107"/>
                <a:ext cx="4824538" cy="757836"/>
              </a:xfrm>
              <a:prstGeom prst="rect">
                <a:avLst/>
              </a:prstGeom>
              <a:blipFill rotWithShape="1">
                <a:blip r:embed="rId3"/>
                <a:stretch>
                  <a:fillRect l="-5" t="-58" r="1" b="11"/>
                </a:stretch>
              </a:blipFill>
            </p:spPr>
            <p:txBody>
              <a:bodyPr/>
              <a:lstStyle/>
              <a:p>
                <a:r>
                  <a:rPr lang="zh-CN" altLang="en-US">
                    <a:noFill/>
                  </a:rPr>
                  <a:t> </a:t>
                </a:r>
              </a:p>
            </p:txBody>
          </p:sp>
        </mc:Fallback>
      </mc:AlternateContent>
    </p:spTree>
    <p:custDataLst>
      <p:tags r:id="rId4"/>
    </p:custData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离散程度的度量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10801200" cy="4680520"/>
              </a:xfrm>
              <a:ln w="12700" cmpd="dbl">
                <a:solidFill>
                  <a:schemeClr val="accent1"/>
                </a:solidFill>
              </a:ln>
            </p:spPr>
            <p:txBody>
              <a:bodyPr>
                <a:noAutofit/>
              </a:bodyPr>
              <a:lstStyle/>
              <a:p>
                <a:pPr marL="0" indent="0" algn="just">
                  <a:lnSpc>
                    <a:spcPct val="150000"/>
                  </a:lnSpc>
                  <a:buNone/>
                </a:pPr>
                <a:r>
                  <a:rPr lang="zh-CN" altLang="zh-CN" sz="2200" b="1" dirty="0">
                    <a:solidFill>
                      <a:srgbClr val="FF0000"/>
                    </a:solidFill>
                    <a:latin typeface="Calibri" panose="020F0502020204030204" pitchFamily="34" charset="0"/>
                    <a:cs typeface="Calibri" panose="020F0502020204030204" pitchFamily="34" charset="0"/>
                  </a:rPr>
                  <a:t>离散系数（</a:t>
                </a:r>
                <a:r>
                  <a:rPr lang="en-US" altLang="zh-CN" sz="2200" b="1" dirty="0">
                    <a:solidFill>
                      <a:srgbClr val="FF0000"/>
                    </a:solidFill>
                    <a:latin typeface="Calibri" panose="020F0502020204030204" pitchFamily="34" charset="0"/>
                    <a:cs typeface="Calibri" panose="020F0502020204030204" pitchFamily="34" charset="0"/>
                  </a:rPr>
                  <a:t>coefficient of variation</a:t>
                </a:r>
                <a:r>
                  <a:rPr lang="zh-CN" altLang="zh-CN" sz="2200" b="1" dirty="0">
                    <a:solidFill>
                      <a:srgbClr val="FF0000"/>
                    </a:solidFill>
                    <a:latin typeface="Calibri" panose="020F0502020204030204" pitchFamily="34" charset="0"/>
                    <a:cs typeface="Calibri" panose="020F0502020204030204" pitchFamily="34" charset="0"/>
                  </a:rPr>
                  <a:t>，</a:t>
                </a:r>
                <a:r>
                  <a:rPr lang="en-US" altLang="zh-CN" sz="2200" b="1" dirty="0">
                    <a:solidFill>
                      <a:srgbClr val="FF0000"/>
                    </a:solidFill>
                    <a:latin typeface="Calibri" panose="020F0502020204030204" pitchFamily="34" charset="0"/>
                    <a:cs typeface="Calibri" panose="020F0502020204030204" pitchFamily="34" charset="0"/>
                  </a:rPr>
                  <a:t>CV</a:t>
                </a:r>
                <a:r>
                  <a:rPr lang="zh-CN" altLang="zh-CN" sz="2200" b="1" dirty="0">
                    <a:solidFill>
                      <a:srgbClr val="FF0000"/>
                    </a:solidFill>
                    <a:latin typeface="Calibri" panose="020F0502020204030204" pitchFamily="34" charset="0"/>
                    <a:cs typeface="Calibri" panose="020F0502020204030204" pitchFamily="34" charset="0"/>
                  </a:rPr>
                  <a:t>）</a:t>
                </a:r>
                <a:endParaRPr lang="en-US" altLang="zh-CN" sz="2200" b="1" dirty="0">
                  <a:solidFill>
                    <a:srgbClr val="FF0000"/>
                  </a:solidFill>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en-US" sz="2200" dirty="0">
                    <a:latin typeface="Calibri" panose="020F0502020204030204" pitchFamily="34" charset="0"/>
                    <a:cs typeface="Calibri" panose="020F0502020204030204" pitchFamily="34" charset="0"/>
                  </a:rPr>
                  <a:t>也称</a:t>
                </a:r>
                <a:r>
                  <a:rPr lang="zh-CN" altLang="zh-CN" sz="2200" dirty="0">
                    <a:latin typeface="Calibri" panose="020F0502020204030204" pitchFamily="34" charset="0"/>
                    <a:cs typeface="Calibri" panose="020F0502020204030204" pitchFamily="34" charset="0"/>
                  </a:rPr>
                  <a:t>变异系数，它是一组数据的标准差与其相应的平均数之比其计算公式为</a:t>
                </a:r>
                <a:endParaRPr lang="zh-CN" altLang="zh-CN" sz="2200" dirty="0">
                  <a:latin typeface="Calibri" panose="020F0502020204030204" pitchFamily="34" charset="0"/>
                  <a:cs typeface="Calibri" panose="020F0502020204030204" pitchFamily="34" charset="0"/>
                </a:endParaRPr>
              </a:p>
              <a:p>
                <a:pPr indent="0" algn="ctr">
                  <a:lnSpc>
                    <a:spcPct val="150000"/>
                  </a:lnSpc>
                  <a:buNone/>
                </a:pPr>
                <a:r>
                  <a:rPr lang="en-US" altLang="zh-CN" sz="22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 </a:t>
                </a:r>
                <a14:m>
                  <m:oMath xmlns:m="http://schemas.openxmlformats.org/officeDocument/2006/math">
                    <m:r>
                      <a:rPr lang="en-US" altLang="zh-CN" sz="22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𝐶𝑉</m:t>
                    </m:r>
                    <m:r>
                      <a:rPr lang="en-US" altLang="zh-CN" sz="22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2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2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num>
                      <m:den>
                        <m:acc>
                          <m:accPr>
                            <m:chr m:val="̅"/>
                            <m:ctrlPr>
                              <a:rPr lang="zh-CN" altLang="zh-CN" sz="22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a:rPr lang="en-US" altLang="zh-CN" sz="22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acc>
                      </m:den>
                    </m:f>
                  </m:oMath>
                </a14:m>
                <a:endParaRPr lang="zh-CN" altLang="zh-CN" sz="2200" dirty="0">
                  <a:solidFill>
                    <a:srgbClr val="000000"/>
                  </a:solidFill>
                  <a:effectLst/>
                  <a:latin typeface="NEU-BZ-S92"/>
                  <a:ea typeface="方正书宋_GBK" panose="02000000000000000000" charset="-122"/>
                  <a:cs typeface="Times New Roman" panose="02020603050405020304" pitchFamily="18"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2200" dirty="0">
                    <a:latin typeface="Calibri" panose="020F0502020204030204" pitchFamily="34" charset="0"/>
                    <a:cs typeface="Calibri" panose="020F0502020204030204" pitchFamily="34" charset="0"/>
                  </a:rPr>
                  <a:t>离散系数消除了数据取值大小和计量单位对标准差的影响，因而可以反映一组数据的相对离散程度</a:t>
                </a:r>
                <a:endParaRPr lang="en-US" altLang="zh-CN" sz="2200" dirty="0">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2200" dirty="0">
                    <a:latin typeface="Calibri" panose="020F0502020204030204" pitchFamily="34" charset="0"/>
                    <a:cs typeface="Calibri" panose="020F0502020204030204" pitchFamily="34" charset="0"/>
                  </a:rPr>
                  <a:t>离散系数大的说明数据的相对离散程度也就大，离散系数小的说明数据的相对离散程度也</a:t>
                </a:r>
                <a:r>
                  <a:rPr lang="zh-CN" altLang="en-US" sz="2200" dirty="0">
                    <a:latin typeface="Calibri" panose="020F0502020204030204" pitchFamily="34" charset="0"/>
                    <a:cs typeface="Calibri" panose="020F0502020204030204" pitchFamily="34" charset="0"/>
                  </a:rPr>
                  <a:t>就大</a:t>
                </a:r>
                <a:endParaRPr lang="zh-CN" altLang="zh-CN" sz="2200" dirty="0">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10801200" cy="4680520"/>
              </a:xfrm>
              <a:blipFill rotWithShape="1">
                <a:blip r:embed="rId1"/>
                <a:stretch>
                  <a:fillRect l="-59" t="-144" r="-54"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离散系数</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3253" name="212.jpg" descr="id:2147519624;FounderCES"/>
          <p:cNvPicPr>
            <a:picLocks noChangeAspect="1"/>
          </p:cNvPicPr>
          <p:nvPr/>
        </p:nvPicPr>
        <p:blipFill>
          <a:blip r:embed="rId1"/>
          <a:stretch>
            <a:fillRect/>
          </a:stretch>
        </p:blipFill>
        <p:spPr>
          <a:xfrm>
            <a:off x="190500" y="1776095"/>
            <a:ext cx="9672320" cy="3550920"/>
          </a:xfrm>
          <a:prstGeom prst="rect">
            <a:avLst/>
          </a:prstGeom>
          <a:noFill/>
          <a:ln w="9525">
            <a:noFill/>
          </a:ln>
        </p:spPr>
      </p:pic>
      <mc:AlternateContent xmlns:mc="http://schemas.openxmlformats.org/markup-compatibility/2006">
        <mc:Choice xmlns:a14="http://schemas.microsoft.com/office/drawing/2010/main" Requires="a14">
          <p:sp>
            <p:nvSpPr>
              <p:cNvPr id="5" name="文本框 4"/>
              <p:cNvSpPr txBox="1"/>
              <p:nvPr/>
            </p:nvSpPr>
            <p:spPr>
              <a:xfrm>
                <a:off x="9949180" y="2712085"/>
                <a:ext cx="2101215" cy="1855470"/>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𝐶𝑉𝐴</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15</m:t>
                          </m:r>
                        </m:num>
                        <m:den>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60</m:t>
                          </m:r>
                        </m:den>
                      </m:f>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25</m:t>
                      </m:r>
                    </m:oMath>
                  </m:oMathPara>
                </a14:m>
                <a:endPar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endParaRPr>
              </a:p>
              <a:p>
                <a:endPar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endParaRPr>
              </a:p>
              <a:p>
                <a14:m>
                  <m:oMathPara xmlns:m="http://schemas.openxmlformats.org/officeDocument/2006/math">
                    <m:oMathParaPr>
                      <m:jc m:val="centerGroup"/>
                    </m:oMathParaPr>
                    <m:oMath xmlns:m="http://schemas.openxmlformats.org/officeDocument/2006/math">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𝐶𝑉𝐵</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t>3</m:t>
                          </m:r>
                        </m:num>
                        <m:den>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8</m:t>
                          </m:r>
                        </m:den>
                      </m:f>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37</m:t>
                      </m:r>
                      <m:r>
                        <a:rPr lang="en-US" altLang="zh-CN"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5</m:t>
                      </m:r>
                    </m:oMath>
                  </m:oMathPara>
                </a14:m>
                <a:endParaRPr lang="zh-CN" altLang="zh-CN" dirty="0">
                  <a:solidFill>
                    <a:srgbClr val="000000"/>
                  </a:solidFill>
                  <a:effectLst/>
                  <a:latin typeface="NEU-BZ-S92"/>
                  <a:ea typeface="方正书宋_GBK" panose="02000000000000000000" charset="-122"/>
                  <a:cs typeface="Times New Roman" panose="02020603050405020304" pitchFamily="18" charset="0"/>
                </a:endParaRPr>
              </a:p>
              <a:p>
                <a:endParaRPr lang="zh-CN" altLang="zh-CN" dirty="0">
                  <a:solidFill>
                    <a:srgbClr val="000000"/>
                  </a:solidFill>
                  <a:effectLst/>
                  <a:latin typeface="NEU-BZ-S92"/>
                  <a:ea typeface="方正书宋_GBK" panose="02000000000000000000" charset="-122"/>
                  <a:cs typeface="Times New Roman" panose="02020603050405020304" pitchFamily="18" charset="0"/>
                </a:endParaRPr>
              </a:p>
              <a:p>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9949180" y="2712085"/>
                <a:ext cx="2101215" cy="1855470"/>
              </a:xfrm>
              <a:prstGeom prst="rect">
                <a:avLst/>
              </a:prstGeom>
              <a:blipFill rotWithShape="1">
                <a:blip r:embed="rId2"/>
                <a:stretch>
                  <a:fillRect b="-2156"/>
                </a:stretch>
              </a:blipFill>
            </p:spPr>
            <p:txBody>
              <a:bodyPr/>
              <a:lstStyle/>
              <a:p>
                <a:r>
                  <a:rPr lang="zh-CN" altLang="en-US">
                    <a:noFill/>
                  </a:rPr>
                  <a:t> </a:t>
                </a:r>
              </a:p>
            </p:txBody>
          </p:sp>
        </mc:Fallback>
      </mc:AlternateContent>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离散程度的度量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5256584" cy="4680520"/>
              </a:xfrm>
              <a:ln w="12700" cmpd="dbl">
                <a:solidFill>
                  <a:schemeClr val="accent1"/>
                </a:solidFill>
              </a:ln>
            </p:spPr>
            <p:txBody>
              <a:bodyPr>
                <a:noAutofit/>
              </a:bodyPr>
              <a:lstStyle/>
              <a:p>
                <a:pPr marL="0" indent="0" algn="just">
                  <a:lnSpc>
                    <a:spcPct val="150000"/>
                  </a:lnSpc>
                  <a:buNone/>
                </a:pPr>
                <a:r>
                  <a:rPr lang="zh-CN" altLang="zh-CN" sz="2200" b="1" dirty="0">
                    <a:solidFill>
                      <a:srgbClr val="FF0000"/>
                    </a:solidFill>
                    <a:latin typeface="Calibri" panose="020F0502020204030204" pitchFamily="34" charset="0"/>
                    <a:cs typeface="Calibri" panose="020F0502020204030204" pitchFamily="34" charset="0"/>
                  </a:rPr>
                  <a:t>标准分数（</a:t>
                </a:r>
                <a:r>
                  <a:rPr lang="en-US" altLang="zh-CN" sz="2200" b="1" dirty="0">
                    <a:solidFill>
                      <a:srgbClr val="FF0000"/>
                    </a:solidFill>
                    <a:latin typeface="Calibri" panose="020F0502020204030204" pitchFamily="34" charset="0"/>
                    <a:cs typeface="Calibri" panose="020F0502020204030204" pitchFamily="34" charset="0"/>
                  </a:rPr>
                  <a:t>standard score</a:t>
                </a:r>
                <a:r>
                  <a:rPr lang="zh-CN" altLang="zh-CN" sz="2200" b="1" dirty="0">
                    <a:solidFill>
                      <a:srgbClr val="FF0000"/>
                    </a:solidFill>
                    <a:latin typeface="Calibri" panose="020F0502020204030204" pitchFamily="34" charset="0"/>
                    <a:cs typeface="Calibri" panose="020F0502020204030204" pitchFamily="34" charset="0"/>
                  </a:rPr>
                  <a:t>）</a:t>
                </a:r>
                <a:endParaRPr lang="en-US" altLang="zh-CN" sz="2200" b="1" dirty="0">
                  <a:solidFill>
                    <a:srgbClr val="FF0000"/>
                  </a:solidFill>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2200" dirty="0">
                    <a:latin typeface="Calibri" panose="020F0502020204030204" pitchFamily="34" charset="0"/>
                    <a:cs typeface="Calibri" panose="020F0502020204030204" pitchFamily="34" charset="0"/>
                  </a:rPr>
                  <a:t>某个数据与其平均数的离差除以标准差后的值</a:t>
                </a:r>
                <a:endParaRPr lang="en-US" altLang="zh-CN" sz="2200" dirty="0">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2200" dirty="0">
                    <a:latin typeface="Calibri" panose="020F0502020204030204" pitchFamily="34" charset="0"/>
                    <a:cs typeface="Calibri" panose="020F0502020204030204" pitchFamily="34" charset="0"/>
                  </a:rPr>
                  <a:t>设样本数据的标准分数为</a:t>
                </a:r>
                <a:r>
                  <a:rPr lang="en-US" altLang="zh-CN" sz="2200" dirty="0">
                    <a:latin typeface="Calibri" panose="020F0502020204030204" pitchFamily="34" charset="0"/>
                    <a:cs typeface="Calibri" panose="020F0502020204030204" pitchFamily="34" charset="0"/>
                  </a:rPr>
                  <a:t>z</a:t>
                </a:r>
                <a:r>
                  <a:rPr lang="zh-CN" altLang="zh-CN" sz="2200" dirty="0">
                    <a:latin typeface="Calibri" panose="020F0502020204030204" pitchFamily="34" charset="0"/>
                    <a:cs typeface="Calibri" panose="020F0502020204030204" pitchFamily="34" charset="0"/>
                  </a:rPr>
                  <a:t>，则有</a:t>
                </a:r>
                <a:endParaRPr lang="zh-CN" altLang="zh-CN" sz="2200" dirty="0">
                  <a:latin typeface="Calibri" panose="020F0502020204030204" pitchFamily="34" charset="0"/>
                  <a:cs typeface="Calibri" panose="020F0502020204030204" pitchFamily="34" charset="0"/>
                </a:endParaRPr>
              </a:p>
              <a:p>
                <a:pPr marL="0" indent="0">
                  <a:buNone/>
                </a:pP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𝑖</m:t>
                        </m:r>
                      </m:sub>
                    </m:sSub>
                    <m:r>
                      <a:rPr lang="en-US" altLang="zh-CN">
                        <a:latin typeface="Cambria Math" panose="02040503050406030204" pitchFamily="18" charset="0"/>
                      </a:rPr>
                      <m:t>=</m:t>
                    </m:r>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𝑥</m:t>
                            </m:r>
                          </m:e>
                        </m:acc>
                      </m:num>
                      <m:den>
                        <m:r>
                          <a:rPr lang="en-US" altLang="zh-CN" i="1">
                            <a:latin typeface="Cambria Math" panose="02040503050406030204" pitchFamily="18" charset="0"/>
                          </a:rPr>
                          <m:t>𝑠</m:t>
                        </m:r>
                      </m:den>
                    </m:f>
                  </m:oMath>
                </a14:m>
                <a:endParaRPr lang="en-US" altLang="zh-CN" dirty="0"/>
              </a:p>
              <a:p>
                <a:pPr marL="447675" indent="-447675" algn="just">
                  <a:lnSpc>
                    <a:spcPct val="150000"/>
                  </a:lnSpc>
                  <a:buClr>
                    <a:schemeClr val="accent1"/>
                  </a:buClr>
                  <a:buSzPct val="100000"/>
                  <a:buFont typeface="Wingdings" panose="05000000000000000000" pitchFamily="2" charset="2"/>
                  <a:buChar char="l"/>
                  <a:defRPr/>
                </a:pPr>
                <a:r>
                  <a:rPr lang="zh-CN" altLang="zh-CN" sz="2200" dirty="0">
                    <a:latin typeface="Calibri" panose="020F0502020204030204" pitchFamily="34" charset="0"/>
                    <a:cs typeface="Calibri" panose="020F0502020204030204" pitchFamily="34" charset="0"/>
                  </a:rPr>
                  <a:t>标准分数可以测度每个数值在该组数据中相对位置</a:t>
                </a:r>
                <a:r>
                  <a:rPr lang="zh-CN" altLang="en-US" sz="2200" dirty="0">
                    <a:latin typeface="Calibri" panose="020F0502020204030204" pitchFamily="34" charset="0"/>
                    <a:cs typeface="Calibri" panose="020F0502020204030204" pitchFamily="34" charset="0"/>
                  </a:rPr>
                  <a:t>，表示</a:t>
                </a:r>
                <a:r>
                  <a:rPr lang="zh-CN" altLang="zh-CN" sz="2200" dirty="0">
                    <a:latin typeface="Calibri" panose="020F0502020204030204" pitchFamily="34" charset="0"/>
                    <a:cs typeface="Calibri" panose="020F0502020204030204" pitchFamily="34" charset="0"/>
                  </a:rPr>
                  <a:t>是某个数据与平均数相比相差多少个标准差</a:t>
                </a:r>
                <a:endParaRPr lang="zh-CN" altLang="zh-CN" sz="2200" dirty="0">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5256584" cy="4680520"/>
              </a:xfrm>
              <a:blipFill rotWithShape="1">
                <a:blip r:embed="rId1"/>
                <a:stretch>
                  <a:fillRect l="-122" t="-144" r="-118"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标准分数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Content Placeholder 8"/>
              <p:cNvSpPr txBox="1"/>
              <p:nvPr/>
            </p:nvSpPr>
            <p:spPr>
              <a:xfrm>
                <a:off x="6218583" y="1556792"/>
                <a:ext cx="5256584"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50000"/>
                  </a:lnSpc>
                  <a:buNone/>
                </a:pPr>
                <a:r>
                  <a:rPr lang="en-US"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20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4.9</a:t>
                </a: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沿用例</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。计算</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30</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个人网购金额的标准分数。</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根据上面的计算结果，</a:t>
                </a:r>
                <a14:m>
                  <m:oMath xmlns:m="http://schemas.openxmlformats.org/officeDocument/2006/math">
                    <m:acc>
                      <m:accPr>
                        <m:chr m:val="̅"/>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acc>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488</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95</m:t>
                    </m:r>
                  </m:oMath>
                </a14:m>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a:t>
                </a:r>
                <a14:m>
                  <m:oMath xmlns:m="http://schemas.openxmlformats.org/officeDocument/2006/math">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97</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62</m:t>
                    </m:r>
                  </m:oMath>
                </a14:m>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。以第</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1</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个人的标准分数为例，由式（</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4.16</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14:m>
                  <m:oMathPara xmlns:m="http://schemas.openxmlformats.org/officeDocument/2006/math">
                    <m:oMathParaPr>
                      <m:jc m:val="centerGroup"/>
                    </m:oMathParaPr>
                    <m:oMath xmlns:m="http://schemas.openxmlformats.org/officeDocument/2006/math">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𝑧</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429</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488</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95</m:t>
                          </m:r>
                        </m:num>
                        <m:den>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97</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62</m:t>
                          </m:r>
                        </m:den>
                      </m:f>
                      <m:r>
                        <a:rPr lang="en-US" altLang="zh-CN" sz="2000">
                          <a:solidFill>
                            <a:srgbClr val="000000"/>
                          </a:solidFill>
                          <a:effectLst/>
                          <a:latin typeface="Cambria Math" panose="02040503050406030204" pitchFamily="18" charset="0"/>
                          <a:ea typeface="微软雅黑" panose="020B0503020204020204" pitchFamily="34" charset="-122"/>
                          <a:cs typeface="微软雅黑" panose="020B0503020204020204" pitchFamily="34" charset="-122"/>
                        </a:rPr>
                        <m:t>=</m:t>
                      </m:r>
                      <m:r>
                        <a:rPr lang="zh-CN" altLang="en-US" sz="2000" i="1">
                          <a:solidFill>
                            <a:srgbClr val="000000"/>
                          </a:solidFill>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0</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6141</m:t>
                      </m:r>
                    </m:oMath>
                  </m:oMathPara>
                </a14:m>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nSpc>
                    <a:spcPct val="150000"/>
                  </a:lnSpc>
                  <a:buNone/>
                </a:pPr>
                <a:r>
                  <a:rPr lang="zh-CN" altLang="zh-CN" sz="2000" dirty="0">
                    <a:effectLst/>
                    <a:latin typeface="NEU-BZ-S92"/>
                    <a:ea typeface="华文细黑" panose="02010600040101010101" pitchFamily="2" charset="-122"/>
                    <a:cs typeface="Times New Roman" panose="02020603050405020304" pitchFamily="18" charset="0"/>
                  </a:rPr>
                  <a:t>结果表示，第</a:t>
                </a:r>
                <a:r>
                  <a:rPr lang="en-US" altLang="zh-CN" sz="2000" dirty="0">
                    <a:effectLst/>
                    <a:latin typeface="NEU-BZ-S92"/>
                    <a:ea typeface="华文细黑" panose="02010600040101010101" pitchFamily="2" charset="-122"/>
                    <a:cs typeface="Times New Roman" panose="02020603050405020304" pitchFamily="18" charset="0"/>
                  </a:rPr>
                  <a:t>1</a:t>
                </a:r>
                <a:r>
                  <a:rPr lang="zh-CN" altLang="zh-CN" sz="2000" dirty="0">
                    <a:effectLst/>
                    <a:latin typeface="NEU-BZ-S92"/>
                    <a:ea typeface="华文细黑" panose="02010600040101010101" pitchFamily="2" charset="-122"/>
                    <a:cs typeface="Times New Roman" panose="02020603050405020304" pitchFamily="18" charset="0"/>
                  </a:rPr>
                  <a:t>个人的网购金额比平均网购金额低</a:t>
                </a:r>
                <a:r>
                  <a:rPr lang="en-US" altLang="zh-CN" sz="2000" dirty="0">
                    <a:effectLst/>
                    <a:latin typeface="等线" panose="02010600030101010101" pitchFamily="2" charset="-122"/>
                    <a:cs typeface="宋体" panose="02010600030101010101" pitchFamily="2" charset="-122"/>
                  </a:rPr>
                  <a:t>0.61412</a:t>
                </a:r>
                <a:r>
                  <a:rPr lang="zh-CN" altLang="zh-CN" sz="2000" dirty="0">
                    <a:effectLst/>
                    <a:latin typeface="NEU-BZ-S92"/>
                    <a:ea typeface="华文细黑" panose="02010600040101010101" pitchFamily="2" charset="-122"/>
                    <a:cs typeface="Times New Roman" panose="02020603050405020304" pitchFamily="18" charset="0"/>
                  </a:rPr>
                  <a:t>个标准差</a:t>
                </a:r>
                <a:endParaRPr lang="zh-CN" altLang="zh-CN" sz="2000" dirty="0">
                  <a:latin typeface="Calibri" panose="020F0502020204030204" pitchFamily="34" charset="0"/>
                  <a:cs typeface="Calibri" panose="020F0502020204030204" pitchFamily="34" charset="0"/>
                </a:endParaRPr>
              </a:p>
            </p:txBody>
          </p:sp>
        </mc:Choice>
        <mc:Fallback>
          <p:sp>
            <p:nvSpPr>
              <p:cNvPr id="5" name="Content Placeholder 8"/>
              <p:cNvSpPr txBox="1">
                <a:spLocks noRot="1" noChangeAspect="1" noMove="1" noResize="1" noEditPoints="1" noAdjustHandles="1" noChangeArrowheads="1" noChangeShapeType="1" noTextEdit="1"/>
              </p:cNvSpPr>
              <p:nvPr/>
            </p:nvSpPr>
            <p:spPr>
              <a:xfrm>
                <a:off x="6218583" y="1556792"/>
                <a:ext cx="5256584" cy="4680520"/>
              </a:xfrm>
              <a:prstGeom prst="rect">
                <a:avLst/>
              </a:prstGeom>
              <a:blipFill rotWithShape="1">
                <a:blip r:embed="rId2"/>
                <a:stretch>
                  <a:fillRect l="-121" t="-144" r="-119" b="-128"/>
                </a:stretch>
              </a:blipFill>
              <a:ln w="12700" cmpd="dbl">
                <a:solidFill>
                  <a:schemeClr val="accent1"/>
                </a:solidFill>
              </a:ln>
            </p:spPr>
            <p:txBody>
              <a:bodyPr/>
              <a:lstStyle/>
              <a:p>
                <a:r>
                  <a:rPr lang="zh-CN" altLang="en-US">
                    <a:noFill/>
                  </a:rPr>
                  <a:t> </a:t>
                </a:r>
              </a:p>
            </p:txBody>
          </p:sp>
        </mc:Fallback>
      </mc:AlternateContent>
    </p:spTree>
    <p:custDataLst>
      <p:tags r:id="rId3"/>
    </p:custData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离散程度的度量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5256584" cy="4680520"/>
              </a:xfrm>
              <a:ln w="12700" cmpd="dbl">
                <a:solidFill>
                  <a:schemeClr val="accent1"/>
                </a:solidFill>
              </a:ln>
            </p:spPr>
            <p:txBody>
              <a:bodyPr>
                <a:noAutofit/>
              </a:bodyPr>
              <a:lstStyle/>
              <a:p>
                <a:pPr marL="0" indent="0" algn="just">
                  <a:buNone/>
                </a:pPr>
                <a:r>
                  <a:rPr lang="zh-CN" altLang="zh-CN" sz="2000" b="1" dirty="0">
                    <a:solidFill>
                      <a:srgbClr val="FF0000"/>
                    </a:solidFill>
                    <a:latin typeface="Calibri" panose="020F0502020204030204" pitchFamily="34" charset="0"/>
                    <a:cs typeface="Calibri" panose="020F0502020204030204" pitchFamily="34" charset="0"/>
                  </a:rPr>
                  <a:t>使用</a:t>
                </a:r>
                <a:r>
                  <a:rPr lang="en-US" altLang="zh-CN" sz="2000" b="1" dirty="0">
                    <a:solidFill>
                      <a:srgbClr val="FF0000"/>
                    </a:solidFill>
                    <a:latin typeface="Calibri" panose="020F0502020204030204" pitchFamily="34" charset="0"/>
                    <a:cs typeface="Calibri" panose="020F0502020204030204" pitchFamily="34" charset="0"/>
                  </a:rPr>
                  <a:t>Excel</a:t>
                </a:r>
                <a:r>
                  <a:rPr lang="zh-CN" altLang="zh-CN" sz="2000" b="1" dirty="0">
                    <a:solidFill>
                      <a:srgbClr val="FF0000"/>
                    </a:solidFill>
                    <a:latin typeface="Calibri" panose="020F0502020204030204" pitchFamily="34" charset="0"/>
                    <a:cs typeface="Calibri" panose="020F0502020204030204" pitchFamily="34" charset="0"/>
                  </a:rPr>
                  <a:t>【</a:t>
                </a:r>
                <a:r>
                  <a:rPr lang="en-US" altLang="zh-CN" sz="2000" b="1" dirty="0">
                    <a:solidFill>
                      <a:srgbClr val="FF0000"/>
                    </a:solidFill>
                    <a:latin typeface="Calibri" panose="020F0502020204030204" pitchFamily="34" charset="0"/>
                    <a:cs typeface="Calibri" panose="020F0502020204030204" pitchFamily="34" charset="0"/>
                  </a:rPr>
                  <a:t>STANDARDIZE</a:t>
                </a:r>
                <a:r>
                  <a:rPr lang="zh-CN" altLang="zh-CN" sz="2000" b="1" dirty="0">
                    <a:solidFill>
                      <a:srgbClr val="FF0000"/>
                    </a:solidFill>
                    <a:latin typeface="Calibri" panose="020F0502020204030204" pitchFamily="34" charset="0"/>
                    <a:cs typeface="Calibri" panose="020F0502020204030204" pitchFamily="34" charset="0"/>
                  </a:rPr>
                  <a:t>】函数可计算标准分数</a:t>
                </a:r>
                <a:endParaRPr lang="zh-CN" altLang="zh-CN" sz="2000" b="1" dirty="0">
                  <a:solidFill>
                    <a:srgbClr val="FF0000"/>
                  </a:solidFill>
                  <a:latin typeface="Calibri" panose="020F0502020204030204" pitchFamily="34" charset="0"/>
                  <a:cs typeface="Calibri" panose="020F0502020204030204" pitchFamily="34" charset="0"/>
                </a:endParaRPr>
              </a:p>
              <a:p>
                <a:pPr marL="0" indent="0" algn="just">
                  <a:buNone/>
                </a:pPr>
                <a:r>
                  <a:rPr lang="zh-CN" altLang="zh-CN" sz="2000" dirty="0">
                    <a:solidFill>
                      <a:srgbClr val="FF0000"/>
                    </a:solidFill>
                    <a:effectLst/>
                    <a:latin typeface="NEU-BZ-S92"/>
                    <a:ea typeface="华文细黑" panose="02010600040101010101" pitchFamily="2" charset="-122"/>
                    <a:cs typeface="Times New Roman" panose="02020603050405020304" pitchFamily="18" charset="0"/>
                  </a:rPr>
                  <a:t>第</a:t>
                </a:r>
                <a:r>
                  <a:rPr lang="en-US" altLang="zh-CN" sz="2000" dirty="0">
                    <a:solidFill>
                      <a:srgbClr val="FF0000"/>
                    </a:solidFill>
                    <a:effectLst/>
                    <a:latin typeface="NEU-BZ-S92"/>
                    <a:ea typeface="华文细黑" panose="02010600040101010101" pitchFamily="2" charset="-122"/>
                    <a:cs typeface="Times New Roman" panose="02020603050405020304" pitchFamily="18" charset="0"/>
                  </a:rPr>
                  <a:t>1</a:t>
                </a:r>
                <a:r>
                  <a:rPr lang="zh-CN" altLang="zh-CN" sz="2000" dirty="0">
                    <a:solidFill>
                      <a:srgbClr val="FF0000"/>
                    </a:solidFill>
                    <a:effectLst/>
                    <a:latin typeface="NEU-BZ-S92"/>
                    <a:ea typeface="华文细黑" panose="02010600040101010101" pitchFamily="2" charset="-122"/>
                    <a:cs typeface="Times New Roman" panose="02020603050405020304" pitchFamily="18" charset="0"/>
                  </a:rPr>
                  <a:t>步：</a:t>
                </a:r>
                <a:r>
                  <a:rPr lang="zh-CN" altLang="zh-CN" sz="2000" dirty="0">
                    <a:solidFill>
                      <a:srgbClr val="000000"/>
                    </a:solidFill>
                    <a:effectLst/>
                    <a:latin typeface="NEU-BZ-S92"/>
                    <a:ea typeface="华文细黑" panose="02010600040101010101" pitchFamily="2" charset="-122"/>
                    <a:cs typeface="Times New Roman" panose="02020603050405020304" pitchFamily="18" charset="0"/>
                  </a:rPr>
                  <a:t>将光标放在任意空白单元格。然后点击【公式】，点击插入函数【</a:t>
                </a:r>
                <a14:m>
                  <m:oMath xmlns:m="http://schemas.openxmlformats.org/officeDocument/2006/math">
                    <m:r>
                      <a:rPr lang="en-US" altLang="zh-CN" sz="2000" i="1">
                        <a:solidFill>
                          <a:srgbClr val="000000"/>
                        </a:solidFill>
                        <a:effectLst/>
                        <a:latin typeface="Cambria Math" panose="02040503050406030204" pitchFamily="18" charset="0"/>
                        <a:ea typeface="华文细黑" panose="02010600040101010101" pitchFamily="2" charset="-122"/>
                        <a:cs typeface="Times New Roman" panose="02020603050405020304" pitchFamily="18" charset="0"/>
                      </a:rPr>
                      <m:t>𝑓𝑥</m:t>
                    </m:r>
                  </m:oMath>
                </a14:m>
                <a:r>
                  <a:rPr lang="zh-CN" altLang="zh-CN" sz="2000" dirty="0">
                    <a:solidFill>
                      <a:srgbClr val="000000"/>
                    </a:solidFill>
                    <a:effectLst/>
                    <a:latin typeface="NEU-BZ-S92"/>
                    <a:ea typeface="华文细黑" panose="02010600040101010101" pitchFamily="2" charset="-122"/>
                    <a:cs typeface="Times New Roman" panose="02020603050405020304" pitchFamily="18" charset="0"/>
                  </a:rPr>
                  <a:t>】。</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gn="just">
                  <a:buNone/>
                </a:pPr>
                <a:r>
                  <a:rPr lang="zh-CN" altLang="zh-CN" sz="2000" dirty="0">
                    <a:solidFill>
                      <a:srgbClr val="FF0000"/>
                    </a:solidFill>
                    <a:effectLst/>
                    <a:latin typeface="NEU-BZ-S92"/>
                    <a:ea typeface="华文细黑" panose="02010600040101010101" pitchFamily="2" charset="-122"/>
                    <a:cs typeface="Times New Roman" panose="02020603050405020304" pitchFamily="18" charset="0"/>
                  </a:rPr>
                  <a:t>第</a:t>
                </a:r>
                <a:r>
                  <a:rPr lang="en-US" altLang="zh-CN" sz="2000" dirty="0">
                    <a:solidFill>
                      <a:srgbClr val="FF0000"/>
                    </a:solidFill>
                    <a:effectLst/>
                    <a:latin typeface="NEU-BZ-S92"/>
                    <a:ea typeface="华文细黑" panose="02010600040101010101" pitchFamily="2" charset="-122"/>
                    <a:cs typeface="Times New Roman" panose="02020603050405020304" pitchFamily="18" charset="0"/>
                  </a:rPr>
                  <a:t>2</a:t>
                </a:r>
                <a:r>
                  <a:rPr lang="zh-CN" altLang="zh-CN" sz="2000" dirty="0">
                    <a:solidFill>
                      <a:srgbClr val="FF0000"/>
                    </a:solidFill>
                    <a:effectLst/>
                    <a:latin typeface="NEU-BZ-S92"/>
                    <a:ea typeface="华文细黑" panose="02010600040101010101" pitchFamily="2" charset="-122"/>
                    <a:cs typeface="Times New Roman" panose="02020603050405020304" pitchFamily="18" charset="0"/>
                  </a:rPr>
                  <a:t>步：</a:t>
                </a:r>
                <a:r>
                  <a:rPr lang="zh-CN" altLang="zh-CN" sz="2000" dirty="0">
                    <a:solidFill>
                      <a:srgbClr val="000000"/>
                    </a:solidFill>
                    <a:effectLst/>
                    <a:latin typeface="NEU-BZ-S92"/>
                    <a:ea typeface="华文细黑" panose="02010600040101010101" pitchFamily="2" charset="-122"/>
                    <a:cs typeface="Times New Roman" panose="02020603050405020304" pitchFamily="18" charset="0"/>
                  </a:rPr>
                  <a:t>在【选择类别】中选择【统计】，并在【选择函数】中点击【</a:t>
                </a:r>
                <a:r>
                  <a:rPr lang="en-US" altLang="zh-CN" sz="2000" dirty="0">
                    <a:solidFill>
                      <a:srgbClr val="000000"/>
                    </a:solidFill>
                    <a:effectLst/>
                    <a:latin typeface="NEU-BZ-S92"/>
                    <a:ea typeface="华文细黑" panose="02010600040101010101" pitchFamily="2" charset="-122"/>
                    <a:cs typeface="Times New Roman" panose="02020603050405020304" pitchFamily="18" charset="0"/>
                  </a:rPr>
                  <a:t>STANDARDIZE</a:t>
                </a:r>
                <a:r>
                  <a:rPr lang="zh-CN" altLang="zh-CN" sz="2000" dirty="0">
                    <a:solidFill>
                      <a:srgbClr val="000000"/>
                    </a:solidFill>
                    <a:effectLst/>
                    <a:latin typeface="NEU-BZ-S92"/>
                    <a:ea typeface="华文细黑" panose="02010600040101010101" pitchFamily="2" charset="-122"/>
                    <a:cs typeface="Times New Roman" panose="02020603050405020304" pitchFamily="18" charset="0"/>
                  </a:rPr>
                  <a:t>】，单击【确定】。</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gn="just">
                  <a:buNone/>
                </a:pPr>
                <a:r>
                  <a:rPr lang="zh-CN" altLang="zh-CN" sz="2000" dirty="0">
                    <a:solidFill>
                      <a:srgbClr val="FF0000"/>
                    </a:solidFill>
                    <a:effectLst/>
                    <a:ea typeface="华文细黑" panose="02010600040101010101" pitchFamily="2" charset="-122"/>
                    <a:cs typeface="Times New Roman" panose="02020603050405020304" pitchFamily="18" charset="0"/>
                  </a:rPr>
                  <a:t>第</a:t>
                </a:r>
                <a:r>
                  <a:rPr lang="en-US" altLang="zh-CN" sz="2000" dirty="0">
                    <a:solidFill>
                      <a:srgbClr val="FF0000"/>
                    </a:solidFill>
                    <a:effectLst/>
                    <a:ea typeface="华文细黑" panose="02010600040101010101" pitchFamily="2" charset="-122"/>
                    <a:cs typeface="Times New Roman" panose="02020603050405020304" pitchFamily="18" charset="0"/>
                  </a:rPr>
                  <a:t>3</a:t>
                </a:r>
                <a:r>
                  <a:rPr lang="zh-CN" altLang="zh-CN" sz="2000" dirty="0">
                    <a:solidFill>
                      <a:srgbClr val="FF0000"/>
                    </a:solidFill>
                    <a:effectLst/>
                    <a:ea typeface="华文细黑" panose="02010600040101010101" pitchFamily="2" charset="-122"/>
                    <a:cs typeface="Times New Roman" panose="02020603050405020304" pitchFamily="18" charset="0"/>
                  </a:rPr>
                  <a:t>步：</a:t>
                </a:r>
                <a:r>
                  <a:rPr lang="zh-CN" altLang="zh-CN" sz="2000" dirty="0">
                    <a:effectLst/>
                    <a:ea typeface="华文细黑" panose="02010600040101010101" pitchFamily="2" charset="-122"/>
                    <a:cs typeface="Times New Roman" panose="02020603050405020304" pitchFamily="18" charset="0"/>
                  </a:rPr>
                  <a:t>在【</a:t>
                </a:r>
                <a:r>
                  <a:rPr lang="en-US" altLang="zh-CN" sz="2000" dirty="0">
                    <a:effectLst/>
                    <a:ea typeface="华文细黑" panose="02010600040101010101" pitchFamily="2" charset="-122"/>
                    <a:cs typeface="Times New Roman" panose="02020603050405020304" pitchFamily="18" charset="0"/>
                  </a:rPr>
                  <a:t>X</a:t>
                </a:r>
                <a:r>
                  <a:rPr lang="zh-CN" altLang="zh-CN" sz="2000" dirty="0">
                    <a:effectLst/>
                    <a:ea typeface="华文细黑" panose="02010600040101010101" pitchFamily="2" charset="-122"/>
                    <a:cs typeface="Times New Roman" panose="02020603050405020304" pitchFamily="18" charset="0"/>
                  </a:rPr>
                  <a:t>】输入要计算标准分数的原始数据；在【</a:t>
                </a:r>
                <a:r>
                  <a:rPr lang="en-US" altLang="zh-CN" sz="2000" dirty="0">
                    <a:effectLst/>
                    <a:ea typeface="华文细黑" panose="02010600040101010101" pitchFamily="2" charset="-122"/>
                    <a:cs typeface="Times New Roman" panose="02020603050405020304" pitchFamily="18" charset="0"/>
                  </a:rPr>
                  <a:t>Mean</a:t>
                </a:r>
                <a:r>
                  <a:rPr lang="zh-CN" altLang="zh-CN" sz="2000" dirty="0">
                    <a:effectLst/>
                    <a:ea typeface="华文细黑" panose="02010600040101010101" pitchFamily="2" charset="-122"/>
                    <a:cs typeface="Times New Roman" panose="02020603050405020304" pitchFamily="18" charset="0"/>
                  </a:rPr>
                  <a:t>】框后输入该组数据的平均数；在【</a:t>
                </a:r>
                <a:r>
                  <a:rPr lang="en-US" altLang="zh-CN" sz="2000" dirty="0" err="1">
                    <a:effectLst/>
                    <a:ea typeface="华文细黑" panose="02010600040101010101" pitchFamily="2" charset="-122"/>
                    <a:cs typeface="Times New Roman" panose="02020603050405020304" pitchFamily="18" charset="0"/>
                  </a:rPr>
                  <a:t>Standard_dev</a:t>
                </a:r>
                <a:r>
                  <a:rPr lang="zh-CN" altLang="zh-CN" sz="2000" dirty="0">
                    <a:effectLst/>
                    <a:ea typeface="华文细黑" panose="02010600040101010101" pitchFamily="2" charset="-122"/>
                    <a:cs typeface="Times New Roman" panose="02020603050405020304" pitchFamily="18" charset="0"/>
                  </a:rPr>
                  <a:t>】框后输入该组数据的标准差。单击【确定】，即可得到该数据的标准分数（要得到多个数据的标准分数，向下复制该单元格即可）</a:t>
                </a:r>
                <a:endParaRPr lang="zh-CN" altLang="zh-CN" sz="2000" dirty="0">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5256584" cy="4680520"/>
              </a:xfrm>
              <a:blipFill rotWithShape="1">
                <a:blip r:embed="rId1"/>
                <a:stretch>
                  <a:fillRect l="-122" t="-144" r="-2051"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标准分数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nvGraphicFramePr>
        <p:xfrm>
          <a:off x="6096000" y="1564703"/>
          <a:ext cx="5400600" cy="4672614"/>
        </p:xfrm>
        <a:graphic>
          <a:graphicData uri="http://schemas.openxmlformats.org/drawingml/2006/table">
            <a:tbl>
              <a:tblPr firstRow="1" firstCol="1" bandRow="1">
                <a:tableStyleId>{5C22544A-7EE6-4342-B048-85BDC9FD1C3A}</a:tableStyleId>
              </a:tblPr>
              <a:tblGrid>
                <a:gridCol w="899771"/>
                <a:gridCol w="900429"/>
                <a:gridCol w="899771"/>
                <a:gridCol w="900429"/>
                <a:gridCol w="899771"/>
                <a:gridCol w="900429"/>
              </a:tblGrid>
              <a:tr h="427874">
                <a:tc>
                  <a:txBody>
                    <a:bodyPr/>
                    <a:lstStyle/>
                    <a:p>
                      <a:pPr algn="ctr">
                        <a:lnSpc>
                          <a:spcPts val="1635"/>
                        </a:lnSpc>
                      </a:pPr>
                      <a:r>
                        <a:rPr lang="zh-CN" sz="1400" b="1">
                          <a:effectLst/>
                        </a:rPr>
                        <a:t>网购金额</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zh-CN" sz="1400" b="1">
                          <a:effectLst/>
                        </a:rPr>
                        <a:t>标准分数</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zh-CN" sz="1400" b="1">
                          <a:effectLst/>
                        </a:rPr>
                        <a:t>网购金额</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zh-CN" sz="1400" b="1">
                          <a:effectLst/>
                        </a:rPr>
                        <a:t>标准分数</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zh-CN" sz="1400" b="1">
                          <a:effectLst/>
                        </a:rPr>
                        <a:t>网购金额</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zh-CN" sz="1400" b="1">
                          <a:effectLst/>
                        </a:rPr>
                        <a:t>标准分数</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429.0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-0.6141</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622.4</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1.3670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393.2</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-0.9808</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477.0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-0.1224</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536.0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0.4820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478.2</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-0.1101</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655.9</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1.7102</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540.1</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0.5240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397.4</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-0.9378</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507.1</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0.1859</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511.1</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0.2269</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427.1</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-0.6336</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512.9</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0.2453</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465.4</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-0.2412</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437.5</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-0.5270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671.2</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1.8669</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678.7</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1.9438</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331.3</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-1.6149</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450.0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-0.3990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450.0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-0.3990</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583.8</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0.9716</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373.5</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-1.1826</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303.6</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-1.8987</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515.3</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0.2699</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431.3</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-0.5906</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570.1</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0.8313</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386.2</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-1.0526</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r h="424474">
                <a:tc>
                  <a:txBody>
                    <a:bodyPr/>
                    <a:lstStyle/>
                    <a:p>
                      <a:pPr algn="ctr">
                        <a:lnSpc>
                          <a:spcPts val="1635"/>
                        </a:lnSpc>
                      </a:pPr>
                      <a:r>
                        <a:rPr lang="en-US" sz="1400" b="1">
                          <a:effectLst/>
                        </a:rPr>
                        <a:t>455.1</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-0.3468</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452.7</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-0.3713</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a:effectLst/>
                        </a:rPr>
                        <a:t>625.4</a:t>
                      </a:r>
                      <a:endParaRPr lang="zh-CN" sz="1400" b="1">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c>
                  <a:txBody>
                    <a:bodyPr/>
                    <a:lstStyle/>
                    <a:p>
                      <a:pPr algn="ctr">
                        <a:lnSpc>
                          <a:spcPts val="1635"/>
                        </a:lnSpc>
                      </a:pPr>
                      <a:r>
                        <a:rPr lang="en-US" sz="1400" b="1" dirty="0">
                          <a:effectLst/>
                        </a:rPr>
                        <a:t>1.3978</a:t>
                      </a:r>
                      <a:endParaRPr lang="zh-CN" sz="1400" b="1" dirty="0">
                        <a:solidFill>
                          <a:srgbClr val="000000"/>
                        </a:solidFill>
                        <a:effectLst/>
                        <a:latin typeface="NEU-BZ-S92"/>
                        <a:ea typeface="方正书宋_GBK" panose="02000000000000000000" charset="-122"/>
                        <a:cs typeface="Times New Roman" panose="02020603050405020304" pitchFamily="18" charset="0"/>
                      </a:endParaRPr>
                    </a:p>
                  </a:txBody>
                  <a:tcPr marL="68580" marR="68580" marT="0" marB="0" anchor="ctr"/>
                </a:tc>
              </a:tr>
            </a:tbl>
          </a:graphicData>
        </a:graphic>
      </p:graphicFrame>
    </p:spTree>
    <p:custDataLst>
      <p:tags r:id="rId2"/>
    </p:custData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4.2</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离散程度的度量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695400" y="1556792"/>
            <a:ext cx="5256584" cy="4680520"/>
          </a:xfrm>
          <a:ln w="12700" cmpd="dbl">
            <a:solidFill>
              <a:schemeClr val="accent1"/>
            </a:solidFill>
          </a:ln>
        </p:spPr>
        <p:txBody>
          <a:bodyPr>
            <a:noAutofit/>
          </a:bodyPr>
          <a:lstStyle/>
          <a:p>
            <a:pPr marL="0" indent="0" algn="just">
              <a:buNone/>
            </a:pPr>
            <a:r>
              <a:rPr lang="zh-CN" altLang="zh-CN" sz="1800" b="1" dirty="0">
                <a:solidFill>
                  <a:srgbClr val="FF0000"/>
                </a:solidFill>
                <a:effectLst/>
                <a:latin typeface="NEU-BZ-S92"/>
                <a:ea typeface="华文细黑" panose="02010600040101010101" pitchFamily="2" charset="-122"/>
                <a:cs typeface="Times New Roman" panose="02020603050405020304" pitchFamily="18" charset="0"/>
              </a:rPr>
              <a:t>经验</a:t>
            </a:r>
            <a:r>
              <a:rPr lang="zh-CN" altLang="en-US" sz="1800" b="1" dirty="0">
                <a:solidFill>
                  <a:srgbClr val="FF0000"/>
                </a:solidFill>
                <a:effectLst/>
                <a:latin typeface="NEU-BZ-S92"/>
                <a:ea typeface="华文细黑" panose="02010600040101010101" pitchFamily="2" charset="-122"/>
                <a:cs typeface="Times New Roman" panose="02020603050405020304" pitchFamily="18" charset="0"/>
              </a:rPr>
              <a:t>法则</a:t>
            </a:r>
            <a:endParaRPr lang="en-US" altLang="zh-CN" sz="1800" b="1" dirty="0">
              <a:solidFill>
                <a:srgbClr val="FF0000"/>
              </a:solidFill>
              <a:effectLst/>
              <a:latin typeface="NEU-BZ-S92"/>
              <a:ea typeface="华文细黑" panose="02010600040101010101" pitchFamily="2" charset="-122"/>
              <a:cs typeface="Times New Roman" panose="02020603050405020304" pitchFamily="18"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latin typeface="Calibri" panose="020F0502020204030204" pitchFamily="34" charset="0"/>
                <a:cs typeface="Calibri" panose="020F0502020204030204" pitchFamily="34" charset="0"/>
              </a:rPr>
              <a:t>当一组数据对称分布时</a:t>
            </a:r>
            <a:endParaRPr lang="en-US" altLang="zh-CN" sz="1800" dirty="0">
              <a:latin typeface="Calibri" panose="020F0502020204030204" pitchFamily="34" charset="0"/>
              <a:cs typeface="Calibri" panose="020F0502020204030204" pitchFamily="34" charset="0"/>
            </a:endParaRPr>
          </a:p>
          <a:p>
            <a:pPr marL="811530" lvl="1" indent="-368300" algn="just" defTabSz="685800" eaLnBrk="0" hangingPunct="0">
              <a:spcBef>
                <a:spcPct val="50000"/>
              </a:spcBef>
              <a:buClr>
                <a:srgbClr val="C00000"/>
              </a:buClr>
              <a:buSzPct val="100000"/>
              <a:buFont typeface="Wingdings" panose="05000000000000000000" pitchFamily="2" charset="2"/>
              <a:buChar char="Ø"/>
              <a:defRPr/>
            </a:pPr>
            <a:r>
              <a:rPr lang="zh-CN" altLang="zh-CN" sz="1800" dirty="0">
                <a:latin typeface="+mn-lt"/>
              </a:rPr>
              <a:t>约有</a:t>
            </a:r>
            <a:r>
              <a:rPr lang="en-US" altLang="zh-CN" sz="1800" dirty="0">
                <a:latin typeface="+mn-lt"/>
              </a:rPr>
              <a:t>68%</a:t>
            </a:r>
            <a:r>
              <a:rPr lang="zh-CN" altLang="zh-CN" sz="1800" dirty="0">
                <a:latin typeface="+mn-lt"/>
              </a:rPr>
              <a:t>的数据在平均数加减</a:t>
            </a:r>
            <a:r>
              <a:rPr lang="en-US" altLang="zh-CN" sz="1800" dirty="0">
                <a:latin typeface="+mn-lt"/>
              </a:rPr>
              <a:t>1</a:t>
            </a:r>
            <a:r>
              <a:rPr lang="zh-CN" altLang="zh-CN" sz="1800" dirty="0">
                <a:latin typeface="+mn-lt"/>
              </a:rPr>
              <a:t>个标准差的范围之内</a:t>
            </a:r>
            <a:endParaRPr lang="en-US" altLang="zh-CN" sz="1800" dirty="0">
              <a:latin typeface="+mn-lt"/>
            </a:endParaRPr>
          </a:p>
          <a:p>
            <a:pPr marL="811530" lvl="1" indent="-368300" algn="just" defTabSz="685800" eaLnBrk="0" hangingPunct="0">
              <a:spcBef>
                <a:spcPct val="50000"/>
              </a:spcBef>
              <a:buClr>
                <a:srgbClr val="C00000"/>
              </a:buClr>
              <a:buSzPct val="100000"/>
              <a:buFont typeface="Wingdings" panose="05000000000000000000" pitchFamily="2" charset="2"/>
              <a:buChar char="Ø"/>
              <a:defRPr/>
            </a:pPr>
            <a:r>
              <a:rPr lang="zh-CN" altLang="zh-CN" sz="1800" dirty="0">
                <a:latin typeface="+mn-lt"/>
              </a:rPr>
              <a:t>约有</a:t>
            </a:r>
            <a:r>
              <a:rPr lang="en-US" altLang="zh-CN" sz="1800" dirty="0">
                <a:latin typeface="+mn-lt"/>
              </a:rPr>
              <a:t>95%</a:t>
            </a:r>
            <a:r>
              <a:rPr lang="zh-CN" altLang="zh-CN" sz="1800" dirty="0">
                <a:latin typeface="+mn-lt"/>
              </a:rPr>
              <a:t>的数据在平均数加减</a:t>
            </a:r>
            <a:r>
              <a:rPr lang="en-US" altLang="zh-CN" sz="1800" dirty="0">
                <a:latin typeface="+mn-lt"/>
              </a:rPr>
              <a:t>2</a:t>
            </a:r>
            <a:r>
              <a:rPr lang="zh-CN" altLang="zh-CN" sz="1800" dirty="0">
                <a:latin typeface="+mn-lt"/>
              </a:rPr>
              <a:t>个标准差的范围之内</a:t>
            </a:r>
            <a:endParaRPr lang="en-US" altLang="zh-CN" sz="1800" dirty="0">
              <a:latin typeface="+mn-lt"/>
            </a:endParaRPr>
          </a:p>
          <a:p>
            <a:pPr marL="811530" lvl="1" indent="-368300" algn="just" defTabSz="685800" eaLnBrk="0" hangingPunct="0">
              <a:spcBef>
                <a:spcPct val="50000"/>
              </a:spcBef>
              <a:buClr>
                <a:srgbClr val="C00000"/>
              </a:buClr>
              <a:buSzPct val="100000"/>
              <a:buFont typeface="Wingdings" panose="05000000000000000000" pitchFamily="2" charset="2"/>
              <a:buChar char="Ø"/>
              <a:defRPr/>
            </a:pPr>
            <a:r>
              <a:rPr lang="zh-CN" altLang="zh-CN" sz="1800" dirty="0">
                <a:latin typeface="+mn-lt"/>
              </a:rPr>
              <a:t>约有</a:t>
            </a:r>
            <a:r>
              <a:rPr lang="en-US" altLang="zh-CN" sz="1800" dirty="0">
                <a:latin typeface="+mn-lt"/>
              </a:rPr>
              <a:t>99%</a:t>
            </a:r>
            <a:r>
              <a:rPr lang="zh-CN" altLang="zh-CN" sz="1800" dirty="0">
                <a:latin typeface="+mn-lt"/>
              </a:rPr>
              <a:t>的数据在平均数加减</a:t>
            </a:r>
            <a:r>
              <a:rPr lang="en-US" altLang="zh-CN" sz="1800" dirty="0">
                <a:latin typeface="+mn-lt"/>
              </a:rPr>
              <a:t>3</a:t>
            </a:r>
            <a:r>
              <a:rPr lang="zh-CN" altLang="zh-CN" sz="1800" dirty="0">
                <a:latin typeface="+mn-lt"/>
              </a:rPr>
              <a:t>个标准差的范围之内</a:t>
            </a:r>
            <a:endParaRPr lang="en-US" altLang="zh-CN" sz="1800" dirty="0">
              <a:latin typeface="+mn-lt"/>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latin typeface="Calibri" panose="020F0502020204030204" pitchFamily="34" charset="0"/>
                <a:cs typeface="Calibri" panose="020F0502020204030204" pitchFamily="34" charset="0"/>
              </a:rPr>
              <a:t>在平均数加减</a:t>
            </a:r>
            <a:r>
              <a:rPr lang="en-US" altLang="zh-CN" sz="1800" dirty="0">
                <a:latin typeface="Calibri" panose="020F0502020204030204" pitchFamily="34" charset="0"/>
                <a:cs typeface="Calibri" panose="020F0502020204030204" pitchFamily="34" charset="0"/>
              </a:rPr>
              <a:t>3</a:t>
            </a:r>
            <a:r>
              <a:rPr lang="zh-CN" altLang="zh-CN" sz="1800" dirty="0">
                <a:latin typeface="Calibri" panose="020F0502020204030204" pitchFamily="34" charset="0"/>
                <a:cs typeface="Calibri" panose="020F0502020204030204" pitchFamily="34" charset="0"/>
              </a:rPr>
              <a:t>个标准差的范围内几乎包含了全部数据，而在</a:t>
            </a:r>
            <a:r>
              <a:rPr lang="en-US" altLang="zh-CN" sz="1800" dirty="0">
                <a:latin typeface="Calibri" panose="020F0502020204030204" pitchFamily="34" charset="0"/>
                <a:cs typeface="Calibri" panose="020F0502020204030204" pitchFamily="34" charset="0"/>
              </a:rPr>
              <a:t>3</a:t>
            </a:r>
            <a:r>
              <a:rPr lang="zh-CN" altLang="zh-CN" sz="1800" dirty="0">
                <a:latin typeface="Calibri" panose="020F0502020204030204" pitchFamily="34" charset="0"/>
                <a:cs typeface="Calibri" panose="020F0502020204030204" pitchFamily="34" charset="0"/>
              </a:rPr>
              <a:t>个标准差之外的数据在统计上也称为离群点</a:t>
            </a:r>
            <a:endParaRPr lang="zh-CN" altLang="zh-CN" sz="1800" dirty="0">
              <a:latin typeface="Calibri" panose="020F0502020204030204" pitchFamily="34" charset="0"/>
              <a:cs typeface="Calibri" panose="020F0502020204030204" pitchFamily="34"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标准分数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经验法则与切比雪夫不等式</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Content Placeholder 8"/>
          <p:cNvSpPr txBox="1"/>
          <p:nvPr/>
        </p:nvSpPr>
        <p:spPr>
          <a:xfrm>
            <a:off x="6096000" y="1565514"/>
            <a:ext cx="5400600" cy="4680520"/>
          </a:xfrm>
          <a:prstGeom prst="rect">
            <a:avLst/>
          </a:prstGeom>
          <a:ln w="12700" cmpd="dbl">
            <a:solidFill>
              <a:schemeClr val="accent1"/>
            </a:solidFill>
          </a:ln>
        </p:spPr>
        <p:txBody>
          <a:bodyPr vert="horz">
            <a:no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buNone/>
            </a:pPr>
            <a:r>
              <a:rPr lang="zh-CN" altLang="zh-CN" sz="1800" b="1" dirty="0">
                <a:solidFill>
                  <a:srgbClr val="FF0000"/>
                </a:solidFill>
                <a:latin typeface="NEU-BZ-S92"/>
                <a:cs typeface="Times New Roman" panose="02020603050405020304" pitchFamily="18" charset="0"/>
              </a:rPr>
              <a:t>切比雪夫不等式</a:t>
            </a:r>
            <a:r>
              <a:rPr lang="en-US" altLang="zh-CN" sz="1800" b="1" dirty="0">
                <a:solidFill>
                  <a:srgbClr val="FF0000"/>
                </a:solidFill>
                <a:latin typeface="NEU-BZ-S92"/>
                <a:cs typeface="Times New Roman" panose="02020603050405020304" pitchFamily="18" charset="0"/>
              </a:rPr>
              <a:t>(Chebyshev’s )</a:t>
            </a:r>
            <a:endParaRPr lang="en-US" altLang="zh-CN" sz="1800" b="1" dirty="0">
              <a:solidFill>
                <a:srgbClr val="FF0000"/>
              </a:solidFill>
              <a:latin typeface="NEU-BZ-S92"/>
              <a:cs typeface="Times New Roman" panose="02020603050405020304" pitchFamily="18" charset="0"/>
            </a:endParaRPr>
          </a:p>
          <a:p>
            <a:pPr marL="447675" indent="-447675" algn="just">
              <a:lnSpc>
                <a:spcPct val="150000"/>
              </a:lnSpc>
              <a:buClr>
                <a:schemeClr val="accent1"/>
              </a:buClr>
              <a:buSzPct val="100000"/>
              <a:buFont typeface="Wingdings" panose="05000000000000000000" pitchFamily="2" charset="2"/>
              <a:buChar char="l"/>
              <a:defRPr/>
            </a:pPr>
            <a:r>
              <a:rPr lang="zh-CN" altLang="en-US" sz="1800" dirty="0">
                <a:latin typeface="Calibri" panose="020F0502020204030204" pitchFamily="34" charset="0"/>
                <a:cs typeface="Calibri" panose="020F0502020204030204" pitchFamily="34" charset="0"/>
              </a:rPr>
              <a:t>适用于</a:t>
            </a:r>
            <a:r>
              <a:rPr lang="zh-CN" altLang="zh-CN" sz="1800" dirty="0">
                <a:latin typeface="Calibri" panose="020F0502020204030204" pitchFamily="34" charset="0"/>
                <a:cs typeface="Calibri" panose="020F0502020204030204" pitchFamily="34" charset="0"/>
              </a:rPr>
              <a:t>数据不是对称</a:t>
            </a:r>
            <a:r>
              <a:rPr lang="zh-CN" altLang="en-US" sz="1800" dirty="0">
                <a:latin typeface="Calibri" panose="020F0502020204030204" pitchFamily="34" charset="0"/>
                <a:cs typeface="Calibri" panose="020F0502020204030204" pitchFamily="34" charset="0"/>
              </a:rPr>
              <a:t>时</a:t>
            </a:r>
            <a:endParaRPr lang="en-US" altLang="zh-CN" sz="1800" dirty="0">
              <a:latin typeface="Calibri" panose="020F0502020204030204" pitchFamily="34" charset="0"/>
              <a:cs typeface="Calibri" panose="020F0502020204030204" pitchFamily="34" charset="0"/>
            </a:endParaRPr>
          </a:p>
          <a:p>
            <a:pPr marL="447675" indent="-447675" algn="just">
              <a:lnSpc>
                <a:spcPct val="150000"/>
              </a:lnSpc>
              <a:buClr>
                <a:schemeClr val="accent1"/>
              </a:buClr>
              <a:buSzPct val="100000"/>
              <a:buFont typeface="Wingdings" panose="05000000000000000000" pitchFamily="2" charset="2"/>
              <a:buChar char="l"/>
              <a:defRPr/>
            </a:pPr>
            <a:r>
              <a:rPr lang="zh-CN" altLang="zh-CN" sz="1800" dirty="0">
                <a:latin typeface="Calibri" panose="020F0502020204030204" pitchFamily="34" charset="0"/>
                <a:cs typeface="Calibri" panose="020F0502020204030204" pitchFamily="34" charset="0"/>
              </a:rPr>
              <a:t>切比雪夫不等式提供的是</a:t>
            </a:r>
            <a:r>
              <a:rPr lang="en-US" altLang="zh-CN" sz="1800" dirty="0">
                <a:latin typeface="Calibri" panose="020F0502020204030204" pitchFamily="34" charset="0"/>
                <a:cs typeface="Calibri" panose="020F0502020204030204" pitchFamily="34" charset="0"/>
              </a:rPr>
              <a:t>“</a:t>
            </a:r>
            <a:r>
              <a:rPr lang="zh-CN" altLang="zh-CN" sz="1800" dirty="0">
                <a:latin typeface="Calibri" panose="020F0502020204030204" pitchFamily="34" charset="0"/>
                <a:cs typeface="Calibri" panose="020F0502020204030204" pitchFamily="34" charset="0"/>
              </a:rPr>
              <a:t>下界</a:t>
            </a:r>
            <a:r>
              <a:rPr lang="en-US" altLang="zh-CN" sz="1800" dirty="0">
                <a:latin typeface="Calibri" panose="020F0502020204030204" pitchFamily="34" charset="0"/>
                <a:cs typeface="Calibri" panose="020F0502020204030204" pitchFamily="34" charset="0"/>
              </a:rPr>
              <a:t>”,</a:t>
            </a:r>
            <a:r>
              <a:rPr lang="zh-CN" altLang="zh-CN" sz="1800" dirty="0">
                <a:latin typeface="Calibri" panose="020F0502020204030204" pitchFamily="34" charset="0"/>
                <a:cs typeface="Calibri" panose="020F0502020204030204" pitchFamily="34" charset="0"/>
              </a:rPr>
              <a:t>也就是</a:t>
            </a:r>
            <a:r>
              <a:rPr lang="en-US" altLang="zh-CN" sz="1800" dirty="0">
                <a:latin typeface="Calibri" panose="020F0502020204030204" pitchFamily="34" charset="0"/>
                <a:cs typeface="Calibri" panose="020F0502020204030204" pitchFamily="34" charset="0"/>
              </a:rPr>
              <a:t>“</a:t>
            </a:r>
            <a:r>
              <a:rPr lang="zh-CN" altLang="zh-CN" sz="1800" dirty="0">
                <a:latin typeface="Calibri" panose="020F0502020204030204" pitchFamily="34" charset="0"/>
                <a:cs typeface="Calibri" panose="020F0502020204030204" pitchFamily="34" charset="0"/>
              </a:rPr>
              <a:t>所占比例至少是多少</a:t>
            </a:r>
            <a:r>
              <a:rPr lang="en-US" altLang="zh-CN" sz="1800" dirty="0">
                <a:latin typeface="Calibri" panose="020F0502020204030204" pitchFamily="34" charset="0"/>
                <a:cs typeface="Calibri" panose="020F0502020204030204" pitchFamily="34" charset="0"/>
              </a:rPr>
              <a:t>”,</a:t>
            </a:r>
            <a:r>
              <a:rPr lang="zh-CN" altLang="zh-CN" sz="1800" dirty="0">
                <a:latin typeface="Calibri" panose="020F0502020204030204" pitchFamily="34" charset="0"/>
                <a:cs typeface="Calibri" panose="020F0502020204030204" pitchFamily="34" charset="0"/>
              </a:rPr>
              <a:t>对于任意分布形态的数据</a:t>
            </a:r>
            <a:r>
              <a:rPr lang="en-US" altLang="zh-CN" sz="1800" dirty="0">
                <a:latin typeface="Calibri" panose="020F0502020204030204" pitchFamily="34" charset="0"/>
                <a:cs typeface="Calibri" panose="020F0502020204030204" pitchFamily="34" charset="0"/>
              </a:rPr>
              <a:t>,</a:t>
            </a:r>
            <a:r>
              <a:rPr lang="zh-CN" altLang="zh-CN" sz="1800" dirty="0">
                <a:latin typeface="Calibri" panose="020F0502020204030204" pitchFamily="34" charset="0"/>
                <a:cs typeface="Calibri" panose="020F0502020204030204" pitchFamily="34" charset="0"/>
              </a:rPr>
              <a:t>根据切比雪夫不等式</a:t>
            </a:r>
            <a:r>
              <a:rPr lang="en-US" altLang="zh-CN" sz="1800" dirty="0">
                <a:latin typeface="Calibri" panose="020F0502020204030204" pitchFamily="34" charset="0"/>
                <a:cs typeface="Calibri" panose="020F0502020204030204" pitchFamily="34" charset="0"/>
              </a:rPr>
              <a:t>,</a:t>
            </a:r>
            <a:r>
              <a:rPr lang="zh-CN" altLang="zh-CN" sz="1800" dirty="0">
                <a:latin typeface="Calibri" panose="020F0502020204030204" pitchFamily="34" charset="0"/>
                <a:cs typeface="Calibri" panose="020F0502020204030204" pitchFamily="34" charset="0"/>
              </a:rPr>
              <a:t>至少有</a:t>
            </a:r>
            <a:r>
              <a:rPr lang="en-US" altLang="zh-CN" sz="1800" dirty="0">
                <a:latin typeface="Calibri" panose="020F0502020204030204" pitchFamily="34" charset="0"/>
                <a:cs typeface="Calibri" panose="020F0502020204030204" pitchFamily="34" charset="0"/>
              </a:rPr>
              <a:t>(1-1/k2)</a:t>
            </a:r>
            <a:r>
              <a:rPr lang="zh-CN" altLang="zh-CN" sz="1800" dirty="0">
                <a:latin typeface="Calibri" panose="020F0502020204030204" pitchFamily="34" charset="0"/>
                <a:cs typeface="Calibri" panose="020F0502020204030204" pitchFamily="34" charset="0"/>
              </a:rPr>
              <a:t>的数据落在</a:t>
            </a:r>
            <a:r>
              <a:rPr lang="en-US" altLang="zh-CN" sz="1800" dirty="0">
                <a:latin typeface="Calibri" panose="020F0502020204030204" pitchFamily="34" charset="0"/>
                <a:cs typeface="Calibri" panose="020F0502020204030204" pitchFamily="34" charset="0"/>
              </a:rPr>
              <a:t>±k</a:t>
            </a:r>
            <a:r>
              <a:rPr lang="zh-CN" altLang="zh-CN" sz="1800" dirty="0">
                <a:latin typeface="Calibri" panose="020F0502020204030204" pitchFamily="34" charset="0"/>
                <a:cs typeface="Calibri" panose="020F0502020204030204" pitchFamily="34" charset="0"/>
              </a:rPr>
              <a:t>个标准差之内。其中</a:t>
            </a:r>
            <a:r>
              <a:rPr lang="en-US" altLang="zh-CN" sz="1800" dirty="0">
                <a:latin typeface="Calibri" panose="020F0502020204030204" pitchFamily="34" charset="0"/>
                <a:cs typeface="Calibri" panose="020F0502020204030204" pitchFamily="34" charset="0"/>
              </a:rPr>
              <a:t>k</a:t>
            </a:r>
            <a:r>
              <a:rPr lang="zh-CN" altLang="zh-CN" sz="1800" dirty="0">
                <a:latin typeface="Calibri" panose="020F0502020204030204" pitchFamily="34" charset="0"/>
                <a:cs typeface="Calibri" panose="020F0502020204030204" pitchFamily="34" charset="0"/>
              </a:rPr>
              <a:t>是大于</a:t>
            </a:r>
            <a:r>
              <a:rPr lang="en-US" altLang="zh-CN" sz="1800" dirty="0">
                <a:latin typeface="Calibri" panose="020F0502020204030204" pitchFamily="34" charset="0"/>
                <a:cs typeface="Calibri" panose="020F0502020204030204" pitchFamily="34" charset="0"/>
              </a:rPr>
              <a:t>1</a:t>
            </a:r>
            <a:r>
              <a:rPr lang="zh-CN" altLang="zh-CN" sz="1800" dirty="0">
                <a:latin typeface="Calibri" panose="020F0502020204030204" pitchFamily="34" charset="0"/>
                <a:cs typeface="Calibri" panose="020F0502020204030204" pitchFamily="34" charset="0"/>
              </a:rPr>
              <a:t>的任意值</a:t>
            </a:r>
            <a:r>
              <a:rPr lang="en-US" altLang="zh-CN" sz="1800" dirty="0">
                <a:latin typeface="Calibri" panose="020F0502020204030204" pitchFamily="34" charset="0"/>
                <a:cs typeface="Calibri" panose="020F0502020204030204" pitchFamily="34" charset="0"/>
              </a:rPr>
              <a:t>,</a:t>
            </a:r>
            <a:r>
              <a:rPr lang="zh-CN" altLang="zh-CN" sz="1800" dirty="0">
                <a:latin typeface="Calibri" panose="020F0502020204030204" pitchFamily="34" charset="0"/>
                <a:cs typeface="Calibri" panose="020F0502020204030204" pitchFamily="34" charset="0"/>
              </a:rPr>
              <a:t>但不一定是整数。对于</a:t>
            </a:r>
            <a:r>
              <a:rPr lang="en-US" altLang="zh-CN" sz="1800" dirty="0">
                <a:latin typeface="Calibri" panose="020F0502020204030204" pitchFamily="34" charset="0"/>
                <a:cs typeface="Calibri" panose="020F0502020204030204" pitchFamily="34" charset="0"/>
              </a:rPr>
              <a:t>k=2,3,4,</a:t>
            </a:r>
            <a:r>
              <a:rPr lang="zh-CN" altLang="zh-CN" sz="1800" dirty="0">
                <a:latin typeface="Calibri" panose="020F0502020204030204" pitchFamily="34" charset="0"/>
                <a:cs typeface="Calibri" panose="020F0502020204030204" pitchFamily="34" charset="0"/>
              </a:rPr>
              <a:t>该不等式的含义是</a:t>
            </a:r>
            <a:endParaRPr lang="zh-CN" altLang="zh-CN" sz="1800" dirty="0">
              <a:latin typeface="Calibri" panose="020F0502020204030204" pitchFamily="34" charset="0"/>
              <a:cs typeface="Calibri" panose="020F0502020204030204" pitchFamily="34" charset="0"/>
            </a:endParaRPr>
          </a:p>
          <a:p>
            <a:pPr marL="811530" lvl="1" indent="-368300" algn="just" defTabSz="685800" eaLnBrk="0" hangingPunct="0">
              <a:lnSpc>
                <a:spcPts val="1635"/>
              </a:lnSpc>
              <a:spcBef>
                <a:spcPct val="50000"/>
              </a:spcBef>
              <a:buClr>
                <a:srgbClr val="C00000"/>
              </a:buClr>
              <a:buSzPct val="100000"/>
              <a:buFont typeface="Wingdings" panose="05000000000000000000" pitchFamily="2" charset="2"/>
              <a:buChar char="Ø"/>
              <a:defRPr/>
            </a:pPr>
            <a:r>
              <a:rPr lang="zh-CN" altLang="zh-CN" sz="1800" dirty="0">
                <a:latin typeface="+mn-lt"/>
              </a:rPr>
              <a:t>至少有</a:t>
            </a:r>
            <a:r>
              <a:rPr lang="en-US" altLang="zh-CN" sz="1800" dirty="0">
                <a:latin typeface="+mn-lt"/>
              </a:rPr>
              <a:t>75%</a:t>
            </a:r>
            <a:r>
              <a:rPr lang="zh-CN" altLang="zh-CN" sz="1800" dirty="0">
                <a:latin typeface="+mn-lt"/>
              </a:rPr>
              <a:t>的数据在平均数</a:t>
            </a:r>
            <a:r>
              <a:rPr lang="en-US" altLang="zh-CN" sz="1800" dirty="0">
                <a:latin typeface="+mn-lt"/>
              </a:rPr>
              <a:t>±2</a:t>
            </a:r>
            <a:r>
              <a:rPr lang="zh-CN" altLang="zh-CN" sz="1800" dirty="0">
                <a:latin typeface="+mn-lt"/>
              </a:rPr>
              <a:t>个标准差的范围之内。</a:t>
            </a:r>
            <a:endParaRPr lang="zh-CN" altLang="zh-CN" sz="1800" dirty="0">
              <a:latin typeface="+mn-lt"/>
            </a:endParaRPr>
          </a:p>
          <a:p>
            <a:pPr marL="811530" lvl="1" indent="-368300" algn="just" defTabSz="685800" eaLnBrk="0" hangingPunct="0">
              <a:lnSpc>
                <a:spcPts val="1635"/>
              </a:lnSpc>
              <a:spcBef>
                <a:spcPct val="50000"/>
              </a:spcBef>
              <a:buClr>
                <a:srgbClr val="C00000"/>
              </a:buClr>
              <a:buSzPct val="100000"/>
              <a:buFont typeface="Wingdings" panose="05000000000000000000" pitchFamily="2" charset="2"/>
              <a:buChar char="Ø"/>
              <a:defRPr/>
            </a:pPr>
            <a:r>
              <a:rPr lang="zh-CN" altLang="zh-CN" sz="1800" dirty="0">
                <a:latin typeface="+mn-lt"/>
              </a:rPr>
              <a:t>至少有</a:t>
            </a:r>
            <a:r>
              <a:rPr lang="en-US" altLang="zh-CN" sz="1800" dirty="0">
                <a:latin typeface="+mn-lt"/>
              </a:rPr>
              <a:t>89%</a:t>
            </a:r>
            <a:r>
              <a:rPr lang="zh-CN" altLang="zh-CN" sz="1800" dirty="0">
                <a:latin typeface="+mn-lt"/>
              </a:rPr>
              <a:t>的数据在平均数</a:t>
            </a:r>
            <a:r>
              <a:rPr lang="en-US" altLang="zh-CN" sz="1800" dirty="0">
                <a:latin typeface="+mn-lt"/>
              </a:rPr>
              <a:t>±3</a:t>
            </a:r>
            <a:r>
              <a:rPr lang="zh-CN" altLang="zh-CN" sz="1800" dirty="0">
                <a:latin typeface="+mn-lt"/>
              </a:rPr>
              <a:t>个标准差的范围之内。</a:t>
            </a:r>
            <a:endParaRPr lang="zh-CN" altLang="zh-CN" sz="1800" dirty="0">
              <a:latin typeface="+mn-lt"/>
            </a:endParaRPr>
          </a:p>
          <a:p>
            <a:pPr marL="811530" lvl="1" indent="-368300" algn="just" defTabSz="685800" eaLnBrk="0" hangingPunct="0">
              <a:lnSpc>
                <a:spcPts val="1635"/>
              </a:lnSpc>
              <a:spcBef>
                <a:spcPct val="50000"/>
              </a:spcBef>
              <a:buClr>
                <a:srgbClr val="C00000"/>
              </a:buClr>
              <a:buSzPct val="100000"/>
              <a:buFont typeface="Wingdings" panose="05000000000000000000" pitchFamily="2" charset="2"/>
              <a:buChar char="Ø"/>
              <a:defRPr/>
            </a:pPr>
            <a:r>
              <a:rPr lang="zh-CN" altLang="zh-CN" sz="1800" dirty="0">
                <a:latin typeface="+mn-lt"/>
              </a:rPr>
              <a:t>至少有</a:t>
            </a:r>
            <a:r>
              <a:rPr lang="en-US" altLang="zh-CN" sz="1800" dirty="0">
                <a:latin typeface="+mn-lt"/>
              </a:rPr>
              <a:t>94%</a:t>
            </a:r>
            <a:r>
              <a:rPr lang="zh-CN" altLang="zh-CN" sz="1800" dirty="0">
                <a:latin typeface="+mn-lt"/>
              </a:rPr>
              <a:t>的数据在平均数</a:t>
            </a:r>
            <a:r>
              <a:rPr lang="en-US" altLang="zh-CN" sz="1800" dirty="0">
                <a:latin typeface="+mn-lt"/>
              </a:rPr>
              <a:t>±4</a:t>
            </a:r>
            <a:r>
              <a:rPr lang="zh-CN" altLang="zh-CN" sz="1800" dirty="0">
                <a:latin typeface="+mn-lt"/>
              </a:rPr>
              <a:t>个标准差的范围之内。</a:t>
            </a:r>
            <a:endParaRPr lang="zh-CN" altLang="zh-CN" sz="1800" dirty="0">
              <a:latin typeface="+mn-lt"/>
            </a:endParaRPr>
          </a:p>
        </p:txBody>
      </p:sp>
    </p:spTree>
    <p:custDataLst>
      <p:tags r:id="rId1"/>
    </p:custData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分布形状的度量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10729192" cy="4680520"/>
              </a:xfrm>
              <a:ln w="12700" cmpd="dbl">
                <a:solidFill>
                  <a:schemeClr val="accent1"/>
                </a:solidFill>
              </a:ln>
            </p:spPr>
            <p:txBody>
              <a:bodyPr>
                <a:noAutofit/>
              </a:bodyPr>
              <a:lstStyle/>
              <a:p>
                <a:pPr marL="0" indent="0" algn="just">
                  <a:buNone/>
                </a:pPr>
                <a:r>
                  <a:rPr lang="zh-CN" altLang="zh-CN" sz="2000" b="1" dirty="0">
                    <a:solidFill>
                      <a:srgbClr val="FF0000"/>
                    </a:solidFill>
                    <a:latin typeface="NEU-BZ-S92"/>
                    <a:cs typeface="Times New Roman" panose="02020603050405020304" pitchFamily="18" charset="0"/>
                  </a:rPr>
                  <a:t>偏度系数（</a:t>
                </a:r>
                <a:r>
                  <a:rPr lang="en-US" altLang="zh-CN" sz="2000" b="1" dirty="0">
                    <a:solidFill>
                      <a:srgbClr val="FF0000"/>
                    </a:solidFill>
                    <a:latin typeface="NEU-BZ-S92"/>
                    <a:cs typeface="Times New Roman" panose="02020603050405020304" pitchFamily="18" charset="0"/>
                  </a:rPr>
                  <a:t>coefficient of skewness</a:t>
                </a:r>
                <a:r>
                  <a:rPr lang="zh-CN" altLang="zh-CN" sz="2000" b="1" dirty="0">
                    <a:solidFill>
                      <a:srgbClr val="FF0000"/>
                    </a:solidFill>
                    <a:latin typeface="NEU-BZ-S92"/>
                    <a:cs typeface="Times New Roman" panose="02020603050405020304" pitchFamily="18" charset="0"/>
                  </a:rPr>
                  <a:t>）</a:t>
                </a:r>
                <a:endParaRPr lang="en-US" altLang="zh-CN" sz="2000" b="1" dirty="0">
                  <a:solidFill>
                    <a:srgbClr val="FF0000"/>
                  </a:solidFill>
                  <a:latin typeface="NEU-BZ-S92"/>
                  <a:cs typeface="Times New Roman" panose="02020603050405020304" pitchFamily="18"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偏度（</a:t>
                </a:r>
                <a:r>
                  <a:rPr lang="en-US" altLang="zh-CN" sz="2000" dirty="0">
                    <a:latin typeface="Calibri" panose="020F0502020204030204" pitchFamily="34" charset="0"/>
                    <a:cs typeface="Calibri" panose="020F0502020204030204" pitchFamily="34" charset="0"/>
                  </a:rPr>
                  <a:t>skewness</a:t>
                </a:r>
                <a:r>
                  <a:rPr lang="zh-CN" altLang="zh-CN" sz="2000" dirty="0">
                    <a:latin typeface="Calibri" panose="020F0502020204030204" pitchFamily="34" charset="0"/>
                    <a:cs typeface="Calibri" panose="020F0502020204030204" pitchFamily="34" charset="0"/>
                  </a:rPr>
                  <a:t>）是指数据分布的不对称性</a:t>
                </a:r>
                <a:endParaRPr lang="en-US" altLang="zh-CN" sz="2000" dirty="0">
                  <a:latin typeface="Calibri" panose="020F0502020204030204" pitchFamily="34" charset="0"/>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由统计学家</a:t>
                </a:r>
                <a:r>
                  <a:rPr lang="en-US" altLang="zh-CN" sz="2000" dirty="0">
                    <a:latin typeface="Calibri" panose="020F0502020204030204" pitchFamily="34" charset="0"/>
                    <a:cs typeface="Calibri" panose="020F0502020204030204" pitchFamily="34" charset="0"/>
                  </a:rPr>
                  <a:t>K . Pearson</a:t>
                </a:r>
                <a:r>
                  <a:rPr lang="zh-CN" altLang="zh-CN" sz="2000" dirty="0">
                    <a:latin typeface="Calibri" panose="020F0502020204030204" pitchFamily="34" charset="0"/>
                    <a:cs typeface="Calibri" panose="020F0502020204030204" pitchFamily="34" charset="0"/>
                  </a:rPr>
                  <a:t>于</a:t>
                </a:r>
                <a:r>
                  <a:rPr lang="en-US" altLang="zh-CN" sz="2000" dirty="0">
                    <a:latin typeface="Calibri" panose="020F0502020204030204" pitchFamily="34" charset="0"/>
                    <a:cs typeface="Calibri" panose="020F0502020204030204" pitchFamily="34" charset="0"/>
                  </a:rPr>
                  <a:t>1895</a:t>
                </a:r>
                <a:r>
                  <a:rPr lang="zh-CN" altLang="zh-CN" sz="2000" dirty="0">
                    <a:latin typeface="Calibri" panose="020F0502020204030204" pitchFamily="34" charset="0"/>
                    <a:cs typeface="Calibri" panose="020F0502020204030204" pitchFamily="34" charset="0"/>
                  </a:rPr>
                  <a:t>年首次提出</a:t>
                </a:r>
                <a:endParaRPr lang="en-US" altLang="zh-CN" sz="2000" dirty="0">
                  <a:latin typeface="Calibri" panose="020F0502020204030204" pitchFamily="34" charset="0"/>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测度数据分布不对称性的统计量称为，记为</a:t>
                </a:r>
                <a14:m>
                  <m:oMath xmlns:m="http://schemas.openxmlformats.org/officeDocument/2006/math">
                    <m:r>
                      <a:rPr lang="en-US" altLang="zh-CN" sz="2000">
                        <a:latin typeface="Cambria Math" panose="02040503050406030204" pitchFamily="18" charset="0"/>
                        <a:cs typeface="Calibri" panose="020F0502020204030204" pitchFamily="34" charset="0"/>
                      </a:rPr>
                      <m:t>𝑆𝐾</m:t>
                    </m:r>
                  </m:oMath>
                </a14:m>
                <a:endParaRPr lang="en-US" altLang="zh-CN" sz="2000" dirty="0">
                  <a:latin typeface="Calibri" panose="020F0502020204030204" pitchFamily="34" charset="0"/>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据原始数据计算偏度系数时，通常采用下面的公式：</a:t>
                </a:r>
                <a:endParaRPr lang="zh-CN" altLang="zh-CN" sz="2000" dirty="0">
                  <a:latin typeface="Calibri" panose="020F0502020204030204" pitchFamily="34" charset="0"/>
                  <a:cs typeface="Calibri" panose="020F0502020204030204" pitchFamily="34" charset="0"/>
                </a:endParaRPr>
              </a:p>
              <a:p>
                <a:pPr indent="0" algn="just">
                  <a:buNone/>
                </a:pPr>
                <a14:m>
                  <m:oMathPara xmlns:m="http://schemas.openxmlformats.org/officeDocument/2006/math">
                    <m:oMathParaPr>
                      <m:jc m:val="centerGroup"/>
                    </m:oMathParaPr>
                    <m:oMath xmlns:m="http://schemas.openxmlformats.org/officeDocument/2006/math">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𝑆𝐾</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num>
                        <m:den>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den>
                      </m:f>
                      <m:nary>
                        <m:naryPr>
                          <m:chr m:val="∑"/>
                          <m:subHide m:val="on"/>
                          <m:supHide m:val="on"/>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naryPr>
                        <m:sub/>
                        <m:sup/>
                        <m:e>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d>
                                <m:d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acc>
                                        <m:accPr>
                                          <m:chr m:val="̄"/>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acc>
                                    </m:num>
                                    <m:den>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den>
                                  </m:f>
                                </m:e>
                              </m:d>
                            </m:e>
                            <m:sup>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sup>
                          </m:sSup>
                        </m:e>
                      </m:nary>
                    </m:oMath>
                  </m:oMathPara>
                </a14:m>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当数据对称分布时，偏度系数等于</a:t>
                </a:r>
                <a:r>
                  <a:rPr lang="en-US" altLang="zh-CN" sz="2000" dirty="0">
                    <a:latin typeface="Calibri" panose="020F0502020204030204" pitchFamily="34" charset="0"/>
                    <a:cs typeface="Calibri" panose="020F0502020204030204" pitchFamily="34" charset="0"/>
                  </a:rPr>
                  <a:t>0</a:t>
                </a:r>
                <a:r>
                  <a:rPr lang="zh-CN" altLang="zh-CN" sz="2000" dirty="0">
                    <a:latin typeface="Calibri" panose="020F0502020204030204" pitchFamily="34" charset="0"/>
                    <a:cs typeface="Calibri" panose="020F0502020204030204" pitchFamily="34" charset="0"/>
                  </a:rPr>
                  <a:t>。偏度系数越接近</a:t>
                </a:r>
                <a:r>
                  <a:rPr lang="en-US" altLang="zh-CN" sz="2000" dirty="0">
                    <a:latin typeface="Calibri" panose="020F0502020204030204" pitchFamily="34" charset="0"/>
                    <a:cs typeface="Calibri" panose="020F0502020204030204" pitchFamily="34" charset="0"/>
                  </a:rPr>
                  <a:t>0</a:t>
                </a:r>
                <a:r>
                  <a:rPr lang="zh-CN" altLang="zh-CN" sz="2000" dirty="0">
                    <a:latin typeface="Calibri" panose="020F0502020204030204" pitchFamily="34" charset="0"/>
                    <a:cs typeface="Calibri" panose="020F0502020204030204" pitchFamily="34" charset="0"/>
                  </a:rPr>
                  <a:t>，偏斜程度就越低，就越接近对称分布。如果偏度系数明显不同于</a:t>
                </a:r>
                <a:r>
                  <a:rPr lang="en-US" altLang="zh-CN" sz="2000" dirty="0">
                    <a:latin typeface="Calibri" panose="020F0502020204030204" pitchFamily="34" charset="0"/>
                    <a:cs typeface="Calibri" panose="020F0502020204030204" pitchFamily="34" charset="0"/>
                  </a:rPr>
                  <a:t>0</a:t>
                </a:r>
                <a:r>
                  <a:rPr lang="zh-CN" altLang="zh-CN" sz="2000" dirty="0">
                    <a:latin typeface="Calibri" panose="020F0502020204030204" pitchFamily="34" charset="0"/>
                    <a:cs typeface="Calibri" panose="020F0502020204030204" pitchFamily="34" charset="0"/>
                  </a:rPr>
                  <a:t>，表示分布是非对称的。若偏度系数大于</a:t>
                </a:r>
                <a:r>
                  <a:rPr lang="en-US" altLang="zh-CN" sz="2000" dirty="0">
                    <a:latin typeface="Calibri" panose="020F0502020204030204" pitchFamily="34" charset="0"/>
                    <a:cs typeface="Calibri" panose="020F0502020204030204" pitchFamily="34" charset="0"/>
                  </a:rPr>
                  <a:t>1</a:t>
                </a:r>
                <a:r>
                  <a:rPr lang="zh-CN" altLang="zh-CN" sz="2000" dirty="0">
                    <a:latin typeface="Calibri" panose="020F0502020204030204" pitchFamily="34" charset="0"/>
                    <a:cs typeface="Calibri" panose="020F0502020204030204" pitchFamily="34" charset="0"/>
                  </a:rPr>
                  <a:t>或小于</a:t>
                </a:r>
                <a14:m>
                  <m:oMath xmlns:m="http://schemas.openxmlformats.org/officeDocument/2006/math">
                    <m:r>
                      <a:rPr lang="en-US"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1</m:t>
                    </m:r>
                  </m:oMath>
                </a14:m>
                <a:r>
                  <a:rPr lang="zh-CN" altLang="zh-CN" sz="2000" dirty="0">
                    <a:latin typeface="Calibri" panose="020F0502020204030204" pitchFamily="34" charset="0"/>
                    <a:cs typeface="Calibri" panose="020F0502020204030204" pitchFamily="34" charset="0"/>
                  </a:rPr>
                  <a:t>，视为严重偏斜分布；若偏度系数在</a:t>
                </a:r>
                <a14:m>
                  <m:oMath xmlns:m="http://schemas.openxmlformats.org/officeDocument/2006/math">
                    <m:r>
                      <a:rPr lang="en-US" altLang="zh-CN" sz="2000">
                        <a:latin typeface="Cambria Math" panose="02040503050406030204" pitchFamily="18" charset="0"/>
                        <a:cs typeface="Calibri" panose="020F0502020204030204" pitchFamily="34" charset="0"/>
                      </a:rPr>
                      <m:t>0</m:t>
                    </m:r>
                    <m:r>
                      <a:rPr lang="en-US"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5</m:t>
                    </m:r>
                    <m:r>
                      <a:rPr lang="en-US"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1</m:t>
                    </m:r>
                  </m:oMath>
                </a14:m>
                <a:r>
                  <a:rPr lang="zh-CN" altLang="zh-CN" sz="2000" dirty="0">
                    <a:latin typeface="Calibri" panose="020F0502020204030204" pitchFamily="34" charset="0"/>
                    <a:cs typeface="Calibri" panose="020F0502020204030204" pitchFamily="34" charset="0"/>
                  </a:rPr>
                  <a:t>或</a:t>
                </a:r>
                <a14:m>
                  <m:oMath xmlns:m="http://schemas.openxmlformats.org/officeDocument/2006/math">
                    <m:r>
                      <a:rPr lang="en-US"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0</m:t>
                    </m:r>
                    <m:r>
                      <a:rPr lang="en-US"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5</m:t>
                    </m:r>
                    <m:r>
                      <a:rPr lang="en-US"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1</m:t>
                    </m:r>
                  </m:oMath>
                </a14:m>
                <a:r>
                  <a:rPr lang="zh-CN" altLang="zh-CN" sz="2000" dirty="0">
                    <a:latin typeface="Calibri" panose="020F0502020204030204" pitchFamily="34" charset="0"/>
                    <a:cs typeface="Calibri" panose="020F0502020204030204" pitchFamily="34" charset="0"/>
                  </a:rPr>
                  <a:t>之间，视为是中等偏斜分布；偏度系数小于</a:t>
                </a:r>
                <a:r>
                  <a:rPr lang="en-US" altLang="zh-CN" sz="2000" dirty="0">
                    <a:latin typeface="Calibri" panose="020F0502020204030204" pitchFamily="34" charset="0"/>
                    <a:cs typeface="Calibri" panose="020F0502020204030204" pitchFamily="34" charset="0"/>
                  </a:rPr>
                  <a:t>0.5</a:t>
                </a:r>
                <a:r>
                  <a:rPr lang="zh-CN" altLang="zh-CN" sz="2000" dirty="0">
                    <a:latin typeface="Calibri" panose="020F0502020204030204" pitchFamily="34" charset="0"/>
                    <a:cs typeface="Calibri" panose="020F0502020204030204" pitchFamily="34" charset="0"/>
                  </a:rPr>
                  <a:t>或大于</a:t>
                </a:r>
                <a14:m>
                  <m:oMath xmlns:m="http://schemas.openxmlformats.org/officeDocument/2006/math">
                    <m:r>
                      <a:rPr lang="en-US"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0</m:t>
                    </m:r>
                    <m:r>
                      <a:rPr lang="en-US" altLang="zh-CN" sz="2000">
                        <a:latin typeface="Cambria Math" panose="02040503050406030204" pitchFamily="18" charset="0"/>
                        <a:cs typeface="Calibri" panose="020F0502020204030204" pitchFamily="34" charset="0"/>
                      </a:rPr>
                      <m:t>.</m:t>
                    </m:r>
                    <m:r>
                      <a:rPr lang="en-US" altLang="zh-CN" sz="2000">
                        <a:latin typeface="Cambria Math" panose="02040503050406030204" pitchFamily="18" charset="0"/>
                        <a:cs typeface="Calibri" panose="020F0502020204030204" pitchFamily="34" charset="0"/>
                      </a:rPr>
                      <m:t>5</m:t>
                    </m:r>
                  </m:oMath>
                </a14:m>
                <a:r>
                  <a:rPr lang="zh-CN" altLang="zh-CN" sz="2000" dirty="0">
                    <a:latin typeface="Calibri" panose="020F0502020204030204" pitchFamily="34" charset="0"/>
                    <a:cs typeface="Calibri" panose="020F0502020204030204" pitchFamily="34" charset="0"/>
                  </a:rPr>
                  <a:t>时，视为轻微偏斜。其中负值表示左偏分布（在分布的左侧有长尾），正值则表示右偏分布（在分布的右侧有长尾）</a:t>
                </a:r>
                <a:endParaRPr lang="zh-CN" altLang="zh-CN" sz="2000" dirty="0">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10729192" cy="4680520"/>
              </a:xfrm>
              <a:blipFill rotWithShape="1">
                <a:blip r:embed="rId1"/>
                <a:stretch>
                  <a:fillRect l="-60" t="-511" r="-56"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偏度系数</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分布形状的度量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10729192" cy="4680520"/>
              </a:xfrm>
              <a:ln w="12700" cmpd="dbl">
                <a:solidFill>
                  <a:schemeClr val="accent1"/>
                </a:solidFill>
              </a:ln>
            </p:spPr>
            <p:txBody>
              <a:bodyPr>
                <a:noAutofit/>
              </a:bodyPr>
              <a:lstStyle/>
              <a:p>
                <a:pPr marL="0" indent="0" algn="just">
                  <a:buNone/>
                </a:pPr>
                <a:r>
                  <a:rPr lang="zh-CN" altLang="zh-CN" sz="2000" b="1" dirty="0">
                    <a:solidFill>
                      <a:srgbClr val="FF0000"/>
                    </a:solidFill>
                    <a:latin typeface="NEU-BZ-S92"/>
                    <a:cs typeface="Times New Roman" panose="02020603050405020304" pitchFamily="18" charset="0"/>
                  </a:rPr>
                  <a:t>峰度系数（</a:t>
                </a:r>
                <a:r>
                  <a:rPr lang="en-US" altLang="zh-CN" sz="2000" b="1" dirty="0">
                    <a:solidFill>
                      <a:srgbClr val="FF0000"/>
                    </a:solidFill>
                    <a:latin typeface="NEU-BZ-S92"/>
                    <a:cs typeface="Times New Roman" panose="02020603050405020304" pitchFamily="18" charset="0"/>
                  </a:rPr>
                  <a:t>coefficient of kurtosis</a:t>
                </a:r>
                <a:r>
                  <a:rPr lang="zh-CN" altLang="zh-CN" sz="2000" b="1" dirty="0">
                    <a:solidFill>
                      <a:srgbClr val="FF0000"/>
                    </a:solidFill>
                    <a:latin typeface="NEU-BZ-S92"/>
                    <a:cs typeface="Times New Roman" panose="02020603050405020304" pitchFamily="18" charset="0"/>
                  </a:rPr>
                  <a:t>）</a:t>
                </a:r>
                <a:endParaRPr lang="en-US" altLang="zh-CN" sz="2000" b="1" dirty="0">
                  <a:solidFill>
                    <a:srgbClr val="FF0000"/>
                  </a:solidFill>
                  <a:latin typeface="NEU-BZ-S92"/>
                  <a:cs typeface="Times New Roman" panose="02020603050405020304" pitchFamily="18"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峰度（</a:t>
                </a:r>
                <a:r>
                  <a:rPr lang="en-US" altLang="zh-CN" sz="2000" dirty="0">
                    <a:latin typeface="Calibri" panose="020F0502020204030204" pitchFamily="34" charset="0"/>
                    <a:cs typeface="Calibri" panose="020F0502020204030204" pitchFamily="34" charset="0"/>
                  </a:rPr>
                  <a:t>kurtosis</a:t>
                </a:r>
                <a:r>
                  <a:rPr lang="zh-CN" altLang="zh-CN" sz="2000" dirty="0">
                    <a:latin typeface="Calibri" panose="020F0502020204030204" pitchFamily="34" charset="0"/>
                    <a:cs typeface="Calibri" panose="020F0502020204030204" pitchFamily="34" charset="0"/>
                  </a:rPr>
                  <a:t>）是指数据分布峰值的高低</a:t>
                </a:r>
                <a:endParaRPr lang="en-US" altLang="zh-CN" sz="2000" dirty="0">
                  <a:latin typeface="Calibri" panose="020F0502020204030204" pitchFamily="34" charset="0"/>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由统计学家</a:t>
                </a:r>
                <a:r>
                  <a:rPr lang="en-US" altLang="zh-CN" sz="2000" dirty="0" err="1">
                    <a:latin typeface="Calibri" panose="020F0502020204030204" pitchFamily="34" charset="0"/>
                    <a:cs typeface="Calibri" panose="020F0502020204030204" pitchFamily="34" charset="0"/>
                  </a:rPr>
                  <a:t>K.Pearson</a:t>
                </a:r>
                <a:r>
                  <a:rPr lang="zh-CN" altLang="zh-CN" sz="2000" dirty="0">
                    <a:latin typeface="Calibri" panose="020F0502020204030204" pitchFamily="34" charset="0"/>
                    <a:cs typeface="Calibri" panose="020F0502020204030204" pitchFamily="34" charset="0"/>
                  </a:rPr>
                  <a:t>于</a:t>
                </a:r>
                <a:r>
                  <a:rPr lang="en-US" altLang="zh-CN" sz="2000" dirty="0">
                    <a:latin typeface="Calibri" panose="020F0502020204030204" pitchFamily="34" charset="0"/>
                    <a:cs typeface="Calibri" panose="020F0502020204030204" pitchFamily="34" charset="0"/>
                  </a:rPr>
                  <a:t>1905</a:t>
                </a:r>
                <a:r>
                  <a:rPr lang="zh-CN" altLang="zh-CN" sz="2000" dirty="0">
                    <a:latin typeface="Calibri" panose="020F0502020204030204" pitchFamily="34" charset="0"/>
                    <a:cs typeface="Calibri" panose="020F0502020204030204" pitchFamily="34" charset="0"/>
                  </a:rPr>
                  <a:t>年首次提出</a:t>
                </a:r>
                <a:endParaRPr lang="en-US" altLang="zh-CN" sz="2000" dirty="0">
                  <a:latin typeface="Calibri" panose="020F0502020204030204" pitchFamily="34" charset="0"/>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测度一组数据分布峰值高低的统计量称为，记作</a:t>
                </a:r>
                <a:r>
                  <a:rPr lang="en-US" altLang="zh-CN" sz="2000" dirty="0">
                    <a:latin typeface="Calibri" panose="020F0502020204030204" pitchFamily="34" charset="0"/>
                    <a:cs typeface="Calibri" panose="020F0502020204030204" pitchFamily="34" charset="0"/>
                  </a:rPr>
                  <a:t>K</a:t>
                </a:r>
                <a:endParaRPr lang="en-US" altLang="zh-CN" sz="2000" dirty="0">
                  <a:latin typeface="Calibri" panose="020F0502020204030204" pitchFamily="34" charset="0"/>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据原始数据计算峰度系数时，通常采用下面的公式</a:t>
                </a:r>
                <a:endParaRPr lang="zh-CN" altLang="zh-CN" sz="2000" dirty="0">
                  <a:latin typeface="Calibri" panose="020F0502020204030204" pitchFamily="34" charset="0"/>
                  <a:cs typeface="Calibri" panose="020F0502020204030204" pitchFamily="34" charset="0"/>
                </a:endParaRPr>
              </a:p>
              <a:p>
                <a:pPr indent="0" algn="just">
                  <a:buNone/>
                </a:pPr>
                <a14:m>
                  <m:oMathPara xmlns:m="http://schemas.openxmlformats.org/officeDocument/2006/math">
                    <m:oMathParaPr>
                      <m:jc m:val="centerGroup"/>
                    </m:oMathParaPr>
                    <m:oMath xmlns:m="http://schemas.openxmlformats.org/officeDocument/2006/math">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𝐾</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den>
                      </m:f>
                      <m:nary>
                        <m:naryPr>
                          <m:chr m:val="∑"/>
                          <m:subHide m:val="on"/>
                          <m:supHide m:val="on"/>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naryPr>
                        <m:sub/>
                        <m:sup/>
                        <m:e>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d>
                                <m:d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
                                        <m:sSub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acc>
                                        <m:accPr>
                                          <m:chr m:val="̄"/>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acc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acc>
                                    </m:num>
                                    <m:den>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𝑠</m:t>
                                      </m:r>
                                    </m:den>
                                  </m:f>
                                </m:e>
                              </m:d>
                            </m:e>
                            <m: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m:t>
                              </m:r>
                            </m:sup>
                          </m:sSup>
                        </m:e>
                      </m:nary>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Sup>
                            <m:sSupPr>
                              <m:ctrlPr>
                                <a:rPr lang="zh-CN" altLang="zh-CN" sz="18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e>
                            <m:sup>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d>
                            <m:dPr>
                              <m:ctrlP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ctrlPr>
                            </m:d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e>
                          </m:d>
                          <m:d>
                            <m:dPr>
                              <m:ctrlP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ctrlPr>
                            </m:dPr>
                            <m:e>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𝑛</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18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e>
                          </m:d>
                        </m:den>
                      </m:f>
                    </m:oMath>
                  </m:oMathPara>
                </a14:m>
                <a:endParaRPr lang="en-US" altLang="zh-CN" sz="18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峰度通常是与标准正态分布相比较而言</a:t>
                </a:r>
                <a:endParaRPr lang="en-US" altLang="zh-CN" sz="2000" dirty="0">
                  <a:latin typeface="Calibri" panose="020F0502020204030204" pitchFamily="34" charset="0"/>
                  <a:cs typeface="Calibri" panose="020F0502020204030204" pitchFamily="34" charset="0"/>
                </a:endParaRPr>
              </a:p>
              <a:p>
                <a:pPr marL="447675" indent="-447675" algn="just">
                  <a:buClr>
                    <a:schemeClr val="accent1"/>
                  </a:buClr>
                  <a:buSzPct val="100000"/>
                  <a:buFont typeface="Wingdings" panose="05000000000000000000" pitchFamily="2" charset="2"/>
                  <a:buChar char="l"/>
                  <a:defRPr/>
                </a:pPr>
                <a:r>
                  <a:rPr lang="zh-CN" altLang="zh-CN" sz="2000" dirty="0">
                    <a:latin typeface="Calibri" panose="020F0502020204030204" pitchFamily="34" charset="0"/>
                    <a:cs typeface="Calibri" panose="020F0502020204030204" pitchFamily="34" charset="0"/>
                  </a:rPr>
                  <a:t>由于标准正态分布的峰度系数为</a:t>
                </a:r>
                <a:r>
                  <a:rPr lang="en-US" altLang="zh-CN" sz="2000" dirty="0">
                    <a:latin typeface="Calibri" panose="020F0502020204030204" pitchFamily="34" charset="0"/>
                    <a:cs typeface="Calibri" panose="020F0502020204030204" pitchFamily="34" charset="0"/>
                  </a:rPr>
                  <a:t>0</a:t>
                </a:r>
                <a:r>
                  <a:rPr lang="zh-CN" altLang="zh-CN" sz="2000" dirty="0">
                    <a:latin typeface="Calibri" panose="020F0502020204030204" pitchFamily="34" charset="0"/>
                    <a:cs typeface="Calibri" panose="020F0502020204030204" pitchFamily="34" charset="0"/>
                  </a:rPr>
                  <a:t>，当</a:t>
                </a:r>
                <a14:m>
                  <m:oMath xmlns:m="http://schemas.openxmlformats.org/officeDocument/2006/math">
                    <m:r>
                      <a:rPr lang="en-US" altLang="zh-CN" sz="2000">
                        <a:latin typeface="Cambria Math" panose="02040503050406030204" pitchFamily="18" charset="0"/>
                        <a:cs typeface="Calibri" panose="020F0502020204030204" pitchFamily="34" charset="0"/>
                      </a:rPr>
                      <m:t>𝐾</m:t>
                    </m:r>
                    <m:r>
                      <a:rPr lang="en-US" altLang="zh-CN" sz="2000">
                        <a:latin typeface="Cambria Math" panose="02040503050406030204" pitchFamily="18" charset="0"/>
                        <a:cs typeface="Calibri" panose="020F0502020204030204" pitchFamily="34" charset="0"/>
                      </a:rPr>
                      <m:t>&gt;</m:t>
                    </m:r>
                    <m:r>
                      <a:rPr lang="en-US" altLang="zh-CN" sz="2000">
                        <a:latin typeface="Cambria Math" panose="02040503050406030204" pitchFamily="18" charset="0"/>
                        <a:cs typeface="Calibri" panose="020F0502020204030204" pitchFamily="34" charset="0"/>
                      </a:rPr>
                      <m:t>0</m:t>
                    </m:r>
                  </m:oMath>
                </a14:m>
                <a:r>
                  <a:rPr lang="zh-CN" altLang="zh-CN" sz="2000" dirty="0">
                    <a:latin typeface="Calibri" panose="020F0502020204030204" pitchFamily="34" charset="0"/>
                    <a:cs typeface="Calibri" panose="020F0502020204030204" pitchFamily="34" charset="0"/>
                  </a:rPr>
                  <a:t>时为尖峰分布，数据分布的峰值比标准正态分布高，数据相对集中；当</a:t>
                </a:r>
                <a14:m>
                  <m:oMath xmlns:m="http://schemas.openxmlformats.org/officeDocument/2006/math">
                    <m:r>
                      <a:rPr lang="en-US" altLang="zh-CN" sz="2000">
                        <a:latin typeface="Cambria Math" panose="02040503050406030204" pitchFamily="18" charset="0"/>
                        <a:cs typeface="Calibri" panose="020F0502020204030204" pitchFamily="34" charset="0"/>
                      </a:rPr>
                      <m:t>𝐾</m:t>
                    </m:r>
                    <m:r>
                      <a:rPr lang="en-US" altLang="zh-CN" sz="2000">
                        <a:latin typeface="Cambria Math" panose="02040503050406030204" pitchFamily="18" charset="0"/>
                        <a:cs typeface="Calibri" panose="020F0502020204030204" pitchFamily="34" charset="0"/>
                      </a:rPr>
                      <m:t>&lt;</m:t>
                    </m:r>
                    <m:r>
                      <a:rPr lang="en-US" altLang="zh-CN" sz="2000">
                        <a:latin typeface="Cambria Math" panose="02040503050406030204" pitchFamily="18" charset="0"/>
                        <a:cs typeface="Calibri" panose="020F0502020204030204" pitchFamily="34" charset="0"/>
                      </a:rPr>
                      <m:t>0</m:t>
                    </m:r>
                  </m:oMath>
                </a14:m>
                <a:r>
                  <a:rPr lang="zh-CN" altLang="zh-CN" sz="2000" dirty="0">
                    <a:latin typeface="Calibri" panose="020F0502020204030204" pitchFamily="34" charset="0"/>
                    <a:cs typeface="Calibri" panose="020F0502020204030204" pitchFamily="34" charset="0"/>
                  </a:rPr>
                  <a:t>时为扁平分布，数据分布的峰值比标准正态分布低，数据相对分散</a:t>
                </a:r>
                <a:endParaRPr lang="zh-CN" altLang="zh-CN" sz="2000" dirty="0">
                  <a:latin typeface="Calibri" panose="020F0502020204030204" pitchFamily="34" charset="0"/>
                  <a:cs typeface="Calibri" panose="020F0502020204030204" pitchFamily="34"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10729192" cy="4680520"/>
              </a:xfrm>
              <a:blipFill rotWithShape="1">
                <a:blip r:embed="rId1"/>
                <a:stretch>
                  <a:fillRect l="-60" t="-511" r="-56"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峰度系数</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4.3</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分布形状的度量</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Content Placeholder 8"/>
              <p:cNvSpPr>
                <a:spLocks noGrp="1"/>
              </p:cNvSpPr>
              <p:nvPr>
                <p:ph sz="quarter" idx="2"/>
              </p:nvPr>
            </p:nvSpPr>
            <p:spPr>
              <a:xfrm>
                <a:off x="695400" y="1556792"/>
                <a:ext cx="10729192" cy="4680520"/>
              </a:xfrm>
              <a:ln w="12700" cmpd="dbl">
                <a:solidFill>
                  <a:schemeClr val="accent1"/>
                </a:solidFill>
              </a:ln>
            </p:spPr>
            <p:txBody>
              <a:bodyPr>
                <a:noAutofit/>
              </a:bodyPr>
              <a:lstStyle/>
              <a:p>
                <a:pPr marL="0" indent="0" algn="just">
                  <a:lnSpc>
                    <a:spcPct val="150000"/>
                  </a:lnSpc>
                  <a:buNone/>
                </a:pP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【例</a:t>
                </a:r>
                <a:r>
                  <a:rPr lang="en-US" altLang="zh-CN" sz="2000" b="1" dirty="0">
                    <a:solidFill>
                      <a:srgbClr val="FF0000"/>
                    </a:solidFill>
                    <a:effectLst/>
                    <a:latin typeface="Calibri" panose="020F0502020204030204" pitchFamily="34" charset="0"/>
                    <a:ea typeface="华文细黑" panose="02010600040101010101" pitchFamily="2" charset="-122"/>
                    <a:cs typeface="Times New Roman" panose="02020603050405020304" pitchFamily="18" charset="0"/>
                  </a:rPr>
                  <a:t>4.10</a:t>
                </a: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沿用例</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。计算</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30</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个人网购金额的偏度系数和峰度系数。</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r>
                  <a:rPr lang="zh-CN" altLang="zh-CN" sz="2000" b="1" dirty="0">
                    <a:solidFill>
                      <a:srgbClr val="FF0000"/>
                    </a:solidFill>
                    <a:effectLst/>
                    <a:latin typeface="Calibri" panose="020F0502020204030204" pitchFamily="34" charset="0"/>
                    <a:ea typeface="华文细黑" panose="02010600040101010101" pitchFamily="2" charset="-122"/>
                    <a:cs typeface="Calibri" panose="020F0502020204030204" pitchFamily="34" charset="0"/>
                  </a:rPr>
                  <a:t>解：</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4.17</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）得偏度系数为</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14:m>
                  <m:oMathPara xmlns:m="http://schemas.openxmlformats.org/officeDocument/2006/math">
                    <m:oMathParaPr>
                      <m:jc m:val="centerGroup"/>
                    </m:oMathParaPr>
                    <m:oMath xmlns:m="http://schemas.openxmlformats.org/officeDocument/2006/math">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𝑆𝐾</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num>
                        <m:den>
                          <m:d>
                            <m:d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e>
                          </m:d>
                          <m:d>
                            <m:d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e>
                          </m:d>
                        </m:den>
                      </m:f>
                      <m:nary>
                        <m:naryPr>
                          <m:chr m:val="∑"/>
                          <m:subHide m:val="on"/>
                          <m:supHide m:val="on"/>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naryPr>
                        <m:sub/>
                        <m:sup/>
                        <m:e>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d>
                                <m:d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488</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95</m:t>
                                      </m:r>
                                    </m:num>
                                    <m:den>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97</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62</m:t>
                                      </m:r>
                                    </m:den>
                                  </m:f>
                                </m:e>
                              </m:d>
                            </m:e>
                            <m:sup>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sup>
                          </m:sSup>
                        </m:e>
                      </m:nary>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num>
                        <m:den>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den>
                      </m:f>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9</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217966</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0</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m:t>
                      </m:r>
                      <m:r>
                        <a:rPr lang="en-US" altLang="zh-CN" sz="2000">
                          <a:solidFill>
                            <a:srgbClr val="000000"/>
                          </a:solidFill>
                          <a:effectLst/>
                          <a:latin typeface="Cambria Math" panose="02040503050406030204" pitchFamily="18" charset="0"/>
                          <a:ea typeface="等线" panose="02010600030101010101" pitchFamily="2" charset="-122"/>
                          <a:cs typeface="宋体" panose="02010600030101010101" pitchFamily="2" charset="-122"/>
                        </a:rPr>
                        <m:t>3406</m:t>
                      </m:r>
                    </m:oMath>
                  </m:oMathPara>
                </a14:m>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结果表示，网购金额为轻微的右偏</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根据式（</a:t>
                </a:r>
                <a:r>
                  <a:rPr lang="en-US" altLang="zh-CN" sz="2000" dirty="0">
                    <a:solidFill>
                      <a:srgbClr val="000000"/>
                    </a:solidFill>
                    <a:effectLst/>
                    <a:latin typeface="Calibri" panose="020F0502020204030204" pitchFamily="34" charset="0"/>
                    <a:ea typeface="华文细黑" panose="02010600040101010101" pitchFamily="2" charset="-122"/>
                    <a:cs typeface="Times New Roman" panose="02020603050405020304" pitchFamily="18" charset="0"/>
                  </a:rPr>
                  <a:t>4.18</a:t>
                </a:r>
                <a:r>
                  <a:rPr lang="zh-CN" altLang="zh-CN" sz="2000" dirty="0">
                    <a:solidFill>
                      <a:srgbClr val="000000"/>
                    </a:solidFill>
                    <a:effectLst/>
                    <a:latin typeface="Calibri" panose="020F0502020204030204" pitchFamily="34" charset="0"/>
                    <a:ea typeface="华文细黑" panose="02010600040101010101" pitchFamily="2" charset="-122"/>
                    <a:cs typeface="Calibri" panose="020F0502020204030204" pitchFamily="34" charset="0"/>
                  </a:rPr>
                  <a:t>）得峰度系数为</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a:p>
                <a:pPr indent="0" algn="just">
                  <a:lnSpc>
                    <a:spcPct val="150000"/>
                  </a:lnSpc>
                  <a:buNone/>
                </a:pPr>
                <a14:m>
                  <m:oMathPara xmlns:m="http://schemas.openxmlformats.org/officeDocument/2006/math">
                    <m:oMathParaPr>
                      <m:jc m:val="centerGroup"/>
                    </m:oMathParaPr>
                    <m:oMath xmlns:m="http://schemas.openxmlformats.org/officeDocument/2006/math">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𝐾</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num>
                        <m:den>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den>
                      </m:f>
                      <m:nary>
                        <m:naryPr>
                          <m:chr m:val="∑"/>
                          <m:subHide m:val="on"/>
                          <m:supHide m:val="on"/>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naryPr>
                        <m:sub/>
                        <m:sup/>
                        <m:e>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d>
                                <m:d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sSub>
                                        <m:sSub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b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𝑥</m:t>
                                          </m:r>
                                        </m:e>
                                        <m:sub>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𝑖</m:t>
                                          </m:r>
                                        </m:sub>
                                      </m:sSub>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488</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95</m:t>
                                      </m:r>
                                    </m:num>
                                    <m:den>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97</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62</m:t>
                                      </m:r>
                                    </m:den>
                                  </m:f>
                                </m:e>
                              </m:d>
                            </m:e>
                            <m:sup>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m:t>
                              </m:r>
                            </m:sup>
                          </m:sSup>
                        </m:e>
                      </m:nary>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f>
                        <m:f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fPr>
                        <m:num>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1</m:t>
                          </m:r>
                          <m:sSup>
                            <m:sSup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e>
                            <m:sup>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sup>
                          </m:sSup>
                        </m:num>
                        <m:den>
                          <m:d>
                            <m:d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2</m:t>
                              </m:r>
                            </m:e>
                          </m:d>
                          <m:d>
                            <m:dPr>
                              <m:ctrlPr>
                                <a:rPr lang="zh-CN" altLang="zh-CN" sz="2000" i="1">
                                  <a:solidFill>
                                    <a:srgbClr val="000000"/>
                                  </a:solidFill>
                                  <a:effectLst/>
                                  <a:latin typeface="Cambria Math" panose="02040503050406030204" pitchFamily="18" charset="0"/>
                                  <a:ea typeface="Cambria Math" panose="02040503050406030204" pitchFamily="18" charset="0"/>
                                  <a:cs typeface="Calibri" panose="020F0502020204030204" pitchFamily="34" charset="0"/>
                                </a:rPr>
                              </m:ctrlPr>
                            </m:dPr>
                            <m:e>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3</m:t>
                              </m:r>
                            </m:e>
                          </m:d>
                        </m:den>
                      </m:f>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0</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m:t>
                      </m:r>
                      <m:r>
                        <a:rPr lang="en-US" altLang="zh-CN" sz="2000" i="1">
                          <a:solidFill>
                            <a:srgbClr val="000000"/>
                          </a:solidFill>
                          <a:effectLst/>
                          <a:latin typeface="Cambria Math" panose="02040503050406030204" pitchFamily="18" charset="0"/>
                          <a:ea typeface="华文细黑" panose="02010600040101010101" pitchFamily="2" charset="-122"/>
                          <a:cs typeface="Calibri" panose="020F0502020204030204" pitchFamily="34" charset="0"/>
                        </a:rPr>
                        <m:t>4075</m:t>
                      </m:r>
                    </m:oMath>
                  </m:oMathPara>
                </a14:m>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p:txBody>
          </p:sp>
        </mc:Choice>
        <mc:Fallback>
          <p:sp>
            <p:nvSpPr>
              <p:cNvPr id="9" name="Content Placeholder 8"/>
              <p:cNvSpPr>
                <a:spLocks noRot="1" noChangeAspect="1" noMove="1" noResize="1" noEditPoints="1" noAdjustHandles="1" noChangeArrowheads="1" noChangeShapeType="1" noTextEdit="1"/>
              </p:cNvSpPr>
              <p:nvPr>
                <p:ph sz="quarter" idx="2"/>
              </p:nvPr>
            </p:nvSpPr>
            <p:spPr>
              <a:xfrm>
                <a:off x="695400" y="1556792"/>
                <a:ext cx="10729192" cy="4680520"/>
              </a:xfrm>
              <a:blipFill rotWithShape="1">
                <a:blip r:embed="rId1"/>
                <a:stretch>
                  <a:fillRect l="-60" t="-144" r="-56" b="-128"/>
                </a:stretch>
              </a:blipFill>
              <a:ln w="12700" cmpd="dbl">
                <a:solidFill>
                  <a:schemeClr val="accent1"/>
                </a:solidFill>
              </a:ln>
            </p:spPr>
            <p:txBody>
              <a:bodyPr/>
              <a:lstStyle/>
              <a:p>
                <a:r>
                  <a:rPr lang="zh-CN" altLang="en-US">
                    <a:noFill/>
                  </a:rPr>
                  <a:t> </a:t>
                </a:r>
              </a:p>
            </p:txBody>
          </p:sp>
        </mc:Fallback>
      </mc:AlternateContent>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偏度系数与峰度系数</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例题分析</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zh-CN" altLang="en-US" sz="3000" b="1" dirty="0">
                <a:solidFill>
                  <a:schemeClr val="tx1"/>
                </a:solidFill>
                <a:latin typeface="微软雅黑" panose="020B0503020204020204" pitchFamily="34" charset="-122"/>
                <a:ea typeface="微软雅黑" panose="020B0503020204020204" pitchFamily="34" charset="-122"/>
              </a:rPr>
              <a:t>描述统计量的计算</a:t>
            </a:r>
            <a:endParaRPr lang="zh-CN" altLang="en-US" sz="3000" b="1" dirty="0">
              <a:solidFill>
                <a:schemeClr val="tx1"/>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695400" y="1556792"/>
            <a:ext cx="5544616" cy="4680520"/>
          </a:xfrm>
          <a:ln w="12700" cmpd="dbl">
            <a:solidFill>
              <a:schemeClr val="accent1"/>
            </a:solidFill>
          </a:ln>
        </p:spPr>
        <p:txBody>
          <a:bodyPr>
            <a:noAutofit/>
          </a:bodyPr>
          <a:lstStyle/>
          <a:p>
            <a:pPr marL="0" indent="0" algn="just">
              <a:lnSpc>
                <a:spcPct val="150000"/>
              </a:lnSpc>
              <a:buNone/>
            </a:pPr>
            <a:r>
              <a:rPr lang="zh-CN" altLang="zh-CN" sz="2000" b="1" dirty="0">
                <a:solidFill>
                  <a:srgbClr val="C00000"/>
                </a:solidFill>
                <a:effectLst/>
                <a:latin typeface="NEU-BZ-S92"/>
                <a:ea typeface="华文细黑" panose="02010600040101010101" pitchFamily="2" charset="-122"/>
                <a:cs typeface="Times New Roman" panose="02020603050405020304" pitchFamily="18" charset="0"/>
              </a:rPr>
              <a:t>用【数据分析】工具计算描述统计量</a:t>
            </a:r>
            <a:endParaRPr lang="zh-CN" altLang="zh-CN" sz="2000" dirty="0">
              <a:solidFill>
                <a:srgbClr val="C00000"/>
              </a:solidFill>
              <a:effectLst/>
              <a:latin typeface="NEU-BZ-S92"/>
              <a:ea typeface="方正书宋_GBK" panose="02000000000000000000" charset="-122"/>
              <a:cs typeface="Times New Roman" panose="02020603050405020304" pitchFamily="18" charset="0"/>
            </a:endParaRPr>
          </a:p>
          <a:p>
            <a:pPr marL="0" indent="0" algn="just">
              <a:lnSpc>
                <a:spcPct val="150000"/>
              </a:lnSpc>
              <a:buNone/>
            </a:pPr>
            <a:r>
              <a:rPr lang="zh-CN" altLang="zh-CN" sz="2000" dirty="0">
                <a:cs typeface="Times New Roman" panose="02020603050405020304" pitchFamily="18" charset="0"/>
              </a:rPr>
              <a:t>第</a:t>
            </a:r>
            <a:r>
              <a:rPr lang="en-US" altLang="zh-CN" sz="2000" dirty="0">
                <a:cs typeface="Times New Roman" panose="02020603050405020304" pitchFamily="18" charset="0"/>
              </a:rPr>
              <a:t>1</a:t>
            </a:r>
            <a:r>
              <a:rPr lang="zh-CN" altLang="zh-CN" sz="2000" dirty="0">
                <a:cs typeface="Times New Roman" panose="02020603050405020304" pitchFamily="18" charset="0"/>
              </a:rPr>
              <a:t>步：将光标放在任意空白单元格。然后点击【数据】</a:t>
            </a:r>
            <a:r>
              <a:rPr lang="en-US" altLang="zh-CN" sz="2000" dirty="0">
                <a:cs typeface="Times New Roman" panose="02020603050405020304" pitchFamily="18" charset="0"/>
                <a:sym typeface="Wingdings 3" panose="05040102010807070707" pitchFamily="18" charset="2"/>
              </a:rPr>
              <a:t></a:t>
            </a:r>
            <a:r>
              <a:rPr lang="zh-CN" altLang="zh-CN" sz="2000" dirty="0">
                <a:cs typeface="Times New Roman" panose="02020603050405020304" pitchFamily="18" charset="0"/>
              </a:rPr>
              <a:t>【数据分析】。在分析工具中选择【描述统计】。单击【确定】</a:t>
            </a:r>
            <a:endParaRPr lang="en-US" altLang="zh-CN" sz="2000" dirty="0">
              <a:cs typeface="Times New Roman" panose="02020603050405020304" pitchFamily="18" charset="0"/>
            </a:endParaRPr>
          </a:p>
          <a:p>
            <a:pPr marL="0" indent="0" algn="just">
              <a:lnSpc>
                <a:spcPct val="150000"/>
              </a:lnSpc>
              <a:buNone/>
            </a:pPr>
            <a:r>
              <a:rPr lang="zh-CN" altLang="zh-CN" sz="2000" dirty="0">
                <a:effectLst/>
                <a:ea typeface="华文细黑" panose="02010600040101010101" pitchFamily="2" charset="-122"/>
                <a:cs typeface="Times New Roman" panose="02020603050405020304" pitchFamily="18" charset="0"/>
              </a:rPr>
              <a:t>第</a:t>
            </a:r>
            <a:r>
              <a:rPr lang="en-US" altLang="zh-CN" sz="2000" dirty="0">
                <a:effectLst/>
                <a:ea typeface="华文细黑" panose="02010600040101010101" pitchFamily="2" charset="-122"/>
                <a:cs typeface="Times New Roman" panose="02020603050405020304" pitchFamily="18" charset="0"/>
              </a:rPr>
              <a:t>2</a:t>
            </a:r>
            <a:r>
              <a:rPr lang="zh-CN" altLang="zh-CN" sz="2000" dirty="0">
                <a:effectLst/>
                <a:ea typeface="华文细黑" panose="02010600040101010101" pitchFamily="2" charset="-122"/>
                <a:cs typeface="Times New Roman" panose="02020603050405020304" pitchFamily="18" charset="0"/>
              </a:rPr>
              <a:t>步：在【输入区域】输入原始数据所在的区域；在【输出选项】中选择结果的输出位置；选择【汇总统计】（其他选项可根据需要选择）。单击【确定】即可得到结果</a:t>
            </a:r>
            <a:endParaRPr lang="zh-CN" altLang="zh-CN" sz="2000" dirty="0">
              <a:solidFill>
                <a:srgbClr val="000000"/>
              </a:solidFill>
              <a:effectLst/>
              <a:latin typeface="NEU-BZ-S92"/>
              <a:ea typeface="方正书宋_GBK" panose="02000000000000000000" charset="-122"/>
              <a:cs typeface="Times New Roman" panose="02020603050405020304" pitchFamily="18"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Excel</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应用</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6384032" y="1556792"/>
            <a:ext cx="5115475" cy="4680520"/>
          </a:xfrm>
          <a:prstGeom prst="rect">
            <a:avLst/>
          </a:prstGeom>
          <a:noFill/>
          <a:ln>
            <a:noFill/>
          </a:ln>
        </p:spPr>
      </p:pic>
    </p:spTree>
    <p:custDataLst>
      <p:tags r:id="rId2"/>
    </p:custDataLst>
  </p:cSld>
  <p:clrMapOvr>
    <a:masterClrMapping/>
  </p:clrMapOvr>
  <p:transition spd="slow">
    <p:wipe dir="r"/>
  </p:transition>
</p:sld>
</file>

<file path=ppt/tags/tag1.xml><?xml version="1.0" encoding="utf-8"?>
<p:tagLst xmlns:p="http://schemas.openxmlformats.org/presentationml/2006/main">
  <p:tag name="LOCALSLIDEID" val="17902975999564526"/>
</p:tagLst>
</file>

<file path=ppt/tags/tag2.xml><?xml version="1.0" encoding="utf-8"?>
<p:tagLst xmlns:p="http://schemas.openxmlformats.org/presentationml/2006/main">
  <p:tag name="LOCALSLIDEID" val="17902975999568088"/>
</p:tagLst>
</file>

<file path=ppt/tags/tag3.xml><?xml version="1.0" encoding="utf-8"?>
<p:tagLst xmlns:p="http://schemas.openxmlformats.org/presentationml/2006/main">
  <p:tag name="LOCALSLIDEID" val="17902975999570715"/>
</p:tagLst>
</file>

<file path=ppt/tags/tag4.xml><?xml version="1.0" encoding="utf-8"?>
<p:tagLst xmlns:p="http://schemas.openxmlformats.org/presentationml/2006/main">
  <p:tag name="LOCALSLIDEID" val="17902975999574984"/>
</p:tagLst>
</file>

<file path=ppt/tags/tag5.xml><?xml version="1.0" encoding="utf-8"?>
<p:tagLst xmlns:p="http://schemas.openxmlformats.org/presentationml/2006/main">
  <p:tag name="LOCALSLIDEID" val="17902975999574763"/>
</p:tagLst>
</file>

<file path=ppt/tags/tag6.xml><?xml version="1.0" encoding="utf-8"?>
<p:tagLst xmlns:p="http://schemas.openxmlformats.org/presentationml/2006/main">
  <p:tag name="LOCALSLIDEID" val="17902975999585707"/>
</p:tagLst>
</file>

<file path=ppt/tags/tag7.xml><?xml version="1.0" encoding="utf-8"?>
<p:tagLst xmlns:p="http://schemas.openxmlformats.org/presentationml/2006/main">
  <p:tag name="LOCALSLIDEID" val="17902975999580147"/>
</p:tagLst>
</file>

<file path=ppt/tags/tag8.xml><?xml version="1.0" encoding="utf-8"?>
<p:tagLst xmlns:p="http://schemas.openxmlformats.org/presentationml/2006/main">
  <p:tag name="LOCALSLIDEID" val="17902975999594904"/>
</p:tagLst>
</file>

<file path=ppt/tags/tag9.xml><?xml version="1.0" encoding="utf-8"?>
<p:tagLst xmlns:p="http://schemas.openxmlformats.org/presentationml/2006/main">
  <p:tag name="LOCALSLIDEID" val="17902975999591442"/>
</p:tagLst>
</file>

<file path=ppt/tags/tag10.xml><?xml version="1.0" encoding="utf-8"?>
<p:tagLst xmlns:p="http://schemas.openxmlformats.org/presentationml/2006/main">
  <p:tag name="LOCALSLIDEID" val="17902975999596811"/>
</p:tagLst>
</file>

<file path=ppt/tags/tag11.xml><?xml version="1.0" encoding="utf-8"?>
<p:tagLst xmlns:p="http://schemas.openxmlformats.org/presentationml/2006/main">
  <p:tag name="LOCALSLIDEID" val="17902975999608481"/>
</p:tagLst>
</file>

<file path=ppt/tags/tag12.xml><?xml version="1.0" encoding="utf-8"?>
<p:tagLst xmlns:p="http://schemas.openxmlformats.org/presentationml/2006/main">
  <p:tag name="LOCALSLIDEID" val="17902975999601762"/>
</p:tagLst>
</file>

<file path=ppt/tags/tag13.xml><?xml version="1.0" encoding="utf-8"?>
<p:tagLst xmlns:p="http://schemas.openxmlformats.org/presentationml/2006/main">
  <p:tag name="LOCALSLIDEID" val="17902975999607505"/>
</p:tagLst>
</file>

<file path=ppt/tags/tag14.xml><?xml version="1.0" encoding="utf-8"?>
<p:tagLst xmlns:p="http://schemas.openxmlformats.org/presentationml/2006/main">
  <p:tag name="LOCALSLIDEID" val="17902975999610849"/>
</p:tagLst>
</file>

<file path=ppt/tags/tag15.xml><?xml version="1.0" encoding="utf-8"?>
<p:tagLst xmlns:p="http://schemas.openxmlformats.org/presentationml/2006/main">
  <p:tag name="LOCALSLIDEID" val="17902975999613505"/>
</p:tagLst>
</file>

<file path=ppt/tags/tag16.xml><?xml version="1.0" encoding="utf-8"?>
<p:tagLst xmlns:p="http://schemas.openxmlformats.org/presentationml/2006/main">
  <p:tag name="LOCALSLIDEID" val="17902975999622354"/>
</p:tagLst>
</file>

<file path=ppt/tags/tag17.xml><?xml version="1.0" encoding="utf-8"?>
<p:tagLst xmlns:p="http://schemas.openxmlformats.org/presentationml/2006/main">
  <p:tag name="LOCALSLIDEID" val="17902975999620405"/>
</p:tagLst>
</file>

<file path=ppt/tags/tag18.xml><?xml version="1.0" encoding="utf-8"?>
<p:tagLst xmlns:p="http://schemas.openxmlformats.org/presentationml/2006/main">
  <p:tag name="LOCALSLIDEID" val="17902975999632719"/>
</p:tagLst>
</file>

<file path=ppt/tags/tag19.xml><?xml version="1.0" encoding="utf-8"?>
<p:tagLst xmlns:p="http://schemas.openxmlformats.org/presentationml/2006/main">
  <p:tag name="LOCALSLIDEID" val="17902975999639604"/>
</p:tagLst>
</file>

<file path=ppt/tags/tag20.xml><?xml version="1.0" encoding="utf-8"?>
<p:tagLst xmlns:p="http://schemas.openxmlformats.org/presentationml/2006/main">
  <p:tag name="LOCALSLIDEID" val="17902975999632936"/>
</p:tagLst>
</file>

<file path=ppt/tags/tag21.xml><?xml version="1.0" encoding="utf-8"?>
<p:tagLst xmlns:p="http://schemas.openxmlformats.org/presentationml/2006/main">
  <p:tag name="LOCALSLIDEID" val="17902975999643837"/>
</p:tagLst>
</file>

<file path=ppt/tags/tag22.xml><?xml version="1.0" encoding="utf-8"?>
<p:tagLst xmlns:p="http://schemas.openxmlformats.org/presentationml/2006/main">
  <p:tag name="LOCALSLIDEID" val="17902975999646240"/>
</p:tagLst>
</file>

<file path=ppt/tags/tag23.xml><?xml version="1.0" encoding="utf-8"?>
<p:tagLst xmlns:p="http://schemas.openxmlformats.org/presentationml/2006/main">
  <p:tag name="LOCALSLIDEID" val="17902975999646355"/>
</p:tagLst>
</file>

<file path=ppt/tags/tag24.xml><?xml version="1.0" encoding="utf-8"?>
<p:tagLst xmlns:p="http://schemas.openxmlformats.org/presentationml/2006/main">
  <p:tag name="LOCALSLIDEID" val="17902975999651670"/>
</p:tagLst>
</file>

<file path=ppt/tags/tag25.xml><?xml version="1.0" encoding="utf-8"?>
<p:tagLst xmlns:p="http://schemas.openxmlformats.org/presentationml/2006/main">
  <p:tag name="LOCALPRESID" val="17902975999531348"/>
</p:tagLst>
</file>

<file path=ppt/theme/_rels/them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AcademicPresentation1_TP10352479">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用于大学课程的学术演示文稿（纸张和铅笔设计）</Template>
  <TotalTime>0</TotalTime>
  <Words>8070</Words>
  <Application>WPS 演示</Application>
  <PresentationFormat>宽屏</PresentationFormat>
  <Paragraphs>685</Paragraphs>
  <Slides>24</Slides>
  <Notes>26</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24</vt:i4>
      </vt:variant>
    </vt:vector>
  </HeadingPairs>
  <TitlesOfParts>
    <vt:vector size="46" baseType="lpstr">
      <vt:lpstr>Arial</vt:lpstr>
      <vt:lpstr>宋体</vt:lpstr>
      <vt:lpstr>Wingdings</vt:lpstr>
      <vt:lpstr>微软雅黑</vt:lpstr>
      <vt:lpstr>华文细黑</vt:lpstr>
      <vt:lpstr>Wingdings</vt:lpstr>
      <vt:lpstr>Wingdings 2</vt:lpstr>
      <vt:lpstr>Calibri</vt:lpstr>
      <vt:lpstr>Calibri</vt:lpstr>
      <vt:lpstr>Times New Roman</vt:lpstr>
      <vt:lpstr>NEU-BZ-S92</vt:lpstr>
      <vt:lpstr>Segoe Print</vt:lpstr>
      <vt:lpstr>方正书宋_GBK</vt:lpstr>
      <vt:lpstr>Cambria Math</vt:lpstr>
      <vt:lpstr>MS Gothic</vt:lpstr>
      <vt:lpstr>Tw Cen MT</vt:lpstr>
      <vt:lpstr>华文仿宋</vt:lpstr>
      <vt:lpstr>Arial Unicode MS</vt:lpstr>
      <vt:lpstr>DejaVu Math TeX Gyre</vt:lpstr>
      <vt:lpstr>等线</vt:lpstr>
      <vt:lpstr>Wingdings 3</vt:lpstr>
      <vt:lpstr>AcademicPresentation1_TP10352479</vt:lpstr>
      <vt:lpstr>PowerPoint 演示文稿</vt:lpstr>
      <vt:lpstr>导  读</vt:lpstr>
      <vt:lpstr>4.1   集中趋势的度量</vt:lpstr>
      <vt:lpstr>4.1   集中趋势的度量</vt:lpstr>
      <vt:lpstr>4.1   集中趋势的度量</vt:lpstr>
      <vt:lpstr>4.1   集中趋势的度量</vt:lpstr>
      <vt:lpstr>4.1   集中趋势的度量</vt:lpstr>
      <vt:lpstr>4.1   集中趋势的度量</vt:lpstr>
      <vt:lpstr>4.1   集中趋势的度量</vt:lpstr>
      <vt:lpstr>4.1   集中趋势的度量</vt:lpstr>
      <vt:lpstr>4.1   集中趋势的度量</vt:lpstr>
      <vt:lpstr>4.1   集中趋势的度量</vt:lpstr>
      <vt:lpstr>4.2   离散程度的度量</vt:lpstr>
      <vt:lpstr>4.2   离散程度的度量</vt:lpstr>
      <vt:lpstr>4.2   离散程度的度量</vt:lpstr>
      <vt:lpstr>4.2   离散程度的度量</vt:lpstr>
      <vt:lpstr>PowerPoint 演示文稿</vt:lpstr>
      <vt:lpstr>4.2   离散程度的度量</vt:lpstr>
      <vt:lpstr>4.2   离散程度的度量</vt:lpstr>
      <vt:lpstr>4.2   离散程度的度量</vt:lpstr>
      <vt:lpstr>4.3   分布形状的度量</vt:lpstr>
      <vt:lpstr>4.3   分布形状的度量</vt:lpstr>
      <vt:lpstr>4.3   分布形状的度量</vt:lpstr>
      <vt:lpstr>描述统计量的计算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统计学 （第8版）</dc:title>
  <dc:creator>jiajp99@126.com</dc:creator>
  <cp:lastModifiedBy>毛毛与妈妈</cp:lastModifiedBy>
  <cp:revision>62</cp:revision>
  <dcterms:created xsi:type="dcterms:W3CDTF">2026-09-15T12:16:00Z</dcterms:created>
  <dcterms:modified xsi:type="dcterms:W3CDTF">2026-09-25T00:53:33Z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TC101671252052</vt:lpwstr>
  </property>
  <property fmtid="{D5CDD505-2E9C-101B-9397-08002B2CF9AE}" pid="3" name="ContentTypeId">
    <vt:lpwstr>0x0101008D8B3457135D67479991424C624CBB4704002439B9162B2E88498A324BEFF3815221</vt:lpwstr>
  </property>
  <property fmtid="{D5CDD505-2E9C-101B-9397-08002B2CF9AE}" pid="4" name="ImageGenCounter">
    <vt:i4>0</vt:i4>
  </property>
  <property fmtid="{D5CDD505-2E9C-101B-9397-08002B2CF9AE}" pid="5" name="ViolationReportStatus">
    <vt:lpwstr>None</vt:lpwstr>
  </property>
  <property fmtid="{D5CDD505-2E9C-101B-9397-08002B2CF9AE}" pid="6" name="ImageGenStatus">
    <vt:i4>0</vt:i4>
  </property>
  <property fmtid="{D5CDD505-2E9C-101B-9397-08002B2CF9AE}" pid="7" name="PolicheckStatus">
    <vt:i4>0</vt:i4>
  </property>
  <property fmtid="{D5CDD505-2E9C-101B-9397-08002B2CF9AE}" pid="8" name="Applications">
    <vt:lpwstr>67;#Template 12;#53;#PowerPoint 12;#407;#PowerPoint 14</vt:lpwstr>
  </property>
  <property fmtid="{D5CDD505-2E9C-101B-9397-08002B2CF9AE}" pid="9" name="PolicheckCounter">
    <vt:i4>0</vt:i4>
  </property>
  <property fmtid="{D5CDD505-2E9C-101B-9397-08002B2CF9AE}" pid="10" name="APTrustLevel">
    <vt:r8>1</vt:r8>
  </property>
  <property fmtid="{D5CDD505-2E9C-101B-9397-08002B2CF9AE}" pid="11" name="Order">
    <vt:r8>6900900</vt:r8>
  </property>
  <property fmtid="{D5CDD505-2E9C-101B-9397-08002B2CF9AE}" pid="12" name="KSOProductBuildVer">
    <vt:lpwstr>2052-12.1.0.21915</vt:lpwstr>
  </property>
  <property fmtid="{D5CDD505-2E9C-101B-9397-08002B2CF9AE}" pid="13" name="ICV">
    <vt:lpwstr>BA05D0B6539B8BBC4B122D65165563C9_42</vt:lpwstr>
  </property>
</Properties>
</file>