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png" ContentType="image/png"/>
  <Default Extension="wmf" ContentType="image/x-wmf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handoutMasterIdLst>
    <p:handoutMasterId r:id="rId21"/>
  </p:handoutMasterIdLst>
  <p:sldIdLst>
    <p:sldId id="761" r:id="rId3"/>
    <p:sldId id="601" r:id="rId4"/>
    <p:sldId id="640" r:id="rId6"/>
    <p:sldId id="603" r:id="rId7"/>
    <p:sldId id="565" r:id="rId8"/>
    <p:sldId id="409" r:id="rId9"/>
    <p:sldId id="1559" r:id="rId10"/>
    <p:sldId id="1560" r:id="rId11"/>
    <p:sldId id="1561" r:id="rId12"/>
    <p:sldId id="1562" r:id="rId13"/>
    <p:sldId id="644" r:id="rId14"/>
    <p:sldId id="641" r:id="rId15"/>
    <p:sldId id="642" r:id="rId16"/>
    <p:sldId id="566" r:id="rId17"/>
    <p:sldId id="646" r:id="rId18"/>
    <p:sldId id="647" r:id="rId19"/>
    <p:sldId id="649" r:id="rId20"/>
  </p:sldIdLst>
  <p:sldSz cx="12192000" cy="6858000"/>
  <p:notesSz cx="6858000" cy="9144000"/>
  <p:custDataLst>
    <p:tags r:id="rId25"/>
  </p:custDataLst>
  <p:defaultTextStyle>
    <a:defPPr>
      <a:defRPr lang="en-US"/>
    </a:defPPr>
    <a:lvl1pPr marL="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6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0000"/>
    <a:srgbClr val="A40000"/>
    <a:srgbClr val="E6AF00"/>
    <a:srgbClr val="318AAD"/>
    <a:srgbClr val="3699C0"/>
    <a:srgbClr val="E8E8E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 horzBarState="maximized">
    <p:restoredLeft sz="14995" autoAdjust="0"/>
    <p:restoredTop sz="93500" autoAdjust="0"/>
  </p:normalViewPr>
  <p:slideViewPr>
    <p:cSldViewPr showGuides="1">
      <p:cViewPr varScale="1">
        <p:scale>
          <a:sx n="64" d="100"/>
          <a:sy n="64" d="100"/>
        </p:scale>
        <p:origin x="680" y="44"/>
      </p:cViewPr>
      <p:guideLst>
        <p:guide orient="horz" pos="2160"/>
        <p:guide pos="3864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>
      <p:cViewPr varScale="1">
        <p:scale>
          <a:sx n="48" d="100"/>
          <a:sy n="48" d="100"/>
        </p:scale>
        <p:origin x="2684" y="52"/>
      </p:cViewPr>
      <p:guideLst>
        <p:guide orient="horz" pos="2880"/>
        <p:guide pos="2173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5" Type="http://schemas.openxmlformats.org/officeDocument/2006/relationships/tags" Target="tags/tag18.xml"/><Relationship Id="rId24" Type="http://schemas.openxmlformats.org/officeDocument/2006/relationships/tableStyles" Target="tableStyles.xml"/><Relationship Id="rId23" Type="http://schemas.openxmlformats.org/officeDocument/2006/relationships/viewProps" Target="viewProps.xml"/><Relationship Id="rId22" Type="http://schemas.openxmlformats.org/officeDocument/2006/relationships/presProps" Target="presProps.xml"/><Relationship Id="rId21" Type="http://schemas.openxmlformats.org/officeDocument/2006/relationships/handoutMaster" Target="handoutMasters/handoutMaster1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8.wmf"/><Relationship Id="rId2" Type="http://schemas.openxmlformats.org/officeDocument/2006/relationships/image" Target="../media/image7.wmf"/><Relationship Id="rId1" Type="http://schemas.openxmlformats.org/officeDocument/2006/relationships/image" Target="../media/image6.w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10.wmf"/><Relationship Id="rId1" Type="http://schemas.openxmlformats.org/officeDocument/2006/relationships/image" Target="../media/image9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png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FBB7DB3-30DF-43FE-8C4B-1722B4800CF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6558D4-C6A0-4B92-951D-4C89C3A60AD3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rtlCol="0"/>
          <a:lstStyle>
            <a:lvl1pPr algn="r">
              <a:defRPr sz="1200"/>
            </a:lvl1pPr>
          </a:lstStyle>
          <a:p>
            <a:fld id="{2447E72A-D913-4DC2-9E0A-E520CE8FCC86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rtlCol="0" anchor="b"/>
          <a:lstStyle>
            <a:lvl1pPr algn="r">
              <a:defRPr sz="1200"/>
            </a:lvl1pPr>
          </a:lstStyle>
          <a:p>
            <a:fld id="{A5D78FC6-CE17-4259-A63C-DDFC12E048FC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rtl="0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rtl="0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rtl="0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rtl="0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rtl="0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22" name="Rectangle 2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409700" y="692150"/>
            <a:ext cx="4038600" cy="2273300"/>
          </a:xfrm>
          <a:prstGeom prst="rect">
            <a:avLst/>
          </a:prstGeom>
          <a:noFill/>
          <a:ln w="12700" cap="flat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79872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3276600"/>
            <a:ext cx="5029200" cy="5181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488" tIns="44450" rIns="90488" bIns="44450"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3170" name="Rectangle 2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  <p:sp>
        <p:nvSpPr>
          <p:cNvPr id="903171" name="Rectangle 3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409700" y="692150"/>
            <a:ext cx="4038600" cy="2273300"/>
          </a:xfrm>
          <a:ln cap="flat"/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2818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3276600"/>
            <a:ext cx="5029200" cy="5181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488" tIns="44450" rIns="90488" bIns="44450"/>
          <a:lstStyle/>
          <a:p>
            <a:endParaRPr lang="zh-CN" altLang="zh-CN"/>
          </a:p>
        </p:txBody>
      </p:sp>
      <p:sp>
        <p:nvSpPr>
          <p:cNvPr id="802819" name="Rectangle 3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409700" y="692150"/>
            <a:ext cx="4038600" cy="2273300"/>
          </a:xfrm>
          <a:prstGeom prst="rect">
            <a:avLst/>
          </a:prstGeom>
          <a:noFill/>
          <a:ln w="12700" cap="flat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2946" name="Rectangle 2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409700" y="692150"/>
            <a:ext cx="4038600" cy="2273300"/>
          </a:xfrm>
          <a:prstGeom prst="rect">
            <a:avLst/>
          </a:prstGeom>
          <a:noFill/>
          <a:ln w="12700" cap="flat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72294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3276600"/>
            <a:ext cx="5029200" cy="5181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488" tIns="44450" rIns="90488" bIns="44450"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418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3276600"/>
            <a:ext cx="5029200" cy="5181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488" tIns="44450" rIns="90488" bIns="44450"/>
          <a:lstStyle/>
          <a:p>
            <a:endParaRPr lang="zh-CN" altLang="zh-CN"/>
          </a:p>
        </p:txBody>
      </p:sp>
      <p:sp>
        <p:nvSpPr>
          <p:cNvPr id="316419" name="Rectangle 3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409700" y="692150"/>
            <a:ext cx="4038600" cy="2273300"/>
          </a:xfrm>
          <a:prstGeom prst="rect">
            <a:avLst/>
          </a:prstGeom>
          <a:noFill/>
          <a:ln w="12700" cap="flat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42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3276600"/>
            <a:ext cx="5029200" cy="5181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488" tIns="44450" rIns="90488" bIns="44450"/>
          <a:lstStyle/>
          <a:p>
            <a:endParaRPr lang="zh-CN" altLang="zh-CN"/>
          </a:p>
        </p:txBody>
      </p:sp>
      <p:sp>
        <p:nvSpPr>
          <p:cNvPr id="727043" name="Rectangle 3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409700" y="692150"/>
            <a:ext cx="4038600" cy="2273300"/>
          </a:xfrm>
          <a:prstGeom prst="rect">
            <a:avLst/>
          </a:prstGeom>
          <a:noFill/>
          <a:ln w="12700" cap="flat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22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3276600"/>
            <a:ext cx="5029200" cy="5181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488" tIns="44450" rIns="90488" bIns="44450"/>
          <a:lstStyle/>
          <a:p>
            <a:endParaRPr lang="zh-CN" altLang="zh-CN"/>
          </a:p>
        </p:txBody>
      </p:sp>
      <p:sp>
        <p:nvSpPr>
          <p:cNvPr id="389123" name="Rectangle 3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912938" y="692150"/>
            <a:ext cx="3032125" cy="2273300"/>
          </a:xfrm>
          <a:prstGeom prst="rect">
            <a:avLst/>
          </a:prstGeom>
          <a:noFill/>
          <a:ln w="12700" cap="flat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62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3276600"/>
            <a:ext cx="5029200" cy="5181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488" tIns="44450" rIns="90488" bIns="44450"/>
          <a:lstStyle/>
          <a:p>
            <a:endParaRPr lang="zh-CN" altLang="zh-CN"/>
          </a:p>
        </p:txBody>
      </p:sp>
      <p:sp>
        <p:nvSpPr>
          <p:cNvPr id="399363" name="Rectangle 3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912938" y="692150"/>
            <a:ext cx="3032125" cy="2273300"/>
          </a:xfrm>
          <a:prstGeom prst="rect">
            <a:avLst/>
          </a:prstGeom>
          <a:noFill/>
          <a:ln w="12700" cap="flat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1138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3276600"/>
            <a:ext cx="5029200" cy="5181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488" tIns="44450" rIns="90488" bIns="44450"/>
          <a:lstStyle/>
          <a:p>
            <a:endParaRPr lang="zh-CN" altLang="zh-CN"/>
          </a:p>
        </p:txBody>
      </p:sp>
      <p:sp>
        <p:nvSpPr>
          <p:cNvPr id="731139" name="Rectangle 3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912938" y="692150"/>
            <a:ext cx="3032125" cy="2273300"/>
          </a:xfrm>
          <a:prstGeom prst="rect">
            <a:avLst/>
          </a:prstGeom>
          <a:noFill/>
          <a:ln w="12700" cap="flat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62" name="Rectangle 2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409700" y="692150"/>
            <a:ext cx="4038600" cy="2273300"/>
          </a:xfrm>
          <a:prstGeom prst="rect">
            <a:avLst/>
          </a:prstGeom>
          <a:noFill/>
          <a:ln w="12700" cap="flat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91136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3276600"/>
            <a:ext cx="5029200" cy="5181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488" tIns="44450" rIns="90488" bIns="44450"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5218" name="Rectangle 2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  <p:sp>
        <p:nvSpPr>
          <p:cNvPr id="905219" name="Rectangle 3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409700" y="692150"/>
            <a:ext cx="4038600" cy="2273300"/>
          </a:xfrm>
          <a:ln cap="flat"/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7266" name="Rectangle 2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  <p:sp>
        <p:nvSpPr>
          <p:cNvPr id="907267" name="Rectangle 3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409700" y="692150"/>
            <a:ext cx="4038600" cy="2273300"/>
          </a:xfrm>
          <a:ln cap="flat"/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4994" name="Rectangle 2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409700" y="692150"/>
            <a:ext cx="4038600" cy="2273300"/>
          </a:xfrm>
          <a:prstGeom prst="rect">
            <a:avLst/>
          </a:prstGeom>
          <a:noFill/>
          <a:ln w="12700" cap="flat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72499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3276600"/>
            <a:ext cx="5029200" cy="5181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488" tIns="44450" rIns="90488" bIns="44450"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5458" name="Rectangle 2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r>
              <a:rPr lang="en-US" altLang="zh-CN"/>
              <a:t>As a result of this class, you will be able to ...</a:t>
            </a:r>
            <a:endParaRPr lang="en-US" altLang="zh-CN"/>
          </a:p>
        </p:txBody>
      </p:sp>
      <p:sp>
        <p:nvSpPr>
          <p:cNvPr id="915459" name="Rectangle 3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409700" y="692150"/>
            <a:ext cx="4038600" cy="2273300"/>
          </a:xfrm>
          <a:ln cap="flat"/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3650" name="Rectangle 2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409700" y="692150"/>
            <a:ext cx="4038600" cy="2273300"/>
          </a:xfrm>
          <a:prstGeom prst="rect">
            <a:avLst/>
          </a:prstGeom>
          <a:noFill/>
          <a:ln w="12700" cap="flat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92365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3276600"/>
            <a:ext cx="5029200" cy="5181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488" tIns="44450" rIns="90488" bIns="44450"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7746" name="Rectangle 2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  <p:sp>
        <p:nvSpPr>
          <p:cNvPr id="927747" name="Rectangle 3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409700" y="692150"/>
            <a:ext cx="4038600" cy="2273300"/>
          </a:xfrm>
          <a:ln cap="flat"/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white">
          <a:xfrm>
            <a:off x="0" y="5971032"/>
            <a:ext cx="12192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800"/>
          </a:p>
        </p:txBody>
      </p:sp>
      <p:sp>
        <p:nvSpPr>
          <p:cNvPr id="10" name="Rectangle 9"/>
          <p:cNvSpPr/>
          <p:nvPr/>
        </p:nvSpPr>
        <p:spPr>
          <a:xfrm>
            <a:off x="-12192" y="6053328"/>
            <a:ext cx="2999232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800"/>
          </a:p>
        </p:txBody>
      </p:sp>
      <p:sp>
        <p:nvSpPr>
          <p:cNvPr id="11" name="Rectangle 10"/>
          <p:cNvSpPr/>
          <p:nvPr/>
        </p:nvSpPr>
        <p:spPr>
          <a:xfrm>
            <a:off x="3145536" y="6044184"/>
            <a:ext cx="9046464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800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149600" y="4038600"/>
            <a:ext cx="8636000" cy="1828800"/>
          </a:xfrm>
        </p:spPr>
        <p:txBody>
          <a:bodyPr anchor="b"/>
          <a:lstStyle>
            <a:lvl1pPr>
              <a:defRPr cap="all" baseline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3149600" y="6050037"/>
            <a:ext cx="8940800" cy="685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600">
                <a:solidFill>
                  <a:srgbClr val="FFFFFF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101600" y="6068699"/>
            <a:ext cx="2743200" cy="685800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defRPr sz="2000">
                <a:solidFill>
                  <a:srgbClr val="FFFFFF"/>
                </a:solidFill>
              </a:defRPr>
            </a:lvl1pPr>
          </a:lstStyle>
          <a:p>
            <a:pPr algn="ctr"/>
            <a:fld id="{A192A68D-3DBE-4DB7-A092-DC9DAB0EA4B3}" type="datetime1">
              <a:rPr lang="zh-CN" altLang="en-US" smtClean="0"/>
            </a:fld>
            <a:endParaRPr lang="en-US" sz="2000" dirty="0">
              <a:solidFill>
                <a:srgbClr val="FFFFFF"/>
              </a:solidFill>
            </a:endParaRPr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2780524" y="236542"/>
            <a:ext cx="7823200" cy="365125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chemeClr val="tx2"/>
                </a:solidFill>
              </a:defRPr>
            </a:lvl1pPr>
          </a:lstStyle>
          <a:p>
            <a:pPr algn="r"/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10668000" y="228600"/>
            <a:ext cx="1117600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2AC53DF-4216-466D-99A7-94400E6C2A25}" type="slidenum">
              <a:rPr lang="en-US" smtClean="0"/>
            </a:fld>
            <a:endParaRPr lang="en-US" dirty="0">
              <a:solidFill>
                <a:schemeClr val="tx2"/>
              </a:solidFill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6864" y="228600"/>
            <a:ext cx="10871200" cy="990600"/>
          </a:xfrm>
        </p:spPr>
        <p:txBody>
          <a:bodyPr/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816864" y="1600200"/>
            <a:ext cx="10871200" cy="4495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828800" y="2743200"/>
            <a:ext cx="9497484" cy="1673225"/>
          </a:xfrm>
        </p:spPr>
        <p:txBody>
          <a:bodyPr anchor="t"/>
          <a:lstStyle>
            <a:lvl1pPr>
              <a:buNone/>
              <a:defRPr sz="280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7" name="Rectangle 6"/>
          <p:cNvSpPr/>
          <p:nvPr/>
        </p:nvSpPr>
        <p:spPr bwMode="white">
          <a:xfrm>
            <a:off x="0" y="1524000"/>
            <a:ext cx="12192000" cy="114300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800"/>
          </a:p>
        </p:txBody>
      </p:sp>
      <p:sp>
        <p:nvSpPr>
          <p:cNvPr id="8" name="Rectangle 7"/>
          <p:cNvSpPr/>
          <p:nvPr/>
        </p:nvSpPr>
        <p:spPr>
          <a:xfrm>
            <a:off x="0" y="1600200"/>
            <a:ext cx="1727200" cy="990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800"/>
          </a:p>
        </p:txBody>
      </p:sp>
      <p:sp>
        <p:nvSpPr>
          <p:cNvPr id="9" name="Rectangle 8"/>
          <p:cNvSpPr/>
          <p:nvPr/>
        </p:nvSpPr>
        <p:spPr>
          <a:xfrm>
            <a:off x="1828800" y="1600200"/>
            <a:ext cx="10363200" cy="990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28800" y="1600200"/>
            <a:ext cx="10160000" cy="990600"/>
          </a:xfrm>
        </p:spPr>
        <p:txBody>
          <a:bodyPr/>
          <a:lstStyle>
            <a:lvl1pPr algn="l">
              <a:buNone/>
              <a:defRPr sz="4400" b="0" cap="none">
                <a:solidFill>
                  <a:srgbClr val="FFFFFF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>
          <a:xfrm>
            <a:off x="8128000" y="6448252"/>
            <a:ext cx="3556000" cy="365125"/>
          </a:xfrm>
          <a:prstGeom prst="rect">
            <a:avLst/>
          </a:prstGeom>
        </p:spPr>
        <p:txBody>
          <a:bodyPr/>
          <a:lstStyle/>
          <a:p>
            <a:fld id="{913BE477-773F-45A1-9043-C5BB58DEC3E1}" type="datetime1">
              <a:rPr lang="zh-CN" altLang="en-US" smtClean="0"/>
            </a:fld>
            <a:endParaRPr lang="en-US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1752600"/>
            <a:ext cx="1727200" cy="701676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 algn="ctr"/>
            <a:fld id="{1AD93096-5B34-4342-9326-69289CEAE4C2}" type="slidenum">
              <a:rPr lang="en-US" smtClean="0"/>
            </a:fld>
            <a:endParaRPr lang="en-US" sz="2400" dirty="0">
              <a:solidFill>
                <a:srgbClr val="FFFFFF"/>
              </a:solidFill>
            </a:endParaRPr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>
          <a:xfrm>
            <a:off x="597171" y="6248210"/>
            <a:ext cx="7443742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550533" y="1589567"/>
            <a:ext cx="5181600" cy="45720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6459868" y="1589567"/>
            <a:ext cx="5181600" cy="45720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200" y="273050"/>
            <a:ext cx="10871200" cy="869950"/>
          </a:xfrm>
        </p:spPr>
        <p:txBody>
          <a:bodyPr anchor="ctr"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812800" y="2438400"/>
            <a:ext cx="5181600" cy="35814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6400800" y="2438400"/>
            <a:ext cx="5181600" cy="35814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5"/>
          </p:nvPr>
        </p:nvSpPr>
        <p:spPr>
          <a:xfrm>
            <a:off x="8128000" y="6448252"/>
            <a:ext cx="3556000" cy="365125"/>
          </a:xfrm>
          <a:prstGeom prst="rect">
            <a:avLst/>
          </a:prstGeom>
        </p:spPr>
        <p:txBody>
          <a:bodyPr rtlCol="0"/>
          <a:lstStyle/>
          <a:p>
            <a:fld id="{B7A8C118-B4EA-4F8F-B280-BEC0017066F1}" type="datetime1">
              <a:rPr lang="zh-CN" altLang="en-US" smtClean="0"/>
            </a:fld>
            <a:endParaRPr lang="en-US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6"/>
          </p:nvPr>
        </p:nvSpPr>
        <p:spPr>
          <a:xfrm>
            <a:off x="558130" y="6381328"/>
            <a:ext cx="616218" cy="357402"/>
          </a:xfrm>
          <a:prstGeom prst="rect">
            <a:avLst/>
          </a:prstGeom>
        </p:spPr>
        <p:txBody>
          <a:bodyPr rtlCol="0"/>
          <a:lstStyle/>
          <a:p>
            <a:pPr algn="ctr"/>
            <a:fld id="{1AD93096-5B34-4342-9326-69289CEAE4C2}" type="slidenum">
              <a:rPr lang="en-US" smtClean="0"/>
            </a:fld>
            <a:endParaRPr lang="en-US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7"/>
          </p:nvPr>
        </p:nvSpPr>
        <p:spPr>
          <a:xfrm>
            <a:off x="597171" y="6248210"/>
            <a:ext cx="7443742" cy="365125"/>
          </a:xfrm>
          <a:prstGeom prst="rect">
            <a:avLst/>
          </a:prstGeom>
        </p:spPr>
        <p:txBody>
          <a:bodyPr rtlCol="0"/>
          <a:lstStyle/>
          <a:p>
            <a:endParaRPr lang="en-US"/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"/>
          </p:nvPr>
        </p:nvSpPr>
        <p:spPr>
          <a:xfrm>
            <a:off x="812800" y="1752600"/>
            <a:ext cx="5181600" cy="640080"/>
          </a:xfrm>
          <a:solidFill>
            <a:schemeClr val="accent2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3"/>
          </p:nvPr>
        </p:nvSpPr>
        <p:spPr>
          <a:xfrm>
            <a:off x="6400800" y="1752600"/>
            <a:ext cx="5181600" cy="640080"/>
          </a:xfrm>
          <a:solidFill>
            <a:schemeClr val="accent4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8000" y="6448252"/>
            <a:ext cx="3556000" cy="365125"/>
          </a:xfrm>
          <a:prstGeom prst="rect">
            <a:avLst/>
          </a:prstGeom>
        </p:spPr>
        <p:txBody>
          <a:bodyPr/>
          <a:lstStyle/>
          <a:p>
            <a:fld id="{34CCC27A-CD2D-4F14-8F78-FCFFD7611D1B}" type="datetime1">
              <a:rPr lang="zh-CN" alt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97171" y="6248210"/>
            <a:ext cx="7443742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558130" y="6381328"/>
            <a:ext cx="616218" cy="35740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1AD93096-5B34-4342-9326-69289CEAE4C2}" type="slidenum">
              <a:rPr lang="en-US" smtClean="0"/>
            </a:fld>
            <a:endParaRPr lang="en-US"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8000" y="6448252"/>
            <a:ext cx="3556000" cy="365125"/>
          </a:xfrm>
          <a:prstGeom prst="rect">
            <a:avLst/>
          </a:prstGeom>
        </p:spPr>
        <p:txBody>
          <a:bodyPr/>
          <a:lstStyle/>
          <a:p>
            <a:fld id="{06A809B8-18EF-491B-9E98-44BF0ECCAC83}" type="datetime1">
              <a:rPr lang="zh-CN" alt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97171" y="6248210"/>
            <a:ext cx="7443742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0" y="6248400"/>
            <a:ext cx="711200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AD93096-5B34-4342-9326-69289CEAE4C2}" type="slidenum">
              <a:rPr lang="en-US" smtClean="0"/>
            </a:fld>
            <a:endParaRPr lang="en-US" dirty="0">
              <a:solidFill>
                <a:schemeClr val="tx2"/>
              </a:solidFill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0" y="273050"/>
            <a:ext cx="10769600" cy="869950"/>
          </a:xfrm>
        </p:spPr>
        <p:txBody>
          <a:bodyPr anchor="ctr"/>
          <a:lstStyle>
            <a:lvl1pPr algn="l">
              <a:buNone/>
              <a:defRPr sz="44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8000" y="6448252"/>
            <a:ext cx="3556000" cy="365125"/>
          </a:xfrm>
          <a:prstGeom prst="rect">
            <a:avLst/>
          </a:prstGeom>
        </p:spPr>
        <p:txBody>
          <a:bodyPr/>
          <a:lstStyle/>
          <a:p>
            <a:fld id="{2DD03089-DCCC-45C0-A55C-324DDBBD19E4}" type="datetime1">
              <a:rPr lang="zh-CN" alt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7171" y="6248210"/>
            <a:ext cx="7443742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58130" y="6381328"/>
            <a:ext cx="616218" cy="35740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1AD93096-5B34-4342-9326-69289CEAE4C2}" type="slidenum">
              <a:rPr lang="en-US" smtClean="0"/>
            </a:fld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3149600" y="1752600"/>
            <a:ext cx="8534400" cy="44196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pic>
        <p:nvPicPr>
          <p:cNvPr id="8" name="Picture 7" descr="sm_pencil.png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16864" y="1755651"/>
            <a:ext cx="2153743" cy="2145615"/>
          </a:xfrm>
          <a:prstGeom prst="rect">
            <a:avLst/>
          </a:prstGeom>
          <a:ln w="50800" cap="sq" cmpd="dbl">
            <a:solidFill>
              <a:schemeClr val="accent2"/>
            </a:solidFill>
            <a:miter lim="800000"/>
            <a:headEnd/>
            <a:tailEnd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133600" y="5486400"/>
            <a:ext cx="9753600" cy="685800"/>
          </a:xfrm>
        </p:spPr>
        <p:txBody>
          <a:bodyPr/>
          <a:lstStyle>
            <a:lvl1pPr marL="0" indent="0">
              <a:buFontTx/>
              <a:buNone/>
              <a:defRPr sz="17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8" name="Rectangle 7"/>
          <p:cNvSpPr/>
          <p:nvPr/>
        </p:nvSpPr>
        <p:spPr bwMode="white">
          <a:xfrm>
            <a:off x="-12192" y="4572000"/>
            <a:ext cx="12192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800"/>
          </a:p>
        </p:txBody>
      </p:sp>
      <p:sp>
        <p:nvSpPr>
          <p:cNvPr id="9" name="Rectangle 8"/>
          <p:cNvSpPr/>
          <p:nvPr/>
        </p:nvSpPr>
        <p:spPr>
          <a:xfrm>
            <a:off x="-12192" y="4663440"/>
            <a:ext cx="1950720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800"/>
          </a:p>
        </p:txBody>
      </p:sp>
      <p:sp>
        <p:nvSpPr>
          <p:cNvPr id="10" name="Rectangle 9"/>
          <p:cNvSpPr/>
          <p:nvPr/>
        </p:nvSpPr>
        <p:spPr>
          <a:xfrm>
            <a:off x="2060448" y="4654296"/>
            <a:ext cx="10131552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33600" y="4648200"/>
            <a:ext cx="9753600" cy="685800"/>
          </a:xfrm>
        </p:spPr>
        <p:txBody>
          <a:bodyPr anchor="ctr"/>
          <a:lstStyle>
            <a:lvl1pPr algn="l">
              <a:buNone/>
              <a:defRPr sz="2800" b="0">
                <a:solidFill>
                  <a:srgbClr val="FFFFFF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1" name="Rectangle 10"/>
          <p:cNvSpPr/>
          <p:nvPr/>
        </p:nvSpPr>
        <p:spPr bwMode="white">
          <a:xfrm>
            <a:off x="1930400" y="0"/>
            <a:ext cx="134112" cy="6867144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800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>
          <a:xfrm>
            <a:off x="8331200" y="6248404"/>
            <a:ext cx="3556000" cy="365125"/>
          </a:xfrm>
          <a:prstGeom prst="rect">
            <a:avLst/>
          </a:prstGeom>
        </p:spPr>
        <p:txBody>
          <a:bodyPr rtlCol="0"/>
          <a:lstStyle/>
          <a:p>
            <a:fld id="{4B5E4466-AD65-4209-B65C-5868BC503B40}" type="datetime1">
              <a:rPr lang="zh-CN" altLang="en-US" smtClean="0"/>
            </a:fld>
            <a:endParaRPr lang="en-US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4667249"/>
            <a:ext cx="1930400" cy="663578"/>
          </a:xfrm>
          <a:prstGeom prst="rect">
            <a:avLst/>
          </a:prstGeom>
        </p:spPr>
        <p:txBody>
          <a:bodyPr rtlCol="0"/>
          <a:lstStyle>
            <a:lvl1pPr>
              <a:defRPr sz="2800"/>
            </a:lvl1pPr>
          </a:lstStyle>
          <a:p>
            <a:pPr algn="ctr"/>
            <a:fld id="{1AD93096-5B34-4342-9326-69289CEAE4C2}" type="slidenum">
              <a:rPr lang="en-US" smtClean="0"/>
            </a:fld>
            <a:endParaRPr lang="en-US" sz="2800" dirty="0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>
          <a:xfrm>
            <a:off x="2133600" y="6248210"/>
            <a:ext cx="6096000" cy="365125"/>
          </a:xfrm>
          <a:prstGeom prst="rect">
            <a:avLst/>
          </a:prstGeom>
        </p:spPr>
        <p:txBody>
          <a:bodyPr rtlCol="0"/>
          <a:lstStyle/>
          <a:p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080768" y="0"/>
            <a:ext cx="10111232" cy="4568952"/>
          </a:xfrm>
          <a:solidFill>
            <a:schemeClr val="accent1">
              <a:tint val="40000"/>
            </a:schemeClr>
          </a:solidFill>
          <a:ln>
            <a:noFill/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8000" y="6448252"/>
            <a:ext cx="3556000" cy="365125"/>
          </a:xfrm>
          <a:prstGeom prst="rect">
            <a:avLst/>
          </a:prstGeom>
        </p:spPr>
        <p:txBody>
          <a:bodyPr/>
          <a:lstStyle/>
          <a:p>
            <a:fld id="{C6F0F4B9-8654-4666-B278-A56EF8AD24B9}" type="datetime1">
              <a:rPr lang="zh-CN" altLang="en-US" smtClean="0">
                <a:solidFill>
                  <a:schemeClr val="tx2"/>
                </a:solidFill>
              </a:rPr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97171" y="6248210"/>
            <a:ext cx="7443742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58130" y="6381328"/>
            <a:ext cx="616218" cy="357402"/>
          </a:xfrm>
          <a:prstGeom prst="rect">
            <a:avLst/>
          </a:prstGeom>
        </p:spPr>
        <p:txBody>
          <a:bodyPr/>
          <a:lstStyle/>
          <a:p>
            <a:fld id="{72AC53DF-4216-466D-99A7-94400E6C2A25}" type="slidenum">
              <a:rPr lang="en-US" sz="1200" smtClean="0">
                <a:solidFill>
                  <a:schemeClr val="tx2"/>
                </a:solidFill>
              </a:rPr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37600" y="609603"/>
            <a:ext cx="2743200" cy="5516563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609600"/>
            <a:ext cx="7416800" cy="5516564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737600" y="6248406"/>
            <a:ext cx="2946400" cy="365125"/>
          </a:xfrm>
          <a:prstGeom prst="rect">
            <a:avLst/>
          </a:prstGeom>
        </p:spPr>
        <p:txBody>
          <a:bodyPr/>
          <a:lstStyle/>
          <a:p>
            <a:fld id="{576E0A97-5F99-4E84-B6F5-25253CC05384}" type="datetime1">
              <a:rPr lang="zh-CN" altLang="en-US" smtClean="0">
                <a:solidFill>
                  <a:schemeClr val="tx2"/>
                </a:solidFill>
              </a:rPr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09604" y="6248211"/>
            <a:ext cx="7431311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Rectangle 6"/>
          <p:cNvSpPr/>
          <p:nvPr/>
        </p:nvSpPr>
        <p:spPr bwMode="white">
          <a:xfrm>
            <a:off x="8128425" y="0"/>
            <a:ext cx="42672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8" name="Rectangle 7"/>
          <p:cNvSpPr/>
          <p:nvPr/>
        </p:nvSpPr>
        <p:spPr>
          <a:xfrm>
            <a:off x="8189385" y="609600"/>
            <a:ext cx="304800" cy="62484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9" name="Rectangle 8"/>
          <p:cNvSpPr/>
          <p:nvPr/>
        </p:nvSpPr>
        <p:spPr>
          <a:xfrm>
            <a:off x="8189385" y="0"/>
            <a:ext cx="304800" cy="533400"/>
          </a:xfrm>
          <a:prstGeom prst="rect">
            <a:avLst/>
          </a:prstGeom>
          <a:solidFill>
            <a:schemeClr val="accent2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5400000">
            <a:off x="8075085" y="103718"/>
            <a:ext cx="533400" cy="325968"/>
          </a:xfrm>
          <a:prstGeom prst="rect">
            <a:avLst/>
          </a:prstGeom>
        </p:spPr>
        <p:txBody>
          <a:bodyPr/>
          <a:lstStyle/>
          <a:p>
            <a:fld id="{72AC53DF-4216-466D-99A7-94400E6C2A25}" type="slidenum">
              <a:rPr lang="en-US" sz="1200" smtClean="0">
                <a:solidFill>
                  <a:schemeClr val="tx2"/>
                </a:solidFill>
              </a:rPr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2107865" y="44624"/>
            <a:ext cx="9576135" cy="865294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508000" y="1520900"/>
            <a:ext cx="11180064" cy="471641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 bwMode="white">
          <a:xfrm>
            <a:off x="0" y="903633"/>
            <a:ext cx="12192000" cy="437133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/>
            <a:endParaRPr lang="en-US" sz="1800"/>
          </a:p>
        </p:txBody>
      </p:sp>
      <p:sp>
        <p:nvSpPr>
          <p:cNvPr id="8" name="Rectangle 7"/>
          <p:cNvSpPr/>
          <p:nvPr userDrawn="1"/>
        </p:nvSpPr>
        <p:spPr>
          <a:xfrm>
            <a:off x="0" y="903634"/>
            <a:ext cx="1959324" cy="4371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2200" dirty="0">
              <a:solidFill>
                <a:schemeClr val="bg1"/>
              </a:solidFill>
            </a:endParaRPr>
          </a:p>
        </p:txBody>
      </p:sp>
      <p:sp>
        <p:nvSpPr>
          <p:cNvPr id="12" name="Rectangle 8"/>
          <p:cNvSpPr/>
          <p:nvPr userDrawn="1"/>
        </p:nvSpPr>
        <p:spPr>
          <a:xfrm>
            <a:off x="1" y="-1"/>
            <a:ext cx="1959324" cy="909919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zh-CN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第 </a:t>
            </a:r>
            <a:r>
              <a:rPr lang="en-US" altLang="zh-C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6 </a:t>
            </a:r>
            <a:r>
              <a:rPr lang="zh-CN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章</a:t>
            </a:r>
            <a:endParaRPr lang="en-US"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4" name="直接连接符 3"/>
          <p:cNvCxnSpPr/>
          <p:nvPr userDrawn="1"/>
        </p:nvCxnSpPr>
        <p:spPr>
          <a:xfrm>
            <a:off x="-1" y="6381328"/>
            <a:ext cx="1220032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Date Placeholder 13"/>
          <p:cNvSpPr txBox="1"/>
          <p:nvPr userDrawn="1"/>
        </p:nvSpPr>
        <p:spPr>
          <a:xfrm>
            <a:off x="-1" y="903632"/>
            <a:ext cx="1959324" cy="437134"/>
          </a:xfrm>
          <a:prstGeom prst="rect">
            <a:avLst/>
          </a:prstGeom>
        </p:spPr>
        <p:txBody>
          <a:bodyPr vert="horz" anchor="ctr" anchorCtr="0"/>
          <a:lstStyle>
            <a:defPPr>
              <a:defRPr lang="en-US"/>
            </a:defPPr>
            <a:lvl1pPr marL="0" algn="l" defTabSz="914400" rtl="0" latinLnBrk="0">
              <a:defRPr sz="1400" kern="1200">
                <a:solidFill>
                  <a:srgbClr val="FF000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《</a:t>
            </a:r>
            <a:r>
              <a:rPr lang="zh-CN" altLang="en-US" sz="1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统计学</a:t>
            </a:r>
            <a:r>
              <a:rPr lang="en-US" altLang="zh-CN" sz="1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》(</a:t>
            </a:r>
            <a:r>
              <a:rPr lang="zh-CN" altLang="en-US" sz="1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第 </a:t>
            </a:r>
            <a:r>
              <a:rPr lang="en-US" altLang="zh-CN" sz="1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8 </a:t>
            </a:r>
            <a:r>
              <a:rPr lang="zh-CN" altLang="en-US" sz="1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版</a:t>
            </a:r>
            <a:r>
              <a:rPr lang="en-US" altLang="zh-CN" sz="1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en-US" sz="12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Rectangle 11"/>
          <p:cNvSpPr>
            <a:spLocks noChangeArrowheads="1"/>
          </p:cNvSpPr>
          <p:nvPr userDrawn="1"/>
        </p:nvSpPr>
        <p:spPr bwMode="auto">
          <a:xfrm>
            <a:off x="10692446" y="6433651"/>
            <a:ext cx="855663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/>
          <a:p>
            <a:pPr algn="ctr">
              <a:spcBef>
                <a:spcPct val="20000"/>
              </a:spcBef>
            </a:pPr>
            <a:r>
              <a:rPr lang="en-US" altLang="zh-CN" sz="1600" b="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6 - </a:t>
            </a:r>
            <a:fld id="{16EAF49E-217F-4E01-A667-C6B4D41E8F57}" type="slidenum">
              <a:rPr lang="en-US" altLang="zh-CN" sz="1600" b="0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fld>
            <a:endParaRPr lang="en-US" altLang="zh-CN" sz="1600" b="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页脚占位符 4"/>
          <p:cNvSpPr txBox="1"/>
          <p:nvPr userDrawn="1"/>
        </p:nvSpPr>
        <p:spPr>
          <a:xfrm>
            <a:off x="4217505" y="6415985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统计学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8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版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)—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贾俊平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副标题 2"/>
          <p:cNvSpPr txBox="1"/>
          <p:nvPr userDrawn="1"/>
        </p:nvSpPr>
        <p:spPr>
          <a:xfrm>
            <a:off x="387625" y="6366290"/>
            <a:ext cx="1803251" cy="39232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fld id="{40D7A12C-C48C-4203-A694-F2B6F5190069}" type="datetime1">
              <a:rPr lang="zh-CN" altLang="en-US" sz="1600" b="1" smtClean="0">
                <a:solidFill>
                  <a:schemeClr val="bg1">
                    <a:lumMod val="50000"/>
                  </a:schemeClr>
                </a:solidFill>
                <a:effectLst/>
                <a:latin typeface="+mn-lt"/>
                <a:ea typeface="+mn-ea"/>
                <a:cs typeface="Arial" panose="020B0604020202020204" pitchFamily="34" charset="0"/>
              </a:rPr>
            </a:fld>
            <a:endParaRPr lang="zh-CN" altLang="en-US" sz="1600" b="1" dirty="0">
              <a:solidFill>
                <a:schemeClr val="bg1">
                  <a:lumMod val="50000"/>
                </a:schemeClr>
              </a:solidFill>
              <a:effectLst/>
              <a:latin typeface="+mn-lt"/>
              <a:ea typeface="+mn-ea"/>
              <a:cs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rtl="0" eaLnBrk="1" latinLnBrk="0" hangingPunct="1">
        <a:spcBef>
          <a:spcPct val="0"/>
        </a:spcBef>
        <a:buNone/>
        <a:defRPr sz="3200" kern="1200">
          <a:solidFill>
            <a:schemeClr val="tx2"/>
          </a:solidFill>
          <a:latin typeface="华文细黑" panose="02010600040101010101" pitchFamily="2" charset="-122"/>
          <a:ea typeface="华文细黑" panose="02010600040101010101" pitchFamily="2" charset="-122"/>
          <a:cs typeface="+mj-cs"/>
        </a:defRPr>
      </a:lvl1pPr>
    </p:titleStyle>
    <p:bodyStyle>
      <a:lvl1pPr marL="320040" indent="-320040" algn="l" rtl="0" eaLnBrk="1" latinLnBrk="0" hangingPunct="1">
        <a:spcBef>
          <a:spcPts val="700"/>
        </a:spcBef>
        <a:buClr>
          <a:schemeClr val="accent2"/>
        </a:buClr>
        <a:buSzPct val="60000"/>
        <a:buFont typeface="Wingdings" panose="05000000000000000000"/>
        <a:buChar char=""/>
        <a:defRPr sz="2900" kern="1200">
          <a:solidFill>
            <a:schemeClr val="tx1"/>
          </a:solidFill>
          <a:latin typeface="华文细黑" panose="02010600040101010101" pitchFamily="2" charset="-122"/>
          <a:ea typeface="华文细黑" panose="02010600040101010101" pitchFamily="2" charset="-122"/>
          <a:cs typeface="+mn-cs"/>
        </a:defRPr>
      </a:lvl1pPr>
      <a:lvl2pPr marL="640080" indent="-274320" algn="l" rtl="0" eaLnBrk="1" latinLnBrk="0" hangingPunct="1">
        <a:spcBef>
          <a:spcPts val="550"/>
        </a:spcBef>
        <a:buClr>
          <a:schemeClr val="accent1"/>
        </a:buClr>
        <a:buSzPct val="70000"/>
        <a:buFont typeface="Wingdings 2" panose="05020102010507070707"/>
        <a:buChar char=""/>
        <a:defRPr sz="2600" kern="1200">
          <a:solidFill>
            <a:schemeClr val="tx1"/>
          </a:solidFill>
          <a:latin typeface="华文细黑" panose="02010600040101010101" pitchFamily="2" charset="-122"/>
          <a:ea typeface="华文细黑" panose="02010600040101010101" pitchFamily="2" charset="-122"/>
          <a:cs typeface="+mn-cs"/>
        </a:defRPr>
      </a:lvl2pPr>
      <a:lvl3pPr marL="914400" indent="-228600" algn="l" rtl="0" eaLnBrk="1" latinLnBrk="0" hangingPunct="1">
        <a:spcBef>
          <a:spcPts val="500"/>
        </a:spcBef>
        <a:buClr>
          <a:schemeClr val="accent2"/>
        </a:buClr>
        <a:buSzPct val="75000"/>
        <a:buFont typeface="Wingdings" panose="05000000000000000000"/>
        <a:buChar char=""/>
        <a:defRPr sz="2300" kern="1200">
          <a:solidFill>
            <a:schemeClr val="tx1"/>
          </a:solidFill>
          <a:latin typeface="华文细黑" panose="02010600040101010101" pitchFamily="2" charset="-122"/>
          <a:ea typeface="华文细黑" panose="02010600040101010101" pitchFamily="2" charset="-122"/>
          <a:cs typeface="+mn-cs"/>
        </a:defRPr>
      </a:lvl3pPr>
      <a:lvl4pPr marL="1371600" indent="-228600" algn="l" rtl="0" eaLnBrk="1" latinLnBrk="0" hangingPunct="1">
        <a:spcBef>
          <a:spcPts val="400"/>
        </a:spcBef>
        <a:buClr>
          <a:schemeClr val="accent3"/>
        </a:buClr>
        <a:buSzPct val="75000"/>
        <a:buFont typeface="Wingdings" panose="05000000000000000000"/>
        <a:buChar char=""/>
        <a:defRPr sz="2000" kern="1200">
          <a:solidFill>
            <a:schemeClr val="tx1"/>
          </a:solidFill>
          <a:latin typeface="华文细黑" panose="02010600040101010101" pitchFamily="2" charset="-122"/>
          <a:ea typeface="华文细黑" panose="02010600040101010101" pitchFamily="2" charset="-122"/>
          <a:cs typeface="+mn-cs"/>
        </a:defRPr>
      </a:lvl4pPr>
      <a:lvl5pPr marL="1828800" indent="-228600" algn="l" rtl="0" eaLnBrk="1" latinLnBrk="0" hangingPunct="1">
        <a:spcBef>
          <a:spcPts val="400"/>
        </a:spcBef>
        <a:buClr>
          <a:schemeClr val="accent4"/>
        </a:buClr>
        <a:buSzPct val="65000"/>
        <a:buFont typeface="Wingdings" panose="05000000000000000000"/>
        <a:buChar char=""/>
        <a:defRPr sz="2000" kern="1200">
          <a:solidFill>
            <a:schemeClr val="tx1"/>
          </a:solidFill>
          <a:latin typeface="华文细黑" panose="02010600040101010101" pitchFamily="2" charset="-122"/>
          <a:ea typeface="华文细黑" panose="02010600040101010101" pitchFamily="2" charset="-122"/>
          <a:cs typeface="+mn-cs"/>
        </a:defRPr>
      </a:lvl5pPr>
      <a:lvl6pPr marL="2103120" indent="-228600" algn="l" rtl="0" eaLnBrk="1" latinLnBrk="0" hangingPunct="1">
        <a:spcBef>
          <a:spcPct val="20000"/>
        </a:spcBef>
        <a:buClr>
          <a:schemeClr val="accent1"/>
        </a:buClr>
        <a:buFont typeface="Wingdings" panose="05000000000000000000"/>
        <a:buChar char="§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rtl="0" eaLnBrk="1" latinLnBrk="0" hangingPunct="1">
        <a:spcBef>
          <a:spcPct val="20000"/>
        </a:spcBef>
        <a:buClr>
          <a:schemeClr val="accent2"/>
        </a:buClr>
        <a:buFont typeface="Wingdings" panose="05000000000000000000"/>
        <a:buChar char="§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651760" indent="-228600" algn="l" rtl="0" eaLnBrk="1" latinLnBrk="0" hangingPunct="1">
        <a:spcBef>
          <a:spcPct val="20000"/>
        </a:spcBef>
        <a:buClr>
          <a:schemeClr val="accent3"/>
        </a:buClr>
        <a:buFont typeface="Wingdings" panose="05000000000000000000"/>
        <a:buChar char="§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926080" indent="-228600" algn="l" rtl="0" eaLnBrk="1" latinLnBrk="0" hangingPunct="1">
        <a:spcBef>
          <a:spcPct val="20000"/>
        </a:spcBef>
        <a:buClr>
          <a:schemeClr val="accent4"/>
        </a:buClr>
        <a:buFont typeface="Wingdings" panose="05000000000000000000"/>
        <a:buChar char="§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1.xml"/><Relationship Id="rId1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4.xml"/><Relationship Id="rId1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vmlDrawing" Target="../drawings/vmlDrawing1.vml"/><Relationship Id="rId8" Type="http://schemas.openxmlformats.org/officeDocument/2006/relationships/slideLayout" Target="../slideLayouts/slideLayout2.xml"/><Relationship Id="rId7" Type="http://schemas.openxmlformats.org/officeDocument/2006/relationships/tags" Target="../tags/tag8.xml"/><Relationship Id="rId6" Type="http://schemas.openxmlformats.org/officeDocument/2006/relationships/image" Target="../media/image8.wmf"/><Relationship Id="rId5" Type="http://schemas.openxmlformats.org/officeDocument/2006/relationships/oleObject" Target="../embeddings/oleObject3.bin"/><Relationship Id="rId4" Type="http://schemas.openxmlformats.org/officeDocument/2006/relationships/image" Target="../media/image7.wmf"/><Relationship Id="rId3" Type="http://schemas.openxmlformats.org/officeDocument/2006/relationships/oleObject" Target="../embeddings/oleObject2.bin"/><Relationship Id="rId2" Type="http://schemas.openxmlformats.org/officeDocument/2006/relationships/image" Target="../media/image6.wmf"/><Relationship Id="rId10" Type="http://schemas.openxmlformats.org/officeDocument/2006/relationships/notesSlide" Target="../notesSlides/notesSlide7.xml"/><Relationship Id="rId1" Type="http://schemas.openxmlformats.org/officeDocument/2006/relationships/oleObject" Target="../embeddings/oleObject1.bin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8.xml"/><Relationship Id="rId7" Type="http://schemas.openxmlformats.org/officeDocument/2006/relationships/vmlDrawing" Target="../drawings/vmlDrawing2.v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9.xml"/><Relationship Id="rId4" Type="http://schemas.openxmlformats.org/officeDocument/2006/relationships/image" Target="../media/image10.wmf"/><Relationship Id="rId3" Type="http://schemas.openxmlformats.org/officeDocument/2006/relationships/oleObject" Target="../embeddings/oleObject5.bin"/><Relationship Id="rId2" Type="http://schemas.openxmlformats.org/officeDocument/2006/relationships/image" Target="../media/image9.wmf"/><Relationship Id="rId1" Type="http://schemas.openxmlformats.org/officeDocument/2006/relationships/oleObject" Target="../embeddings/oleObject4.bin"/></Relationships>
</file>

<file path=ppt/slides/_rels/slide10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9.xml"/><Relationship Id="rId5" Type="http://schemas.openxmlformats.org/officeDocument/2006/relationships/vmlDrawing" Target="../drawings/vmlDrawing3.vml"/><Relationship Id="rId4" Type="http://schemas.openxmlformats.org/officeDocument/2006/relationships/slideLayout" Target="../slideLayouts/slideLayout2.xml"/><Relationship Id="rId3" Type="http://schemas.openxmlformats.org/officeDocument/2006/relationships/tags" Target="../tags/tag10.xml"/><Relationship Id="rId2" Type="http://schemas.openxmlformats.org/officeDocument/2006/relationships/image" Target="../media/image11.png"/><Relationship Id="rId1" Type="http://schemas.openxmlformats.org/officeDocument/2006/relationships/oleObject" Target="../embeddings/oleObject6.bin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1.xml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1.xml"/><Relationship Id="rId8" Type="http://schemas.openxmlformats.org/officeDocument/2006/relationships/slideLayout" Target="../slideLayouts/slideLayout2.xml"/><Relationship Id="rId7" Type="http://schemas.openxmlformats.org/officeDocument/2006/relationships/tags" Target="../tags/tag12.xml"/><Relationship Id="rId6" Type="http://schemas.openxmlformats.org/officeDocument/2006/relationships/image" Target="../media/image17.emf"/><Relationship Id="rId5" Type="http://schemas.openxmlformats.org/officeDocument/2006/relationships/image" Target="../media/image16.emf"/><Relationship Id="rId4" Type="http://schemas.openxmlformats.org/officeDocument/2006/relationships/image" Target="../media/image15.png"/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6.xml"/></Relationships>
</file>

<file path=ppt/slides/_rels/slide1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6.xml"/><Relationship Id="rId4" Type="http://schemas.openxmlformats.org/officeDocument/2006/relationships/slideLayout" Target="../slideLayouts/slideLayout2.xml"/><Relationship Id="rId3" Type="http://schemas.openxmlformats.org/officeDocument/2006/relationships/tags" Target="../tags/tag17.xml"/><Relationship Id="rId2" Type="http://schemas.openxmlformats.org/officeDocument/2006/relationships/image" Target="../media/image19.emf"/><Relationship Id="rId1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-57405" y="0"/>
            <a:ext cx="12271508" cy="6858000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副标题 2"/>
          <p:cNvSpPr txBox="1"/>
          <p:nvPr/>
        </p:nvSpPr>
        <p:spPr>
          <a:xfrm>
            <a:off x="6096000" y="4864292"/>
            <a:ext cx="2653745" cy="1760996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Arial" panose="020B0604020202020204" pitchFamily="34" charset="0"/>
              </a:rPr>
              <a:t>贾俊平</a:t>
            </a:r>
            <a:endParaRPr lang="en-US" altLang="zh-CN" sz="32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  <a:ea typeface="+mn-ea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fld id="{40D7A12C-C48C-4203-A694-F2B6F5190069}" type="datetime1">
              <a:rPr lang="zh-CN" altLang="en-US" sz="3200" b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Arial" panose="020B0604020202020204" pitchFamily="34" charset="0"/>
              </a:rPr>
            </a:fld>
            <a:endParaRPr lang="zh-CN" altLang="en-US" sz="32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  <a:ea typeface="+mn-ea"/>
              <a:cs typeface="Arial" panose="020B0604020202020204" pitchFamily="34" charset="0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57405" y="-85059"/>
            <a:ext cx="12423070" cy="6943059"/>
          </a:xfrm>
          <a:prstGeom prst="rect">
            <a:avLst/>
          </a:prstGeom>
        </p:spPr>
      </p:pic>
      <p:sp>
        <p:nvSpPr>
          <p:cNvPr id="9" name="圆角矩形 4"/>
          <p:cNvSpPr/>
          <p:nvPr/>
        </p:nvSpPr>
        <p:spPr>
          <a:xfrm>
            <a:off x="1318436" y="2232837"/>
            <a:ext cx="9803219" cy="3785191"/>
          </a:xfrm>
          <a:prstGeom prst="roundRect">
            <a:avLst/>
          </a:prstGeom>
          <a:gradFill flip="none" rotWithShape="1">
            <a:gsLst>
              <a:gs pos="0">
                <a:srgbClr val="0070C0">
                  <a:shade val="30000"/>
                  <a:satMod val="115000"/>
                </a:srgbClr>
              </a:gs>
              <a:gs pos="50000">
                <a:srgbClr val="0070C0">
                  <a:shade val="67500"/>
                  <a:satMod val="115000"/>
                </a:srgbClr>
              </a:gs>
              <a:gs pos="100000">
                <a:srgbClr val="0070C0">
                  <a:shade val="100000"/>
                  <a:satMod val="115000"/>
                </a:srgbClr>
              </a:gs>
            </a:gsLst>
            <a:lin ang="0" scaled="1"/>
            <a:tileRect/>
          </a:gradFill>
          <a:ln>
            <a:noFill/>
          </a:ln>
          <a:scene3d>
            <a:camera prst="orthographicFront"/>
            <a:lightRig rig="threePt" dir="t"/>
          </a:scene3d>
          <a:sp3d>
            <a:bevelT prst="relaxedInset"/>
          </a:sp3d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marL="609600" indent="-609600">
              <a:lnSpc>
                <a:spcPct val="150000"/>
              </a:lnSpc>
              <a:defRPr/>
            </a:pPr>
            <a:r>
              <a:rPr lang="en-US" altLang="zh-CN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6.1   </a:t>
            </a:r>
            <a:r>
              <a:rPr lang="zh-CN" altLang="en-US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统计量</a:t>
            </a:r>
            <a:endParaRPr lang="zh-CN" altLang="en-US" sz="32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609600" indent="-609600">
              <a:lnSpc>
                <a:spcPct val="150000"/>
              </a:lnSpc>
              <a:defRPr/>
            </a:pPr>
            <a:r>
              <a:rPr lang="en-US" altLang="zh-CN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6.2   </a:t>
            </a:r>
            <a:r>
              <a:rPr lang="zh-CN" altLang="en-US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由正态分布导出的几个重要分布 </a:t>
            </a:r>
            <a:endParaRPr lang="zh-CN" altLang="en-US" sz="32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609600" indent="-609600">
              <a:lnSpc>
                <a:spcPct val="150000"/>
              </a:lnSpc>
              <a:defRPr/>
            </a:pPr>
            <a:r>
              <a:rPr lang="en-US" altLang="zh-CN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6.3   </a:t>
            </a:r>
            <a:r>
              <a:rPr lang="zh-CN" altLang="en-US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样本均值的分布与中心极限定理</a:t>
            </a:r>
            <a:endParaRPr lang="zh-CN" altLang="en-US" sz="32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609600" indent="-609600">
              <a:lnSpc>
                <a:spcPct val="150000"/>
              </a:lnSpc>
              <a:defRPr/>
            </a:pPr>
            <a:endParaRPr lang="zh-CN" altLang="en-US" sz="32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1456660" y="839972"/>
            <a:ext cx="9545916" cy="9069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40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第 </a:t>
            </a:r>
            <a:r>
              <a:rPr lang="en-US" altLang="zh-CN" sz="40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6 </a:t>
            </a:r>
            <a:r>
              <a:rPr lang="zh-CN" altLang="en-US" sz="40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章    </a:t>
            </a:r>
            <a:r>
              <a:rPr lang="zh-CN" altLang="en-US" sz="4000" b="1" spc="15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统计量及其抽样分布</a:t>
            </a:r>
            <a:endParaRPr lang="zh-CN" altLang="en-US" sz="4000" b="1" spc="150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wipe dir="r"/>
      </p:transition>
    </mc:Choice>
    <mc:Fallback>
      <p:transition>
        <p:wipe dir="r"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7698" name="Rectangle 2"/>
          <p:cNvSpPr>
            <a:spLocks noChangeArrowheads="1"/>
          </p:cNvSpPr>
          <p:nvPr/>
        </p:nvSpPr>
        <p:spPr bwMode="auto">
          <a:xfrm>
            <a:off x="3359696" y="31237"/>
            <a:ext cx="6781800" cy="106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 anchor="ctr" anchorCtr="1"/>
          <a:lstStyle>
            <a:lvl1pPr algn="ctr">
              <a:lnSpc>
                <a:spcPct val="95000"/>
              </a:lnSpc>
              <a:defRPr kumimoji="1" sz="4000" b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 Antiqua" panose="02040602050305030304" pitchFamily="18" charset="0"/>
                <a:ea typeface="宋体" panose="02010600030101010101" pitchFamily="2" charset="-122"/>
              </a:defRPr>
            </a:lvl1pPr>
            <a:lvl2pPr algn="ctr">
              <a:lnSpc>
                <a:spcPct val="95000"/>
              </a:lnSpc>
              <a:defRPr kumimoji="1" sz="4000" b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 Antiqua" panose="02040602050305030304" pitchFamily="18" charset="0"/>
                <a:ea typeface="宋体" panose="02010600030101010101" pitchFamily="2" charset="-122"/>
              </a:defRPr>
            </a:lvl2pPr>
            <a:lvl3pPr algn="ctr">
              <a:lnSpc>
                <a:spcPct val="95000"/>
              </a:lnSpc>
              <a:defRPr kumimoji="1" sz="4000" b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 Antiqua" panose="02040602050305030304" pitchFamily="18" charset="0"/>
                <a:ea typeface="宋体" panose="02010600030101010101" pitchFamily="2" charset="-122"/>
              </a:defRPr>
            </a:lvl3pPr>
            <a:lvl4pPr algn="ctr">
              <a:lnSpc>
                <a:spcPct val="95000"/>
              </a:lnSpc>
              <a:defRPr kumimoji="1" sz="4000" b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 Antiqua" panose="02040602050305030304" pitchFamily="18" charset="0"/>
                <a:ea typeface="宋体" panose="02010600030101010101" pitchFamily="2" charset="-122"/>
              </a:defRPr>
            </a:lvl4pPr>
            <a:lvl5pPr algn="ctr">
              <a:lnSpc>
                <a:spcPct val="95000"/>
              </a:lnSpc>
              <a:defRPr kumimoji="1" sz="4000" b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 Antiqua" panose="02040602050305030304" pitchFamily="18" charset="0"/>
                <a:ea typeface="宋体" panose="02010600030101010101" pitchFamily="2" charset="-122"/>
              </a:defRPr>
            </a:lvl5pPr>
            <a:lvl6pPr marL="457200" algn="ctr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kumimoji="1" sz="4000" b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 Antiqua" panose="02040602050305030304" pitchFamily="18" charset="0"/>
                <a:ea typeface="宋体" panose="02010600030101010101" pitchFamily="2" charset="-122"/>
              </a:defRPr>
            </a:lvl6pPr>
            <a:lvl7pPr marL="914400" algn="ctr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kumimoji="1" sz="4000" b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 Antiqua" panose="02040602050305030304" pitchFamily="18" charset="0"/>
                <a:ea typeface="宋体" panose="02010600030101010101" pitchFamily="2" charset="-122"/>
              </a:defRPr>
            </a:lvl7pPr>
            <a:lvl8pPr marL="1371600" algn="ctr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kumimoji="1" sz="4000" b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 Antiqua" panose="02040602050305030304" pitchFamily="18" charset="0"/>
                <a:ea typeface="宋体" panose="02010600030101010101" pitchFamily="2" charset="-122"/>
              </a:defRPr>
            </a:lvl8pPr>
            <a:lvl9pPr marL="1828800" algn="ctr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kumimoji="1" sz="4000" b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 Antiqua" panose="02040602050305030304" pitchFamily="18" charset="0"/>
                <a:ea typeface="宋体" panose="02010600030101010101" pitchFamily="2" charset="-122"/>
              </a:defRPr>
            </a:lvl9pPr>
          </a:lstStyle>
          <a:p>
            <a:r>
              <a:rPr lang="en-US" altLang="zh-CN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6.1</a:t>
            </a:r>
            <a:r>
              <a:rPr lang="en-US" altLang="zh-CN" dirty="0">
                <a:effectLst/>
                <a:latin typeface="Arial" panose="020B0604020202020204" pitchFamily="34" charset="0"/>
              </a:rPr>
              <a:t>   </a:t>
            </a:r>
            <a:r>
              <a:rPr lang="zh-CN" altLang="en-US" dirty="0">
                <a:effectLst/>
                <a:latin typeface="Arial" panose="020B0604020202020204" pitchFamily="34" charset="0"/>
              </a:rPr>
              <a:t>统计量</a:t>
            </a:r>
            <a:endParaRPr lang="zh-CN" altLang="en-US" dirty="0">
              <a:effectLst/>
              <a:latin typeface="Arial" panose="020B0604020202020204" pitchFamily="34" charset="0"/>
            </a:endParaRPr>
          </a:p>
        </p:txBody>
      </p:sp>
      <p:sp>
        <p:nvSpPr>
          <p:cNvPr id="797699" name="Rectangle 3"/>
          <p:cNvSpPr>
            <a:spLocks noChangeArrowheads="1"/>
          </p:cNvSpPr>
          <p:nvPr/>
        </p:nvSpPr>
        <p:spPr bwMode="auto">
          <a:xfrm>
            <a:off x="2133600" y="1844676"/>
            <a:ext cx="8153400" cy="425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/>
          <a:lstStyle>
            <a:lvl1pPr marL="812800" indent="-812800" algn="ctr">
              <a:spcBef>
                <a:spcPct val="20000"/>
              </a:spcBef>
              <a:defRPr kumimoji="1" sz="3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indent="228600" algn="ctr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defRPr kumimoji="1" sz="28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indent="171450" algn="ctr"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defRPr kumimoji="1" sz="24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indent="57150" algn="ctr">
              <a:spcBef>
                <a:spcPct val="20000"/>
              </a:spcBef>
              <a:buClr>
                <a:schemeClr val="accent1"/>
              </a:buClr>
              <a:buSzPct val="65000"/>
              <a:buFont typeface="Monotype Sorts" panose="05000000000000000000" pitchFamily="2" charset="2"/>
              <a:defRPr kumimoji="1"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336800" indent="-508000" algn="ctr">
              <a:spcBef>
                <a:spcPct val="20000"/>
              </a:spcBef>
              <a:buClr>
                <a:schemeClr val="folHlink"/>
              </a:buClr>
              <a:buSzPct val="100000"/>
              <a:defRPr kumimoji="1"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794000" indent="-5080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100000"/>
              <a:defRPr kumimoji="1"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251200" indent="-5080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100000"/>
              <a:defRPr kumimoji="1"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708400" indent="-5080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100000"/>
              <a:defRPr kumimoji="1"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165600" indent="-5080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100000"/>
              <a:defRPr kumimoji="1"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l"/>
            <a:r>
              <a:rPr lang="en-US" altLang="zh-CN" dirty="0">
                <a:effectLst/>
              </a:rPr>
              <a:t>6.1.1   </a:t>
            </a:r>
            <a:r>
              <a:rPr lang="zh-CN" altLang="en-US" dirty="0">
                <a:effectLst/>
              </a:rPr>
              <a:t>统计量的概念</a:t>
            </a:r>
            <a:endParaRPr lang="zh-CN" altLang="en-US" dirty="0">
              <a:effectLst/>
            </a:endParaRPr>
          </a:p>
          <a:p>
            <a:pPr algn="l"/>
            <a:r>
              <a:rPr lang="en-US" altLang="zh-CN" dirty="0">
                <a:effectLst/>
              </a:rPr>
              <a:t>6.1.2   </a:t>
            </a:r>
            <a:r>
              <a:rPr lang="zh-CN" altLang="en-US" dirty="0">
                <a:effectLst/>
              </a:rPr>
              <a:t>常用统计量</a:t>
            </a:r>
            <a:endParaRPr lang="zh-CN" altLang="en-US" dirty="0">
              <a:effectLst/>
            </a:endParaRPr>
          </a:p>
        </p:txBody>
      </p:sp>
    </p:spTree>
    <p:custDataLst>
      <p:tags r:id="rId1"/>
    </p:custDataLst>
  </p:cSld>
  <p:clrMapOvr>
    <a:masterClrMapping/>
  </p:clrMapOvr>
  <p:transition>
    <p:zoom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2146" name="Rectangle 2"/>
          <p:cNvSpPr>
            <a:spLocks noGrp="1" noChangeArrowheads="1"/>
          </p:cNvSpPr>
          <p:nvPr>
            <p:ph type="title"/>
          </p:nvPr>
        </p:nvSpPr>
        <p:spPr>
          <a:xfrm>
            <a:off x="3429000" y="228600"/>
            <a:ext cx="6781800" cy="752128"/>
          </a:xfrm>
          <a:noFill/>
        </p:spPr>
        <p:txBody>
          <a:bodyPr>
            <a:normAutofit/>
          </a:bodyPr>
          <a:lstStyle/>
          <a:p>
            <a:r>
              <a:rPr lang="zh-CN" altLang="en-US" sz="3600" dirty="0">
                <a:latin typeface="Arial" panose="020B0604020202020204" pitchFamily="34" charset="0"/>
              </a:rPr>
              <a:t>统计量</a:t>
            </a:r>
            <a:r>
              <a:rPr lang="en-US" altLang="zh-CN" dirty="0">
                <a:solidFill>
                  <a:schemeClr val="hlink"/>
                </a:solidFill>
                <a:latin typeface="Arial" panose="020B0604020202020204" pitchFamily="34" charset="0"/>
              </a:rPr>
              <a:t>(</a:t>
            </a:r>
            <a:r>
              <a:rPr lang="en-US" altLang="zh-CN" dirty="0">
                <a:solidFill>
                  <a:schemeClr val="hlink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statistic</a:t>
            </a:r>
            <a:r>
              <a:rPr lang="en-US" altLang="zh-CN" dirty="0">
                <a:solidFill>
                  <a:schemeClr val="hlink"/>
                </a:solidFill>
                <a:latin typeface="Arial" panose="020B0604020202020204" pitchFamily="34" charset="0"/>
              </a:rPr>
              <a:t>)</a:t>
            </a:r>
            <a:endParaRPr lang="en-US" altLang="zh-CN" dirty="0">
              <a:solidFill>
                <a:schemeClr val="hlink"/>
              </a:solidFill>
              <a:latin typeface="Arial" panose="020B0604020202020204" pitchFamily="34" charset="0"/>
            </a:endParaRPr>
          </a:p>
        </p:txBody>
      </p:sp>
      <p:sp>
        <p:nvSpPr>
          <p:cNvPr id="9021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92313" y="1673226"/>
            <a:ext cx="8424862" cy="4564063"/>
          </a:xfrm>
        </p:spPr>
        <p:txBody>
          <a:bodyPr/>
          <a:lstStyle/>
          <a:p>
            <a:pPr marL="609600" indent="-609600" algn="just">
              <a:buFontTx/>
              <a:buAutoNum type="arabicPeriod"/>
            </a:pPr>
            <a:r>
              <a:rPr lang="zh-CN" altLang="en-US"/>
              <a:t>设</a:t>
            </a:r>
            <a:r>
              <a:rPr lang="en-US" altLang="zh-CN" i="1">
                <a:latin typeface="Times New Roman" panose="02020603050405020304" pitchFamily="18" charset="0"/>
              </a:rPr>
              <a:t>X</a:t>
            </a:r>
            <a:r>
              <a:rPr lang="en-US" altLang="zh-CN" baseline="-25000">
                <a:latin typeface="Times New Roman" panose="02020603050405020304" pitchFamily="18" charset="0"/>
              </a:rPr>
              <a:t>1</a:t>
            </a:r>
            <a:r>
              <a:rPr lang="en-US" altLang="zh-CN">
                <a:latin typeface="Times New Roman" panose="02020603050405020304" pitchFamily="18" charset="0"/>
              </a:rPr>
              <a:t>,</a:t>
            </a:r>
            <a:r>
              <a:rPr lang="en-US" altLang="zh-CN" i="1">
                <a:latin typeface="Times New Roman" panose="02020603050405020304" pitchFamily="18" charset="0"/>
              </a:rPr>
              <a:t>X</a:t>
            </a:r>
            <a:r>
              <a:rPr lang="en-US" altLang="zh-CN" baseline="-25000">
                <a:latin typeface="Times New Roman" panose="02020603050405020304" pitchFamily="18" charset="0"/>
              </a:rPr>
              <a:t>2</a:t>
            </a:r>
            <a:r>
              <a:rPr lang="en-US" altLang="zh-CN">
                <a:latin typeface="Times New Roman" panose="02020603050405020304" pitchFamily="18" charset="0"/>
              </a:rPr>
              <a:t>,…,</a:t>
            </a:r>
            <a:r>
              <a:rPr lang="en-US" altLang="zh-CN" i="1">
                <a:latin typeface="Times New Roman" panose="02020603050405020304" pitchFamily="18" charset="0"/>
              </a:rPr>
              <a:t>X</a:t>
            </a:r>
            <a:r>
              <a:rPr lang="en-US" altLang="zh-CN" i="1" baseline="-25000">
                <a:latin typeface="Times New Roman" panose="02020603050405020304" pitchFamily="18" charset="0"/>
              </a:rPr>
              <a:t>n</a:t>
            </a:r>
            <a:r>
              <a:rPr lang="zh-CN" altLang="en-US">
                <a:latin typeface="Times New Roman" panose="02020603050405020304" pitchFamily="18" charset="0"/>
              </a:rPr>
              <a:t>是从总体</a:t>
            </a:r>
            <a:r>
              <a:rPr lang="en-US" altLang="zh-CN" i="1">
                <a:latin typeface="Times New Roman" panose="02020603050405020304" pitchFamily="18" charset="0"/>
              </a:rPr>
              <a:t>X</a:t>
            </a:r>
            <a:r>
              <a:rPr lang="zh-CN" altLang="en-US">
                <a:latin typeface="Times New Roman" panose="02020603050405020304" pitchFamily="18" charset="0"/>
              </a:rPr>
              <a:t>中抽取的容量为</a:t>
            </a:r>
            <a:r>
              <a:rPr lang="en-US" altLang="zh-CN" i="1">
                <a:latin typeface="Times New Roman" panose="02020603050405020304" pitchFamily="18" charset="0"/>
              </a:rPr>
              <a:t>n</a:t>
            </a:r>
            <a:r>
              <a:rPr lang="zh-CN" altLang="en-US">
                <a:latin typeface="Times New Roman" panose="02020603050405020304" pitchFamily="18" charset="0"/>
              </a:rPr>
              <a:t>的一个样本，如果由此样本构造一个函数</a:t>
            </a:r>
            <a:r>
              <a:rPr lang="en-US" altLang="zh-CN" i="1">
                <a:latin typeface="Times New Roman" panose="02020603050405020304" pitchFamily="18" charset="0"/>
              </a:rPr>
              <a:t>T</a:t>
            </a:r>
            <a:r>
              <a:rPr lang="en-US" altLang="zh-CN">
                <a:latin typeface="Times New Roman" panose="02020603050405020304" pitchFamily="18" charset="0"/>
              </a:rPr>
              <a:t>(</a:t>
            </a:r>
            <a:r>
              <a:rPr lang="en-US" altLang="zh-CN" i="1">
                <a:latin typeface="Times New Roman" panose="02020603050405020304" pitchFamily="18" charset="0"/>
              </a:rPr>
              <a:t>X</a:t>
            </a:r>
            <a:r>
              <a:rPr lang="en-US" altLang="zh-CN" baseline="-25000">
                <a:latin typeface="Times New Roman" panose="02020603050405020304" pitchFamily="18" charset="0"/>
              </a:rPr>
              <a:t>1</a:t>
            </a:r>
            <a:r>
              <a:rPr lang="en-US" altLang="zh-CN">
                <a:latin typeface="Times New Roman" panose="02020603050405020304" pitchFamily="18" charset="0"/>
              </a:rPr>
              <a:t>,</a:t>
            </a:r>
            <a:r>
              <a:rPr lang="en-US" altLang="zh-CN" i="1">
                <a:latin typeface="Times New Roman" panose="02020603050405020304" pitchFamily="18" charset="0"/>
              </a:rPr>
              <a:t>X</a:t>
            </a:r>
            <a:r>
              <a:rPr lang="en-US" altLang="zh-CN" baseline="-25000">
                <a:latin typeface="Times New Roman" panose="02020603050405020304" pitchFamily="18" charset="0"/>
              </a:rPr>
              <a:t>2</a:t>
            </a:r>
            <a:r>
              <a:rPr lang="en-US" altLang="zh-CN">
                <a:latin typeface="Times New Roman" panose="02020603050405020304" pitchFamily="18" charset="0"/>
              </a:rPr>
              <a:t>,…,</a:t>
            </a:r>
            <a:r>
              <a:rPr lang="en-US" altLang="zh-CN" i="1">
                <a:latin typeface="Times New Roman" panose="02020603050405020304" pitchFamily="18" charset="0"/>
              </a:rPr>
              <a:t>X</a:t>
            </a:r>
            <a:r>
              <a:rPr lang="en-US" altLang="zh-CN" i="1" baseline="-25000">
                <a:latin typeface="Times New Roman" panose="02020603050405020304" pitchFamily="18" charset="0"/>
              </a:rPr>
              <a:t>n</a:t>
            </a:r>
            <a:r>
              <a:rPr lang="en-US" altLang="zh-CN">
                <a:latin typeface="Times New Roman" panose="02020603050405020304" pitchFamily="18" charset="0"/>
              </a:rPr>
              <a:t>)</a:t>
            </a:r>
            <a:r>
              <a:rPr lang="zh-CN" altLang="en-US">
                <a:latin typeface="Times New Roman" panose="02020603050405020304" pitchFamily="18" charset="0"/>
              </a:rPr>
              <a:t>，不依赖于任何未知参数，则称函数</a:t>
            </a:r>
            <a:r>
              <a:rPr lang="en-US" altLang="zh-CN" i="1">
                <a:latin typeface="Times New Roman" panose="02020603050405020304" pitchFamily="18" charset="0"/>
              </a:rPr>
              <a:t>T</a:t>
            </a:r>
            <a:r>
              <a:rPr lang="en-US" altLang="zh-CN">
                <a:latin typeface="Times New Roman" panose="02020603050405020304" pitchFamily="18" charset="0"/>
              </a:rPr>
              <a:t>(</a:t>
            </a:r>
            <a:r>
              <a:rPr lang="en-US" altLang="zh-CN" i="1">
                <a:latin typeface="Times New Roman" panose="02020603050405020304" pitchFamily="18" charset="0"/>
              </a:rPr>
              <a:t>X</a:t>
            </a:r>
            <a:r>
              <a:rPr lang="en-US" altLang="zh-CN" baseline="-25000">
                <a:latin typeface="Times New Roman" panose="02020603050405020304" pitchFamily="18" charset="0"/>
              </a:rPr>
              <a:t>1</a:t>
            </a:r>
            <a:r>
              <a:rPr lang="en-US" altLang="zh-CN">
                <a:latin typeface="Times New Roman" panose="02020603050405020304" pitchFamily="18" charset="0"/>
              </a:rPr>
              <a:t>,</a:t>
            </a:r>
            <a:r>
              <a:rPr lang="en-US" altLang="zh-CN" i="1">
                <a:latin typeface="Times New Roman" panose="02020603050405020304" pitchFamily="18" charset="0"/>
              </a:rPr>
              <a:t>X</a:t>
            </a:r>
            <a:r>
              <a:rPr lang="en-US" altLang="zh-CN" baseline="-25000">
                <a:latin typeface="Times New Roman" panose="02020603050405020304" pitchFamily="18" charset="0"/>
              </a:rPr>
              <a:t>2</a:t>
            </a:r>
            <a:r>
              <a:rPr lang="en-US" altLang="zh-CN">
                <a:latin typeface="Times New Roman" panose="02020603050405020304" pitchFamily="18" charset="0"/>
              </a:rPr>
              <a:t>,…,</a:t>
            </a:r>
            <a:r>
              <a:rPr lang="en-US" altLang="zh-CN" i="1">
                <a:latin typeface="Times New Roman" panose="02020603050405020304" pitchFamily="18" charset="0"/>
              </a:rPr>
              <a:t>X</a:t>
            </a:r>
            <a:r>
              <a:rPr lang="en-US" altLang="zh-CN" i="1" baseline="-25000">
                <a:latin typeface="Times New Roman" panose="02020603050405020304" pitchFamily="18" charset="0"/>
              </a:rPr>
              <a:t>n</a:t>
            </a:r>
            <a:r>
              <a:rPr lang="en-US" altLang="zh-CN">
                <a:latin typeface="Times New Roman" panose="02020603050405020304" pitchFamily="18" charset="0"/>
              </a:rPr>
              <a:t>)</a:t>
            </a:r>
            <a:r>
              <a:rPr lang="zh-CN" altLang="en-US">
                <a:latin typeface="Times New Roman" panose="02020603050405020304" pitchFamily="18" charset="0"/>
              </a:rPr>
              <a:t>是一个统计量</a:t>
            </a:r>
            <a:endParaRPr lang="zh-CN" altLang="en-US" sz="3400"/>
          </a:p>
          <a:p>
            <a:pPr marL="1219200" lvl="1" indent="-533400" algn="just"/>
            <a:r>
              <a:rPr lang="zh-CN" altLang="en-US" sz="3000"/>
              <a:t>样本均值、样本比例、样本方差等都是统计量</a:t>
            </a:r>
            <a:endParaRPr lang="zh-CN" altLang="en-US" sz="3000"/>
          </a:p>
          <a:p>
            <a:pPr marL="609600" indent="-609600" algn="just">
              <a:buFontTx/>
              <a:buAutoNum type="arabicPeriod"/>
            </a:pPr>
            <a:r>
              <a:rPr lang="zh-CN" altLang="en-US"/>
              <a:t>统计量是样本的一个函数</a:t>
            </a:r>
            <a:endParaRPr lang="zh-CN" altLang="en-US"/>
          </a:p>
          <a:p>
            <a:pPr marL="609600" indent="-609600" algn="just">
              <a:buFontTx/>
              <a:buAutoNum type="arabicPeriod"/>
            </a:pPr>
            <a:r>
              <a:rPr lang="zh-CN" altLang="en-US"/>
              <a:t>统计量是统计推断的基础</a:t>
            </a:r>
            <a:endParaRPr lang="zh-CN" altLang="en-US"/>
          </a:p>
        </p:txBody>
      </p:sp>
    </p:spTree>
    <p:custDataLst>
      <p:tags r:id="rId1"/>
    </p:custDataLst>
  </p:cSld>
  <p:clrMapOvr>
    <a:masterClrMapping/>
  </p:clrMapOvr>
  <p:transition>
    <p:wipe dir="r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1794" name="Rectangle 2"/>
          <p:cNvSpPr>
            <a:spLocks noGrp="1" noChangeArrowheads="1"/>
          </p:cNvSpPr>
          <p:nvPr>
            <p:ph type="title"/>
          </p:nvPr>
        </p:nvSpPr>
        <p:spPr>
          <a:xfrm>
            <a:off x="3429000" y="228600"/>
            <a:ext cx="6781800" cy="464096"/>
          </a:xfrm>
          <a:noFill/>
        </p:spPr>
        <p:txBody>
          <a:bodyPr>
            <a:normAutofit fontScale="90000"/>
          </a:bodyPr>
          <a:lstStyle/>
          <a:p>
            <a:r>
              <a:rPr lang="zh-CN" altLang="en-US" sz="3600" dirty="0">
                <a:latin typeface="Arial" panose="020B0604020202020204" pitchFamily="34" charset="0"/>
              </a:rPr>
              <a:t>常用统计量</a:t>
            </a:r>
            <a:endParaRPr lang="zh-CN" altLang="en-US" dirty="0">
              <a:solidFill>
                <a:schemeClr val="hlink"/>
              </a:solidFill>
              <a:latin typeface="Arial" panose="020B0604020202020204" pitchFamily="34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10678" y="1484784"/>
            <a:ext cx="8003232" cy="4968552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  <p:transition>
    <p:wipe dir="r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1922" name="Rectangle 2"/>
          <p:cNvSpPr>
            <a:spLocks noChangeArrowheads="1"/>
          </p:cNvSpPr>
          <p:nvPr/>
        </p:nvSpPr>
        <p:spPr bwMode="auto">
          <a:xfrm>
            <a:off x="3429001" y="304800"/>
            <a:ext cx="6988175" cy="5319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 anchor="ctr" anchorCtr="1"/>
          <a:lstStyle>
            <a:lvl1pPr algn="ctr">
              <a:lnSpc>
                <a:spcPct val="95000"/>
              </a:lnSpc>
              <a:defRPr kumimoji="1" sz="4000" b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 Antiqua" panose="02040602050305030304" pitchFamily="18" charset="0"/>
                <a:ea typeface="宋体" panose="02010600030101010101" pitchFamily="2" charset="-122"/>
              </a:defRPr>
            </a:lvl1pPr>
            <a:lvl2pPr algn="ctr">
              <a:lnSpc>
                <a:spcPct val="95000"/>
              </a:lnSpc>
              <a:defRPr kumimoji="1" sz="4000" b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 Antiqua" panose="02040602050305030304" pitchFamily="18" charset="0"/>
                <a:ea typeface="宋体" panose="02010600030101010101" pitchFamily="2" charset="-122"/>
              </a:defRPr>
            </a:lvl2pPr>
            <a:lvl3pPr algn="ctr">
              <a:lnSpc>
                <a:spcPct val="95000"/>
              </a:lnSpc>
              <a:defRPr kumimoji="1" sz="4000" b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 Antiqua" panose="02040602050305030304" pitchFamily="18" charset="0"/>
                <a:ea typeface="宋体" panose="02010600030101010101" pitchFamily="2" charset="-122"/>
              </a:defRPr>
            </a:lvl3pPr>
            <a:lvl4pPr algn="ctr">
              <a:lnSpc>
                <a:spcPct val="95000"/>
              </a:lnSpc>
              <a:defRPr kumimoji="1" sz="4000" b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 Antiqua" panose="02040602050305030304" pitchFamily="18" charset="0"/>
                <a:ea typeface="宋体" panose="02010600030101010101" pitchFamily="2" charset="-122"/>
              </a:defRPr>
            </a:lvl4pPr>
            <a:lvl5pPr algn="ctr">
              <a:lnSpc>
                <a:spcPct val="95000"/>
              </a:lnSpc>
              <a:defRPr kumimoji="1" sz="4000" b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 Antiqua" panose="02040602050305030304" pitchFamily="18" charset="0"/>
                <a:ea typeface="宋体" panose="02010600030101010101" pitchFamily="2" charset="-122"/>
              </a:defRPr>
            </a:lvl5pPr>
            <a:lvl6pPr marL="457200" algn="ctr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kumimoji="1" sz="4000" b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 Antiqua" panose="02040602050305030304" pitchFamily="18" charset="0"/>
                <a:ea typeface="宋体" panose="02010600030101010101" pitchFamily="2" charset="-122"/>
              </a:defRPr>
            </a:lvl6pPr>
            <a:lvl7pPr marL="914400" algn="ctr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kumimoji="1" sz="4000" b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 Antiqua" panose="02040602050305030304" pitchFamily="18" charset="0"/>
                <a:ea typeface="宋体" panose="02010600030101010101" pitchFamily="2" charset="-122"/>
              </a:defRPr>
            </a:lvl7pPr>
            <a:lvl8pPr marL="1371600" algn="ctr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kumimoji="1" sz="4000" b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 Antiqua" panose="02040602050305030304" pitchFamily="18" charset="0"/>
                <a:ea typeface="宋体" panose="02010600030101010101" pitchFamily="2" charset="-122"/>
              </a:defRPr>
            </a:lvl8pPr>
            <a:lvl9pPr marL="1828800" algn="ctr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kumimoji="1" sz="4000" b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 Antiqua" panose="02040602050305030304" pitchFamily="18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3200" dirty="0">
                <a:latin typeface="Arial" panose="020B0604020202020204" pitchFamily="34" charset="0"/>
                <a:cs typeface="Arial" panose="020B0604020202020204" pitchFamily="34" charset="0"/>
              </a:rPr>
              <a:t>6.2  </a:t>
            </a:r>
            <a:r>
              <a:rPr lang="zh-CN" altLang="en-US" sz="3200" dirty="0"/>
              <a:t>由正态分布导出的几个重要分布 </a:t>
            </a:r>
            <a:endParaRPr lang="zh-CN" altLang="en-US" sz="3200" dirty="0"/>
          </a:p>
        </p:txBody>
      </p:sp>
      <p:sp>
        <p:nvSpPr>
          <p:cNvPr id="721923" name="Rectangle 3"/>
          <p:cNvSpPr>
            <a:spLocks noChangeArrowheads="1"/>
          </p:cNvSpPr>
          <p:nvPr/>
        </p:nvSpPr>
        <p:spPr bwMode="auto">
          <a:xfrm>
            <a:off x="2133600" y="1981200"/>
            <a:ext cx="8153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/>
          <a:lstStyle>
            <a:lvl1pPr marL="812800" indent="-812800" algn="ctr">
              <a:spcBef>
                <a:spcPct val="20000"/>
              </a:spcBef>
              <a:defRPr kumimoji="1" sz="3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indent="228600" algn="ctr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defRPr kumimoji="1" sz="28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indent="171450" algn="ctr"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defRPr kumimoji="1" sz="24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indent="57150" algn="ctr">
              <a:spcBef>
                <a:spcPct val="20000"/>
              </a:spcBef>
              <a:buClr>
                <a:schemeClr val="accent1"/>
              </a:buClr>
              <a:buSzPct val="65000"/>
              <a:buFont typeface="Monotype Sorts" panose="05000000000000000000" pitchFamily="2" charset="2"/>
              <a:defRPr kumimoji="1"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336800" indent="-508000" algn="ctr">
              <a:spcBef>
                <a:spcPct val="20000"/>
              </a:spcBef>
              <a:buClr>
                <a:schemeClr val="folHlink"/>
              </a:buClr>
              <a:buSzPct val="100000"/>
              <a:defRPr kumimoji="1"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794000" indent="-5080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100000"/>
              <a:defRPr kumimoji="1"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251200" indent="-5080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100000"/>
              <a:defRPr kumimoji="1"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708400" indent="-5080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100000"/>
              <a:defRPr kumimoji="1"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165600" indent="-5080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100000"/>
              <a:defRPr kumimoji="1"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l"/>
            <a:r>
              <a:rPr lang="en-US" altLang="zh-CN" dirty="0"/>
              <a:t>6.2.1   </a:t>
            </a:r>
            <a:r>
              <a:rPr lang="zh-CN" altLang="en-US" dirty="0"/>
              <a:t>抽样分布</a:t>
            </a:r>
            <a:endParaRPr lang="en-US" altLang="zh-CN" dirty="0"/>
          </a:p>
          <a:p>
            <a:pPr algn="l"/>
            <a:r>
              <a:rPr lang="en-US" altLang="zh-CN" dirty="0"/>
              <a:t>6.2.2   </a:t>
            </a:r>
            <a:r>
              <a:rPr lang="en-US" altLang="zh-CN" sz="3600" i="1" dirty="0">
                <a:sym typeface="Symbol" panose="05050102010706020507" pitchFamily="18" charset="2"/>
              </a:rPr>
              <a:t></a:t>
            </a:r>
            <a:r>
              <a:rPr lang="en-US" altLang="zh-CN" sz="3600" baseline="30000" dirty="0"/>
              <a:t>2</a:t>
            </a:r>
            <a:r>
              <a:rPr lang="zh-CN" altLang="en-US" dirty="0"/>
              <a:t>分布</a:t>
            </a:r>
            <a:endParaRPr lang="zh-CN" altLang="en-US" dirty="0"/>
          </a:p>
          <a:p>
            <a:pPr algn="l"/>
            <a:r>
              <a:rPr lang="en-US" altLang="zh-CN" dirty="0"/>
              <a:t>6.2.2   </a:t>
            </a:r>
            <a:r>
              <a:rPr lang="en-US" altLang="zh-CN" i="1" dirty="0"/>
              <a:t>t</a:t>
            </a:r>
            <a:r>
              <a:rPr lang="en-US" altLang="zh-CN" dirty="0"/>
              <a:t> </a:t>
            </a:r>
            <a:r>
              <a:rPr lang="zh-CN" altLang="en-US" dirty="0"/>
              <a:t>分布</a:t>
            </a:r>
            <a:endParaRPr lang="zh-CN" altLang="en-US" dirty="0"/>
          </a:p>
          <a:p>
            <a:pPr algn="l"/>
            <a:r>
              <a:rPr lang="en-US" altLang="zh-CN" dirty="0"/>
              <a:t>6.2.3   </a:t>
            </a:r>
            <a:r>
              <a:rPr lang="en-US" altLang="zh-CN" i="1" dirty="0"/>
              <a:t>F</a:t>
            </a:r>
            <a:r>
              <a:rPr lang="en-US" altLang="zh-CN" dirty="0"/>
              <a:t> </a:t>
            </a:r>
            <a:r>
              <a:rPr lang="zh-CN" altLang="en-US" dirty="0"/>
              <a:t>分布</a:t>
            </a:r>
            <a:endParaRPr lang="zh-CN" altLang="en-US" dirty="0"/>
          </a:p>
        </p:txBody>
      </p:sp>
    </p:spTree>
    <p:custDataLst>
      <p:tags r:id="rId1"/>
    </p:custDataLst>
  </p:cSld>
  <p:clrMapOvr>
    <a:masterClrMapping/>
  </p:clrMapOvr>
  <p:transition>
    <p:zoom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39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2057401" y="1752600"/>
            <a:ext cx="8359775" cy="4419600"/>
          </a:xfrm>
          <a:noFill/>
        </p:spPr>
        <p:txBody>
          <a:bodyPr/>
          <a:lstStyle/>
          <a:p>
            <a:pPr marL="609600" indent="-609600">
              <a:lnSpc>
                <a:spcPct val="90000"/>
              </a:lnSpc>
              <a:spcBef>
                <a:spcPct val="60000"/>
              </a:spcBef>
              <a:buFontTx/>
              <a:buAutoNum type="arabicPeriod"/>
            </a:pPr>
            <a:r>
              <a:rPr lang="zh-CN" altLang="en-US" sz="2800" dirty="0"/>
              <a:t>样本统计量的概率分布，</a:t>
            </a:r>
            <a:r>
              <a:rPr lang="zh-CN" altLang="en-US" sz="2800" dirty="0">
                <a:latin typeface="宋体" panose="02010600030101010101" pitchFamily="2" charset="-122"/>
              </a:rPr>
              <a:t>是一种理论分布</a:t>
            </a:r>
            <a:endParaRPr lang="zh-CN" altLang="en-US" sz="2800" dirty="0">
              <a:latin typeface="宋体" panose="02010600030101010101" pitchFamily="2" charset="-122"/>
            </a:endParaRPr>
          </a:p>
          <a:p>
            <a:pPr marL="1219200" lvl="1" indent="-533400">
              <a:lnSpc>
                <a:spcPct val="90000"/>
              </a:lnSpc>
              <a:spcBef>
                <a:spcPct val="60000"/>
              </a:spcBef>
            </a:pPr>
            <a:r>
              <a:rPr lang="zh-CN" altLang="en-US" sz="2400" dirty="0">
                <a:latin typeface="宋体" panose="02010600030101010101" pitchFamily="2" charset="-122"/>
              </a:rPr>
              <a:t>在重复选取容量为</a:t>
            </a:r>
            <a:r>
              <a:rPr lang="en-US" altLang="zh-CN" sz="2400" i="1" dirty="0"/>
              <a:t>n</a:t>
            </a:r>
            <a:r>
              <a:rPr lang="zh-CN" altLang="en-US" sz="2400" dirty="0">
                <a:latin typeface="宋体" panose="02010600030101010101" pitchFamily="2" charset="-122"/>
              </a:rPr>
              <a:t>的样本时，由该统计量的所有可能取值形成的相对频数分布 </a:t>
            </a:r>
            <a:endParaRPr lang="zh-CN" altLang="en-US" sz="2400" dirty="0">
              <a:latin typeface="宋体" panose="02010600030101010101" pitchFamily="2" charset="-122"/>
            </a:endParaRPr>
          </a:p>
          <a:p>
            <a:pPr marL="609600" indent="-609600">
              <a:lnSpc>
                <a:spcPct val="90000"/>
              </a:lnSpc>
              <a:spcBef>
                <a:spcPct val="33000"/>
              </a:spcBef>
              <a:buFontTx/>
              <a:buAutoNum type="arabicPeriod"/>
            </a:pPr>
            <a:r>
              <a:rPr lang="zh-CN" altLang="en-US" sz="2800" dirty="0"/>
              <a:t>随机变量是 </a:t>
            </a:r>
            <a:r>
              <a:rPr lang="zh-CN" altLang="en-US" sz="2800" b="1" dirty="0"/>
              <a:t>样本统计量</a:t>
            </a:r>
            <a:endParaRPr lang="zh-CN" altLang="en-US" sz="2800" dirty="0"/>
          </a:p>
          <a:p>
            <a:pPr marL="1219200" lvl="1" indent="-533400">
              <a:lnSpc>
                <a:spcPct val="90000"/>
              </a:lnSpc>
              <a:spcBef>
                <a:spcPct val="0"/>
              </a:spcBef>
            </a:pPr>
            <a:r>
              <a:rPr lang="zh-CN" altLang="en-US" sz="2400" dirty="0"/>
              <a:t>样本均值</a:t>
            </a:r>
            <a:r>
              <a:rPr lang="en-US" altLang="zh-CN" sz="2400" dirty="0"/>
              <a:t>, </a:t>
            </a:r>
            <a:r>
              <a:rPr lang="zh-CN" altLang="en-US" sz="2400" dirty="0"/>
              <a:t>样本比例，样本方差等</a:t>
            </a:r>
            <a:endParaRPr lang="zh-CN" altLang="en-US" sz="2400" dirty="0"/>
          </a:p>
          <a:p>
            <a:pPr marL="609600" indent="-609600">
              <a:lnSpc>
                <a:spcPct val="90000"/>
              </a:lnSpc>
              <a:spcBef>
                <a:spcPct val="60000"/>
              </a:spcBef>
              <a:buFontTx/>
              <a:buAutoNum type="arabicPeriod"/>
            </a:pPr>
            <a:r>
              <a:rPr lang="zh-CN" altLang="en-US" sz="2800" dirty="0"/>
              <a:t>结果来自</a:t>
            </a:r>
            <a:r>
              <a:rPr lang="zh-CN" altLang="en-US" sz="2800" b="1" dirty="0"/>
              <a:t>容量相同</a:t>
            </a:r>
            <a:r>
              <a:rPr lang="zh-CN" altLang="en-US" sz="2800" dirty="0"/>
              <a:t>的</a:t>
            </a:r>
            <a:r>
              <a:rPr lang="zh-CN" altLang="en-US" sz="2800" b="1" dirty="0"/>
              <a:t>所有</a:t>
            </a:r>
            <a:r>
              <a:rPr lang="zh-CN" altLang="en-US" sz="2800" dirty="0"/>
              <a:t>可能样本</a:t>
            </a:r>
            <a:endParaRPr lang="zh-CN" altLang="en-US" sz="2800" dirty="0"/>
          </a:p>
          <a:p>
            <a:pPr marL="609600" indent="-609600">
              <a:lnSpc>
                <a:spcPct val="90000"/>
              </a:lnSpc>
              <a:spcBef>
                <a:spcPct val="60000"/>
              </a:spcBef>
              <a:buFontTx/>
              <a:buAutoNum type="arabicPeriod"/>
            </a:pPr>
            <a:r>
              <a:rPr lang="zh-CN" altLang="en-US" sz="2800" dirty="0"/>
              <a:t>提供了样本统计量长远而稳定的信息，是进行推断的理论基础，也是抽样推断科学性的重要依据 	</a:t>
            </a:r>
            <a:endParaRPr lang="zh-CN" altLang="en-US" sz="2800" dirty="0"/>
          </a:p>
        </p:txBody>
      </p:sp>
      <p:sp>
        <p:nvSpPr>
          <p:cNvPr id="315395" name="Rectangle 3"/>
          <p:cNvSpPr>
            <a:spLocks noGrp="1" noChangeArrowheads="1"/>
          </p:cNvSpPr>
          <p:nvPr>
            <p:ph type="title"/>
          </p:nvPr>
        </p:nvSpPr>
        <p:spPr>
          <a:xfrm>
            <a:off x="3352800" y="228600"/>
            <a:ext cx="6781800" cy="608112"/>
          </a:xfrm>
          <a:noFill/>
        </p:spPr>
        <p:txBody>
          <a:bodyPr>
            <a:normAutofit fontScale="90000"/>
          </a:bodyPr>
          <a:lstStyle/>
          <a:p>
            <a:r>
              <a:rPr lang="zh-CN" altLang="en-US" dirty="0"/>
              <a:t>抽样分布 </a:t>
            </a:r>
            <a:r>
              <a:rPr lang="en-US" altLang="zh-CN" sz="3600" dirty="0">
                <a:solidFill>
                  <a:schemeClr val="hlink"/>
                </a:solidFill>
                <a:latin typeface="Arial" panose="020B0604020202020204" pitchFamily="34" charset="0"/>
              </a:rPr>
              <a:t>(</a:t>
            </a:r>
            <a:r>
              <a:rPr lang="en-US" altLang="zh-CN" sz="3600" dirty="0">
                <a:solidFill>
                  <a:schemeClr val="hlink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sampling distribution</a:t>
            </a:r>
            <a:r>
              <a:rPr lang="en-US" altLang="zh-CN" sz="3600" dirty="0">
                <a:solidFill>
                  <a:schemeClr val="hlink"/>
                </a:solidFill>
                <a:latin typeface="Arial" panose="020B0604020202020204" pitchFamily="34" charset="0"/>
              </a:rPr>
              <a:t>)</a:t>
            </a:r>
            <a:endParaRPr lang="en-US" altLang="zh-CN" sz="3600" dirty="0">
              <a:solidFill>
                <a:schemeClr val="hlink"/>
              </a:solidFill>
              <a:latin typeface="Arial" panose="020B0604020202020204" pitchFamily="34" charset="0"/>
            </a:endParaRPr>
          </a:p>
        </p:txBody>
      </p:sp>
    </p:spTree>
    <p:custDataLst>
      <p:tags r:id="rId1"/>
    </p:custData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3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153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153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folHlink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39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1539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1539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folHlink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39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1539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1539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folHlink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39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31539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1539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folHlink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39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31539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1539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folHlink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39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31539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1539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folHlink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5394" grpId="0" autoUpdateAnimBg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6018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2057400" y="1828800"/>
            <a:ext cx="8153400" cy="4343400"/>
          </a:xfrm>
          <a:noFill/>
        </p:spPr>
        <p:txBody>
          <a:bodyPr/>
          <a:lstStyle/>
          <a:p>
            <a:pPr marL="609600" indent="-609600">
              <a:spcBef>
                <a:spcPct val="60000"/>
              </a:spcBef>
              <a:buFontTx/>
              <a:buAutoNum type="arabicPeriod"/>
            </a:pPr>
            <a:r>
              <a:rPr lang="zh-CN" altLang="en-US"/>
              <a:t>在重复选取容量为</a:t>
            </a:r>
            <a:r>
              <a:rPr lang="en-US" altLang="zh-CN" i="1">
                <a:latin typeface="Times New Roman" panose="02020603050405020304" pitchFamily="18" charset="0"/>
              </a:rPr>
              <a:t>n</a:t>
            </a:r>
            <a:r>
              <a:rPr lang="zh-CN" altLang="en-US"/>
              <a:t>的样本时，由样本均值的所有可能取值形成的相对频数分布</a:t>
            </a:r>
            <a:endParaRPr lang="zh-CN" altLang="en-US"/>
          </a:p>
          <a:p>
            <a:pPr marL="609600" indent="-609600">
              <a:spcBef>
                <a:spcPct val="60000"/>
              </a:spcBef>
              <a:buFontTx/>
              <a:buAutoNum type="arabicPeriod"/>
            </a:pPr>
            <a:r>
              <a:rPr lang="zh-CN" altLang="en-US"/>
              <a:t>一种理论概率分布</a:t>
            </a:r>
            <a:endParaRPr lang="zh-CN" altLang="en-US"/>
          </a:p>
          <a:p>
            <a:pPr marL="609600" indent="-609600">
              <a:spcBef>
                <a:spcPct val="60000"/>
              </a:spcBef>
              <a:buFontTx/>
              <a:buAutoNum type="arabicPeriod"/>
            </a:pPr>
            <a:r>
              <a:rPr lang="zh-CN" altLang="en-US"/>
              <a:t>推断总体均值</a:t>
            </a:r>
            <a:r>
              <a:rPr lang="zh-CN" altLang="en-US" i="1">
                <a:sym typeface="Symbol" panose="05050102010706020507" pitchFamily="18" charset="2"/>
              </a:rPr>
              <a:t></a:t>
            </a:r>
            <a:r>
              <a:rPr lang="zh-CN" altLang="en-US"/>
              <a:t>的理论基础	</a:t>
            </a:r>
            <a:endParaRPr lang="zh-CN" altLang="en-US"/>
          </a:p>
        </p:txBody>
      </p:sp>
      <p:sp>
        <p:nvSpPr>
          <p:cNvPr id="726019" name="Rectangle 3"/>
          <p:cNvSpPr>
            <a:spLocks noGrp="1" noChangeArrowheads="1"/>
          </p:cNvSpPr>
          <p:nvPr>
            <p:ph type="title"/>
          </p:nvPr>
        </p:nvSpPr>
        <p:spPr>
          <a:xfrm>
            <a:off x="3352800" y="228600"/>
            <a:ext cx="6781800" cy="608112"/>
          </a:xfrm>
          <a:noFill/>
        </p:spPr>
        <p:txBody>
          <a:bodyPr/>
          <a:lstStyle/>
          <a:p>
            <a:r>
              <a:rPr lang="zh-CN" altLang="en-US" dirty="0"/>
              <a:t>样本均值的抽样分布</a:t>
            </a:r>
            <a:endParaRPr lang="zh-CN" altLang="en-US" sz="3600" dirty="0">
              <a:solidFill>
                <a:schemeClr val="hlink"/>
              </a:solidFill>
              <a:latin typeface="Arial" panose="020B0604020202020204" pitchFamily="34" charset="0"/>
            </a:endParaRPr>
          </a:p>
        </p:txBody>
      </p:sp>
    </p:spTree>
    <p:custDataLst>
      <p:tags r:id="rId1"/>
    </p:custData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60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260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260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folHlink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60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260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260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folHlink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60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260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260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folHlink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6018" grpId="0" autoUpdateAnimBg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099" name="Rectangle 3"/>
          <p:cNvSpPr>
            <a:spLocks noGrp="1" noChangeArrowheads="1"/>
          </p:cNvSpPr>
          <p:nvPr>
            <p:ph type="title"/>
          </p:nvPr>
        </p:nvSpPr>
        <p:spPr>
          <a:xfrm>
            <a:off x="1981200" y="73660"/>
            <a:ext cx="9706610" cy="990600"/>
          </a:xfrm>
          <a:noFill/>
        </p:spPr>
        <p:txBody>
          <a:bodyPr>
            <a:normAutofit/>
          </a:bodyPr>
          <a:lstStyle/>
          <a:p>
            <a:r>
              <a:rPr lang="zh-CN" altLang="en-US"/>
              <a:t>样本均值的抽样分布与中心极限定理</a:t>
            </a:r>
            <a:endParaRPr lang="zh-CN" altLang="en-US" sz="3600"/>
          </a:p>
        </p:txBody>
      </p:sp>
      <p:grpSp>
        <p:nvGrpSpPr>
          <p:cNvPr id="388183" name="Group 87"/>
          <p:cNvGrpSpPr/>
          <p:nvPr/>
        </p:nvGrpSpPr>
        <p:grpSpPr bwMode="auto">
          <a:xfrm>
            <a:off x="2514600" y="3357563"/>
            <a:ext cx="2543175" cy="2193925"/>
            <a:chOff x="672" y="2304"/>
            <a:chExt cx="1602" cy="1382"/>
          </a:xfrm>
        </p:grpSpPr>
        <p:grpSp>
          <p:nvGrpSpPr>
            <p:cNvPr id="388119" name="Group 23"/>
            <p:cNvGrpSpPr/>
            <p:nvPr/>
          </p:nvGrpSpPr>
          <p:grpSpPr bwMode="auto">
            <a:xfrm>
              <a:off x="672" y="2304"/>
              <a:ext cx="1602" cy="1133"/>
              <a:chOff x="3390" y="1429"/>
              <a:chExt cx="1602" cy="1133"/>
            </a:xfrm>
          </p:grpSpPr>
          <p:sp>
            <p:nvSpPr>
              <p:cNvPr id="388120" name="Line 24"/>
              <p:cNvSpPr>
                <a:spLocks noChangeShapeType="1"/>
              </p:cNvSpPr>
              <p:nvPr/>
            </p:nvSpPr>
            <p:spPr bwMode="auto">
              <a:xfrm>
                <a:off x="4161" y="1590"/>
                <a:ext cx="1" cy="717"/>
              </a:xfrm>
              <a:prstGeom prst="line">
                <a:avLst/>
              </a:prstGeom>
              <a:noFill/>
              <a:ln w="12700">
                <a:solidFill>
                  <a:srgbClr val="CDCDCD"/>
                </a:solidFill>
                <a:round/>
              </a:ln>
              <a:effectLst>
                <a:outerShdw dist="28398" dir="3806097" algn="ctr" rotWithShape="0">
                  <a:schemeClr val="bg2"/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88121" name="Rectangle 25"/>
              <p:cNvSpPr>
                <a:spLocks noChangeArrowheads="1"/>
              </p:cNvSpPr>
              <p:nvPr/>
            </p:nvSpPr>
            <p:spPr bwMode="auto">
              <a:xfrm>
                <a:off x="3883" y="2301"/>
                <a:ext cx="507" cy="232"/>
              </a:xfrm>
              <a:prstGeom prst="rect">
                <a:avLst/>
              </a:prstGeom>
              <a:noFill/>
              <a:ln>
                <a:noFill/>
              </a:ln>
              <a:effectLst>
                <a:outerShdw dist="28398" dir="3806097" algn="ctr" rotWithShape="0">
                  <a:schemeClr val="bg2"/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sz="2400" i="1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anose="02020603050405020304" pitchFamily="18" charset="0"/>
                    <a:sym typeface="Symbol" panose="05050102010706020507" pitchFamily="18" charset="2"/>
                  </a:rPr>
                  <a:t> </a:t>
                </a:r>
                <a:r>
                  <a:rPr lang="en-US" altLang="zh-CN" sz="2400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anose="02020603050405020304" pitchFamily="18" charset="0"/>
                  </a:rPr>
                  <a:t>= 50</a:t>
                </a:r>
                <a:endParaRPr lang="en-US" altLang="zh-CN" sz="2400" b="0" i="1"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388122" name="Group 26"/>
              <p:cNvGrpSpPr/>
              <p:nvPr/>
            </p:nvGrpSpPr>
            <p:grpSpPr bwMode="auto">
              <a:xfrm>
                <a:off x="3408" y="1536"/>
                <a:ext cx="1492" cy="717"/>
                <a:chOff x="3416" y="1584"/>
                <a:chExt cx="1492" cy="717"/>
              </a:xfrm>
            </p:grpSpPr>
            <p:sp>
              <p:nvSpPr>
                <p:cNvPr id="388123" name="Freeform 27"/>
                <p:cNvSpPr/>
                <p:nvPr/>
              </p:nvSpPr>
              <p:spPr bwMode="auto">
                <a:xfrm>
                  <a:off x="4161" y="1584"/>
                  <a:ext cx="747" cy="717"/>
                </a:xfrm>
                <a:custGeom>
                  <a:avLst/>
                  <a:gdLst>
                    <a:gd name="T0" fmla="*/ 747 w 747"/>
                    <a:gd name="T1" fmla="*/ 717 h 717"/>
                    <a:gd name="T2" fmla="*/ 668 w 747"/>
                    <a:gd name="T3" fmla="*/ 709 h 717"/>
                    <a:gd name="T4" fmla="*/ 630 w 747"/>
                    <a:gd name="T5" fmla="*/ 700 h 717"/>
                    <a:gd name="T6" fmla="*/ 590 w 747"/>
                    <a:gd name="T7" fmla="*/ 689 h 717"/>
                    <a:gd name="T8" fmla="*/ 550 w 747"/>
                    <a:gd name="T9" fmla="*/ 672 h 717"/>
                    <a:gd name="T10" fmla="*/ 512 w 747"/>
                    <a:gd name="T11" fmla="*/ 649 h 717"/>
                    <a:gd name="T12" fmla="*/ 472 w 747"/>
                    <a:gd name="T13" fmla="*/ 620 h 717"/>
                    <a:gd name="T14" fmla="*/ 394 w 747"/>
                    <a:gd name="T15" fmla="*/ 538 h 717"/>
                    <a:gd name="T16" fmla="*/ 316 w 747"/>
                    <a:gd name="T17" fmla="*/ 420 h 717"/>
                    <a:gd name="T18" fmla="*/ 236 w 747"/>
                    <a:gd name="T19" fmla="*/ 280 h 717"/>
                    <a:gd name="T20" fmla="*/ 196 w 747"/>
                    <a:gd name="T21" fmla="*/ 208 h 717"/>
                    <a:gd name="T22" fmla="*/ 158 w 747"/>
                    <a:gd name="T23" fmla="*/ 142 h 717"/>
                    <a:gd name="T24" fmla="*/ 118 w 747"/>
                    <a:gd name="T25" fmla="*/ 84 h 717"/>
                    <a:gd name="T26" fmla="*/ 80 w 747"/>
                    <a:gd name="T27" fmla="*/ 38 h 717"/>
                    <a:gd name="T28" fmla="*/ 40 w 747"/>
                    <a:gd name="T29" fmla="*/ 9 h 717"/>
                    <a:gd name="T30" fmla="*/ 0 w 747"/>
                    <a:gd name="T31" fmla="*/ 0 h 7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</a:cxnLst>
                  <a:rect l="0" t="0" r="r" b="b"/>
                  <a:pathLst>
                    <a:path w="747" h="717">
                      <a:moveTo>
                        <a:pt x="747" y="717"/>
                      </a:moveTo>
                      <a:lnTo>
                        <a:pt x="668" y="709"/>
                      </a:lnTo>
                      <a:lnTo>
                        <a:pt x="630" y="700"/>
                      </a:lnTo>
                      <a:lnTo>
                        <a:pt x="590" y="689"/>
                      </a:lnTo>
                      <a:lnTo>
                        <a:pt x="550" y="672"/>
                      </a:lnTo>
                      <a:lnTo>
                        <a:pt x="512" y="649"/>
                      </a:lnTo>
                      <a:lnTo>
                        <a:pt x="472" y="620"/>
                      </a:lnTo>
                      <a:lnTo>
                        <a:pt x="394" y="538"/>
                      </a:lnTo>
                      <a:lnTo>
                        <a:pt x="316" y="420"/>
                      </a:lnTo>
                      <a:lnTo>
                        <a:pt x="236" y="280"/>
                      </a:lnTo>
                      <a:lnTo>
                        <a:pt x="196" y="208"/>
                      </a:lnTo>
                      <a:lnTo>
                        <a:pt x="158" y="142"/>
                      </a:lnTo>
                      <a:lnTo>
                        <a:pt x="118" y="84"/>
                      </a:lnTo>
                      <a:lnTo>
                        <a:pt x="80" y="38"/>
                      </a:lnTo>
                      <a:lnTo>
                        <a:pt x="40" y="9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57150" cmpd="sng">
                  <a:solidFill>
                    <a:srgbClr val="FF0000"/>
                  </a:solidFill>
                  <a:prstDash val="solid"/>
                  <a:round/>
                </a:ln>
                <a:effectLst>
                  <a:outerShdw dist="28398" dir="3806097" algn="ctr" rotWithShape="0">
                    <a:schemeClr val="bg2"/>
                  </a:outerShdw>
                </a:effectLst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88124" name="Freeform 28"/>
                <p:cNvSpPr/>
                <p:nvPr/>
              </p:nvSpPr>
              <p:spPr bwMode="auto">
                <a:xfrm>
                  <a:off x="3416" y="1584"/>
                  <a:ext cx="745" cy="717"/>
                </a:xfrm>
                <a:custGeom>
                  <a:avLst/>
                  <a:gdLst>
                    <a:gd name="T0" fmla="*/ 0 w 745"/>
                    <a:gd name="T1" fmla="*/ 717 h 717"/>
                    <a:gd name="T2" fmla="*/ 78 w 745"/>
                    <a:gd name="T3" fmla="*/ 709 h 717"/>
                    <a:gd name="T4" fmla="*/ 118 w 745"/>
                    <a:gd name="T5" fmla="*/ 700 h 717"/>
                    <a:gd name="T6" fmla="*/ 156 w 745"/>
                    <a:gd name="T7" fmla="*/ 689 h 717"/>
                    <a:gd name="T8" fmla="*/ 196 w 745"/>
                    <a:gd name="T9" fmla="*/ 672 h 717"/>
                    <a:gd name="T10" fmla="*/ 236 w 745"/>
                    <a:gd name="T11" fmla="*/ 649 h 717"/>
                    <a:gd name="T12" fmla="*/ 274 w 745"/>
                    <a:gd name="T13" fmla="*/ 620 h 717"/>
                    <a:gd name="T14" fmla="*/ 354 w 745"/>
                    <a:gd name="T15" fmla="*/ 538 h 717"/>
                    <a:gd name="T16" fmla="*/ 432 w 745"/>
                    <a:gd name="T17" fmla="*/ 420 h 717"/>
                    <a:gd name="T18" fmla="*/ 510 w 745"/>
                    <a:gd name="T19" fmla="*/ 280 h 717"/>
                    <a:gd name="T20" fmla="*/ 550 w 745"/>
                    <a:gd name="T21" fmla="*/ 208 h 717"/>
                    <a:gd name="T22" fmla="*/ 589 w 745"/>
                    <a:gd name="T23" fmla="*/ 142 h 717"/>
                    <a:gd name="T24" fmla="*/ 628 w 745"/>
                    <a:gd name="T25" fmla="*/ 84 h 717"/>
                    <a:gd name="T26" fmla="*/ 667 w 745"/>
                    <a:gd name="T27" fmla="*/ 38 h 717"/>
                    <a:gd name="T28" fmla="*/ 707 w 745"/>
                    <a:gd name="T29" fmla="*/ 9 h 717"/>
                    <a:gd name="T30" fmla="*/ 745 w 745"/>
                    <a:gd name="T31" fmla="*/ 0 h 7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</a:cxnLst>
                  <a:rect l="0" t="0" r="r" b="b"/>
                  <a:pathLst>
                    <a:path w="745" h="717">
                      <a:moveTo>
                        <a:pt x="0" y="717"/>
                      </a:moveTo>
                      <a:lnTo>
                        <a:pt x="78" y="709"/>
                      </a:lnTo>
                      <a:lnTo>
                        <a:pt x="118" y="700"/>
                      </a:lnTo>
                      <a:lnTo>
                        <a:pt x="156" y="689"/>
                      </a:lnTo>
                      <a:lnTo>
                        <a:pt x="196" y="672"/>
                      </a:lnTo>
                      <a:lnTo>
                        <a:pt x="236" y="649"/>
                      </a:lnTo>
                      <a:lnTo>
                        <a:pt x="274" y="620"/>
                      </a:lnTo>
                      <a:lnTo>
                        <a:pt x="354" y="538"/>
                      </a:lnTo>
                      <a:lnTo>
                        <a:pt x="432" y="420"/>
                      </a:lnTo>
                      <a:lnTo>
                        <a:pt x="510" y="280"/>
                      </a:lnTo>
                      <a:lnTo>
                        <a:pt x="550" y="208"/>
                      </a:lnTo>
                      <a:lnTo>
                        <a:pt x="589" y="142"/>
                      </a:lnTo>
                      <a:lnTo>
                        <a:pt x="628" y="84"/>
                      </a:lnTo>
                      <a:lnTo>
                        <a:pt x="667" y="38"/>
                      </a:lnTo>
                      <a:lnTo>
                        <a:pt x="707" y="9"/>
                      </a:lnTo>
                      <a:lnTo>
                        <a:pt x="745" y="0"/>
                      </a:lnTo>
                    </a:path>
                  </a:pathLst>
                </a:custGeom>
                <a:noFill/>
                <a:ln w="57150" cmpd="sng">
                  <a:solidFill>
                    <a:srgbClr val="FF0000"/>
                  </a:solidFill>
                  <a:prstDash val="solid"/>
                  <a:round/>
                </a:ln>
                <a:effectLst>
                  <a:outerShdw dist="28398" dir="3806097" algn="ctr" rotWithShape="0">
                    <a:schemeClr val="bg2"/>
                  </a:outerShdw>
                </a:effectLst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388125" name="Rectangle 29"/>
              <p:cNvSpPr>
                <a:spLocks noChangeArrowheads="1"/>
              </p:cNvSpPr>
              <p:nvPr/>
            </p:nvSpPr>
            <p:spPr bwMode="auto">
              <a:xfrm>
                <a:off x="4364" y="1429"/>
                <a:ext cx="464" cy="232"/>
              </a:xfrm>
              <a:prstGeom prst="rect">
                <a:avLst/>
              </a:prstGeom>
              <a:noFill/>
              <a:ln>
                <a:noFill/>
              </a:ln>
              <a:effectLst>
                <a:outerShdw dist="28398" dir="3806097" algn="ctr" rotWithShape="0">
                  <a:schemeClr val="bg2"/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sz="2400" i="1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anose="02020603050405020304" pitchFamily="18" charset="0"/>
                    <a:sym typeface="Symbol" panose="05050102010706020507" pitchFamily="18" charset="2"/>
                  </a:rPr>
                  <a:t></a:t>
                </a:r>
                <a:r>
                  <a:rPr lang="en-US" altLang="zh-CN" sz="2400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anose="02020603050405020304" pitchFamily="18" charset="0"/>
                    <a:sym typeface="Symbol" panose="05050102010706020507" pitchFamily="18" charset="2"/>
                  </a:rPr>
                  <a:t> </a:t>
                </a:r>
                <a:r>
                  <a:rPr lang="en-US" altLang="zh-CN" sz="2400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anose="02020603050405020304" pitchFamily="18" charset="0"/>
                  </a:rPr>
                  <a:t>=10</a:t>
                </a:r>
                <a:endParaRPr lang="en-US" altLang="zh-CN" sz="2400" i="1"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88126" name="Freeform 30"/>
              <p:cNvSpPr/>
              <p:nvPr/>
            </p:nvSpPr>
            <p:spPr bwMode="auto">
              <a:xfrm>
                <a:off x="3408" y="1601"/>
                <a:ext cx="1584" cy="703"/>
              </a:xfrm>
              <a:custGeom>
                <a:avLst/>
                <a:gdLst>
                  <a:gd name="T0" fmla="*/ 0 w 1493"/>
                  <a:gd name="T1" fmla="*/ 0 h 700"/>
                  <a:gd name="T2" fmla="*/ 0 w 1493"/>
                  <a:gd name="T3" fmla="*/ 700 h 700"/>
                  <a:gd name="T4" fmla="*/ 1493 w 1493"/>
                  <a:gd name="T5" fmla="*/ 700 h 7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493" h="700">
                    <a:moveTo>
                      <a:pt x="0" y="0"/>
                    </a:moveTo>
                    <a:lnTo>
                      <a:pt x="0" y="700"/>
                    </a:lnTo>
                    <a:lnTo>
                      <a:pt x="1493" y="700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prstDash val="solid"/>
                <a:round/>
                <a:headEnd type="triangle" w="med" len="med"/>
                <a:tailEnd type="triangle" w="med" len="med"/>
              </a:ln>
              <a:effectLst>
                <a:outerShdw dist="28398" dir="3806097" algn="ctr" rotWithShape="0">
                  <a:schemeClr val="bg2"/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88127" name="Line 31"/>
              <p:cNvSpPr>
                <a:spLocks noChangeShapeType="1"/>
              </p:cNvSpPr>
              <p:nvPr/>
            </p:nvSpPr>
            <p:spPr bwMode="auto">
              <a:xfrm>
                <a:off x="3390" y="1740"/>
                <a:ext cx="18" cy="1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>
                <a:outerShdw dist="28398" dir="3806097" algn="ctr" rotWithShape="0">
                  <a:schemeClr val="bg2"/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88128" name="Line 32"/>
              <p:cNvSpPr>
                <a:spLocks noChangeShapeType="1"/>
              </p:cNvSpPr>
              <p:nvPr/>
            </p:nvSpPr>
            <p:spPr bwMode="auto">
              <a:xfrm>
                <a:off x="3390" y="1810"/>
                <a:ext cx="18" cy="1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>
                <a:outerShdw dist="28398" dir="3806097" algn="ctr" rotWithShape="0">
                  <a:schemeClr val="bg2"/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88129" name="Line 33"/>
              <p:cNvSpPr>
                <a:spLocks noChangeShapeType="1"/>
              </p:cNvSpPr>
              <p:nvPr/>
            </p:nvSpPr>
            <p:spPr bwMode="auto">
              <a:xfrm>
                <a:off x="3390" y="1881"/>
                <a:ext cx="18" cy="1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>
                <a:outerShdw dist="28398" dir="3806097" algn="ctr" rotWithShape="0">
                  <a:schemeClr val="bg2"/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88130" name="Line 34"/>
              <p:cNvSpPr>
                <a:spLocks noChangeShapeType="1"/>
              </p:cNvSpPr>
              <p:nvPr/>
            </p:nvSpPr>
            <p:spPr bwMode="auto">
              <a:xfrm>
                <a:off x="3390" y="1951"/>
                <a:ext cx="18" cy="1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>
                <a:outerShdw dist="28398" dir="3806097" algn="ctr" rotWithShape="0">
                  <a:schemeClr val="bg2"/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88131" name="Line 35"/>
              <p:cNvSpPr>
                <a:spLocks noChangeShapeType="1"/>
              </p:cNvSpPr>
              <p:nvPr/>
            </p:nvSpPr>
            <p:spPr bwMode="auto">
              <a:xfrm>
                <a:off x="3390" y="2021"/>
                <a:ext cx="18" cy="1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>
                <a:outerShdw dist="28398" dir="3806097" algn="ctr" rotWithShape="0">
                  <a:schemeClr val="bg2"/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88132" name="Line 36"/>
              <p:cNvSpPr>
                <a:spLocks noChangeShapeType="1"/>
              </p:cNvSpPr>
              <p:nvPr/>
            </p:nvSpPr>
            <p:spPr bwMode="auto">
              <a:xfrm>
                <a:off x="3390" y="2091"/>
                <a:ext cx="18" cy="1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>
                <a:outerShdw dist="28398" dir="3806097" algn="ctr" rotWithShape="0">
                  <a:schemeClr val="bg2"/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88133" name="Line 37"/>
              <p:cNvSpPr>
                <a:spLocks noChangeShapeType="1"/>
              </p:cNvSpPr>
              <p:nvPr/>
            </p:nvSpPr>
            <p:spPr bwMode="auto">
              <a:xfrm>
                <a:off x="3390" y="2162"/>
                <a:ext cx="18" cy="1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>
                <a:outerShdw dist="28398" dir="3806097" algn="ctr" rotWithShape="0">
                  <a:schemeClr val="bg2"/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88134" name="Line 38"/>
              <p:cNvSpPr>
                <a:spLocks noChangeShapeType="1"/>
              </p:cNvSpPr>
              <p:nvPr/>
            </p:nvSpPr>
            <p:spPr bwMode="auto">
              <a:xfrm>
                <a:off x="3390" y="2230"/>
                <a:ext cx="18" cy="1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>
                <a:outerShdw dist="28398" dir="3806097" algn="ctr" rotWithShape="0">
                  <a:schemeClr val="bg2"/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88135" name="Line 39"/>
              <p:cNvSpPr>
                <a:spLocks noChangeShapeType="1"/>
              </p:cNvSpPr>
              <p:nvPr/>
            </p:nvSpPr>
            <p:spPr bwMode="auto">
              <a:xfrm>
                <a:off x="4752" y="2301"/>
                <a:ext cx="1" cy="9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>
                <a:outerShdw dist="28398" dir="3806097" algn="ctr" rotWithShape="0">
                  <a:schemeClr val="bg2"/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88136" name="Line 40"/>
              <p:cNvSpPr>
                <a:spLocks noChangeShapeType="1"/>
              </p:cNvSpPr>
              <p:nvPr/>
            </p:nvSpPr>
            <p:spPr bwMode="auto">
              <a:xfrm>
                <a:off x="4602" y="2301"/>
                <a:ext cx="1" cy="9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>
                <a:outerShdw dist="28398" dir="3806097" algn="ctr" rotWithShape="0">
                  <a:schemeClr val="bg2"/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88137" name="Line 41"/>
              <p:cNvSpPr>
                <a:spLocks noChangeShapeType="1"/>
              </p:cNvSpPr>
              <p:nvPr/>
            </p:nvSpPr>
            <p:spPr bwMode="auto">
              <a:xfrm>
                <a:off x="4454" y="2301"/>
                <a:ext cx="1" cy="9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>
                <a:outerShdw dist="28398" dir="3806097" algn="ctr" rotWithShape="0">
                  <a:schemeClr val="bg2"/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88138" name="Line 42"/>
              <p:cNvSpPr>
                <a:spLocks noChangeShapeType="1"/>
              </p:cNvSpPr>
              <p:nvPr/>
            </p:nvSpPr>
            <p:spPr bwMode="auto">
              <a:xfrm>
                <a:off x="4304" y="2301"/>
                <a:ext cx="1" cy="9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>
                <a:outerShdw dist="28398" dir="3806097" algn="ctr" rotWithShape="0">
                  <a:schemeClr val="bg2"/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88139" name="Line 43"/>
              <p:cNvSpPr>
                <a:spLocks noChangeShapeType="1"/>
              </p:cNvSpPr>
              <p:nvPr/>
            </p:nvSpPr>
            <p:spPr bwMode="auto">
              <a:xfrm>
                <a:off x="4155" y="2301"/>
                <a:ext cx="1" cy="9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>
                <a:outerShdw dist="28398" dir="3806097" algn="ctr" rotWithShape="0">
                  <a:schemeClr val="bg2"/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88140" name="Line 44"/>
              <p:cNvSpPr>
                <a:spLocks noChangeShapeType="1"/>
              </p:cNvSpPr>
              <p:nvPr/>
            </p:nvSpPr>
            <p:spPr bwMode="auto">
              <a:xfrm>
                <a:off x="4005" y="2301"/>
                <a:ext cx="1" cy="9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>
                <a:outerShdw dist="28398" dir="3806097" algn="ctr" rotWithShape="0">
                  <a:schemeClr val="bg2"/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88141" name="Line 45"/>
              <p:cNvSpPr>
                <a:spLocks noChangeShapeType="1"/>
              </p:cNvSpPr>
              <p:nvPr/>
            </p:nvSpPr>
            <p:spPr bwMode="auto">
              <a:xfrm>
                <a:off x="3857" y="2301"/>
                <a:ext cx="1" cy="9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>
                <a:outerShdw dist="28398" dir="3806097" algn="ctr" rotWithShape="0">
                  <a:schemeClr val="bg2"/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88142" name="Line 46"/>
              <p:cNvSpPr>
                <a:spLocks noChangeShapeType="1"/>
              </p:cNvSpPr>
              <p:nvPr/>
            </p:nvSpPr>
            <p:spPr bwMode="auto">
              <a:xfrm>
                <a:off x="3707" y="2301"/>
                <a:ext cx="1" cy="9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>
                <a:outerShdw dist="28398" dir="3806097" algn="ctr" rotWithShape="0">
                  <a:schemeClr val="bg2"/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88143" name="Line 47"/>
              <p:cNvSpPr>
                <a:spLocks noChangeShapeType="1"/>
              </p:cNvSpPr>
              <p:nvPr/>
            </p:nvSpPr>
            <p:spPr bwMode="auto">
              <a:xfrm>
                <a:off x="3558" y="2301"/>
                <a:ext cx="1" cy="9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>
                <a:outerShdw dist="28398" dir="3806097" algn="ctr" rotWithShape="0">
                  <a:schemeClr val="bg2"/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88144" name="Rectangle 48"/>
              <p:cNvSpPr>
                <a:spLocks noChangeArrowheads="1"/>
              </p:cNvSpPr>
              <p:nvPr/>
            </p:nvSpPr>
            <p:spPr bwMode="auto">
              <a:xfrm>
                <a:off x="4774" y="2330"/>
                <a:ext cx="117" cy="232"/>
              </a:xfrm>
              <a:prstGeom prst="rect">
                <a:avLst/>
              </a:prstGeom>
              <a:noFill/>
              <a:ln>
                <a:noFill/>
              </a:ln>
              <a:effectLst>
                <a:outerShdw dist="28398" dir="3806097" algn="ctr" rotWithShape="0">
                  <a:schemeClr val="bg2"/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sz="2400" i="1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anose="02020603050405020304" pitchFamily="18" charset="0"/>
                  </a:rPr>
                  <a:t>X</a:t>
                </a:r>
                <a:endParaRPr lang="en-US" altLang="zh-CN" sz="2400" b="0" i="1"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388145" name="Rectangle 49"/>
            <p:cNvSpPr>
              <a:spLocks noChangeArrowheads="1"/>
            </p:cNvSpPr>
            <p:nvPr/>
          </p:nvSpPr>
          <p:spPr bwMode="auto">
            <a:xfrm>
              <a:off x="864" y="3456"/>
              <a:ext cx="1152" cy="230"/>
            </a:xfrm>
            <a:prstGeom prst="rect">
              <a:avLst/>
            </a:prstGeom>
            <a:noFill/>
            <a:ln>
              <a:noFill/>
            </a:ln>
            <a:effectLst>
              <a:outerShdw dist="28398" dir="3806097" algn="ctr" rotWithShape="0">
                <a:schemeClr val="bg2"/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488" tIns="44450" rIns="90488" bIns="44450">
              <a:spAutoFit/>
            </a:bodyPr>
            <a:lstStyle/>
            <a:p>
              <a:pPr algn="ctr">
                <a:spcBef>
                  <a:spcPct val="70000"/>
                </a:spcBef>
              </a:pPr>
              <a:r>
                <a:rPr lang="zh-CN" altLang="en-US">
                  <a:solidFill>
                    <a:srgbClr val="FFFFB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</a:rPr>
                <a:t>总体分布</a:t>
              </a:r>
              <a:endParaRPr lang="zh-CN" altLang="en-US">
                <a:solidFill>
                  <a:srgbClr val="FFFFB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388202" name="Group 106"/>
          <p:cNvGrpSpPr/>
          <p:nvPr/>
        </p:nvGrpSpPr>
        <p:grpSpPr bwMode="auto">
          <a:xfrm>
            <a:off x="4572000" y="3509963"/>
            <a:ext cx="5648325" cy="2514600"/>
            <a:chOff x="1920" y="2256"/>
            <a:chExt cx="3558" cy="1584"/>
          </a:xfrm>
        </p:grpSpPr>
        <p:grpSp>
          <p:nvGrpSpPr>
            <p:cNvPr id="388189" name="Group 93"/>
            <p:cNvGrpSpPr/>
            <p:nvPr/>
          </p:nvGrpSpPr>
          <p:grpSpPr bwMode="auto">
            <a:xfrm flipV="1">
              <a:off x="1920" y="3168"/>
              <a:ext cx="1632" cy="672"/>
              <a:chOff x="1825" y="2340"/>
              <a:chExt cx="1728" cy="793"/>
            </a:xfrm>
          </p:grpSpPr>
          <p:sp>
            <p:nvSpPr>
              <p:cNvPr id="388190" name="Freeform 94"/>
              <p:cNvSpPr/>
              <p:nvPr/>
            </p:nvSpPr>
            <p:spPr bwMode="auto">
              <a:xfrm>
                <a:off x="1827" y="2374"/>
                <a:ext cx="1726" cy="759"/>
              </a:xfrm>
              <a:custGeom>
                <a:avLst/>
                <a:gdLst>
                  <a:gd name="T0" fmla="*/ 0 w 1726"/>
                  <a:gd name="T1" fmla="*/ 386 h 759"/>
                  <a:gd name="T2" fmla="*/ 86 w 1726"/>
                  <a:gd name="T3" fmla="*/ 282 h 759"/>
                  <a:gd name="T4" fmla="*/ 151 w 1726"/>
                  <a:gd name="T5" fmla="*/ 227 h 759"/>
                  <a:gd name="T6" fmla="*/ 224 w 1726"/>
                  <a:gd name="T7" fmla="*/ 175 h 759"/>
                  <a:gd name="T8" fmla="*/ 304 w 1726"/>
                  <a:gd name="T9" fmla="*/ 134 h 759"/>
                  <a:gd name="T10" fmla="*/ 394 w 1726"/>
                  <a:gd name="T11" fmla="*/ 93 h 759"/>
                  <a:gd name="T12" fmla="*/ 502 w 1726"/>
                  <a:gd name="T13" fmla="*/ 57 h 759"/>
                  <a:gd name="T14" fmla="*/ 646 w 1726"/>
                  <a:gd name="T15" fmla="*/ 20 h 759"/>
                  <a:gd name="T16" fmla="*/ 778 w 1726"/>
                  <a:gd name="T17" fmla="*/ 6 h 759"/>
                  <a:gd name="T18" fmla="*/ 896 w 1726"/>
                  <a:gd name="T19" fmla="*/ 2 h 759"/>
                  <a:gd name="T20" fmla="*/ 1021 w 1726"/>
                  <a:gd name="T21" fmla="*/ 14 h 759"/>
                  <a:gd name="T22" fmla="*/ 1132 w 1726"/>
                  <a:gd name="T23" fmla="*/ 36 h 759"/>
                  <a:gd name="T24" fmla="*/ 1236 w 1726"/>
                  <a:gd name="T25" fmla="*/ 79 h 759"/>
                  <a:gd name="T26" fmla="*/ 1342 w 1726"/>
                  <a:gd name="T27" fmla="*/ 147 h 759"/>
                  <a:gd name="T28" fmla="*/ 1426 w 1726"/>
                  <a:gd name="T29" fmla="*/ 225 h 759"/>
                  <a:gd name="T30" fmla="*/ 1472 w 1726"/>
                  <a:gd name="T31" fmla="*/ 277 h 759"/>
                  <a:gd name="T32" fmla="*/ 1594 w 1726"/>
                  <a:gd name="T33" fmla="*/ 94 h 759"/>
                  <a:gd name="T34" fmla="*/ 1596 w 1726"/>
                  <a:gd name="T35" fmla="*/ 197 h 759"/>
                  <a:gd name="T36" fmla="*/ 1605 w 1726"/>
                  <a:gd name="T37" fmla="*/ 300 h 759"/>
                  <a:gd name="T38" fmla="*/ 1624 w 1726"/>
                  <a:gd name="T39" fmla="*/ 398 h 759"/>
                  <a:gd name="T40" fmla="*/ 1651 w 1726"/>
                  <a:gd name="T41" fmla="*/ 499 h 759"/>
                  <a:gd name="T42" fmla="*/ 1706 w 1726"/>
                  <a:gd name="T43" fmla="*/ 627 h 759"/>
                  <a:gd name="T44" fmla="*/ 1685 w 1726"/>
                  <a:gd name="T45" fmla="*/ 685 h 759"/>
                  <a:gd name="T46" fmla="*/ 1601 w 1726"/>
                  <a:gd name="T47" fmla="*/ 667 h 759"/>
                  <a:gd name="T48" fmla="*/ 1534 w 1726"/>
                  <a:gd name="T49" fmla="*/ 664 h 759"/>
                  <a:gd name="T50" fmla="*/ 1469 w 1726"/>
                  <a:gd name="T51" fmla="*/ 671 h 759"/>
                  <a:gd name="T52" fmla="*/ 1403 w 1726"/>
                  <a:gd name="T53" fmla="*/ 690 h 759"/>
                  <a:gd name="T54" fmla="*/ 1330 w 1726"/>
                  <a:gd name="T55" fmla="*/ 723 h 759"/>
                  <a:gd name="T56" fmla="*/ 1259 w 1726"/>
                  <a:gd name="T57" fmla="*/ 687 h 759"/>
                  <a:gd name="T58" fmla="*/ 1345 w 1726"/>
                  <a:gd name="T59" fmla="*/ 482 h 759"/>
                  <a:gd name="T60" fmla="*/ 1237 w 1726"/>
                  <a:gd name="T61" fmla="*/ 396 h 759"/>
                  <a:gd name="T62" fmla="*/ 1131 w 1726"/>
                  <a:gd name="T63" fmla="*/ 328 h 759"/>
                  <a:gd name="T64" fmla="*/ 1036 w 1726"/>
                  <a:gd name="T65" fmla="*/ 277 h 759"/>
                  <a:gd name="T66" fmla="*/ 921 w 1726"/>
                  <a:gd name="T67" fmla="*/ 232 h 759"/>
                  <a:gd name="T68" fmla="*/ 811 w 1726"/>
                  <a:gd name="T69" fmla="*/ 209 h 759"/>
                  <a:gd name="T70" fmla="*/ 707 w 1726"/>
                  <a:gd name="T71" fmla="*/ 195 h 759"/>
                  <a:gd name="T72" fmla="*/ 587 w 1726"/>
                  <a:gd name="T73" fmla="*/ 201 h 759"/>
                  <a:gd name="T74" fmla="*/ 470 w 1726"/>
                  <a:gd name="T75" fmla="*/ 211 h 759"/>
                  <a:gd name="T76" fmla="*/ 334 w 1726"/>
                  <a:gd name="T77" fmla="*/ 232 h 759"/>
                  <a:gd name="T78" fmla="*/ 231 w 1726"/>
                  <a:gd name="T79" fmla="*/ 266 h 759"/>
                  <a:gd name="T80" fmla="*/ 158 w 1726"/>
                  <a:gd name="T81" fmla="*/ 301 h 759"/>
                  <a:gd name="T82" fmla="*/ 97 w 1726"/>
                  <a:gd name="T83" fmla="*/ 343 h 7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</a:cxnLst>
                <a:rect l="0" t="0" r="r" b="b"/>
                <a:pathLst>
                  <a:path w="1726" h="759">
                    <a:moveTo>
                      <a:pt x="7" y="425"/>
                    </a:moveTo>
                    <a:lnTo>
                      <a:pt x="0" y="386"/>
                    </a:lnTo>
                    <a:lnTo>
                      <a:pt x="52" y="320"/>
                    </a:lnTo>
                    <a:lnTo>
                      <a:pt x="86" y="282"/>
                    </a:lnTo>
                    <a:lnTo>
                      <a:pt x="122" y="255"/>
                    </a:lnTo>
                    <a:lnTo>
                      <a:pt x="151" y="227"/>
                    </a:lnTo>
                    <a:lnTo>
                      <a:pt x="190" y="200"/>
                    </a:lnTo>
                    <a:lnTo>
                      <a:pt x="224" y="175"/>
                    </a:lnTo>
                    <a:lnTo>
                      <a:pt x="269" y="153"/>
                    </a:lnTo>
                    <a:lnTo>
                      <a:pt x="304" y="134"/>
                    </a:lnTo>
                    <a:lnTo>
                      <a:pt x="341" y="113"/>
                    </a:lnTo>
                    <a:lnTo>
                      <a:pt x="394" y="93"/>
                    </a:lnTo>
                    <a:lnTo>
                      <a:pt x="443" y="75"/>
                    </a:lnTo>
                    <a:lnTo>
                      <a:pt x="502" y="57"/>
                    </a:lnTo>
                    <a:lnTo>
                      <a:pt x="581" y="34"/>
                    </a:lnTo>
                    <a:lnTo>
                      <a:pt x="646" y="20"/>
                    </a:lnTo>
                    <a:lnTo>
                      <a:pt x="700" y="14"/>
                    </a:lnTo>
                    <a:lnTo>
                      <a:pt x="778" y="6"/>
                    </a:lnTo>
                    <a:lnTo>
                      <a:pt x="837" y="0"/>
                    </a:lnTo>
                    <a:lnTo>
                      <a:pt x="896" y="2"/>
                    </a:lnTo>
                    <a:lnTo>
                      <a:pt x="958" y="4"/>
                    </a:lnTo>
                    <a:lnTo>
                      <a:pt x="1021" y="14"/>
                    </a:lnTo>
                    <a:lnTo>
                      <a:pt x="1076" y="22"/>
                    </a:lnTo>
                    <a:lnTo>
                      <a:pt x="1132" y="36"/>
                    </a:lnTo>
                    <a:lnTo>
                      <a:pt x="1185" y="57"/>
                    </a:lnTo>
                    <a:lnTo>
                      <a:pt x="1236" y="79"/>
                    </a:lnTo>
                    <a:lnTo>
                      <a:pt x="1290" y="108"/>
                    </a:lnTo>
                    <a:lnTo>
                      <a:pt x="1342" y="147"/>
                    </a:lnTo>
                    <a:lnTo>
                      <a:pt x="1382" y="181"/>
                    </a:lnTo>
                    <a:lnTo>
                      <a:pt x="1426" y="225"/>
                    </a:lnTo>
                    <a:lnTo>
                      <a:pt x="1457" y="258"/>
                    </a:lnTo>
                    <a:lnTo>
                      <a:pt x="1472" y="277"/>
                    </a:lnTo>
                    <a:lnTo>
                      <a:pt x="1582" y="46"/>
                    </a:lnTo>
                    <a:lnTo>
                      <a:pt x="1594" y="94"/>
                    </a:lnTo>
                    <a:lnTo>
                      <a:pt x="1594" y="147"/>
                    </a:lnTo>
                    <a:lnTo>
                      <a:pt x="1596" y="197"/>
                    </a:lnTo>
                    <a:lnTo>
                      <a:pt x="1600" y="247"/>
                    </a:lnTo>
                    <a:lnTo>
                      <a:pt x="1605" y="300"/>
                    </a:lnTo>
                    <a:lnTo>
                      <a:pt x="1615" y="354"/>
                    </a:lnTo>
                    <a:lnTo>
                      <a:pt x="1624" y="398"/>
                    </a:lnTo>
                    <a:lnTo>
                      <a:pt x="1637" y="450"/>
                    </a:lnTo>
                    <a:lnTo>
                      <a:pt x="1651" y="499"/>
                    </a:lnTo>
                    <a:lnTo>
                      <a:pt x="1671" y="561"/>
                    </a:lnTo>
                    <a:lnTo>
                      <a:pt x="1706" y="627"/>
                    </a:lnTo>
                    <a:lnTo>
                      <a:pt x="1725" y="698"/>
                    </a:lnTo>
                    <a:lnTo>
                      <a:pt x="1685" y="685"/>
                    </a:lnTo>
                    <a:lnTo>
                      <a:pt x="1646" y="676"/>
                    </a:lnTo>
                    <a:lnTo>
                      <a:pt x="1601" y="667"/>
                    </a:lnTo>
                    <a:lnTo>
                      <a:pt x="1559" y="663"/>
                    </a:lnTo>
                    <a:lnTo>
                      <a:pt x="1534" y="664"/>
                    </a:lnTo>
                    <a:lnTo>
                      <a:pt x="1507" y="666"/>
                    </a:lnTo>
                    <a:lnTo>
                      <a:pt x="1469" y="671"/>
                    </a:lnTo>
                    <a:lnTo>
                      <a:pt x="1434" y="681"/>
                    </a:lnTo>
                    <a:lnTo>
                      <a:pt x="1403" y="690"/>
                    </a:lnTo>
                    <a:lnTo>
                      <a:pt x="1367" y="707"/>
                    </a:lnTo>
                    <a:lnTo>
                      <a:pt x="1330" y="723"/>
                    </a:lnTo>
                    <a:lnTo>
                      <a:pt x="1277" y="758"/>
                    </a:lnTo>
                    <a:lnTo>
                      <a:pt x="1259" y="687"/>
                    </a:lnTo>
                    <a:lnTo>
                      <a:pt x="1362" y="500"/>
                    </a:lnTo>
                    <a:lnTo>
                      <a:pt x="1345" y="482"/>
                    </a:lnTo>
                    <a:lnTo>
                      <a:pt x="1286" y="434"/>
                    </a:lnTo>
                    <a:lnTo>
                      <a:pt x="1237" y="396"/>
                    </a:lnTo>
                    <a:lnTo>
                      <a:pt x="1172" y="350"/>
                    </a:lnTo>
                    <a:lnTo>
                      <a:pt x="1131" y="328"/>
                    </a:lnTo>
                    <a:lnTo>
                      <a:pt x="1092" y="305"/>
                    </a:lnTo>
                    <a:lnTo>
                      <a:pt x="1036" y="277"/>
                    </a:lnTo>
                    <a:lnTo>
                      <a:pt x="982" y="251"/>
                    </a:lnTo>
                    <a:lnTo>
                      <a:pt x="921" y="232"/>
                    </a:lnTo>
                    <a:lnTo>
                      <a:pt x="868" y="219"/>
                    </a:lnTo>
                    <a:lnTo>
                      <a:pt x="811" y="209"/>
                    </a:lnTo>
                    <a:lnTo>
                      <a:pt x="753" y="197"/>
                    </a:lnTo>
                    <a:lnTo>
                      <a:pt x="707" y="195"/>
                    </a:lnTo>
                    <a:lnTo>
                      <a:pt x="647" y="196"/>
                    </a:lnTo>
                    <a:lnTo>
                      <a:pt x="587" y="201"/>
                    </a:lnTo>
                    <a:lnTo>
                      <a:pt x="531" y="204"/>
                    </a:lnTo>
                    <a:lnTo>
                      <a:pt x="470" y="211"/>
                    </a:lnTo>
                    <a:lnTo>
                      <a:pt x="401" y="222"/>
                    </a:lnTo>
                    <a:lnTo>
                      <a:pt x="334" y="232"/>
                    </a:lnTo>
                    <a:lnTo>
                      <a:pt x="273" y="254"/>
                    </a:lnTo>
                    <a:lnTo>
                      <a:pt x="231" y="266"/>
                    </a:lnTo>
                    <a:lnTo>
                      <a:pt x="189" y="284"/>
                    </a:lnTo>
                    <a:lnTo>
                      <a:pt x="158" y="301"/>
                    </a:lnTo>
                    <a:lnTo>
                      <a:pt x="126" y="322"/>
                    </a:lnTo>
                    <a:lnTo>
                      <a:pt x="97" y="343"/>
                    </a:lnTo>
                    <a:lnTo>
                      <a:pt x="7" y="425"/>
                    </a:lnTo>
                  </a:path>
                </a:pathLst>
              </a:custGeom>
              <a:solidFill>
                <a:schemeClr val="accent2"/>
              </a:solidFill>
              <a:ln w="12700" cap="rnd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>
                <a:outerShdw dist="35921" dir="2700000" algn="ctr" rotWithShape="0">
                  <a:schemeClr val="bg2"/>
                </a:outerShdw>
              </a:effec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88191" name="Freeform 95"/>
              <p:cNvSpPr/>
              <p:nvPr/>
            </p:nvSpPr>
            <p:spPr bwMode="auto">
              <a:xfrm>
                <a:off x="1825" y="2340"/>
                <a:ext cx="1708" cy="718"/>
              </a:xfrm>
              <a:custGeom>
                <a:avLst/>
                <a:gdLst>
                  <a:gd name="T0" fmla="*/ 57 w 1708"/>
                  <a:gd name="T1" fmla="*/ 326 h 718"/>
                  <a:gd name="T2" fmla="*/ 117 w 1708"/>
                  <a:gd name="T3" fmla="*/ 264 h 718"/>
                  <a:gd name="T4" fmla="*/ 183 w 1708"/>
                  <a:gd name="T5" fmla="*/ 210 h 718"/>
                  <a:gd name="T6" fmla="*/ 263 w 1708"/>
                  <a:gd name="T7" fmla="*/ 156 h 718"/>
                  <a:gd name="T8" fmla="*/ 336 w 1708"/>
                  <a:gd name="T9" fmla="*/ 117 h 718"/>
                  <a:gd name="T10" fmla="*/ 438 w 1708"/>
                  <a:gd name="T11" fmla="*/ 79 h 718"/>
                  <a:gd name="T12" fmla="*/ 575 w 1708"/>
                  <a:gd name="T13" fmla="*/ 37 h 718"/>
                  <a:gd name="T14" fmla="*/ 694 w 1708"/>
                  <a:gd name="T15" fmla="*/ 16 h 718"/>
                  <a:gd name="T16" fmla="*/ 831 w 1708"/>
                  <a:gd name="T17" fmla="*/ 0 h 718"/>
                  <a:gd name="T18" fmla="*/ 951 w 1708"/>
                  <a:gd name="T19" fmla="*/ 2 h 718"/>
                  <a:gd name="T20" fmla="*/ 1069 w 1708"/>
                  <a:gd name="T21" fmla="*/ 17 h 718"/>
                  <a:gd name="T22" fmla="*/ 1176 w 1708"/>
                  <a:gd name="T23" fmla="*/ 49 h 718"/>
                  <a:gd name="T24" fmla="*/ 1280 w 1708"/>
                  <a:gd name="T25" fmla="*/ 96 h 718"/>
                  <a:gd name="T26" fmla="*/ 1371 w 1708"/>
                  <a:gd name="T27" fmla="*/ 164 h 718"/>
                  <a:gd name="T28" fmla="*/ 1445 w 1708"/>
                  <a:gd name="T29" fmla="*/ 236 h 718"/>
                  <a:gd name="T30" fmla="*/ 1583 w 1708"/>
                  <a:gd name="T31" fmla="*/ 78 h 718"/>
                  <a:gd name="T32" fmla="*/ 1583 w 1708"/>
                  <a:gd name="T33" fmla="*/ 176 h 718"/>
                  <a:gd name="T34" fmla="*/ 1592 w 1708"/>
                  <a:gd name="T35" fmla="*/ 274 h 718"/>
                  <a:gd name="T36" fmla="*/ 1609 w 1708"/>
                  <a:gd name="T37" fmla="*/ 368 h 718"/>
                  <a:gd name="T38" fmla="*/ 1635 w 1708"/>
                  <a:gd name="T39" fmla="*/ 464 h 718"/>
                  <a:gd name="T40" fmla="*/ 1674 w 1708"/>
                  <a:gd name="T41" fmla="*/ 576 h 718"/>
                  <a:gd name="T42" fmla="*/ 1707 w 1708"/>
                  <a:gd name="T43" fmla="*/ 656 h 718"/>
                  <a:gd name="T44" fmla="*/ 1628 w 1708"/>
                  <a:gd name="T45" fmla="*/ 634 h 718"/>
                  <a:gd name="T46" fmla="*/ 1542 w 1708"/>
                  <a:gd name="T47" fmla="*/ 623 h 718"/>
                  <a:gd name="T48" fmla="*/ 1491 w 1708"/>
                  <a:gd name="T49" fmla="*/ 626 h 718"/>
                  <a:gd name="T50" fmla="*/ 1417 w 1708"/>
                  <a:gd name="T51" fmla="*/ 641 h 718"/>
                  <a:gd name="T52" fmla="*/ 1350 w 1708"/>
                  <a:gd name="T53" fmla="*/ 668 h 718"/>
                  <a:gd name="T54" fmla="*/ 1260 w 1708"/>
                  <a:gd name="T55" fmla="*/ 717 h 718"/>
                  <a:gd name="T56" fmla="*/ 1332 w 1708"/>
                  <a:gd name="T57" fmla="*/ 453 h 718"/>
                  <a:gd name="T58" fmla="*/ 1224 w 1708"/>
                  <a:gd name="T59" fmla="*/ 372 h 718"/>
                  <a:gd name="T60" fmla="*/ 1119 w 1708"/>
                  <a:gd name="T61" fmla="*/ 308 h 718"/>
                  <a:gd name="T62" fmla="*/ 1026 w 1708"/>
                  <a:gd name="T63" fmla="*/ 261 h 718"/>
                  <a:gd name="T64" fmla="*/ 911 w 1708"/>
                  <a:gd name="T65" fmla="*/ 220 h 718"/>
                  <a:gd name="T66" fmla="*/ 802 w 1708"/>
                  <a:gd name="T67" fmla="*/ 200 h 718"/>
                  <a:gd name="T68" fmla="*/ 699 w 1708"/>
                  <a:gd name="T69" fmla="*/ 189 h 718"/>
                  <a:gd name="T70" fmla="*/ 579 w 1708"/>
                  <a:gd name="T71" fmla="*/ 196 h 718"/>
                  <a:gd name="T72" fmla="*/ 462 w 1708"/>
                  <a:gd name="T73" fmla="*/ 208 h 718"/>
                  <a:gd name="T74" fmla="*/ 327 w 1708"/>
                  <a:gd name="T75" fmla="*/ 230 h 718"/>
                  <a:gd name="T76" fmla="*/ 224 w 1708"/>
                  <a:gd name="T77" fmla="*/ 263 h 718"/>
                  <a:gd name="T78" fmla="*/ 148 w 1708"/>
                  <a:gd name="T79" fmla="*/ 299 h 718"/>
                  <a:gd name="T80" fmla="*/ 91 w 1708"/>
                  <a:gd name="T81" fmla="*/ 340 h 7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1708" h="718">
                    <a:moveTo>
                      <a:pt x="0" y="421"/>
                    </a:moveTo>
                    <a:lnTo>
                      <a:pt x="57" y="326"/>
                    </a:lnTo>
                    <a:lnTo>
                      <a:pt x="84" y="296"/>
                    </a:lnTo>
                    <a:lnTo>
                      <a:pt x="117" y="264"/>
                    </a:lnTo>
                    <a:lnTo>
                      <a:pt x="146" y="239"/>
                    </a:lnTo>
                    <a:lnTo>
                      <a:pt x="183" y="210"/>
                    </a:lnTo>
                    <a:lnTo>
                      <a:pt x="219" y="183"/>
                    </a:lnTo>
                    <a:lnTo>
                      <a:pt x="263" y="156"/>
                    </a:lnTo>
                    <a:lnTo>
                      <a:pt x="299" y="137"/>
                    </a:lnTo>
                    <a:lnTo>
                      <a:pt x="336" y="117"/>
                    </a:lnTo>
                    <a:lnTo>
                      <a:pt x="388" y="95"/>
                    </a:lnTo>
                    <a:lnTo>
                      <a:pt x="438" y="79"/>
                    </a:lnTo>
                    <a:lnTo>
                      <a:pt x="496" y="61"/>
                    </a:lnTo>
                    <a:lnTo>
                      <a:pt x="575" y="37"/>
                    </a:lnTo>
                    <a:lnTo>
                      <a:pt x="640" y="23"/>
                    </a:lnTo>
                    <a:lnTo>
                      <a:pt x="694" y="16"/>
                    </a:lnTo>
                    <a:lnTo>
                      <a:pt x="771" y="6"/>
                    </a:lnTo>
                    <a:lnTo>
                      <a:pt x="831" y="0"/>
                    </a:lnTo>
                    <a:lnTo>
                      <a:pt x="889" y="1"/>
                    </a:lnTo>
                    <a:lnTo>
                      <a:pt x="951" y="2"/>
                    </a:lnTo>
                    <a:lnTo>
                      <a:pt x="1013" y="10"/>
                    </a:lnTo>
                    <a:lnTo>
                      <a:pt x="1069" y="17"/>
                    </a:lnTo>
                    <a:lnTo>
                      <a:pt x="1124" y="30"/>
                    </a:lnTo>
                    <a:lnTo>
                      <a:pt x="1176" y="49"/>
                    </a:lnTo>
                    <a:lnTo>
                      <a:pt x="1228" y="69"/>
                    </a:lnTo>
                    <a:lnTo>
                      <a:pt x="1280" y="96"/>
                    </a:lnTo>
                    <a:lnTo>
                      <a:pt x="1332" y="132"/>
                    </a:lnTo>
                    <a:lnTo>
                      <a:pt x="1371" y="164"/>
                    </a:lnTo>
                    <a:lnTo>
                      <a:pt x="1414" y="205"/>
                    </a:lnTo>
                    <a:lnTo>
                      <a:pt x="1445" y="236"/>
                    </a:lnTo>
                    <a:lnTo>
                      <a:pt x="1488" y="281"/>
                    </a:lnTo>
                    <a:lnTo>
                      <a:pt x="1583" y="78"/>
                    </a:lnTo>
                    <a:lnTo>
                      <a:pt x="1582" y="129"/>
                    </a:lnTo>
                    <a:lnTo>
                      <a:pt x="1583" y="176"/>
                    </a:lnTo>
                    <a:lnTo>
                      <a:pt x="1587" y="224"/>
                    </a:lnTo>
                    <a:lnTo>
                      <a:pt x="1592" y="274"/>
                    </a:lnTo>
                    <a:lnTo>
                      <a:pt x="1601" y="326"/>
                    </a:lnTo>
                    <a:lnTo>
                      <a:pt x="1609" y="368"/>
                    </a:lnTo>
                    <a:lnTo>
                      <a:pt x="1622" y="417"/>
                    </a:lnTo>
                    <a:lnTo>
                      <a:pt x="1635" y="464"/>
                    </a:lnTo>
                    <a:lnTo>
                      <a:pt x="1655" y="523"/>
                    </a:lnTo>
                    <a:lnTo>
                      <a:pt x="1674" y="576"/>
                    </a:lnTo>
                    <a:lnTo>
                      <a:pt x="1689" y="611"/>
                    </a:lnTo>
                    <a:lnTo>
                      <a:pt x="1707" y="656"/>
                    </a:lnTo>
                    <a:lnTo>
                      <a:pt x="1668" y="643"/>
                    </a:lnTo>
                    <a:lnTo>
                      <a:pt x="1628" y="634"/>
                    </a:lnTo>
                    <a:lnTo>
                      <a:pt x="1583" y="626"/>
                    </a:lnTo>
                    <a:lnTo>
                      <a:pt x="1542" y="623"/>
                    </a:lnTo>
                    <a:lnTo>
                      <a:pt x="1516" y="623"/>
                    </a:lnTo>
                    <a:lnTo>
                      <a:pt x="1491" y="626"/>
                    </a:lnTo>
                    <a:lnTo>
                      <a:pt x="1452" y="632"/>
                    </a:lnTo>
                    <a:lnTo>
                      <a:pt x="1417" y="641"/>
                    </a:lnTo>
                    <a:lnTo>
                      <a:pt x="1386" y="650"/>
                    </a:lnTo>
                    <a:lnTo>
                      <a:pt x="1350" y="668"/>
                    </a:lnTo>
                    <a:lnTo>
                      <a:pt x="1313" y="684"/>
                    </a:lnTo>
                    <a:lnTo>
                      <a:pt x="1260" y="717"/>
                    </a:lnTo>
                    <a:lnTo>
                      <a:pt x="1381" y="493"/>
                    </a:lnTo>
                    <a:lnTo>
                      <a:pt x="1332" y="453"/>
                    </a:lnTo>
                    <a:lnTo>
                      <a:pt x="1274" y="408"/>
                    </a:lnTo>
                    <a:lnTo>
                      <a:pt x="1224" y="372"/>
                    </a:lnTo>
                    <a:lnTo>
                      <a:pt x="1160" y="330"/>
                    </a:lnTo>
                    <a:lnTo>
                      <a:pt x="1119" y="308"/>
                    </a:lnTo>
                    <a:lnTo>
                      <a:pt x="1081" y="287"/>
                    </a:lnTo>
                    <a:lnTo>
                      <a:pt x="1026" y="261"/>
                    </a:lnTo>
                    <a:lnTo>
                      <a:pt x="972" y="238"/>
                    </a:lnTo>
                    <a:lnTo>
                      <a:pt x="911" y="220"/>
                    </a:lnTo>
                    <a:lnTo>
                      <a:pt x="859" y="209"/>
                    </a:lnTo>
                    <a:lnTo>
                      <a:pt x="802" y="200"/>
                    </a:lnTo>
                    <a:lnTo>
                      <a:pt x="744" y="190"/>
                    </a:lnTo>
                    <a:lnTo>
                      <a:pt x="699" y="189"/>
                    </a:lnTo>
                    <a:lnTo>
                      <a:pt x="640" y="191"/>
                    </a:lnTo>
                    <a:lnTo>
                      <a:pt x="579" y="196"/>
                    </a:lnTo>
                    <a:lnTo>
                      <a:pt x="523" y="200"/>
                    </a:lnTo>
                    <a:lnTo>
                      <a:pt x="462" y="208"/>
                    </a:lnTo>
                    <a:lnTo>
                      <a:pt x="393" y="218"/>
                    </a:lnTo>
                    <a:lnTo>
                      <a:pt x="327" y="230"/>
                    </a:lnTo>
                    <a:lnTo>
                      <a:pt x="267" y="252"/>
                    </a:lnTo>
                    <a:lnTo>
                      <a:pt x="224" y="263"/>
                    </a:lnTo>
                    <a:lnTo>
                      <a:pt x="182" y="281"/>
                    </a:lnTo>
                    <a:lnTo>
                      <a:pt x="148" y="299"/>
                    </a:lnTo>
                    <a:lnTo>
                      <a:pt x="117" y="317"/>
                    </a:lnTo>
                    <a:lnTo>
                      <a:pt x="91" y="340"/>
                    </a:lnTo>
                    <a:lnTo>
                      <a:pt x="0" y="421"/>
                    </a:lnTo>
                  </a:path>
                </a:pathLst>
              </a:custGeom>
              <a:solidFill>
                <a:schemeClr val="accent2"/>
              </a:solidFill>
              <a:ln w="12700" cap="rnd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>
                <a:outerShdw dist="35921" dir="2700000" algn="ctr" rotWithShape="0">
                  <a:schemeClr val="bg2"/>
                </a:outerShdw>
              </a:effec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388201" name="Group 105"/>
            <p:cNvGrpSpPr/>
            <p:nvPr/>
          </p:nvGrpSpPr>
          <p:grpSpPr bwMode="auto">
            <a:xfrm>
              <a:off x="2448" y="2256"/>
              <a:ext cx="3030" cy="1286"/>
              <a:chOff x="2448" y="2256"/>
              <a:chExt cx="3030" cy="1286"/>
            </a:xfrm>
          </p:grpSpPr>
          <p:sp>
            <p:nvSpPr>
              <p:cNvPr id="388176" name="Rectangle 80"/>
              <p:cNvSpPr>
                <a:spLocks noChangeArrowheads="1"/>
              </p:cNvSpPr>
              <p:nvPr/>
            </p:nvSpPr>
            <p:spPr bwMode="auto">
              <a:xfrm>
                <a:off x="2448" y="2256"/>
                <a:ext cx="822" cy="2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488" tIns="44450" rIns="90488" bIns="44450">
                <a:spAutoFit/>
              </a:bodyPr>
              <a:lstStyle/>
              <a:p>
                <a:pPr algn="r">
                  <a:lnSpc>
                    <a:spcPct val="90000"/>
                  </a:lnSpc>
                </a:pPr>
                <a:r>
                  <a:rPr lang="en-US" altLang="zh-CN" sz="2400" i="1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anose="02020603050405020304" pitchFamily="18" charset="0"/>
                  </a:rPr>
                  <a:t>n</a:t>
                </a:r>
                <a:r>
                  <a:rPr lang="en-US" altLang="zh-CN" sz="2400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anose="02020603050405020304" pitchFamily="18" charset="0"/>
                  </a:rPr>
                  <a:t> = 4</a:t>
                </a:r>
                <a:endParaRPr lang="en-US" altLang="zh-CN" sz="2400"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88147" name="Rectangle 51"/>
              <p:cNvSpPr>
                <a:spLocks noChangeArrowheads="1"/>
              </p:cNvSpPr>
              <p:nvPr/>
            </p:nvSpPr>
            <p:spPr bwMode="auto">
              <a:xfrm>
                <a:off x="3504" y="3312"/>
                <a:ext cx="1248" cy="230"/>
              </a:xfrm>
              <a:prstGeom prst="rect">
                <a:avLst/>
              </a:prstGeom>
              <a:noFill/>
              <a:ln>
                <a:noFill/>
              </a:ln>
              <a:effectLst>
                <a:outerShdw dist="35921" dir="2700000" algn="ctr" rotWithShape="0">
                  <a:schemeClr val="bg2"/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90488" tIns="44450" rIns="90488" bIns="44450">
                <a:spAutoFit/>
              </a:bodyPr>
              <a:lstStyle/>
              <a:p>
                <a:pPr algn="ctr">
                  <a:spcBef>
                    <a:spcPct val="70000"/>
                  </a:spcBef>
                </a:pPr>
                <a:r>
                  <a:rPr lang="zh-CN" altLang="en-US">
                    <a:solidFill>
                      <a:srgbClr val="FFFFB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anose="02020603050405020304" pitchFamily="18" charset="0"/>
                  </a:rPr>
                  <a:t>抽样分布</a:t>
                </a:r>
                <a:endParaRPr lang="zh-CN" altLang="en-US">
                  <a:solidFill>
                    <a:srgbClr val="FFFFB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388149" name="Group 53"/>
              <p:cNvGrpSpPr/>
              <p:nvPr/>
            </p:nvGrpSpPr>
            <p:grpSpPr bwMode="auto">
              <a:xfrm>
                <a:off x="3382" y="2483"/>
                <a:ext cx="1465" cy="538"/>
                <a:chOff x="3422" y="3251"/>
                <a:chExt cx="1465" cy="538"/>
              </a:xfrm>
            </p:grpSpPr>
            <p:sp>
              <p:nvSpPr>
                <p:cNvPr id="388150" name="Freeform 54"/>
                <p:cNvSpPr/>
                <p:nvPr/>
              </p:nvSpPr>
              <p:spPr bwMode="auto">
                <a:xfrm>
                  <a:off x="4157" y="3251"/>
                  <a:ext cx="730" cy="538"/>
                </a:xfrm>
                <a:custGeom>
                  <a:avLst/>
                  <a:gdLst>
                    <a:gd name="T0" fmla="*/ 730 w 730"/>
                    <a:gd name="T1" fmla="*/ 538 h 538"/>
                    <a:gd name="T2" fmla="*/ 653 w 730"/>
                    <a:gd name="T3" fmla="*/ 532 h 538"/>
                    <a:gd name="T4" fmla="*/ 615 w 730"/>
                    <a:gd name="T5" fmla="*/ 525 h 538"/>
                    <a:gd name="T6" fmla="*/ 577 w 730"/>
                    <a:gd name="T7" fmla="*/ 516 h 538"/>
                    <a:gd name="T8" fmla="*/ 539 w 730"/>
                    <a:gd name="T9" fmla="*/ 504 h 538"/>
                    <a:gd name="T10" fmla="*/ 500 w 730"/>
                    <a:gd name="T11" fmla="*/ 487 h 538"/>
                    <a:gd name="T12" fmla="*/ 461 w 730"/>
                    <a:gd name="T13" fmla="*/ 466 h 538"/>
                    <a:gd name="T14" fmla="*/ 384 w 730"/>
                    <a:gd name="T15" fmla="*/ 403 h 538"/>
                    <a:gd name="T16" fmla="*/ 308 w 730"/>
                    <a:gd name="T17" fmla="*/ 315 h 538"/>
                    <a:gd name="T18" fmla="*/ 231 w 730"/>
                    <a:gd name="T19" fmla="*/ 209 h 538"/>
                    <a:gd name="T20" fmla="*/ 191 w 730"/>
                    <a:gd name="T21" fmla="*/ 156 h 538"/>
                    <a:gd name="T22" fmla="*/ 153 w 730"/>
                    <a:gd name="T23" fmla="*/ 105 h 538"/>
                    <a:gd name="T24" fmla="*/ 115 w 730"/>
                    <a:gd name="T25" fmla="*/ 63 h 538"/>
                    <a:gd name="T26" fmla="*/ 76 w 730"/>
                    <a:gd name="T27" fmla="*/ 27 h 538"/>
                    <a:gd name="T28" fmla="*/ 38 w 730"/>
                    <a:gd name="T29" fmla="*/ 6 h 538"/>
                    <a:gd name="T30" fmla="*/ 0 w 730"/>
                    <a:gd name="T31" fmla="*/ 0 h 53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</a:cxnLst>
                  <a:rect l="0" t="0" r="r" b="b"/>
                  <a:pathLst>
                    <a:path w="730" h="538">
                      <a:moveTo>
                        <a:pt x="730" y="538"/>
                      </a:moveTo>
                      <a:lnTo>
                        <a:pt x="653" y="532"/>
                      </a:lnTo>
                      <a:lnTo>
                        <a:pt x="615" y="525"/>
                      </a:lnTo>
                      <a:lnTo>
                        <a:pt x="577" y="516"/>
                      </a:lnTo>
                      <a:lnTo>
                        <a:pt x="539" y="504"/>
                      </a:lnTo>
                      <a:lnTo>
                        <a:pt x="500" y="487"/>
                      </a:lnTo>
                      <a:lnTo>
                        <a:pt x="461" y="466"/>
                      </a:lnTo>
                      <a:lnTo>
                        <a:pt x="384" y="403"/>
                      </a:lnTo>
                      <a:lnTo>
                        <a:pt x="308" y="315"/>
                      </a:lnTo>
                      <a:lnTo>
                        <a:pt x="231" y="209"/>
                      </a:lnTo>
                      <a:lnTo>
                        <a:pt x="191" y="156"/>
                      </a:lnTo>
                      <a:lnTo>
                        <a:pt x="153" y="105"/>
                      </a:lnTo>
                      <a:lnTo>
                        <a:pt x="115" y="63"/>
                      </a:lnTo>
                      <a:lnTo>
                        <a:pt x="76" y="27"/>
                      </a:lnTo>
                      <a:lnTo>
                        <a:pt x="38" y="6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57150" cmpd="sng">
                  <a:solidFill>
                    <a:srgbClr val="FF00FF"/>
                  </a:solidFill>
                  <a:prstDash val="solid"/>
                  <a:round/>
                </a:ln>
                <a:effectLst>
                  <a:outerShdw dist="35921" dir="2700000" algn="ctr" rotWithShape="0">
                    <a:schemeClr val="bg2"/>
                  </a:outerShdw>
                </a:effectLst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88151" name="Freeform 55"/>
                <p:cNvSpPr/>
                <p:nvPr/>
              </p:nvSpPr>
              <p:spPr bwMode="auto">
                <a:xfrm>
                  <a:off x="3422" y="3251"/>
                  <a:ext cx="735" cy="538"/>
                </a:xfrm>
                <a:custGeom>
                  <a:avLst/>
                  <a:gdLst>
                    <a:gd name="T0" fmla="*/ 0 w 735"/>
                    <a:gd name="T1" fmla="*/ 538 h 538"/>
                    <a:gd name="T2" fmla="*/ 78 w 735"/>
                    <a:gd name="T3" fmla="*/ 532 h 538"/>
                    <a:gd name="T4" fmla="*/ 116 w 735"/>
                    <a:gd name="T5" fmla="*/ 525 h 538"/>
                    <a:gd name="T6" fmla="*/ 155 w 735"/>
                    <a:gd name="T7" fmla="*/ 516 h 538"/>
                    <a:gd name="T8" fmla="*/ 195 w 735"/>
                    <a:gd name="T9" fmla="*/ 504 h 538"/>
                    <a:gd name="T10" fmla="*/ 233 w 735"/>
                    <a:gd name="T11" fmla="*/ 487 h 538"/>
                    <a:gd name="T12" fmla="*/ 271 w 735"/>
                    <a:gd name="T13" fmla="*/ 466 h 538"/>
                    <a:gd name="T14" fmla="*/ 349 w 735"/>
                    <a:gd name="T15" fmla="*/ 403 h 538"/>
                    <a:gd name="T16" fmla="*/ 426 w 735"/>
                    <a:gd name="T17" fmla="*/ 315 h 538"/>
                    <a:gd name="T18" fmla="*/ 502 w 735"/>
                    <a:gd name="T19" fmla="*/ 209 h 538"/>
                    <a:gd name="T20" fmla="*/ 542 w 735"/>
                    <a:gd name="T21" fmla="*/ 156 h 538"/>
                    <a:gd name="T22" fmla="*/ 580 w 735"/>
                    <a:gd name="T23" fmla="*/ 105 h 538"/>
                    <a:gd name="T24" fmla="*/ 619 w 735"/>
                    <a:gd name="T25" fmla="*/ 63 h 538"/>
                    <a:gd name="T26" fmla="*/ 657 w 735"/>
                    <a:gd name="T27" fmla="*/ 27 h 538"/>
                    <a:gd name="T28" fmla="*/ 697 w 735"/>
                    <a:gd name="T29" fmla="*/ 6 h 538"/>
                    <a:gd name="T30" fmla="*/ 735 w 735"/>
                    <a:gd name="T31" fmla="*/ 0 h 53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</a:cxnLst>
                  <a:rect l="0" t="0" r="r" b="b"/>
                  <a:pathLst>
                    <a:path w="735" h="538">
                      <a:moveTo>
                        <a:pt x="0" y="538"/>
                      </a:moveTo>
                      <a:lnTo>
                        <a:pt x="78" y="532"/>
                      </a:lnTo>
                      <a:lnTo>
                        <a:pt x="116" y="525"/>
                      </a:lnTo>
                      <a:lnTo>
                        <a:pt x="155" y="516"/>
                      </a:lnTo>
                      <a:lnTo>
                        <a:pt x="195" y="504"/>
                      </a:lnTo>
                      <a:lnTo>
                        <a:pt x="233" y="487"/>
                      </a:lnTo>
                      <a:lnTo>
                        <a:pt x="271" y="466"/>
                      </a:lnTo>
                      <a:lnTo>
                        <a:pt x="349" y="403"/>
                      </a:lnTo>
                      <a:lnTo>
                        <a:pt x="426" y="315"/>
                      </a:lnTo>
                      <a:lnTo>
                        <a:pt x="502" y="209"/>
                      </a:lnTo>
                      <a:lnTo>
                        <a:pt x="542" y="156"/>
                      </a:lnTo>
                      <a:lnTo>
                        <a:pt x="580" y="105"/>
                      </a:lnTo>
                      <a:lnTo>
                        <a:pt x="619" y="63"/>
                      </a:lnTo>
                      <a:lnTo>
                        <a:pt x="657" y="27"/>
                      </a:lnTo>
                      <a:lnTo>
                        <a:pt x="697" y="6"/>
                      </a:lnTo>
                      <a:lnTo>
                        <a:pt x="735" y="0"/>
                      </a:lnTo>
                    </a:path>
                  </a:pathLst>
                </a:custGeom>
                <a:noFill/>
                <a:ln w="57150" cmpd="sng">
                  <a:solidFill>
                    <a:srgbClr val="FF00FF"/>
                  </a:solidFill>
                  <a:prstDash val="solid"/>
                  <a:round/>
                </a:ln>
                <a:effectLst>
                  <a:outerShdw dist="35921" dir="2700000" algn="ctr" rotWithShape="0">
                    <a:schemeClr val="bg2"/>
                  </a:outerShdw>
                </a:effectLst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88152" name="Group 56"/>
              <p:cNvGrpSpPr/>
              <p:nvPr/>
            </p:nvGrpSpPr>
            <p:grpSpPr bwMode="auto">
              <a:xfrm>
                <a:off x="3648" y="2304"/>
                <a:ext cx="934" cy="717"/>
                <a:chOff x="3688" y="3072"/>
                <a:chExt cx="934" cy="717"/>
              </a:xfrm>
            </p:grpSpPr>
            <p:sp>
              <p:nvSpPr>
                <p:cNvPr id="388153" name="Freeform 57"/>
                <p:cNvSpPr/>
                <p:nvPr/>
              </p:nvSpPr>
              <p:spPr bwMode="auto">
                <a:xfrm>
                  <a:off x="4155" y="3072"/>
                  <a:ext cx="467" cy="717"/>
                </a:xfrm>
                <a:custGeom>
                  <a:avLst/>
                  <a:gdLst>
                    <a:gd name="T0" fmla="*/ 467 w 467"/>
                    <a:gd name="T1" fmla="*/ 717 h 717"/>
                    <a:gd name="T2" fmla="*/ 418 w 467"/>
                    <a:gd name="T3" fmla="*/ 709 h 717"/>
                    <a:gd name="T4" fmla="*/ 394 w 467"/>
                    <a:gd name="T5" fmla="*/ 700 h 717"/>
                    <a:gd name="T6" fmla="*/ 369 w 467"/>
                    <a:gd name="T7" fmla="*/ 689 h 717"/>
                    <a:gd name="T8" fmla="*/ 345 w 467"/>
                    <a:gd name="T9" fmla="*/ 672 h 717"/>
                    <a:gd name="T10" fmla="*/ 319 w 467"/>
                    <a:gd name="T11" fmla="*/ 649 h 717"/>
                    <a:gd name="T12" fmla="*/ 294 w 467"/>
                    <a:gd name="T13" fmla="*/ 620 h 717"/>
                    <a:gd name="T14" fmla="*/ 245 w 467"/>
                    <a:gd name="T15" fmla="*/ 538 h 717"/>
                    <a:gd name="T16" fmla="*/ 196 w 467"/>
                    <a:gd name="T17" fmla="*/ 420 h 717"/>
                    <a:gd name="T18" fmla="*/ 147 w 467"/>
                    <a:gd name="T19" fmla="*/ 280 h 717"/>
                    <a:gd name="T20" fmla="*/ 123 w 467"/>
                    <a:gd name="T21" fmla="*/ 208 h 717"/>
                    <a:gd name="T22" fmla="*/ 98 w 467"/>
                    <a:gd name="T23" fmla="*/ 142 h 717"/>
                    <a:gd name="T24" fmla="*/ 74 w 467"/>
                    <a:gd name="T25" fmla="*/ 84 h 717"/>
                    <a:gd name="T26" fmla="*/ 49 w 467"/>
                    <a:gd name="T27" fmla="*/ 38 h 717"/>
                    <a:gd name="T28" fmla="*/ 25 w 467"/>
                    <a:gd name="T29" fmla="*/ 9 h 717"/>
                    <a:gd name="T30" fmla="*/ 0 w 467"/>
                    <a:gd name="T31" fmla="*/ 0 h 7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</a:cxnLst>
                  <a:rect l="0" t="0" r="r" b="b"/>
                  <a:pathLst>
                    <a:path w="467" h="717">
                      <a:moveTo>
                        <a:pt x="467" y="717"/>
                      </a:moveTo>
                      <a:lnTo>
                        <a:pt x="418" y="709"/>
                      </a:lnTo>
                      <a:lnTo>
                        <a:pt x="394" y="700"/>
                      </a:lnTo>
                      <a:lnTo>
                        <a:pt x="369" y="689"/>
                      </a:lnTo>
                      <a:lnTo>
                        <a:pt x="345" y="672"/>
                      </a:lnTo>
                      <a:lnTo>
                        <a:pt x="319" y="649"/>
                      </a:lnTo>
                      <a:lnTo>
                        <a:pt x="294" y="620"/>
                      </a:lnTo>
                      <a:lnTo>
                        <a:pt x="245" y="538"/>
                      </a:lnTo>
                      <a:lnTo>
                        <a:pt x="196" y="420"/>
                      </a:lnTo>
                      <a:lnTo>
                        <a:pt x="147" y="280"/>
                      </a:lnTo>
                      <a:lnTo>
                        <a:pt x="123" y="208"/>
                      </a:lnTo>
                      <a:lnTo>
                        <a:pt x="98" y="142"/>
                      </a:lnTo>
                      <a:lnTo>
                        <a:pt x="74" y="84"/>
                      </a:lnTo>
                      <a:lnTo>
                        <a:pt x="49" y="38"/>
                      </a:lnTo>
                      <a:lnTo>
                        <a:pt x="25" y="9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57150" cmpd="sng">
                  <a:solidFill>
                    <a:srgbClr val="00FFFF"/>
                  </a:solidFill>
                  <a:prstDash val="solid"/>
                  <a:round/>
                </a:ln>
                <a:effectLst>
                  <a:outerShdw dist="35921" dir="2700000" algn="ctr" rotWithShape="0">
                    <a:schemeClr val="bg2"/>
                  </a:outerShdw>
                </a:effectLst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88154" name="Freeform 58"/>
                <p:cNvSpPr/>
                <p:nvPr/>
              </p:nvSpPr>
              <p:spPr bwMode="auto">
                <a:xfrm>
                  <a:off x="3688" y="3072"/>
                  <a:ext cx="467" cy="717"/>
                </a:xfrm>
                <a:custGeom>
                  <a:avLst/>
                  <a:gdLst>
                    <a:gd name="T0" fmla="*/ 0 w 467"/>
                    <a:gd name="T1" fmla="*/ 717 h 717"/>
                    <a:gd name="T2" fmla="*/ 49 w 467"/>
                    <a:gd name="T3" fmla="*/ 709 h 717"/>
                    <a:gd name="T4" fmla="*/ 74 w 467"/>
                    <a:gd name="T5" fmla="*/ 700 h 717"/>
                    <a:gd name="T6" fmla="*/ 98 w 467"/>
                    <a:gd name="T7" fmla="*/ 689 h 717"/>
                    <a:gd name="T8" fmla="*/ 123 w 467"/>
                    <a:gd name="T9" fmla="*/ 672 h 717"/>
                    <a:gd name="T10" fmla="*/ 149 w 467"/>
                    <a:gd name="T11" fmla="*/ 649 h 717"/>
                    <a:gd name="T12" fmla="*/ 173 w 467"/>
                    <a:gd name="T13" fmla="*/ 620 h 717"/>
                    <a:gd name="T14" fmla="*/ 222 w 467"/>
                    <a:gd name="T15" fmla="*/ 538 h 717"/>
                    <a:gd name="T16" fmla="*/ 271 w 467"/>
                    <a:gd name="T17" fmla="*/ 420 h 717"/>
                    <a:gd name="T18" fmla="*/ 320 w 467"/>
                    <a:gd name="T19" fmla="*/ 280 h 717"/>
                    <a:gd name="T20" fmla="*/ 345 w 467"/>
                    <a:gd name="T21" fmla="*/ 208 h 717"/>
                    <a:gd name="T22" fmla="*/ 369 w 467"/>
                    <a:gd name="T23" fmla="*/ 142 h 717"/>
                    <a:gd name="T24" fmla="*/ 394 w 467"/>
                    <a:gd name="T25" fmla="*/ 84 h 717"/>
                    <a:gd name="T26" fmla="*/ 418 w 467"/>
                    <a:gd name="T27" fmla="*/ 38 h 717"/>
                    <a:gd name="T28" fmla="*/ 443 w 467"/>
                    <a:gd name="T29" fmla="*/ 9 h 717"/>
                    <a:gd name="T30" fmla="*/ 467 w 467"/>
                    <a:gd name="T31" fmla="*/ 0 h 7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</a:cxnLst>
                  <a:rect l="0" t="0" r="r" b="b"/>
                  <a:pathLst>
                    <a:path w="467" h="717">
                      <a:moveTo>
                        <a:pt x="0" y="717"/>
                      </a:moveTo>
                      <a:lnTo>
                        <a:pt x="49" y="709"/>
                      </a:lnTo>
                      <a:lnTo>
                        <a:pt x="74" y="700"/>
                      </a:lnTo>
                      <a:lnTo>
                        <a:pt x="98" y="689"/>
                      </a:lnTo>
                      <a:lnTo>
                        <a:pt x="123" y="672"/>
                      </a:lnTo>
                      <a:lnTo>
                        <a:pt x="149" y="649"/>
                      </a:lnTo>
                      <a:lnTo>
                        <a:pt x="173" y="620"/>
                      </a:lnTo>
                      <a:lnTo>
                        <a:pt x="222" y="538"/>
                      </a:lnTo>
                      <a:lnTo>
                        <a:pt x="271" y="420"/>
                      </a:lnTo>
                      <a:lnTo>
                        <a:pt x="320" y="280"/>
                      </a:lnTo>
                      <a:lnTo>
                        <a:pt x="345" y="208"/>
                      </a:lnTo>
                      <a:lnTo>
                        <a:pt x="369" y="142"/>
                      </a:lnTo>
                      <a:lnTo>
                        <a:pt x="394" y="84"/>
                      </a:lnTo>
                      <a:lnTo>
                        <a:pt x="418" y="38"/>
                      </a:lnTo>
                      <a:lnTo>
                        <a:pt x="443" y="9"/>
                      </a:lnTo>
                      <a:lnTo>
                        <a:pt x="467" y="0"/>
                      </a:lnTo>
                    </a:path>
                  </a:pathLst>
                </a:custGeom>
                <a:noFill/>
                <a:ln w="57150" cmpd="sng">
                  <a:solidFill>
                    <a:srgbClr val="00FFFF"/>
                  </a:solidFill>
                  <a:prstDash val="solid"/>
                  <a:round/>
                </a:ln>
                <a:effectLst>
                  <a:outerShdw dist="35921" dir="2700000" algn="ctr" rotWithShape="0">
                    <a:schemeClr val="bg2"/>
                  </a:outerShdw>
                </a:effectLst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388155" name="Freeform 59"/>
              <p:cNvSpPr/>
              <p:nvPr/>
            </p:nvSpPr>
            <p:spPr bwMode="auto">
              <a:xfrm>
                <a:off x="3363" y="2348"/>
                <a:ext cx="1493" cy="700"/>
              </a:xfrm>
              <a:custGeom>
                <a:avLst/>
                <a:gdLst>
                  <a:gd name="T0" fmla="*/ 0 w 1493"/>
                  <a:gd name="T1" fmla="*/ 0 h 700"/>
                  <a:gd name="T2" fmla="*/ 0 w 1493"/>
                  <a:gd name="T3" fmla="*/ 700 h 700"/>
                  <a:gd name="T4" fmla="*/ 1493 w 1493"/>
                  <a:gd name="T5" fmla="*/ 700 h 7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493" h="700">
                    <a:moveTo>
                      <a:pt x="0" y="0"/>
                    </a:moveTo>
                    <a:lnTo>
                      <a:pt x="0" y="700"/>
                    </a:lnTo>
                    <a:lnTo>
                      <a:pt x="1493" y="700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prstDash val="solid"/>
                <a:round/>
                <a:headEnd type="triangle" w="med" len="med"/>
                <a:tailEnd type="triangle" w="med" len="med"/>
              </a:ln>
              <a:effectLst>
                <a:outerShdw dist="35921" dir="2700000" algn="ctr" rotWithShape="0">
                  <a:schemeClr val="bg2"/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88156" name="Line 60"/>
              <p:cNvSpPr>
                <a:spLocks noChangeShapeType="1"/>
              </p:cNvSpPr>
              <p:nvPr/>
            </p:nvSpPr>
            <p:spPr bwMode="auto">
              <a:xfrm>
                <a:off x="3345" y="2487"/>
                <a:ext cx="18" cy="1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>
                <a:outerShdw dist="35921" dir="2700000" algn="ctr" rotWithShape="0">
                  <a:schemeClr val="bg2"/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88157" name="Line 61"/>
              <p:cNvSpPr>
                <a:spLocks noChangeShapeType="1"/>
              </p:cNvSpPr>
              <p:nvPr/>
            </p:nvSpPr>
            <p:spPr bwMode="auto">
              <a:xfrm>
                <a:off x="3345" y="2557"/>
                <a:ext cx="18" cy="1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>
                <a:outerShdw dist="35921" dir="2700000" algn="ctr" rotWithShape="0">
                  <a:schemeClr val="bg2"/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88158" name="Line 62"/>
              <p:cNvSpPr>
                <a:spLocks noChangeShapeType="1"/>
              </p:cNvSpPr>
              <p:nvPr/>
            </p:nvSpPr>
            <p:spPr bwMode="auto">
              <a:xfrm>
                <a:off x="3345" y="2628"/>
                <a:ext cx="18" cy="1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>
                <a:outerShdw dist="35921" dir="2700000" algn="ctr" rotWithShape="0">
                  <a:schemeClr val="bg2"/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88159" name="Line 63"/>
              <p:cNvSpPr>
                <a:spLocks noChangeShapeType="1"/>
              </p:cNvSpPr>
              <p:nvPr/>
            </p:nvSpPr>
            <p:spPr bwMode="auto">
              <a:xfrm>
                <a:off x="3345" y="2698"/>
                <a:ext cx="18" cy="1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>
                <a:outerShdw dist="35921" dir="2700000" algn="ctr" rotWithShape="0">
                  <a:schemeClr val="bg2"/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88160" name="Line 64"/>
              <p:cNvSpPr>
                <a:spLocks noChangeShapeType="1"/>
              </p:cNvSpPr>
              <p:nvPr/>
            </p:nvSpPr>
            <p:spPr bwMode="auto">
              <a:xfrm>
                <a:off x="3345" y="2768"/>
                <a:ext cx="18" cy="1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>
                <a:outerShdw dist="35921" dir="2700000" algn="ctr" rotWithShape="0">
                  <a:schemeClr val="bg2"/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88161" name="Line 65"/>
              <p:cNvSpPr>
                <a:spLocks noChangeShapeType="1"/>
              </p:cNvSpPr>
              <p:nvPr/>
            </p:nvSpPr>
            <p:spPr bwMode="auto">
              <a:xfrm>
                <a:off x="3345" y="2838"/>
                <a:ext cx="18" cy="1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>
                <a:outerShdw dist="35921" dir="2700000" algn="ctr" rotWithShape="0">
                  <a:schemeClr val="bg2"/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88162" name="Line 66"/>
              <p:cNvSpPr>
                <a:spLocks noChangeShapeType="1"/>
              </p:cNvSpPr>
              <p:nvPr/>
            </p:nvSpPr>
            <p:spPr bwMode="auto">
              <a:xfrm>
                <a:off x="4707" y="3048"/>
                <a:ext cx="1" cy="9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>
                <a:outerShdw dist="35921" dir="2700000" algn="ctr" rotWithShape="0">
                  <a:schemeClr val="bg2"/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88163" name="Line 67"/>
              <p:cNvSpPr>
                <a:spLocks noChangeShapeType="1"/>
              </p:cNvSpPr>
              <p:nvPr/>
            </p:nvSpPr>
            <p:spPr bwMode="auto">
              <a:xfrm>
                <a:off x="4557" y="3048"/>
                <a:ext cx="1" cy="9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>
                <a:outerShdw dist="35921" dir="2700000" algn="ctr" rotWithShape="0">
                  <a:schemeClr val="bg2"/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88164" name="Line 68"/>
              <p:cNvSpPr>
                <a:spLocks noChangeShapeType="1"/>
              </p:cNvSpPr>
              <p:nvPr/>
            </p:nvSpPr>
            <p:spPr bwMode="auto">
              <a:xfrm>
                <a:off x="4409" y="3048"/>
                <a:ext cx="1" cy="9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>
                <a:outerShdw dist="35921" dir="2700000" algn="ctr" rotWithShape="0">
                  <a:schemeClr val="bg2"/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88165" name="Line 69"/>
              <p:cNvSpPr>
                <a:spLocks noChangeShapeType="1"/>
              </p:cNvSpPr>
              <p:nvPr/>
            </p:nvSpPr>
            <p:spPr bwMode="auto">
              <a:xfrm>
                <a:off x="4259" y="3048"/>
                <a:ext cx="1" cy="9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>
                <a:outerShdw dist="35921" dir="2700000" algn="ctr" rotWithShape="0">
                  <a:schemeClr val="bg2"/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88166" name="Line 70"/>
              <p:cNvSpPr>
                <a:spLocks noChangeShapeType="1"/>
              </p:cNvSpPr>
              <p:nvPr/>
            </p:nvSpPr>
            <p:spPr bwMode="auto">
              <a:xfrm>
                <a:off x="4110" y="3048"/>
                <a:ext cx="1" cy="9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>
                <a:outerShdw dist="35921" dir="2700000" algn="ctr" rotWithShape="0">
                  <a:schemeClr val="bg2"/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88167" name="Line 71"/>
              <p:cNvSpPr>
                <a:spLocks noChangeShapeType="1"/>
              </p:cNvSpPr>
              <p:nvPr/>
            </p:nvSpPr>
            <p:spPr bwMode="auto">
              <a:xfrm>
                <a:off x="3960" y="3048"/>
                <a:ext cx="1" cy="9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>
                <a:outerShdw dist="35921" dir="2700000" algn="ctr" rotWithShape="0">
                  <a:schemeClr val="bg2"/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88168" name="Line 72"/>
              <p:cNvSpPr>
                <a:spLocks noChangeShapeType="1"/>
              </p:cNvSpPr>
              <p:nvPr/>
            </p:nvSpPr>
            <p:spPr bwMode="auto">
              <a:xfrm>
                <a:off x="3812" y="3048"/>
                <a:ext cx="1" cy="9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>
                <a:outerShdw dist="35921" dir="2700000" algn="ctr" rotWithShape="0">
                  <a:schemeClr val="bg2"/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88169" name="Line 73"/>
              <p:cNvSpPr>
                <a:spLocks noChangeShapeType="1"/>
              </p:cNvSpPr>
              <p:nvPr/>
            </p:nvSpPr>
            <p:spPr bwMode="auto">
              <a:xfrm>
                <a:off x="3662" y="3048"/>
                <a:ext cx="1" cy="9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>
                <a:outerShdw dist="35921" dir="2700000" algn="ctr" rotWithShape="0">
                  <a:schemeClr val="bg2"/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88170" name="Line 74"/>
              <p:cNvSpPr>
                <a:spLocks noChangeShapeType="1"/>
              </p:cNvSpPr>
              <p:nvPr/>
            </p:nvSpPr>
            <p:spPr bwMode="auto">
              <a:xfrm>
                <a:off x="3513" y="3048"/>
                <a:ext cx="1" cy="9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>
                <a:outerShdw dist="35921" dir="2700000" algn="ctr" rotWithShape="0">
                  <a:schemeClr val="bg2"/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88171" name="Line 75"/>
              <p:cNvSpPr>
                <a:spLocks noChangeShapeType="1"/>
              </p:cNvSpPr>
              <p:nvPr/>
            </p:nvSpPr>
            <p:spPr bwMode="auto">
              <a:xfrm flipH="1">
                <a:off x="4128" y="2304"/>
                <a:ext cx="0" cy="720"/>
              </a:xfrm>
              <a:prstGeom prst="line">
                <a:avLst/>
              </a:prstGeom>
              <a:noFill/>
              <a:ln w="12700">
                <a:solidFill>
                  <a:srgbClr val="CDCDCD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pSp>
            <p:nvGrpSpPr>
              <p:cNvPr id="388172" name="Group 76"/>
              <p:cNvGrpSpPr/>
              <p:nvPr/>
            </p:nvGrpSpPr>
            <p:grpSpPr bwMode="auto">
              <a:xfrm>
                <a:off x="4899" y="3003"/>
                <a:ext cx="106" cy="216"/>
                <a:chOff x="5184" y="3696"/>
                <a:chExt cx="106" cy="216"/>
              </a:xfrm>
            </p:grpSpPr>
            <p:sp>
              <p:nvSpPr>
                <p:cNvPr id="388173" name="Rectangle 77"/>
                <p:cNvSpPr>
                  <a:spLocks noChangeArrowheads="1"/>
                </p:cNvSpPr>
                <p:nvPr/>
              </p:nvSpPr>
              <p:spPr bwMode="auto">
                <a:xfrm>
                  <a:off x="5184" y="3696"/>
                  <a:ext cx="85" cy="21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/>
                <a:p>
                  <a:r>
                    <a:rPr lang="en-US" altLang="zh-CN" sz="2400" i="1">
                      <a:effectLst/>
                      <a:latin typeface="Times New Roman" panose="02020603050405020304" pitchFamily="18" charset="0"/>
                    </a:rPr>
                    <a:t>x</a:t>
                  </a:r>
                  <a:endParaRPr lang="en-US" altLang="zh-CN" sz="2400" b="0" i="1">
                    <a:effectLst/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88174" name="Line 78"/>
                <p:cNvSpPr>
                  <a:spLocks noChangeShapeType="1"/>
                </p:cNvSpPr>
                <p:nvPr/>
              </p:nvSpPr>
              <p:spPr bwMode="auto">
                <a:xfrm>
                  <a:off x="5184" y="3696"/>
                  <a:ext cx="106" cy="1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</a:ln>
                <a:effectLst>
                  <a:outerShdw dist="35921" dir="2700000" algn="ctr" rotWithShape="0">
                    <a:schemeClr val="bg2"/>
                  </a:outerShdw>
                </a:effectLst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388175" name="Rectangle 79"/>
              <p:cNvSpPr>
                <a:spLocks noChangeArrowheads="1"/>
              </p:cNvSpPr>
              <p:nvPr/>
            </p:nvSpPr>
            <p:spPr bwMode="auto">
              <a:xfrm>
                <a:off x="4560" y="2256"/>
                <a:ext cx="918" cy="24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488" tIns="44450" rIns="90488" bIns="44450">
                <a:spAutoFit/>
              </a:bodyPr>
              <a:lstStyle/>
              <a:p>
                <a:pPr>
                  <a:lnSpc>
                    <a:spcPct val="90000"/>
                  </a:lnSpc>
                </a:pPr>
                <a:r>
                  <a:rPr lang="en-US" altLang="zh-CN" sz="2400" i="1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anose="02020603050405020304" pitchFamily="18" charset="0"/>
                  </a:rPr>
                  <a:t>n</a:t>
                </a:r>
                <a:r>
                  <a:rPr lang="en-US" altLang="zh-CN" sz="2400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anose="02020603050405020304" pitchFamily="18" charset="0"/>
                  </a:rPr>
                  <a:t> =16</a:t>
                </a:r>
                <a:endParaRPr lang="en-US" altLang="zh-CN" sz="2400"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88177" name="Line 81"/>
              <p:cNvSpPr>
                <a:spLocks noChangeShapeType="1"/>
              </p:cNvSpPr>
              <p:nvPr/>
            </p:nvSpPr>
            <p:spPr bwMode="auto">
              <a:xfrm>
                <a:off x="3271" y="2431"/>
                <a:ext cx="472" cy="42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tailEnd type="triangle" w="med" len="med"/>
              </a:ln>
              <a:effectLst>
                <a:outerShdw dist="35921" dir="2700000" algn="ctr" rotWithShape="0">
                  <a:schemeClr val="bg2"/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88178" name="Line 82"/>
              <p:cNvSpPr>
                <a:spLocks noChangeShapeType="1"/>
              </p:cNvSpPr>
              <p:nvPr/>
            </p:nvSpPr>
            <p:spPr bwMode="auto">
              <a:xfrm flipH="1">
                <a:off x="4175" y="2379"/>
                <a:ext cx="392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tailEnd type="triangle" w="med" len="med"/>
              </a:ln>
              <a:effectLst>
                <a:outerShdw dist="17961" dir="2700000" algn="ctr" rotWithShape="0">
                  <a:schemeClr val="bg2"/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88179" name="Line 83"/>
              <p:cNvSpPr>
                <a:spLocks noChangeShapeType="1"/>
              </p:cNvSpPr>
              <p:nvPr/>
            </p:nvSpPr>
            <p:spPr bwMode="auto">
              <a:xfrm>
                <a:off x="4641" y="3051"/>
                <a:ext cx="18" cy="1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>
                <a:outerShdw dist="35921" dir="2700000" algn="ctr" rotWithShape="0">
                  <a:schemeClr val="bg2"/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aphicFrame>
            <p:nvGraphicFramePr>
              <p:cNvPr id="388193" name="Object 97">
                <a:hlinkClick r:id="" action="ppaction://ole?verb=0"/>
              </p:cNvPr>
              <p:cNvGraphicFramePr/>
              <p:nvPr/>
            </p:nvGraphicFramePr>
            <p:xfrm>
              <a:off x="2764" y="2506"/>
              <a:ext cx="424" cy="26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88212" name="Equation" r:id="rId1" imgW="431800" imgH="228600" progId="Equation.3">
                      <p:embed/>
                    </p:oleObj>
                  </mc:Choice>
                  <mc:Fallback>
                    <p:oleObj name="Equation" r:id="rId1" imgW="431800" imgH="228600" progId="Equation.3">
                      <p:embed/>
                      <p:pic>
                        <p:nvPicPr>
                          <p:cNvPr id="0" name="Object 97"/>
                          <p:cNvPicPr>
                            <a:picLocks noChangeArrowheads="1"/>
                          </p:cNvPicPr>
                          <p:nvPr/>
                        </p:nvPicPr>
                        <p:blipFill>
                          <a:blip r:embed="rId2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764" y="2506"/>
                            <a:ext cx="424" cy="269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>
                            <a:outerShdw dist="17961" dir="2700000" algn="ctr" rotWithShape="0">
                              <a:schemeClr val="bg2"/>
                            </a:outerShdw>
                          </a:effectLst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12700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88194" name="Object 98">
                <a:hlinkClick r:id="" action="ppaction://ole?verb=0"/>
              </p:cNvPr>
              <p:cNvGraphicFramePr/>
              <p:nvPr/>
            </p:nvGraphicFramePr>
            <p:xfrm>
              <a:off x="3872" y="3082"/>
              <a:ext cx="512" cy="26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88213" name="Equation" r:id="rId3" imgW="508000" imgH="228600" progId="Equation.3">
                      <p:embed/>
                    </p:oleObj>
                  </mc:Choice>
                  <mc:Fallback>
                    <p:oleObj name="Equation" r:id="rId3" imgW="508000" imgH="228600" progId="Equation.3">
                      <p:embed/>
                      <p:pic>
                        <p:nvPicPr>
                          <p:cNvPr id="0" name="Object 98"/>
                          <p:cNvPicPr>
                            <a:picLocks noChangeArrowheads="1"/>
                          </p:cNvPicPr>
                          <p:nvPr/>
                        </p:nvPicPr>
                        <p:blipFill>
                          <a:blip r:embed="rId4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872" y="3082"/>
                            <a:ext cx="512" cy="269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12700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88195" name="Object 99">
                <a:hlinkClick r:id="" action="ppaction://ole?verb=0"/>
              </p:cNvPr>
              <p:cNvGraphicFramePr/>
              <p:nvPr/>
            </p:nvGraphicFramePr>
            <p:xfrm>
              <a:off x="4584" y="2506"/>
              <a:ext cx="510" cy="26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88214" name="Equation" r:id="rId5" imgW="558800" imgH="228600" progId="Equation.3">
                      <p:embed/>
                    </p:oleObj>
                  </mc:Choice>
                  <mc:Fallback>
                    <p:oleObj name="Equation" r:id="rId5" imgW="558800" imgH="228600" progId="Equation.3">
                      <p:embed/>
                      <p:pic>
                        <p:nvPicPr>
                          <p:cNvPr id="0" name="Object 99"/>
                          <p:cNvPicPr>
                            <a:picLocks noChangeArrowheads="1"/>
                          </p:cNvPicPr>
                          <p:nvPr/>
                        </p:nvPicPr>
                        <p:blipFill>
                          <a:blip r:embed="rId6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584" y="2506"/>
                            <a:ext cx="510" cy="269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>
                            <a:outerShdw dist="17961" dir="2700000" algn="ctr" rotWithShape="0">
                              <a:schemeClr val="bg2"/>
                            </a:outerShdw>
                          </a:effectLst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12700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sp>
        <p:nvSpPr>
          <p:cNvPr id="388200" name="Rectangle 104"/>
          <p:cNvSpPr>
            <a:spLocks noChangeArrowheads="1"/>
          </p:cNvSpPr>
          <p:nvPr/>
        </p:nvSpPr>
        <p:spPr bwMode="auto">
          <a:xfrm>
            <a:off x="1981200" y="1700213"/>
            <a:ext cx="8229600" cy="6451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>
              <a:spcBef>
                <a:spcPct val="40000"/>
              </a:spcBef>
              <a:buFont typeface="Wingdings 2" panose="05020102010507070707" pitchFamily="18" charset="2"/>
              <a:buNone/>
            </a:pPr>
            <a:r>
              <a:rPr lang="zh-CN" altLang="en-US" b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当总体服从正态分布</a:t>
            </a:r>
            <a:r>
              <a:rPr lang="en-US" altLang="zh-CN" i="1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N</a:t>
            </a:r>
            <a:r>
              <a:rPr lang="en-US" altLang="zh-CN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(</a:t>
            </a:r>
            <a:r>
              <a:rPr lang="en-US" altLang="zh-CN" i="1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μ</a:t>
            </a:r>
            <a:r>
              <a:rPr lang="en-US" altLang="zh-CN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,</a:t>
            </a:r>
            <a:r>
              <a:rPr lang="en-US" altLang="zh-CN" i="1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σ</a:t>
            </a:r>
            <a:r>
              <a:rPr lang="en-US" altLang="zh-CN" baseline="3000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2</a:t>
            </a:r>
            <a:r>
              <a:rPr lang="en-US" altLang="zh-CN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)</a:t>
            </a:r>
            <a:r>
              <a:rPr lang="zh-CN" altLang="en-US" b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时，来自该总体的所有容量为</a:t>
            </a:r>
            <a:r>
              <a:rPr lang="en-US" altLang="zh-CN" b="0" i="1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n</a:t>
            </a:r>
            <a:r>
              <a:rPr lang="zh-CN" altLang="en-US" b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的样本的均值</a:t>
            </a:r>
            <a:r>
              <a:rPr lang="zh-CN" altLang="en-US" b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</a:t>
            </a:r>
            <a:r>
              <a:rPr lang="en-US" altLang="zh-CN" b="0" i="1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x</a:t>
            </a:r>
            <a:r>
              <a:rPr lang="zh-CN" altLang="en-US" b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也服从正态分布，</a:t>
            </a:r>
            <a:r>
              <a:rPr lang="zh-CN" altLang="en-US" b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</a:t>
            </a:r>
            <a:r>
              <a:rPr lang="en-US" altLang="zh-CN" b="0" i="1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x</a:t>
            </a:r>
            <a:r>
              <a:rPr lang="en-US" altLang="zh-CN" b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 </a:t>
            </a:r>
            <a:r>
              <a:rPr lang="zh-CN" altLang="en-US" b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的数学期望为</a:t>
            </a:r>
            <a:r>
              <a:rPr lang="en-US" altLang="zh-CN" b="0" i="1">
                <a:effectLst>
                  <a:outerShdw blurRad="38100" dist="38100" dir="2700000" algn="tl">
                    <a:srgbClr val="000000"/>
                  </a:outerShdw>
                </a:effectLst>
              </a:rPr>
              <a:t>μ</a:t>
            </a:r>
            <a:r>
              <a:rPr lang="zh-CN" altLang="en-US" b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，方差为</a:t>
            </a:r>
            <a:r>
              <a:rPr lang="en-US" altLang="zh-CN" b="0" i="1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σ</a:t>
            </a:r>
            <a:r>
              <a:rPr lang="en-US" altLang="zh-CN" b="0" baseline="3000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2</a:t>
            </a:r>
            <a:r>
              <a:rPr lang="en-US" altLang="zh-CN" b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/</a:t>
            </a:r>
            <a:r>
              <a:rPr lang="en-US" altLang="zh-CN" b="0" i="1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n</a:t>
            </a:r>
            <a:r>
              <a:rPr lang="zh-CN" altLang="en-US" b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。即</a:t>
            </a:r>
            <a:r>
              <a:rPr lang="zh-CN" altLang="en-US" b="0">
                <a:solidFill>
                  <a:srgbClr val="FFFF9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</a:t>
            </a:r>
            <a:r>
              <a:rPr lang="en-US" altLang="zh-CN" i="1">
                <a:solidFill>
                  <a:srgbClr val="FFFF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x</a:t>
            </a:r>
            <a:r>
              <a:rPr lang="zh-CN" altLang="en-US" i="1">
                <a:solidFill>
                  <a:srgbClr val="FCFEB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～</a:t>
            </a:r>
            <a:r>
              <a:rPr lang="en-US" altLang="zh-CN" i="1">
                <a:solidFill>
                  <a:srgbClr val="FCFEB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N</a:t>
            </a:r>
            <a:r>
              <a:rPr lang="en-US" altLang="zh-CN">
                <a:solidFill>
                  <a:srgbClr val="FCFEB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(</a:t>
            </a:r>
            <a:r>
              <a:rPr lang="en-US" altLang="zh-CN" i="1">
                <a:solidFill>
                  <a:srgbClr val="FCFEB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μ</a:t>
            </a:r>
            <a:r>
              <a:rPr lang="en-US" altLang="zh-CN">
                <a:solidFill>
                  <a:srgbClr val="FCFEB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,</a:t>
            </a:r>
            <a:r>
              <a:rPr lang="en-US" altLang="zh-CN" i="1">
                <a:solidFill>
                  <a:srgbClr val="FCFEB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σ</a:t>
            </a:r>
            <a:r>
              <a:rPr lang="en-US" altLang="zh-CN" baseline="30000">
                <a:solidFill>
                  <a:srgbClr val="FCFEB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2</a:t>
            </a:r>
            <a:r>
              <a:rPr lang="en-US" altLang="zh-CN">
                <a:solidFill>
                  <a:srgbClr val="FCFEB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/</a:t>
            </a:r>
            <a:r>
              <a:rPr lang="en-US" altLang="zh-CN" i="1">
                <a:solidFill>
                  <a:srgbClr val="FCFEB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n</a:t>
            </a:r>
            <a:r>
              <a:rPr lang="en-US" altLang="zh-CN">
                <a:solidFill>
                  <a:srgbClr val="FCFEB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)</a:t>
            </a:r>
            <a:endParaRPr lang="en-US" altLang="zh-CN">
              <a:solidFill>
                <a:srgbClr val="FCFEB9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Times New Roman" panose="02020603050405020304" pitchFamily="18" charset="0"/>
            </a:endParaRPr>
          </a:p>
        </p:txBody>
      </p:sp>
    </p:spTree>
    <p:custDataLst>
      <p:tags r:id="rId7"/>
    </p:custData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88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339" name="Rectangle 3"/>
          <p:cNvSpPr>
            <a:spLocks noGrp="1" noChangeArrowheads="1"/>
          </p:cNvSpPr>
          <p:nvPr>
            <p:ph type="title"/>
          </p:nvPr>
        </p:nvSpPr>
        <p:spPr>
          <a:xfrm>
            <a:off x="2175510" y="73660"/>
            <a:ext cx="9185910" cy="990600"/>
          </a:xfrm>
          <a:noFill/>
        </p:spPr>
        <p:txBody>
          <a:bodyPr>
            <a:normAutofit/>
          </a:bodyPr>
          <a:lstStyle/>
          <a:p>
            <a:r>
              <a:rPr lang="zh-CN" altLang="en-US">
                <a:latin typeface="Arial" panose="020B0604020202020204" pitchFamily="34" charset="0"/>
              </a:rPr>
              <a:t>中心极限定理</a:t>
            </a:r>
            <a:r>
              <a:rPr lang="en-US" altLang="zh-CN" sz="3600">
                <a:solidFill>
                  <a:schemeClr val="hlink"/>
                </a:solidFill>
                <a:latin typeface="Arial" panose="020B0604020202020204" pitchFamily="34" charset="0"/>
              </a:rPr>
              <a:t>(</a:t>
            </a:r>
            <a:r>
              <a:rPr lang="en-US" altLang="zh-CN" sz="3600">
                <a:solidFill>
                  <a:schemeClr val="hlink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central limit theorem</a:t>
            </a:r>
            <a:r>
              <a:rPr lang="en-US" altLang="zh-CN" sz="3600">
                <a:solidFill>
                  <a:schemeClr val="hlink"/>
                </a:solidFill>
                <a:latin typeface="Arial" panose="020B0604020202020204" pitchFamily="34" charset="0"/>
              </a:rPr>
              <a:t>)</a:t>
            </a:r>
            <a:endParaRPr lang="en-US" altLang="zh-CN" sz="3600">
              <a:solidFill>
                <a:schemeClr val="hlink"/>
              </a:solidFill>
              <a:latin typeface="Arial" panose="020B0604020202020204" pitchFamily="34" charset="0"/>
            </a:endParaRPr>
          </a:p>
        </p:txBody>
      </p:sp>
      <p:grpSp>
        <p:nvGrpSpPr>
          <p:cNvPr id="398407" name="Group 71"/>
          <p:cNvGrpSpPr/>
          <p:nvPr/>
        </p:nvGrpSpPr>
        <p:grpSpPr bwMode="auto">
          <a:xfrm>
            <a:off x="4038600" y="3071813"/>
            <a:ext cx="6243638" cy="2771775"/>
            <a:chOff x="1584" y="1935"/>
            <a:chExt cx="3933" cy="1746"/>
          </a:xfrm>
        </p:grpSpPr>
        <p:grpSp>
          <p:nvGrpSpPr>
            <p:cNvPr id="398378" name="Group 42"/>
            <p:cNvGrpSpPr/>
            <p:nvPr/>
          </p:nvGrpSpPr>
          <p:grpSpPr bwMode="auto">
            <a:xfrm>
              <a:off x="1869" y="2190"/>
              <a:ext cx="2350" cy="1491"/>
              <a:chOff x="1872" y="1920"/>
              <a:chExt cx="2374" cy="1728"/>
            </a:xfrm>
          </p:grpSpPr>
          <p:grpSp>
            <p:nvGrpSpPr>
              <p:cNvPr id="398341" name="Group 5"/>
              <p:cNvGrpSpPr/>
              <p:nvPr/>
            </p:nvGrpSpPr>
            <p:grpSpPr bwMode="auto">
              <a:xfrm>
                <a:off x="1872" y="1920"/>
                <a:ext cx="2374" cy="1683"/>
                <a:chOff x="1935" y="1824"/>
                <a:chExt cx="2374" cy="1827"/>
              </a:xfrm>
            </p:grpSpPr>
            <p:sp>
              <p:nvSpPr>
                <p:cNvPr id="398342" name="Freeform 6"/>
                <p:cNvSpPr/>
                <p:nvPr/>
              </p:nvSpPr>
              <p:spPr bwMode="auto">
                <a:xfrm>
                  <a:off x="3120" y="1824"/>
                  <a:ext cx="1189" cy="1827"/>
                </a:xfrm>
                <a:custGeom>
                  <a:avLst/>
                  <a:gdLst>
                    <a:gd name="T0" fmla="*/ 1189 w 1189"/>
                    <a:gd name="T1" fmla="*/ 1827 h 1827"/>
                    <a:gd name="T2" fmla="*/ 1064 w 1189"/>
                    <a:gd name="T3" fmla="*/ 1807 h 1827"/>
                    <a:gd name="T4" fmla="*/ 1002 w 1189"/>
                    <a:gd name="T5" fmla="*/ 1784 h 1827"/>
                    <a:gd name="T6" fmla="*/ 939 w 1189"/>
                    <a:gd name="T7" fmla="*/ 1757 h 1827"/>
                    <a:gd name="T8" fmla="*/ 877 w 1189"/>
                    <a:gd name="T9" fmla="*/ 1714 h 1827"/>
                    <a:gd name="T10" fmla="*/ 815 w 1189"/>
                    <a:gd name="T11" fmla="*/ 1655 h 1827"/>
                    <a:gd name="T12" fmla="*/ 752 w 1189"/>
                    <a:gd name="T13" fmla="*/ 1581 h 1827"/>
                    <a:gd name="T14" fmla="*/ 628 w 1189"/>
                    <a:gd name="T15" fmla="*/ 1371 h 1827"/>
                    <a:gd name="T16" fmla="*/ 503 w 1189"/>
                    <a:gd name="T17" fmla="*/ 1071 h 1827"/>
                    <a:gd name="T18" fmla="*/ 374 w 1189"/>
                    <a:gd name="T19" fmla="*/ 713 h 1827"/>
                    <a:gd name="T20" fmla="*/ 312 w 1189"/>
                    <a:gd name="T21" fmla="*/ 530 h 1827"/>
                    <a:gd name="T22" fmla="*/ 249 w 1189"/>
                    <a:gd name="T23" fmla="*/ 362 h 1827"/>
                    <a:gd name="T24" fmla="*/ 187 w 1189"/>
                    <a:gd name="T25" fmla="*/ 214 h 1827"/>
                    <a:gd name="T26" fmla="*/ 125 w 1189"/>
                    <a:gd name="T27" fmla="*/ 98 h 1827"/>
                    <a:gd name="T28" fmla="*/ 62 w 1189"/>
                    <a:gd name="T29" fmla="*/ 27 h 1827"/>
                    <a:gd name="T30" fmla="*/ 0 w 1189"/>
                    <a:gd name="T31" fmla="*/ 0 h 18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</a:cxnLst>
                  <a:rect l="0" t="0" r="r" b="b"/>
                  <a:pathLst>
                    <a:path w="1189" h="1827">
                      <a:moveTo>
                        <a:pt x="1189" y="1827"/>
                      </a:moveTo>
                      <a:lnTo>
                        <a:pt x="1064" y="1807"/>
                      </a:lnTo>
                      <a:lnTo>
                        <a:pt x="1002" y="1784"/>
                      </a:lnTo>
                      <a:lnTo>
                        <a:pt x="939" y="1757"/>
                      </a:lnTo>
                      <a:lnTo>
                        <a:pt x="877" y="1714"/>
                      </a:lnTo>
                      <a:lnTo>
                        <a:pt x="815" y="1655"/>
                      </a:lnTo>
                      <a:lnTo>
                        <a:pt x="752" y="1581"/>
                      </a:lnTo>
                      <a:lnTo>
                        <a:pt x="628" y="1371"/>
                      </a:lnTo>
                      <a:lnTo>
                        <a:pt x="503" y="1071"/>
                      </a:lnTo>
                      <a:lnTo>
                        <a:pt x="374" y="713"/>
                      </a:lnTo>
                      <a:lnTo>
                        <a:pt x="312" y="530"/>
                      </a:lnTo>
                      <a:lnTo>
                        <a:pt x="249" y="362"/>
                      </a:lnTo>
                      <a:lnTo>
                        <a:pt x="187" y="214"/>
                      </a:lnTo>
                      <a:lnTo>
                        <a:pt x="125" y="98"/>
                      </a:lnTo>
                      <a:lnTo>
                        <a:pt x="62" y="27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76200" cmpd="sng">
                  <a:solidFill>
                    <a:schemeClr val="hlink"/>
                  </a:solidFill>
                  <a:prstDash val="solid"/>
                  <a:round/>
                </a:ln>
                <a:effectLst>
                  <a:outerShdw dist="56796" dir="1593903" algn="ctr" rotWithShape="0">
                    <a:schemeClr val="bg2"/>
                  </a:outerShdw>
                </a:effectLst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98343" name="Freeform 7"/>
                <p:cNvSpPr/>
                <p:nvPr/>
              </p:nvSpPr>
              <p:spPr bwMode="auto">
                <a:xfrm>
                  <a:off x="1935" y="1824"/>
                  <a:ext cx="1185" cy="1827"/>
                </a:xfrm>
                <a:custGeom>
                  <a:avLst/>
                  <a:gdLst>
                    <a:gd name="T0" fmla="*/ 0 w 1185"/>
                    <a:gd name="T1" fmla="*/ 1827 h 1827"/>
                    <a:gd name="T2" fmla="*/ 125 w 1185"/>
                    <a:gd name="T3" fmla="*/ 1807 h 1827"/>
                    <a:gd name="T4" fmla="*/ 187 w 1185"/>
                    <a:gd name="T5" fmla="*/ 1784 h 1827"/>
                    <a:gd name="T6" fmla="*/ 250 w 1185"/>
                    <a:gd name="T7" fmla="*/ 1757 h 1827"/>
                    <a:gd name="T8" fmla="*/ 312 w 1185"/>
                    <a:gd name="T9" fmla="*/ 1714 h 1827"/>
                    <a:gd name="T10" fmla="*/ 374 w 1185"/>
                    <a:gd name="T11" fmla="*/ 1655 h 1827"/>
                    <a:gd name="T12" fmla="*/ 437 w 1185"/>
                    <a:gd name="T13" fmla="*/ 1581 h 1827"/>
                    <a:gd name="T14" fmla="*/ 561 w 1185"/>
                    <a:gd name="T15" fmla="*/ 1371 h 1827"/>
                    <a:gd name="T16" fmla="*/ 686 w 1185"/>
                    <a:gd name="T17" fmla="*/ 1071 h 1827"/>
                    <a:gd name="T18" fmla="*/ 811 w 1185"/>
                    <a:gd name="T19" fmla="*/ 713 h 1827"/>
                    <a:gd name="T20" fmla="*/ 873 w 1185"/>
                    <a:gd name="T21" fmla="*/ 530 h 1827"/>
                    <a:gd name="T22" fmla="*/ 936 w 1185"/>
                    <a:gd name="T23" fmla="*/ 362 h 1827"/>
                    <a:gd name="T24" fmla="*/ 998 w 1185"/>
                    <a:gd name="T25" fmla="*/ 214 h 1827"/>
                    <a:gd name="T26" fmla="*/ 1060 w 1185"/>
                    <a:gd name="T27" fmla="*/ 98 h 1827"/>
                    <a:gd name="T28" fmla="*/ 1123 w 1185"/>
                    <a:gd name="T29" fmla="*/ 27 h 1827"/>
                    <a:gd name="T30" fmla="*/ 1185 w 1185"/>
                    <a:gd name="T31" fmla="*/ 0 h 18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</a:cxnLst>
                  <a:rect l="0" t="0" r="r" b="b"/>
                  <a:pathLst>
                    <a:path w="1185" h="1827">
                      <a:moveTo>
                        <a:pt x="0" y="1827"/>
                      </a:moveTo>
                      <a:lnTo>
                        <a:pt x="125" y="1807"/>
                      </a:lnTo>
                      <a:lnTo>
                        <a:pt x="187" y="1784"/>
                      </a:lnTo>
                      <a:lnTo>
                        <a:pt x="250" y="1757"/>
                      </a:lnTo>
                      <a:lnTo>
                        <a:pt x="312" y="1714"/>
                      </a:lnTo>
                      <a:lnTo>
                        <a:pt x="374" y="1655"/>
                      </a:lnTo>
                      <a:lnTo>
                        <a:pt x="437" y="1581"/>
                      </a:lnTo>
                      <a:lnTo>
                        <a:pt x="561" y="1371"/>
                      </a:lnTo>
                      <a:lnTo>
                        <a:pt x="686" y="1071"/>
                      </a:lnTo>
                      <a:lnTo>
                        <a:pt x="811" y="713"/>
                      </a:lnTo>
                      <a:lnTo>
                        <a:pt x="873" y="530"/>
                      </a:lnTo>
                      <a:lnTo>
                        <a:pt x="936" y="362"/>
                      </a:lnTo>
                      <a:lnTo>
                        <a:pt x="998" y="214"/>
                      </a:lnTo>
                      <a:lnTo>
                        <a:pt x="1060" y="98"/>
                      </a:lnTo>
                      <a:lnTo>
                        <a:pt x="1123" y="27"/>
                      </a:lnTo>
                      <a:lnTo>
                        <a:pt x="1185" y="0"/>
                      </a:lnTo>
                    </a:path>
                  </a:pathLst>
                </a:custGeom>
                <a:noFill/>
                <a:ln w="76200" cmpd="sng">
                  <a:solidFill>
                    <a:schemeClr val="hlink"/>
                  </a:solidFill>
                  <a:prstDash val="solid"/>
                  <a:round/>
                </a:ln>
                <a:effectLst>
                  <a:outerShdw dist="56796" dir="1593903" algn="ctr" rotWithShape="0">
                    <a:schemeClr val="bg2"/>
                  </a:outerShdw>
                </a:effectLst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398371" name="Line 35"/>
              <p:cNvSpPr>
                <a:spLocks noChangeShapeType="1"/>
              </p:cNvSpPr>
              <p:nvPr/>
            </p:nvSpPr>
            <p:spPr bwMode="auto">
              <a:xfrm>
                <a:off x="3072" y="1968"/>
                <a:ext cx="0" cy="168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</a:ln>
              <a:effectLst>
                <a:outerShdw dist="35921" dir="2700000" algn="ctr" rotWithShape="0">
                  <a:schemeClr val="bg2"/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398372" name="Freeform 36"/>
            <p:cNvSpPr/>
            <p:nvPr/>
          </p:nvSpPr>
          <p:spPr bwMode="auto">
            <a:xfrm>
              <a:off x="1584" y="1983"/>
              <a:ext cx="1378" cy="994"/>
            </a:xfrm>
            <a:custGeom>
              <a:avLst/>
              <a:gdLst>
                <a:gd name="T0" fmla="*/ 405 w 1393"/>
                <a:gd name="T1" fmla="*/ 1173 h 1249"/>
                <a:gd name="T2" fmla="*/ 317 w 1393"/>
                <a:gd name="T3" fmla="*/ 1105 h 1249"/>
                <a:gd name="T4" fmla="*/ 248 w 1393"/>
                <a:gd name="T5" fmla="*/ 1040 h 1249"/>
                <a:gd name="T6" fmla="*/ 188 w 1393"/>
                <a:gd name="T7" fmla="*/ 972 h 1249"/>
                <a:gd name="T8" fmla="*/ 118 w 1393"/>
                <a:gd name="T9" fmla="*/ 878 h 1249"/>
                <a:gd name="T10" fmla="*/ 67 w 1393"/>
                <a:gd name="T11" fmla="*/ 786 h 1249"/>
                <a:gd name="T12" fmla="*/ 35 w 1393"/>
                <a:gd name="T13" fmla="*/ 709 h 1249"/>
                <a:gd name="T14" fmla="*/ 18 w 1393"/>
                <a:gd name="T15" fmla="*/ 638 h 1249"/>
                <a:gd name="T16" fmla="*/ 5 w 1393"/>
                <a:gd name="T17" fmla="*/ 565 h 1249"/>
                <a:gd name="T18" fmla="*/ 0 w 1393"/>
                <a:gd name="T19" fmla="*/ 493 h 1249"/>
                <a:gd name="T20" fmla="*/ 7 w 1393"/>
                <a:gd name="T21" fmla="*/ 409 h 1249"/>
                <a:gd name="T22" fmla="*/ 24 w 1393"/>
                <a:gd name="T23" fmla="*/ 337 h 1249"/>
                <a:gd name="T24" fmla="*/ 60 w 1393"/>
                <a:gd name="T25" fmla="*/ 254 h 1249"/>
                <a:gd name="T26" fmla="*/ 109 w 1393"/>
                <a:gd name="T27" fmla="*/ 190 h 1249"/>
                <a:gd name="T28" fmla="*/ 170 w 1393"/>
                <a:gd name="T29" fmla="*/ 134 h 1249"/>
                <a:gd name="T30" fmla="*/ 229 w 1393"/>
                <a:gd name="T31" fmla="*/ 93 h 1249"/>
                <a:gd name="T32" fmla="*/ 323 w 1393"/>
                <a:gd name="T33" fmla="*/ 48 h 1249"/>
                <a:gd name="T34" fmla="*/ 409 w 1393"/>
                <a:gd name="T35" fmla="*/ 20 h 1249"/>
                <a:gd name="T36" fmla="*/ 495 w 1393"/>
                <a:gd name="T37" fmla="*/ 8 h 1249"/>
                <a:gd name="T38" fmla="*/ 601 w 1393"/>
                <a:gd name="T39" fmla="*/ 0 h 1249"/>
                <a:gd name="T40" fmla="*/ 715 w 1393"/>
                <a:gd name="T41" fmla="*/ 6 h 1249"/>
                <a:gd name="T42" fmla="*/ 919 w 1393"/>
                <a:gd name="T43" fmla="*/ 51 h 1249"/>
                <a:gd name="T44" fmla="*/ 1083 w 1393"/>
                <a:gd name="T45" fmla="*/ 114 h 1249"/>
                <a:gd name="T46" fmla="*/ 1221 w 1393"/>
                <a:gd name="T47" fmla="*/ 80 h 1249"/>
                <a:gd name="T48" fmla="*/ 988 w 1393"/>
                <a:gd name="T49" fmla="*/ 447 h 1249"/>
                <a:gd name="T50" fmla="*/ 952 w 1393"/>
                <a:gd name="T51" fmla="*/ 320 h 1249"/>
                <a:gd name="T52" fmla="*/ 805 w 1393"/>
                <a:gd name="T53" fmla="*/ 269 h 1249"/>
                <a:gd name="T54" fmla="*/ 635 w 1393"/>
                <a:gd name="T55" fmla="*/ 246 h 1249"/>
                <a:gd name="T56" fmla="*/ 525 w 1393"/>
                <a:gd name="T57" fmla="*/ 253 h 1249"/>
                <a:gd name="T58" fmla="*/ 430 w 1393"/>
                <a:gd name="T59" fmla="*/ 269 h 1249"/>
                <a:gd name="T60" fmla="*/ 342 w 1393"/>
                <a:gd name="T61" fmla="*/ 302 h 1249"/>
                <a:gd name="T62" fmla="*/ 257 w 1393"/>
                <a:gd name="T63" fmla="*/ 356 h 1249"/>
                <a:gd name="T64" fmla="*/ 196 w 1393"/>
                <a:gd name="T65" fmla="*/ 420 h 1249"/>
                <a:gd name="T66" fmla="*/ 154 w 1393"/>
                <a:gd name="T67" fmla="*/ 489 h 1249"/>
                <a:gd name="T68" fmla="*/ 129 w 1393"/>
                <a:gd name="T69" fmla="*/ 563 h 1249"/>
                <a:gd name="T70" fmla="*/ 118 w 1393"/>
                <a:gd name="T71" fmla="*/ 645 h 1249"/>
                <a:gd name="T72" fmla="*/ 130 w 1393"/>
                <a:gd name="T73" fmla="*/ 757 h 1249"/>
                <a:gd name="T74" fmla="*/ 165 w 1393"/>
                <a:gd name="T75" fmla="*/ 863 h 1249"/>
                <a:gd name="T76" fmla="*/ 212 w 1393"/>
                <a:gd name="T77" fmla="*/ 951 h 1249"/>
                <a:gd name="T78" fmla="*/ 266 w 1393"/>
                <a:gd name="T79" fmla="*/ 1026 h 1249"/>
                <a:gd name="T80" fmla="*/ 314 w 1393"/>
                <a:gd name="T81" fmla="*/ 1081 h 1249"/>
                <a:gd name="T82" fmla="*/ 377 w 1393"/>
                <a:gd name="T83" fmla="*/ 1135 h 1249"/>
                <a:gd name="T84" fmla="*/ 527 w 1393"/>
                <a:gd name="T85" fmla="*/ 1248 h 12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393" h="1249">
                  <a:moveTo>
                    <a:pt x="527" y="1248"/>
                  </a:moveTo>
                  <a:lnTo>
                    <a:pt x="405" y="1173"/>
                  </a:lnTo>
                  <a:lnTo>
                    <a:pt x="365" y="1144"/>
                  </a:lnTo>
                  <a:lnTo>
                    <a:pt x="317" y="1105"/>
                  </a:lnTo>
                  <a:lnTo>
                    <a:pt x="282" y="1075"/>
                  </a:lnTo>
                  <a:lnTo>
                    <a:pt x="248" y="1040"/>
                  </a:lnTo>
                  <a:lnTo>
                    <a:pt x="215" y="1006"/>
                  </a:lnTo>
                  <a:lnTo>
                    <a:pt x="188" y="972"/>
                  </a:lnTo>
                  <a:lnTo>
                    <a:pt x="156" y="930"/>
                  </a:lnTo>
                  <a:lnTo>
                    <a:pt x="118" y="878"/>
                  </a:lnTo>
                  <a:lnTo>
                    <a:pt x="92" y="833"/>
                  </a:lnTo>
                  <a:lnTo>
                    <a:pt x="67" y="786"/>
                  </a:lnTo>
                  <a:lnTo>
                    <a:pt x="52" y="750"/>
                  </a:lnTo>
                  <a:lnTo>
                    <a:pt x="35" y="709"/>
                  </a:lnTo>
                  <a:lnTo>
                    <a:pt x="25" y="677"/>
                  </a:lnTo>
                  <a:lnTo>
                    <a:pt x="18" y="638"/>
                  </a:lnTo>
                  <a:lnTo>
                    <a:pt x="10" y="603"/>
                  </a:lnTo>
                  <a:lnTo>
                    <a:pt x="5" y="565"/>
                  </a:lnTo>
                  <a:lnTo>
                    <a:pt x="2" y="534"/>
                  </a:lnTo>
                  <a:lnTo>
                    <a:pt x="0" y="493"/>
                  </a:lnTo>
                  <a:lnTo>
                    <a:pt x="0" y="449"/>
                  </a:lnTo>
                  <a:lnTo>
                    <a:pt x="7" y="409"/>
                  </a:lnTo>
                  <a:lnTo>
                    <a:pt x="14" y="375"/>
                  </a:lnTo>
                  <a:lnTo>
                    <a:pt x="24" y="337"/>
                  </a:lnTo>
                  <a:lnTo>
                    <a:pt x="36" y="299"/>
                  </a:lnTo>
                  <a:lnTo>
                    <a:pt x="60" y="254"/>
                  </a:lnTo>
                  <a:lnTo>
                    <a:pt x="85" y="218"/>
                  </a:lnTo>
                  <a:lnTo>
                    <a:pt x="109" y="190"/>
                  </a:lnTo>
                  <a:lnTo>
                    <a:pt x="135" y="162"/>
                  </a:lnTo>
                  <a:lnTo>
                    <a:pt x="170" y="134"/>
                  </a:lnTo>
                  <a:lnTo>
                    <a:pt x="199" y="111"/>
                  </a:lnTo>
                  <a:lnTo>
                    <a:pt x="229" y="93"/>
                  </a:lnTo>
                  <a:lnTo>
                    <a:pt x="272" y="70"/>
                  </a:lnTo>
                  <a:lnTo>
                    <a:pt x="323" y="48"/>
                  </a:lnTo>
                  <a:lnTo>
                    <a:pt x="368" y="33"/>
                  </a:lnTo>
                  <a:lnTo>
                    <a:pt x="409" y="20"/>
                  </a:lnTo>
                  <a:lnTo>
                    <a:pt x="454" y="11"/>
                  </a:lnTo>
                  <a:lnTo>
                    <a:pt x="495" y="8"/>
                  </a:lnTo>
                  <a:lnTo>
                    <a:pt x="542" y="4"/>
                  </a:lnTo>
                  <a:lnTo>
                    <a:pt x="601" y="0"/>
                  </a:lnTo>
                  <a:lnTo>
                    <a:pt x="654" y="3"/>
                  </a:lnTo>
                  <a:lnTo>
                    <a:pt x="715" y="6"/>
                  </a:lnTo>
                  <a:lnTo>
                    <a:pt x="829" y="26"/>
                  </a:lnTo>
                  <a:lnTo>
                    <a:pt x="919" y="51"/>
                  </a:lnTo>
                  <a:lnTo>
                    <a:pt x="1011" y="84"/>
                  </a:lnTo>
                  <a:lnTo>
                    <a:pt x="1083" y="114"/>
                  </a:lnTo>
                  <a:lnTo>
                    <a:pt x="1172" y="159"/>
                  </a:lnTo>
                  <a:lnTo>
                    <a:pt x="1221" y="80"/>
                  </a:lnTo>
                  <a:lnTo>
                    <a:pt x="1392" y="428"/>
                  </a:lnTo>
                  <a:lnTo>
                    <a:pt x="988" y="447"/>
                  </a:lnTo>
                  <a:lnTo>
                    <a:pt x="1041" y="364"/>
                  </a:lnTo>
                  <a:lnTo>
                    <a:pt x="952" y="320"/>
                  </a:lnTo>
                  <a:lnTo>
                    <a:pt x="881" y="293"/>
                  </a:lnTo>
                  <a:lnTo>
                    <a:pt x="805" y="269"/>
                  </a:lnTo>
                  <a:lnTo>
                    <a:pt x="692" y="248"/>
                  </a:lnTo>
                  <a:lnTo>
                    <a:pt x="635" y="246"/>
                  </a:lnTo>
                  <a:lnTo>
                    <a:pt x="576" y="246"/>
                  </a:lnTo>
                  <a:lnTo>
                    <a:pt x="525" y="253"/>
                  </a:lnTo>
                  <a:lnTo>
                    <a:pt x="474" y="260"/>
                  </a:lnTo>
                  <a:lnTo>
                    <a:pt x="430" y="269"/>
                  </a:lnTo>
                  <a:lnTo>
                    <a:pt x="389" y="284"/>
                  </a:lnTo>
                  <a:lnTo>
                    <a:pt x="342" y="302"/>
                  </a:lnTo>
                  <a:lnTo>
                    <a:pt x="295" y="330"/>
                  </a:lnTo>
                  <a:lnTo>
                    <a:pt x="257" y="356"/>
                  </a:lnTo>
                  <a:lnTo>
                    <a:pt x="229" y="384"/>
                  </a:lnTo>
                  <a:lnTo>
                    <a:pt x="196" y="420"/>
                  </a:lnTo>
                  <a:lnTo>
                    <a:pt x="170" y="461"/>
                  </a:lnTo>
                  <a:lnTo>
                    <a:pt x="154" y="489"/>
                  </a:lnTo>
                  <a:lnTo>
                    <a:pt x="140" y="520"/>
                  </a:lnTo>
                  <a:lnTo>
                    <a:pt x="129" y="563"/>
                  </a:lnTo>
                  <a:lnTo>
                    <a:pt x="122" y="604"/>
                  </a:lnTo>
                  <a:lnTo>
                    <a:pt x="118" y="645"/>
                  </a:lnTo>
                  <a:lnTo>
                    <a:pt x="121" y="690"/>
                  </a:lnTo>
                  <a:lnTo>
                    <a:pt x="130" y="757"/>
                  </a:lnTo>
                  <a:lnTo>
                    <a:pt x="144" y="805"/>
                  </a:lnTo>
                  <a:lnTo>
                    <a:pt x="165" y="863"/>
                  </a:lnTo>
                  <a:lnTo>
                    <a:pt x="191" y="914"/>
                  </a:lnTo>
                  <a:lnTo>
                    <a:pt x="212" y="951"/>
                  </a:lnTo>
                  <a:lnTo>
                    <a:pt x="240" y="991"/>
                  </a:lnTo>
                  <a:lnTo>
                    <a:pt x="266" y="1026"/>
                  </a:lnTo>
                  <a:lnTo>
                    <a:pt x="289" y="1053"/>
                  </a:lnTo>
                  <a:lnTo>
                    <a:pt x="314" y="1081"/>
                  </a:lnTo>
                  <a:lnTo>
                    <a:pt x="346" y="1109"/>
                  </a:lnTo>
                  <a:lnTo>
                    <a:pt x="377" y="1135"/>
                  </a:lnTo>
                  <a:lnTo>
                    <a:pt x="418" y="1169"/>
                  </a:lnTo>
                  <a:lnTo>
                    <a:pt x="527" y="1248"/>
                  </a:lnTo>
                </a:path>
              </a:pathLst>
            </a:custGeom>
            <a:solidFill>
              <a:schemeClr val="accent2"/>
            </a:solidFill>
            <a:ln w="3175" cap="rnd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/>
            <a:lstStyle/>
            <a:p>
              <a:endParaRPr lang="zh-CN" altLang="en-US"/>
            </a:p>
          </p:txBody>
        </p:sp>
        <p:sp useBgFill="1">
          <p:nvSpPr>
            <p:cNvPr id="398374" name="Rectangle 38"/>
            <p:cNvSpPr>
              <a:spLocks noChangeArrowheads="1"/>
            </p:cNvSpPr>
            <p:nvPr/>
          </p:nvSpPr>
          <p:spPr bwMode="auto">
            <a:xfrm>
              <a:off x="4139" y="2249"/>
              <a:ext cx="1378" cy="1122"/>
            </a:xfrm>
            <a:prstGeom prst="rect">
              <a:avLst/>
            </a:prstGeom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488" tIns="44450" rIns="90488" bIns="4445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200" b="0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当样本容量足够大时</a:t>
              </a:r>
              <a:r>
                <a:rPr lang="en-US" altLang="zh-CN" sz="2200" b="0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(</a:t>
              </a:r>
              <a:r>
                <a:rPr lang="en-US" altLang="zh-CN" sz="2200" b="0" i="1"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</a:rPr>
                <a:t>n</a:t>
              </a:r>
              <a:r>
                <a:rPr lang="en-US" altLang="zh-CN" sz="2200" b="0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 </a:t>
              </a:r>
              <a:r>
                <a:rPr lang="en-US" altLang="zh-CN" sz="2200" b="0">
                  <a:effectLst>
                    <a:outerShdw blurRad="38100" dist="38100" dir="2700000" algn="tl">
                      <a:srgbClr val="000000"/>
                    </a:outerShdw>
                  </a:effectLst>
                  <a:latin typeface="Symbol" panose="05050102010706020507" pitchFamily="18" charset="2"/>
                </a:rPr>
                <a:t></a:t>
              </a:r>
              <a:r>
                <a:rPr lang="en-US" altLang="zh-CN" sz="2200" b="0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 30) </a:t>
              </a:r>
              <a:r>
                <a:rPr lang="zh-CN" altLang="en-US" sz="2200" b="0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，样本均值的抽样分布逐渐趋于正态分布</a:t>
              </a:r>
              <a:endParaRPr lang="zh-CN" altLang="en-US" sz="2200" b="0"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graphicFrame>
          <p:nvGraphicFramePr>
            <p:cNvPr id="398376" name="Object 40">
              <a:hlinkClick r:id="" action="ppaction://ole?verb=0"/>
            </p:cNvPr>
            <p:cNvGraphicFramePr/>
            <p:nvPr/>
          </p:nvGraphicFramePr>
          <p:xfrm>
            <a:off x="3302" y="1935"/>
            <a:ext cx="644" cy="44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98418" name="Equation" r:id="rId1" imgW="584200" imgH="419100" progId="Equation.3">
                    <p:embed/>
                  </p:oleObj>
                </mc:Choice>
                <mc:Fallback>
                  <p:oleObj name="Equation" r:id="rId1" imgW="584200" imgH="419100" progId="Equation.3">
                    <p:embed/>
                    <p:pic>
                      <p:nvPicPr>
                        <p:cNvPr id="0" name="Object 40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02" y="1935"/>
                          <a:ext cx="644" cy="44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>
                          <a:outerShdw dist="17961" dir="2700000" algn="ctr" rotWithShape="0">
                            <a:schemeClr val="bg2"/>
                          </a:outerShdw>
                        </a:effectLst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2700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98402" name="Rectangle 66"/>
          <p:cNvSpPr>
            <a:spLocks noChangeArrowheads="1"/>
          </p:cNvSpPr>
          <p:nvPr/>
        </p:nvSpPr>
        <p:spPr bwMode="auto">
          <a:xfrm>
            <a:off x="1981200" y="1676400"/>
            <a:ext cx="8153400" cy="12915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/>
            <a:r>
              <a:rPr lang="zh-CN" altLang="en-US" sz="2600" b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从均值为</a:t>
            </a:r>
            <a:r>
              <a:rPr lang="zh-CN" altLang="en-US" sz="2600" b="0" i="1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</a:t>
            </a:r>
            <a:r>
              <a:rPr lang="zh-CN" altLang="en-US" sz="2600" b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，方差为</a:t>
            </a:r>
            <a:r>
              <a:rPr lang="zh-CN" altLang="en-US" sz="2600" b="0" i="1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</a:t>
            </a:r>
            <a:r>
              <a:rPr lang="zh-CN" altLang="en-US" sz="900" b="0" i="1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2600" b="0" baseline="3000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2</a:t>
            </a:r>
            <a:r>
              <a:rPr lang="zh-CN" altLang="en-US" sz="2600" b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的一个任意总体中抽取容量为</a:t>
            </a:r>
            <a:r>
              <a:rPr lang="en-US" altLang="zh-CN" sz="2600" b="0" i="1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n</a:t>
            </a:r>
            <a:r>
              <a:rPr lang="zh-CN" altLang="en-US" sz="2600" b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的样本，当</a:t>
            </a:r>
            <a:r>
              <a:rPr lang="en-US" altLang="zh-CN" sz="2600" b="0" i="1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n</a:t>
            </a:r>
            <a:r>
              <a:rPr lang="zh-CN" altLang="en-US" sz="2600" b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充分大时，样本均值的抽样分布近似服从均值为</a:t>
            </a:r>
            <a:r>
              <a:rPr lang="en-US" altLang="zh-CN" sz="2600" b="0" i="1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μ</a:t>
            </a:r>
            <a:r>
              <a:rPr lang="zh-CN" altLang="en-US" sz="2600" b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、方差为</a:t>
            </a:r>
            <a:r>
              <a:rPr lang="en-US" altLang="zh-CN" sz="2600" b="0" i="1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σ</a:t>
            </a:r>
            <a:r>
              <a:rPr lang="en-US" altLang="zh-CN" sz="2600" b="0" baseline="3000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2</a:t>
            </a:r>
            <a:r>
              <a:rPr lang="en-US" altLang="zh-CN" sz="2600" b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/</a:t>
            </a:r>
            <a:r>
              <a:rPr lang="en-US" altLang="zh-CN" sz="2600" b="0" i="1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n</a:t>
            </a:r>
            <a:r>
              <a:rPr lang="zh-CN" altLang="en-US" sz="2600" b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的正态分布</a:t>
            </a:r>
            <a:endParaRPr lang="zh-CN" altLang="en-US" sz="2600" b="0">
              <a:effectLst>
                <a:outerShdw blurRad="38100" dist="38100" dir="2700000" algn="tl">
                  <a:srgbClr val="000000"/>
                </a:outerShdw>
              </a:effectLst>
              <a:latin typeface="Times New Roman" panose="02020603050405020304" pitchFamily="18" charset="0"/>
            </a:endParaRPr>
          </a:p>
        </p:txBody>
      </p:sp>
      <p:grpSp>
        <p:nvGrpSpPr>
          <p:cNvPr id="398411" name="Group 75"/>
          <p:cNvGrpSpPr/>
          <p:nvPr/>
        </p:nvGrpSpPr>
        <p:grpSpPr bwMode="auto">
          <a:xfrm>
            <a:off x="1752600" y="3276600"/>
            <a:ext cx="8078788" cy="3182938"/>
            <a:chOff x="144" y="2064"/>
            <a:chExt cx="5089" cy="2005"/>
          </a:xfrm>
        </p:grpSpPr>
        <p:grpSp>
          <p:nvGrpSpPr>
            <p:cNvPr id="398388" name="Group 52"/>
            <p:cNvGrpSpPr/>
            <p:nvPr/>
          </p:nvGrpSpPr>
          <p:grpSpPr bwMode="auto">
            <a:xfrm>
              <a:off x="1239" y="2064"/>
              <a:ext cx="3801" cy="1615"/>
              <a:chOff x="1200" y="1776"/>
              <a:chExt cx="3840" cy="1872"/>
            </a:xfrm>
          </p:grpSpPr>
          <p:grpSp>
            <p:nvGrpSpPr>
              <p:cNvPr id="398369" name="Group 33"/>
              <p:cNvGrpSpPr/>
              <p:nvPr/>
            </p:nvGrpSpPr>
            <p:grpSpPr bwMode="auto">
              <a:xfrm>
                <a:off x="1248" y="2208"/>
                <a:ext cx="3730" cy="1371"/>
                <a:chOff x="1259" y="2175"/>
                <a:chExt cx="3730" cy="1371"/>
              </a:xfrm>
            </p:grpSpPr>
            <p:sp>
              <p:nvSpPr>
                <p:cNvPr id="398344" name="Freeform 8"/>
                <p:cNvSpPr/>
                <p:nvPr/>
              </p:nvSpPr>
              <p:spPr bwMode="auto">
                <a:xfrm>
                  <a:off x="2483" y="2175"/>
                  <a:ext cx="2506" cy="1371"/>
                </a:xfrm>
                <a:custGeom>
                  <a:avLst/>
                  <a:gdLst>
                    <a:gd name="T0" fmla="*/ 2506 w 2506"/>
                    <a:gd name="T1" fmla="*/ 1371 h 1371"/>
                    <a:gd name="T2" fmla="*/ 2241 w 2506"/>
                    <a:gd name="T3" fmla="*/ 1355 h 1371"/>
                    <a:gd name="T4" fmla="*/ 2108 w 2506"/>
                    <a:gd name="T5" fmla="*/ 1340 h 1371"/>
                    <a:gd name="T6" fmla="*/ 1980 w 2506"/>
                    <a:gd name="T7" fmla="*/ 1316 h 1371"/>
                    <a:gd name="T8" fmla="*/ 1847 w 2506"/>
                    <a:gd name="T9" fmla="*/ 1285 h 1371"/>
                    <a:gd name="T10" fmla="*/ 1715 w 2506"/>
                    <a:gd name="T11" fmla="*/ 1242 h 1371"/>
                    <a:gd name="T12" fmla="*/ 1582 w 2506"/>
                    <a:gd name="T13" fmla="*/ 1188 h 1371"/>
                    <a:gd name="T14" fmla="*/ 1317 w 2506"/>
                    <a:gd name="T15" fmla="*/ 1028 h 1371"/>
                    <a:gd name="T16" fmla="*/ 1056 w 2506"/>
                    <a:gd name="T17" fmla="*/ 802 h 1371"/>
                    <a:gd name="T18" fmla="*/ 791 w 2506"/>
                    <a:gd name="T19" fmla="*/ 533 h 1371"/>
                    <a:gd name="T20" fmla="*/ 658 w 2506"/>
                    <a:gd name="T21" fmla="*/ 397 h 1371"/>
                    <a:gd name="T22" fmla="*/ 530 w 2506"/>
                    <a:gd name="T23" fmla="*/ 269 h 1371"/>
                    <a:gd name="T24" fmla="*/ 397 w 2506"/>
                    <a:gd name="T25" fmla="*/ 159 h 1371"/>
                    <a:gd name="T26" fmla="*/ 265 w 2506"/>
                    <a:gd name="T27" fmla="*/ 74 h 1371"/>
                    <a:gd name="T28" fmla="*/ 132 w 2506"/>
                    <a:gd name="T29" fmla="*/ 19 h 1371"/>
                    <a:gd name="T30" fmla="*/ 0 w 2506"/>
                    <a:gd name="T31" fmla="*/ 0 h 137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</a:cxnLst>
                  <a:rect l="0" t="0" r="r" b="b"/>
                  <a:pathLst>
                    <a:path w="2506" h="1371">
                      <a:moveTo>
                        <a:pt x="2506" y="1371"/>
                      </a:moveTo>
                      <a:lnTo>
                        <a:pt x="2241" y="1355"/>
                      </a:lnTo>
                      <a:lnTo>
                        <a:pt x="2108" y="1340"/>
                      </a:lnTo>
                      <a:lnTo>
                        <a:pt x="1980" y="1316"/>
                      </a:lnTo>
                      <a:lnTo>
                        <a:pt x="1847" y="1285"/>
                      </a:lnTo>
                      <a:lnTo>
                        <a:pt x="1715" y="1242"/>
                      </a:lnTo>
                      <a:lnTo>
                        <a:pt x="1582" y="1188"/>
                      </a:lnTo>
                      <a:lnTo>
                        <a:pt x="1317" y="1028"/>
                      </a:lnTo>
                      <a:lnTo>
                        <a:pt x="1056" y="802"/>
                      </a:lnTo>
                      <a:lnTo>
                        <a:pt x="791" y="533"/>
                      </a:lnTo>
                      <a:lnTo>
                        <a:pt x="658" y="397"/>
                      </a:lnTo>
                      <a:lnTo>
                        <a:pt x="530" y="269"/>
                      </a:lnTo>
                      <a:lnTo>
                        <a:pt x="397" y="159"/>
                      </a:lnTo>
                      <a:lnTo>
                        <a:pt x="265" y="74"/>
                      </a:lnTo>
                      <a:lnTo>
                        <a:pt x="132" y="19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76200" cmpd="sng">
                  <a:solidFill>
                    <a:srgbClr val="FF00FF"/>
                  </a:solidFill>
                  <a:prstDash val="solid"/>
                  <a:round/>
                </a:ln>
                <a:effectLst>
                  <a:outerShdw dist="53882" dir="2700000" algn="ctr" rotWithShape="0">
                    <a:schemeClr val="bg2"/>
                  </a:outerShdw>
                </a:effectLst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98345" name="Freeform 9"/>
                <p:cNvSpPr/>
                <p:nvPr/>
              </p:nvSpPr>
              <p:spPr bwMode="auto">
                <a:xfrm>
                  <a:off x="1259" y="2175"/>
                  <a:ext cx="1224" cy="1371"/>
                </a:xfrm>
                <a:custGeom>
                  <a:avLst/>
                  <a:gdLst>
                    <a:gd name="T0" fmla="*/ 0 w 1224"/>
                    <a:gd name="T1" fmla="*/ 1371 h 1371"/>
                    <a:gd name="T2" fmla="*/ 129 w 1224"/>
                    <a:gd name="T3" fmla="*/ 1355 h 1371"/>
                    <a:gd name="T4" fmla="*/ 191 w 1224"/>
                    <a:gd name="T5" fmla="*/ 1340 h 1371"/>
                    <a:gd name="T6" fmla="*/ 257 w 1224"/>
                    <a:gd name="T7" fmla="*/ 1316 h 1371"/>
                    <a:gd name="T8" fmla="*/ 320 w 1224"/>
                    <a:gd name="T9" fmla="*/ 1285 h 1371"/>
                    <a:gd name="T10" fmla="*/ 386 w 1224"/>
                    <a:gd name="T11" fmla="*/ 1242 h 1371"/>
                    <a:gd name="T12" fmla="*/ 452 w 1224"/>
                    <a:gd name="T13" fmla="*/ 1188 h 1371"/>
                    <a:gd name="T14" fmla="*/ 581 w 1224"/>
                    <a:gd name="T15" fmla="*/ 1028 h 1371"/>
                    <a:gd name="T16" fmla="*/ 709 w 1224"/>
                    <a:gd name="T17" fmla="*/ 802 h 1371"/>
                    <a:gd name="T18" fmla="*/ 838 w 1224"/>
                    <a:gd name="T19" fmla="*/ 533 h 1371"/>
                    <a:gd name="T20" fmla="*/ 904 w 1224"/>
                    <a:gd name="T21" fmla="*/ 397 h 1371"/>
                    <a:gd name="T22" fmla="*/ 967 w 1224"/>
                    <a:gd name="T23" fmla="*/ 269 h 1371"/>
                    <a:gd name="T24" fmla="*/ 1033 w 1224"/>
                    <a:gd name="T25" fmla="*/ 159 h 1371"/>
                    <a:gd name="T26" fmla="*/ 1095 w 1224"/>
                    <a:gd name="T27" fmla="*/ 74 h 1371"/>
                    <a:gd name="T28" fmla="*/ 1161 w 1224"/>
                    <a:gd name="T29" fmla="*/ 19 h 1371"/>
                    <a:gd name="T30" fmla="*/ 1224 w 1224"/>
                    <a:gd name="T31" fmla="*/ 0 h 137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</a:cxnLst>
                  <a:rect l="0" t="0" r="r" b="b"/>
                  <a:pathLst>
                    <a:path w="1224" h="1371">
                      <a:moveTo>
                        <a:pt x="0" y="1371"/>
                      </a:moveTo>
                      <a:lnTo>
                        <a:pt x="129" y="1355"/>
                      </a:lnTo>
                      <a:lnTo>
                        <a:pt x="191" y="1340"/>
                      </a:lnTo>
                      <a:lnTo>
                        <a:pt x="257" y="1316"/>
                      </a:lnTo>
                      <a:lnTo>
                        <a:pt x="320" y="1285"/>
                      </a:lnTo>
                      <a:lnTo>
                        <a:pt x="386" y="1242"/>
                      </a:lnTo>
                      <a:lnTo>
                        <a:pt x="452" y="1188"/>
                      </a:lnTo>
                      <a:lnTo>
                        <a:pt x="581" y="1028"/>
                      </a:lnTo>
                      <a:lnTo>
                        <a:pt x="709" y="802"/>
                      </a:lnTo>
                      <a:lnTo>
                        <a:pt x="838" y="533"/>
                      </a:lnTo>
                      <a:lnTo>
                        <a:pt x="904" y="397"/>
                      </a:lnTo>
                      <a:lnTo>
                        <a:pt x="967" y="269"/>
                      </a:lnTo>
                      <a:lnTo>
                        <a:pt x="1033" y="159"/>
                      </a:lnTo>
                      <a:lnTo>
                        <a:pt x="1095" y="74"/>
                      </a:lnTo>
                      <a:lnTo>
                        <a:pt x="1161" y="19"/>
                      </a:lnTo>
                      <a:lnTo>
                        <a:pt x="1224" y="0"/>
                      </a:lnTo>
                    </a:path>
                  </a:pathLst>
                </a:custGeom>
                <a:noFill/>
                <a:ln w="76200" cmpd="sng">
                  <a:solidFill>
                    <a:srgbClr val="FF00FF"/>
                  </a:solidFill>
                  <a:prstDash val="solid"/>
                  <a:round/>
                </a:ln>
                <a:effectLst>
                  <a:outerShdw dist="53882" dir="2700000" algn="ctr" rotWithShape="0">
                    <a:schemeClr val="bg2"/>
                  </a:outerShdw>
                </a:effectLst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398346" name="Freeform 10"/>
              <p:cNvSpPr/>
              <p:nvPr/>
            </p:nvSpPr>
            <p:spPr bwMode="auto">
              <a:xfrm>
                <a:off x="1200" y="1776"/>
                <a:ext cx="3840" cy="1872"/>
              </a:xfrm>
              <a:custGeom>
                <a:avLst/>
                <a:gdLst>
                  <a:gd name="T0" fmla="*/ 0 w 3800"/>
                  <a:gd name="T1" fmla="*/ 0 h 1784"/>
                  <a:gd name="T2" fmla="*/ 0 w 3800"/>
                  <a:gd name="T3" fmla="*/ 1784 h 1784"/>
                  <a:gd name="T4" fmla="*/ 3800 w 3800"/>
                  <a:gd name="T5" fmla="*/ 1784 h 17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800" h="1784">
                    <a:moveTo>
                      <a:pt x="0" y="0"/>
                    </a:moveTo>
                    <a:lnTo>
                      <a:pt x="0" y="1784"/>
                    </a:lnTo>
                    <a:lnTo>
                      <a:pt x="3800" y="1784"/>
                    </a:lnTo>
                  </a:path>
                </a:pathLst>
              </a:custGeom>
              <a:noFill/>
              <a:ln w="55563">
                <a:solidFill>
                  <a:schemeClr val="tx1"/>
                </a:solidFill>
                <a:prstDash val="solid"/>
                <a:round/>
                <a:headEnd type="triangle" w="med" len="med"/>
                <a:tailEnd type="triangle" w="med" len="med"/>
              </a:ln>
              <a:effectLst>
                <a:outerShdw dist="53882" dir="2700000" algn="ctr" rotWithShape="0">
                  <a:schemeClr val="bg2"/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398410" name="Group 74"/>
            <p:cNvGrpSpPr/>
            <p:nvPr/>
          </p:nvGrpSpPr>
          <p:grpSpPr bwMode="auto">
            <a:xfrm>
              <a:off x="144" y="2095"/>
              <a:ext cx="5089" cy="1974"/>
              <a:chOff x="144" y="2095"/>
              <a:chExt cx="5089" cy="1974"/>
            </a:xfrm>
          </p:grpSpPr>
          <p:sp useBgFill="1">
            <p:nvSpPr>
              <p:cNvPr id="398340" name="Rectangle 4"/>
              <p:cNvSpPr>
                <a:spLocks noChangeArrowheads="1"/>
              </p:cNvSpPr>
              <p:nvPr/>
            </p:nvSpPr>
            <p:spPr bwMode="auto">
              <a:xfrm>
                <a:off x="144" y="2095"/>
                <a:ext cx="1008" cy="482"/>
              </a:xfrm>
              <a:prstGeom prst="rect">
                <a:avLst/>
              </a:prstGeom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488" tIns="44450" rIns="90488" bIns="44450"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zh-CN" altLang="en-US" sz="2200" b="0">
                    <a:effectLst>
                      <a:outerShdw blurRad="38100" dist="38100" dir="2700000" algn="tl">
                        <a:srgbClr val="000000"/>
                      </a:outerShdw>
                    </a:effectLst>
                  </a:rPr>
                  <a:t>一个任意分布的总体</a:t>
                </a:r>
                <a:endParaRPr lang="zh-CN" altLang="en-US" sz="2200" b="0">
                  <a:effectLst>
                    <a:outerShdw blurRad="38100" dist="38100" dir="2700000" algn="tl">
                      <a:srgbClr val="000000"/>
                    </a:outerShdw>
                  </a:effectLst>
                </a:endParaRPr>
              </a:p>
            </p:txBody>
          </p:sp>
          <p:grpSp>
            <p:nvGrpSpPr>
              <p:cNvPr id="398387" name="Group 51"/>
              <p:cNvGrpSpPr/>
              <p:nvPr/>
            </p:nvGrpSpPr>
            <p:grpSpPr bwMode="auto">
              <a:xfrm>
                <a:off x="1200" y="2287"/>
                <a:ext cx="47" cy="1237"/>
                <a:chOff x="1152" y="2047"/>
                <a:chExt cx="47" cy="1434"/>
              </a:xfrm>
            </p:grpSpPr>
            <p:sp>
              <p:nvSpPr>
                <p:cNvPr id="398348" name="Line 12"/>
                <p:cNvSpPr>
                  <a:spLocks noChangeShapeType="1"/>
                </p:cNvSpPr>
                <p:nvPr/>
              </p:nvSpPr>
              <p:spPr bwMode="auto">
                <a:xfrm>
                  <a:off x="1152" y="2047"/>
                  <a:ext cx="47" cy="1"/>
                </a:xfrm>
                <a:prstGeom prst="line">
                  <a:avLst/>
                </a:prstGeom>
                <a:noFill/>
                <a:ln w="55563">
                  <a:solidFill>
                    <a:schemeClr val="tx1"/>
                  </a:solidFill>
                  <a:round/>
                </a:ln>
                <a:effectLst>
                  <a:outerShdw dist="53882" dir="2700000" algn="ctr" rotWithShape="0">
                    <a:schemeClr val="bg2"/>
                  </a:outerShdw>
                </a:effectLst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98349" name="Line 13"/>
                <p:cNvSpPr>
                  <a:spLocks noChangeShapeType="1"/>
                </p:cNvSpPr>
                <p:nvPr/>
              </p:nvSpPr>
              <p:spPr bwMode="auto">
                <a:xfrm>
                  <a:off x="1152" y="2226"/>
                  <a:ext cx="47" cy="1"/>
                </a:xfrm>
                <a:prstGeom prst="line">
                  <a:avLst/>
                </a:prstGeom>
                <a:noFill/>
                <a:ln w="55563">
                  <a:solidFill>
                    <a:schemeClr val="tx1"/>
                  </a:solidFill>
                  <a:round/>
                </a:ln>
                <a:effectLst>
                  <a:outerShdw dist="53882" dir="2700000" algn="ctr" rotWithShape="0">
                    <a:schemeClr val="bg2"/>
                  </a:outerShdw>
                </a:effectLst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98350" name="Line 14"/>
                <p:cNvSpPr>
                  <a:spLocks noChangeShapeType="1"/>
                </p:cNvSpPr>
                <p:nvPr/>
              </p:nvSpPr>
              <p:spPr bwMode="auto">
                <a:xfrm>
                  <a:off x="1152" y="2406"/>
                  <a:ext cx="47" cy="1"/>
                </a:xfrm>
                <a:prstGeom prst="line">
                  <a:avLst/>
                </a:prstGeom>
                <a:noFill/>
                <a:ln w="55563">
                  <a:solidFill>
                    <a:schemeClr val="tx1"/>
                  </a:solidFill>
                  <a:round/>
                </a:ln>
                <a:effectLst>
                  <a:outerShdw dist="53882" dir="2700000" algn="ctr" rotWithShape="0">
                    <a:schemeClr val="bg2"/>
                  </a:outerShdw>
                </a:effectLst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98351" name="Line 15"/>
                <p:cNvSpPr>
                  <a:spLocks noChangeShapeType="1"/>
                </p:cNvSpPr>
                <p:nvPr/>
              </p:nvSpPr>
              <p:spPr bwMode="auto">
                <a:xfrm>
                  <a:off x="1152" y="2585"/>
                  <a:ext cx="47" cy="1"/>
                </a:xfrm>
                <a:prstGeom prst="line">
                  <a:avLst/>
                </a:prstGeom>
                <a:noFill/>
                <a:ln w="55563">
                  <a:solidFill>
                    <a:schemeClr val="tx1"/>
                  </a:solidFill>
                  <a:round/>
                </a:ln>
                <a:effectLst>
                  <a:outerShdw dist="53882" dir="2700000" algn="ctr" rotWithShape="0">
                    <a:schemeClr val="bg2"/>
                  </a:outerShdw>
                </a:effectLst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98352" name="Line 16"/>
                <p:cNvSpPr>
                  <a:spLocks noChangeShapeType="1"/>
                </p:cNvSpPr>
                <p:nvPr/>
              </p:nvSpPr>
              <p:spPr bwMode="auto">
                <a:xfrm>
                  <a:off x="1152" y="2764"/>
                  <a:ext cx="47" cy="1"/>
                </a:xfrm>
                <a:prstGeom prst="line">
                  <a:avLst/>
                </a:prstGeom>
                <a:noFill/>
                <a:ln w="55563">
                  <a:solidFill>
                    <a:schemeClr val="tx1"/>
                  </a:solidFill>
                  <a:round/>
                </a:ln>
                <a:effectLst>
                  <a:outerShdw dist="53882" dir="2700000" algn="ctr" rotWithShape="0">
                    <a:schemeClr val="bg2"/>
                  </a:outerShdw>
                </a:effectLst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98353" name="Line 17"/>
                <p:cNvSpPr>
                  <a:spLocks noChangeShapeType="1"/>
                </p:cNvSpPr>
                <p:nvPr/>
              </p:nvSpPr>
              <p:spPr bwMode="auto">
                <a:xfrm>
                  <a:off x="1152" y="2943"/>
                  <a:ext cx="47" cy="1"/>
                </a:xfrm>
                <a:prstGeom prst="line">
                  <a:avLst/>
                </a:prstGeom>
                <a:noFill/>
                <a:ln w="55563">
                  <a:solidFill>
                    <a:schemeClr val="tx1"/>
                  </a:solidFill>
                  <a:round/>
                </a:ln>
                <a:effectLst>
                  <a:outerShdw dist="53882" dir="2700000" algn="ctr" rotWithShape="0">
                    <a:schemeClr val="bg2"/>
                  </a:outerShdw>
                </a:effectLst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98354" name="Line 18"/>
                <p:cNvSpPr>
                  <a:spLocks noChangeShapeType="1"/>
                </p:cNvSpPr>
                <p:nvPr/>
              </p:nvSpPr>
              <p:spPr bwMode="auto">
                <a:xfrm>
                  <a:off x="1152" y="3122"/>
                  <a:ext cx="47" cy="1"/>
                </a:xfrm>
                <a:prstGeom prst="line">
                  <a:avLst/>
                </a:prstGeom>
                <a:noFill/>
                <a:ln w="55563">
                  <a:solidFill>
                    <a:schemeClr val="tx1"/>
                  </a:solidFill>
                  <a:round/>
                </a:ln>
                <a:effectLst>
                  <a:outerShdw dist="53882" dir="2700000" algn="ctr" rotWithShape="0">
                    <a:schemeClr val="bg2"/>
                  </a:outerShdw>
                </a:effectLst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98355" name="Line 19"/>
                <p:cNvSpPr>
                  <a:spLocks noChangeShapeType="1"/>
                </p:cNvSpPr>
                <p:nvPr/>
              </p:nvSpPr>
              <p:spPr bwMode="auto">
                <a:xfrm>
                  <a:off x="1152" y="3301"/>
                  <a:ext cx="47" cy="1"/>
                </a:xfrm>
                <a:prstGeom prst="line">
                  <a:avLst/>
                </a:prstGeom>
                <a:noFill/>
                <a:ln w="55563">
                  <a:solidFill>
                    <a:schemeClr val="tx1"/>
                  </a:solidFill>
                  <a:round/>
                </a:ln>
                <a:effectLst>
                  <a:outerShdw dist="53882" dir="2700000" algn="ctr" rotWithShape="0">
                    <a:schemeClr val="bg2"/>
                  </a:outerShdw>
                </a:effectLst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98356" name="Line 20"/>
                <p:cNvSpPr>
                  <a:spLocks noChangeShapeType="1"/>
                </p:cNvSpPr>
                <p:nvPr/>
              </p:nvSpPr>
              <p:spPr bwMode="auto">
                <a:xfrm>
                  <a:off x="1152" y="3480"/>
                  <a:ext cx="47" cy="1"/>
                </a:xfrm>
                <a:prstGeom prst="line">
                  <a:avLst/>
                </a:prstGeom>
                <a:noFill/>
                <a:ln w="55563">
                  <a:solidFill>
                    <a:schemeClr val="tx1"/>
                  </a:solidFill>
                  <a:round/>
                </a:ln>
                <a:effectLst>
                  <a:outerShdw dist="53882" dir="2700000" algn="ctr" rotWithShape="0">
                    <a:schemeClr val="bg2"/>
                  </a:outerShdw>
                </a:effectLst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aphicFrame>
            <p:nvGraphicFramePr>
              <p:cNvPr id="398375" name="Object 39">
                <a:hlinkClick r:id="" action="ppaction://ole?verb=0"/>
              </p:cNvPr>
              <p:cNvGraphicFramePr/>
              <p:nvPr/>
            </p:nvGraphicFramePr>
            <p:xfrm>
              <a:off x="2811" y="3755"/>
              <a:ext cx="570" cy="31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98419" name="Equation" r:id="rId3" imgW="469900" imgH="228600" progId="Equation.3">
                      <p:embed/>
                    </p:oleObj>
                  </mc:Choice>
                  <mc:Fallback>
                    <p:oleObj name="Equation" r:id="rId3" imgW="469900" imgH="228600" progId="Equation.3">
                      <p:embed/>
                      <p:pic>
                        <p:nvPicPr>
                          <p:cNvPr id="0" name="Object 39"/>
                          <p:cNvPicPr>
                            <a:picLocks noChangeArrowheads="1"/>
                          </p:cNvPicPr>
                          <p:nvPr/>
                        </p:nvPicPr>
                        <p:blipFill>
                          <a:blip r:embed="rId4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811" y="3755"/>
                            <a:ext cx="570" cy="314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12700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pSp>
            <p:nvGrpSpPr>
              <p:cNvPr id="398409" name="Group 73"/>
              <p:cNvGrpSpPr/>
              <p:nvPr/>
            </p:nvGrpSpPr>
            <p:grpSpPr bwMode="auto">
              <a:xfrm>
                <a:off x="1656" y="3648"/>
                <a:ext cx="3577" cy="252"/>
                <a:chOff x="1656" y="3648"/>
                <a:chExt cx="3577" cy="252"/>
              </a:xfrm>
            </p:grpSpPr>
            <p:sp>
              <p:nvSpPr>
                <p:cNvPr id="398358" name="Line 22"/>
                <p:cNvSpPr>
                  <a:spLocks noChangeShapeType="1"/>
                </p:cNvSpPr>
                <p:nvPr/>
              </p:nvSpPr>
              <p:spPr bwMode="auto">
                <a:xfrm>
                  <a:off x="4665" y="3675"/>
                  <a:ext cx="1" cy="47"/>
                </a:xfrm>
                <a:prstGeom prst="line">
                  <a:avLst/>
                </a:prstGeom>
                <a:noFill/>
                <a:ln w="55563">
                  <a:solidFill>
                    <a:schemeClr val="tx1"/>
                  </a:solidFill>
                  <a:round/>
                </a:ln>
                <a:effectLst>
                  <a:outerShdw dist="53882" dir="2700000" algn="ctr" rotWithShape="0">
                    <a:schemeClr val="bg2"/>
                  </a:outerShdw>
                </a:effectLst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98359" name="Line 23"/>
                <p:cNvSpPr>
                  <a:spLocks noChangeShapeType="1"/>
                </p:cNvSpPr>
                <p:nvPr/>
              </p:nvSpPr>
              <p:spPr bwMode="auto">
                <a:xfrm>
                  <a:off x="4291" y="3675"/>
                  <a:ext cx="1" cy="47"/>
                </a:xfrm>
                <a:prstGeom prst="line">
                  <a:avLst/>
                </a:prstGeom>
                <a:noFill/>
                <a:ln w="55563">
                  <a:solidFill>
                    <a:schemeClr val="tx1"/>
                  </a:solidFill>
                  <a:round/>
                </a:ln>
                <a:effectLst>
                  <a:outerShdw dist="53882" dir="2700000" algn="ctr" rotWithShape="0">
                    <a:schemeClr val="bg2"/>
                  </a:outerShdw>
                </a:effectLst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98360" name="Line 24"/>
                <p:cNvSpPr>
                  <a:spLocks noChangeShapeType="1"/>
                </p:cNvSpPr>
                <p:nvPr/>
              </p:nvSpPr>
              <p:spPr bwMode="auto">
                <a:xfrm>
                  <a:off x="3913" y="3675"/>
                  <a:ext cx="1" cy="47"/>
                </a:xfrm>
                <a:prstGeom prst="line">
                  <a:avLst/>
                </a:prstGeom>
                <a:noFill/>
                <a:ln w="55563">
                  <a:solidFill>
                    <a:schemeClr val="tx1"/>
                  </a:solidFill>
                  <a:round/>
                </a:ln>
                <a:effectLst>
                  <a:outerShdw dist="53882" dir="2700000" algn="ctr" rotWithShape="0">
                    <a:schemeClr val="bg2"/>
                  </a:outerShdw>
                </a:effectLst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98361" name="Line 25"/>
                <p:cNvSpPr>
                  <a:spLocks noChangeShapeType="1"/>
                </p:cNvSpPr>
                <p:nvPr/>
              </p:nvSpPr>
              <p:spPr bwMode="auto">
                <a:xfrm>
                  <a:off x="3539" y="3675"/>
                  <a:ext cx="1" cy="47"/>
                </a:xfrm>
                <a:prstGeom prst="line">
                  <a:avLst/>
                </a:prstGeom>
                <a:noFill/>
                <a:ln w="55563">
                  <a:solidFill>
                    <a:schemeClr val="tx1"/>
                  </a:solidFill>
                  <a:round/>
                </a:ln>
                <a:effectLst>
                  <a:outerShdw dist="53882" dir="2700000" algn="ctr" rotWithShape="0">
                    <a:schemeClr val="bg2"/>
                  </a:outerShdw>
                </a:effectLst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98362" name="Line 26"/>
                <p:cNvSpPr>
                  <a:spLocks noChangeShapeType="1"/>
                </p:cNvSpPr>
                <p:nvPr/>
              </p:nvSpPr>
              <p:spPr bwMode="auto">
                <a:xfrm>
                  <a:off x="3161" y="3675"/>
                  <a:ext cx="0" cy="47"/>
                </a:xfrm>
                <a:prstGeom prst="line">
                  <a:avLst/>
                </a:prstGeom>
                <a:noFill/>
                <a:ln w="55563">
                  <a:solidFill>
                    <a:schemeClr val="tx1"/>
                  </a:solidFill>
                  <a:round/>
                </a:ln>
                <a:effectLst>
                  <a:outerShdw dist="53882" dir="2700000" algn="ctr" rotWithShape="0">
                    <a:schemeClr val="bg2"/>
                  </a:outerShdw>
                </a:effectLst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98363" name="Line 27"/>
                <p:cNvSpPr>
                  <a:spLocks noChangeShapeType="1"/>
                </p:cNvSpPr>
                <p:nvPr/>
              </p:nvSpPr>
              <p:spPr bwMode="auto">
                <a:xfrm>
                  <a:off x="2786" y="3675"/>
                  <a:ext cx="1" cy="47"/>
                </a:xfrm>
                <a:prstGeom prst="line">
                  <a:avLst/>
                </a:prstGeom>
                <a:noFill/>
                <a:ln w="55563">
                  <a:solidFill>
                    <a:schemeClr val="tx1"/>
                  </a:solidFill>
                  <a:round/>
                </a:ln>
                <a:effectLst>
                  <a:outerShdw dist="53882" dir="2700000" algn="ctr" rotWithShape="0">
                    <a:schemeClr val="bg2"/>
                  </a:outerShdw>
                </a:effectLst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98364" name="Line 28"/>
                <p:cNvSpPr>
                  <a:spLocks noChangeShapeType="1"/>
                </p:cNvSpPr>
                <p:nvPr/>
              </p:nvSpPr>
              <p:spPr bwMode="auto">
                <a:xfrm>
                  <a:off x="2408" y="3675"/>
                  <a:ext cx="1" cy="47"/>
                </a:xfrm>
                <a:prstGeom prst="line">
                  <a:avLst/>
                </a:prstGeom>
                <a:noFill/>
                <a:ln w="55563">
                  <a:solidFill>
                    <a:schemeClr val="tx1"/>
                  </a:solidFill>
                  <a:round/>
                </a:ln>
                <a:effectLst>
                  <a:outerShdw dist="53882" dir="2700000" algn="ctr" rotWithShape="0">
                    <a:schemeClr val="bg2"/>
                  </a:outerShdw>
                </a:effectLst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98365" name="Line 29"/>
                <p:cNvSpPr>
                  <a:spLocks noChangeShapeType="1"/>
                </p:cNvSpPr>
                <p:nvPr/>
              </p:nvSpPr>
              <p:spPr bwMode="auto">
                <a:xfrm>
                  <a:off x="2034" y="3675"/>
                  <a:ext cx="1" cy="47"/>
                </a:xfrm>
                <a:prstGeom prst="line">
                  <a:avLst/>
                </a:prstGeom>
                <a:noFill/>
                <a:ln w="55563">
                  <a:solidFill>
                    <a:schemeClr val="tx1"/>
                  </a:solidFill>
                  <a:round/>
                </a:ln>
                <a:effectLst>
                  <a:outerShdw dist="53882" dir="2700000" algn="ctr" rotWithShape="0">
                    <a:schemeClr val="bg2"/>
                  </a:outerShdw>
                </a:effectLst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98366" name="Line 30"/>
                <p:cNvSpPr>
                  <a:spLocks noChangeShapeType="1"/>
                </p:cNvSpPr>
                <p:nvPr/>
              </p:nvSpPr>
              <p:spPr bwMode="auto">
                <a:xfrm>
                  <a:off x="1656" y="3675"/>
                  <a:ext cx="1" cy="47"/>
                </a:xfrm>
                <a:prstGeom prst="line">
                  <a:avLst/>
                </a:prstGeom>
                <a:noFill/>
                <a:ln w="55563">
                  <a:solidFill>
                    <a:schemeClr val="tx1"/>
                  </a:solidFill>
                  <a:round/>
                </a:ln>
                <a:effectLst>
                  <a:outerShdw dist="53882" dir="2700000" algn="ctr" rotWithShape="0">
                    <a:schemeClr val="bg2"/>
                  </a:outerShdw>
                </a:effectLst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grpSp>
              <p:nvGrpSpPr>
                <p:cNvPr id="398382" name="Group 46"/>
                <p:cNvGrpSpPr/>
                <p:nvPr/>
              </p:nvGrpSpPr>
              <p:grpSpPr bwMode="auto">
                <a:xfrm>
                  <a:off x="5090" y="3648"/>
                  <a:ext cx="143" cy="252"/>
                  <a:chOff x="5136" y="3696"/>
                  <a:chExt cx="144" cy="292"/>
                </a:xfrm>
              </p:grpSpPr>
              <p:sp>
                <p:nvSpPr>
                  <p:cNvPr id="398368" name="Rectangle 32"/>
                  <p:cNvSpPr>
                    <a:spLocks noChangeArrowheads="1"/>
                  </p:cNvSpPr>
                  <p:nvPr/>
                </p:nvSpPr>
                <p:spPr bwMode="auto">
                  <a:xfrm>
                    <a:off x="5136" y="3696"/>
                    <a:ext cx="144" cy="292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lIns="0" tIns="0" rIns="0" bIns="0">
                    <a:spAutoFit/>
                  </a:bodyPr>
                  <a:lstStyle/>
                  <a:p>
                    <a:r>
                      <a:rPr lang="en-US" altLang="zh-CN" sz="2600" i="1"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anose="02020603050405020304" pitchFamily="18" charset="0"/>
                      </a:rPr>
                      <a:t>x</a:t>
                    </a:r>
                    <a:endParaRPr lang="en-US" altLang="zh-CN" sz="2600" i="1"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398381" name="Line 45"/>
                  <p:cNvSpPr>
                    <a:spLocks noChangeShapeType="1"/>
                  </p:cNvSpPr>
                  <p:nvPr/>
                </p:nvSpPr>
                <p:spPr bwMode="auto">
                  <a:xfrm>
                    <a:off x="5136" y="3696"/>
                    <a:ext cx="144" cy="0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</p:grpSp>
        </p:grpSp>
      </p:grpSp>
    </p:spTree>
    <p:custDataLst>
      <p:tags r:id="rId5"/>
    </p:custData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984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984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30158" name="Object 46"/>
          <p:cNvGraphicFramePr>
            <a:graphicFrameLocks noChangeAspect="1"/>
          </p:cNvGraphicFramePr>
          <p:nvPr/>
        </p:nvGraphicFramePr>
        <p:xfrm>
          <a:off x="4114800" y="1600200"/>
          <a:ext cx="6553200" cy="525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0167" name="位图图像" r:id="rId1" imgW="4800600" imgH="5343525" progId="Paint.Picture">
                  <p:embed/>
                </p:oleObj>
              </mc:Choice>
              <mc:Fallback>
                <p:oleObj name="位图图像" r:id="rId1" imgW="4800600" imgH="5343525" progId="Paint.Picture">
                  <p:embed/>
                  <p:pic>
                    <p:nvPicPr>
                      <p:cNvPr id="0" name="Object 4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14800" y="1600200"/>
                        <a:ext cx="6553200" cy="5257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30159" name="Text Box 47"/>
          <p:cNvSpPr txBox="1">
            <a:spLocks noChangeArrowheads="1"/>
          </p:cNvSpPr>
          <p:nvPr/>
        </p:nvSpPr>
        <p:spPr bwMode="auto">
          <a:xfrm>
            <a:off x="1752600" y="1676400"/>
            <a:ext cx="2209800" cy="6451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>
              <a:spcBef>
                <a:spcPct val="50000"/>
              </a:spcBef>
            </a:pPr>
            <a:r>
              <a:rPr lang="en-US" altLang="zh-CN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</a:t>
            </a:r>
            <a:r>
              <a:rPr lang="en-US" altLang="zh-CN" i="1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sym typeface="Symbol" panose="05050102010706020507" pitchFamily="18" charset="2"/>
              </a:rPr>
              <a:t>x </a:t>
            </a:r>
            <a:r>
              <a:rPr lang="zh-CN" altLang="en-US">
                <a:effectLst>
                  <a:outerShdw blurRad="38100" dist="38100" dir="2700000" algn="tl">
                    <a:srgbClr val="000000"/>
                  </a:outerShdw>
                </a:effectLst>
              </a:rPr>
              <a:t>的分布趋于正态分布的过程</a:t>
            </a:r>
            <a:endParaRPr lang="zh-CN" altLang="en-US"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730162" name="AutoShape 50"/>
          <p:cNvSpPr>
            <a:spLocks noChangeArrowheads="1"/>
          </p:cNvSpPr>
          <p:nvPr/>
        </p:nvSpPr>
        <p:spPr bwMode="auto">
          <a:xfrm>
            <a:off x="2057400" y="3124200"/>
            <a:ext cx="1905000" cy="3048000"/>
          </a:xfrm>
          <a:prstGeom prst="downArrow">
            <a:avLst>
              <a:gd name="adj1" fmla="val 50000"/>
              <a:gd name="adj2" fmla="val 40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/>
          <a:p>
            <a:endParaRPr lang="zh-CN" altLang="en-US"/>
          </a:p>
        </p:txBody>
      </p:sp>
    </p:spTree>
    <p:custDataLst>
      <p:tags r:id="rId3"/>
    </p:custData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033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209800" y="2286000"/>
            <a:ext cx="7772400" cy="1143000"/>
          </a:xfrm>
          <a:noFill/>
        </p:spPr>
        <p:txBody>
          <a:bodyPr anchor="ctr" anchorCtr="0"/>
          <a:lstStyle/>
          <a:p>
            <a:r>
              <a:rPr lang="en-US" altLang="zh-CN" sz="4400" i="1">
                <a:latin typeface="Arial" panose="020B0604020202020204" pitchFamily="34" charset="0"/>
                <a:sym typeface="Symbol" panose="05050102010706020507" pitchFamily="18" charset="2"/>
              </a:rPr>
              <a:t></a:t>
            </a:r>
            <a:r>
              <a:rPr lang="en-US" altLang="zh-CN" sz="4400" baseline="30000">
                <a:latin typeface="Arial" panose="020B0604020202020204" pitchFamily="34" charset="0"/>
              </a:rPr>
              <a:t>2 </a:t>
            </a:r>
            <a:r>
              <a:rPr lang="zh-CN" altLang="en-US" sz="4400"/>
              <a:t>分布</a:t>
            </a:r>
            <a:endParaRPr lang="zh-CN" altLang="en-US" sz="4400"/>
          </a:p>
        </p:txBody>
      </p:sp>
    </p:spTree>
    <p:custDataLst>
      <p:tags r:id="rId1"/>
    </p:custDataLst>
  </p:cSld>
  <p:clrMapOvr>
    <a:masterClrMapping/>
  </p:clrMapOvr>
  <p:transition>
    <p:zoom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419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2057400" y="1676400"/>
            <a:ext cx="8153400" cy="4495800"/>
          </a:xfrm>
          <a:noFill/>
        </p:spPr>
        <p:txBody>
          <a:bodyPr/>
          <a:lstStyle/>
          <a:p>
            <a:pPr marL="609600" indent="-609600" algn="just">
              <a:spcBef>
                <a:spcPct val="60000"/>
              </a:spcBef>
              <a:buFontTx/>
              <a:buAutoNum type="arabicPeriod"/>
            </a:pPr>
            <a:r>
              <a:rPr lang="zh-CN" altLang="en-US" sz="2600" dirty="0"/>
              <a:t>由阿贝</a:t>
            </a:r>
            <a:r>
              <a:rPr lang="en-US" altLang="zh-CN" sz="2600" dirty="0"/>
              <a:t>(</a:t>
            </a:r>
            <a:r>
              <a:rPr lang="en-US" altLang="zh-CN" sz="2600" dirty="0">
                <a:cs typeface="Times New Roman" panose="02020603050405020304" pitchFamily="18" charset="0"/>
              </a:rPr>
              <a:t>Abbe</a:t>
            </a:r>
            <a:r>
              <a:rPr lang="en-US" altLang="zh-CN" sz="2600" dirty="0"/>
              <a:t>)</a:t>
            </a:r>
            <a:r>
              <a:rPr lang="en-US" altLang="zh-CN" sz="2600" dirty="0">
                <a:cs typeface="Times New Roman" panose="02020603050405020304" pitchFamily="18" charset="0"/>
              </a:rPr>
              <a:t> </a:t>
            </a:r>
            <a:r>
              <a:rPr lang="zh-CN" altLang="en-US" sz="2600" dirty="0"/>
              <a:t>于</a:t>
            </a:r>
            <a:r>
              <a:rPr lang="en-US" altLang="zh-CN" sz="2600" dirty="0">
                <a:cs typeface="Times New Roman" panose="02020603050405020304" pitchFamily="18" charset="0"/>
              </a:rPr>
              <a:t>1863</a:t>
            </a:r>
            <a:r>
              <a:rPr lang="zh-CN" altLang="en-US" sz="2600" dirty="0"/>
              <a:t>年首先给出，后来由海尔墨特</a:t>
            </a:r>
            <a:r>
              <a:rPr lang="en-US" altLang="zh-CN" sz="2600" dirty="0"/>
              <a:t>(</a:t>
            </a:r>
            <a:r>
              <a:rPr lang="en-US" altLang="zh-CN" sz="2600" dirty="0" err="1">
                <a:cs typeface="Times New Roman" panose="02020603050405020304" pitchFamily="18" charset="0"/>
              </a:rPr>
              <a:t>Hermert</a:t>
            </a:r>
            <a:r>
              <a:rPr lang="en-US" altLang="zh-CN" sz="2600" dirty="0"/>
              <a:t>)</a:t>
            </a:r>
            <a:r>
              <a:rPr lang="zh-CN" altLang="en-US" sz="2600" dirty="0"/>
              <a:t>和卡</a:t>
            </a:r>
            <a:r>
              <a:rPr lang="en-US" altLang="zh-CN" sz="2600" dirty="0">
                <a:cs typeface="Times New Roman" panose="02020603050405020304" pitchFamily="18" charset="0"/>
              </a:rPr>
              <a:t>·</a:t>
            </a:r>
            <a:r>
              <a:rPr lang="zh-CN" altLang="en-US" sz="2600" dirty="0"/>
              <a:t>皮尔逊</a:t>
            </a:r>
            <a:r>
              <a:rPr lang="en-US" altLang="zh-CN" sz="2600" dirty="0"/>
              <a:t>(</a:t>
            </a:r>
            <a:r>
              <a:rPr lang="en-US" altLang="zh-CN" sz="2600" dirty="0" err="1">
                <a:cs typeface="Times New Roman" panose="02020603050405020304" pitchFamily="18" charset="0"/>
              </a:rPr>
              <a:t>K·Pearson</a:t>
            </a:r>
            <a:r>
              <a:rPr lang="en-US" altLang="zh-CN" sz="2600" dirty="0"/>
              <a:t>)</a:t>
            </a:r>
            <a:r>
              <a:rPr lang="en-US" altLang="zh-CN" sz="2600" dirty="0">
                <a:cs typeface="Times New Roman" panose="02020603050405020304" pitchFamily="18" charset="0"/>
              </a:rPr>
              <a:t> </a:t>
            </a:r>
            <a:r>
              <a:rPr lang="zh-CN" altLang="en-US" sz="2600" dirty="0"/>
              <a:t>分别于</a:t>
            </a:r>
            <a:r>
              <a:rPr lang="en-US" altLang="zh-CN" sz="2600" dirty="0">
                <a:cs typeface="Times New Roman" panose="02020603050405020304" pitchFamily="18" charset="0"/>
              </a:rPr>
              <a:t>1875</a:t>
            </a:r>
            <a:r>
              <a:rPr lang="zh-CN" altLang="en-US" sz="2600" dirty="0"/>
              <a:t>年和</a:t>
            </a:r>
            <a:r>
              <a:rPr lang="en-US" altLang="zh-CN" sz="2600" dirty="0">
                <a:cs typeface="Times New Roman" panose="02020603050405020304" pitchFamily="18" charset="0"/>
              </a:rPr>
              <a:t>1900</a:t>
            </a:r>
            <a:r>
              <a:rPr lang="zh-CN" altLang="en-US" sz="2600" dirty="0"/>
              <a:t>年推导出来</a:t>
            </a:r>
            <a:endParaRPr lang="zh-CN" altLang="en-US" sz="2600" dirty="0"/>
          </a:p>
          <a:p>
            <a:pPr marL="609600" indent="-609600" algn="just">
              <a:spcBef>
                <a:spcPct val="60000"/>
              </a:spcBef>
              <a:buFontTx/>
              <a:buAutoNum type="arabicPeriod"/>
            </a:pPr>
            <a:r>
              <a:rPr lang="zh-CN" altLang="en-US" sz="2600" dirty="0"/>
              <a:t>设                       ，则</a:t>
            </a:r>
            <a:endParaRPr lang="zh-CN" altLang="en-US" sz="2600" dirty="0"/>
          </a:p>
          <a:p>
            <a:pPr marL="609600" indent="-609600" algn="just">
              <a:spcBef>
                <a:spcPct val="60000"/>
              </a:spcBef>
              <a:buFontTx/>
              <a:buAutoNum type="arabicPeriod"/>
            </a:pPr>
            <a:r>
              <a:rPr lang="zh-CN" altLang="en-US" sz="2600" dirty="0"/>
              <a:t>令             ，则 </a:t>
            </a:r>
            <a:r>
              <a:rPr lang="en-US" altLang="zh-CN" sz="2600" i="1" dirty="0">
                <a:latin typeface="Times New Roman" panose="02020603050405020304" pitchFamily="18" charset="0"/>
              </a:rPr>
              <a:t>Y </a:t>
            </a:r>
            <a:r>
              <a:rPr lang="zh-CN" altLang="en-US" sz="2600" dirty="0"/>
              <a:t>服从自由度为</a:t>
            </a:r>
            <a:r>
              <a:rPr lang="en-US" altLang="zh-CN" sz="2600" dirty="0">
                <a:cs typeface="Times New Roman" panose="02020603050405020304" pitchFamily="18" charset="0"/>
              </a:rPr>
              <a:t>1</a:t>
            </a:r>
            <a:r>
              <a:rPr lang="zh-CN" altLang="en-US" sz="2600" dirty="0"/>
              <a:t>的</a:t>
            </a:r>
            <a:r>
              <a:rPr lang="zh-CN" altLang="en-US" sz="2600" i="1" dirty="0">
                <a:sym typeface="Symbol" panose="05050102010706020507" pitchFamily="18" charset="2"/>
              </a:rPr>
              <a:t></a:t>
            </a:r>
            <a:r>
              <a:rPr lang="en-US" altLang="zh-CN" sz="2600" baseline="30000" dirty="0"/>
              <a:t>2</a:t>
            </a:r>
            <a:r>
              <a:rPr lang="zh-CN" altLang="en-US" sz="2600" dirty="0"/>
              <a:t>分布，即</a:t>
            </a:r>
            <a:endParaRPr lang="zh-CN" altLang="en-US" sz="2600" dirty="0"/>
          </a:p>
          <a:p>
            <a:pPr marL="609600" indent="-609600" algn="just">
              <a:spcBef>
                <a:spcPct val="60000"/>
              </a:spcBef>
            </a:pPr>
            <a:r>
              <a:rPr lang="zh-CN" altLang="en-US" sz="2600" dirty="0"/>
              <a:t>            </a:t>
            </a:r>
            <a:endParaRPr lang="zh-CN" altLang="en-US" sz="2600" dirty="0"/>
          </a:p>
          <a:p>
            <a:pPr marL="609600" indent="-609600" algn="just">
              <a:spcBef>
                <a:spcPct val="60000"/>
              </a:spcBef>
              <a:buFontTx/>
              <a:buAutoNum type="arabicPeriod" startAt="4"/>
            </a:pPr>
            <a:r>
              <a:rPr lang="zh-CN" altLang="en-US" sz="2600" dirty="0"/>
              <a:t>当总体                   ，从中抽取容量为</a:t>
            </a:r>
            <a:r>
              <a:rPr lang="en-US" altLang="zh-CN" sz="2600" i="1" dirty="0"/>
              <a:t>n</a:t>
            </a:r>
            <a:r>
              <a:rPr lang="zh-CN" altLang="en-US" sz="2600" dirty="0"/>
              <a:t>的样本，则</a:t>
            </a:r>
            <a:endParaRPr lang="zh-CN" altLang="en-US" sz="2600" dirty="0">
              <a:cs typeface="Times New Roman" panose="02020603050405020304" pitchFamily="18" charset="0"/>
            </a:endParaRPr>
          </a:p>
          <a:p>
            <a:pPr marL="609600" indent="-609600" algn="just">
              <a:spcBef>
                <a:spcPct val="60000"/>
              </a:spcBef>
            </a:pPr>
            <a:endParaRPr lang="en-US" altLang="zh-CN" sz="2600" dirty="0"/>
          </a:p>
        </p:txBody>
      </p:sp>
      <p:sp>
        <p:nvSpPr>
          <p:cNvPr id="904195" name="Rectangle 3"/>
          <p:cNvSpPr>
            <a:spLocks noGrp="1" noChangeArrowheads="1"/>
          </p:cNvSpPr>
          <p:nvPr>
            <p:ph type="title"/>
          </p:nvPr>
        </p:nvSpPr>
        <p:spPr>
          <a:xfrm>
            <a:off x="3352800" y="228600"/>
            <a:ext cx="6781800" cy="587376"/>
          </a:xfrm>
          <a:noFill/>
        </p:spPr>
        <p:txBody>
          <a:bodyPr>
            <a:normAutofit fontScale="90000"/>
          </a:bodyPr>
          <a:lstStyle/>
          <a:p>
            <a:r>
              <a:rPr lang="en-US" altLang="zh-CN" i="1" dirty="0">
                <a:latin typeface="Arial" panose="020B0604020202020204" pitchFamily="34" charset="0"/>
                <a:sym typeface="Symbol" panose="05050102010706020507" pitchFamily="18" charset="2"/>
              </a:rPr>
              <a:t></a:t>
            </a:r>
            <a:r>
              <a:rPr lang="en-US" altLang="zh-CN" baseline="30000" dirty="0">
                <a:latin typeface="Arial" panose="020B0604020202020204" pitchFamily="34" charset="0"/>
              </a:rPr>
              <a:t>2</a:t>
            </a:r>
            <a:r>
              <a:rPr lang="zh-CN" altLang="en-US" dirty="0">
                <a:latin typeface="Arial" panose="020B0604020202020204" pitchFamily="34" charset="0"/>
              </a:rPr>
              <a:t>分布</a:t>
            </a:r>
            <a:r>
              <a:rPr lang="en-US" altLang="zh-CN" sz="3600" dirty="0">
                <a:solidFill>
                  <a:schemeClr val="hlink"/>
                </a:solidFill>
                <a:latin typeface="Arial" panose="020B0604020202020204" pitchFamily="34" charset="0"/>
              </a:rPr>
              <a:t>(</a:t>
            </a:r>
            <a:r>
              <a:rPr lang="en-US" altLang="zh-CN" sz="3600" i="1" dirty="0">
                <a:solidFill>
                  <a:schemeClr val="hlink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</a:t>
            </a:r>
            <a:r>
              <a:rPr lang="en-US" altLang="zh-CN" sz="3600" baseline="30000" dirty="0">
                <a:solidFill>
                  <a:schemeClr val="hlink"/>
                </a:solidFill>
                <a:latin typeface="Arial" panose="020B0604020202020204" pitchFamily="34" charset="0"/>
              </a:rPr>
              <a:t>2</a:t>
            </a:r>
            <a:r>
              <a:rPr lang="en-US" altLang="zh-CN" sz="3600" dirty="0">
                <a:solidFill>
                  <a:schemeClr val="hlink"/>
                </a:solidFill>
                <a:latin typeface="Arial" panose="020B0604020202020204" pitchFamily="34" charset="0"/>
              </a:rPr>
              <a:t> </a:t>
            </a:r>
            <a:r>
              <a:rPr lang="en-US" altLang="zh-CN" sz="3600" dirty="0">
                <a:solidFill>
                  <a:schemeClr val="hlink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distribution</a:t>
            </a:r>
            <a:r>
              <a:rPr lang="en-US" altLang="zh-CN" sz="3600" dirty="0">
                <a:solidFill>
                  <a:schemeClr val="hlink"/>
                </a:solidFill>
                <a:latin typeface="Arial" panose="020B0604020202020204" pitchFamily="34" charset="0"/>
              </a:rPr>
              <a:t>)</a:t>
            </a:r>
            <a:endParaRPr lang="en-US" altLang="zh-CN" sz="3600" dirty="0">
              <a:solidFill>
                <a:schemeClr val="hlink"/>
              </a:solidFill>
              <a:latin typeface="Arial" panose="020B06040202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04197" name="Object 5"/>
              <p:cNvSpPr txBox="1"/>
              <p:nvPr/>
            </p:nvSpPr>
            <p:spPr bwMode="auto">
              <a:xfrm>
                <a:off x="6024563" y="2971800"/>
                <a:ext cx="2090737" cy="738188"/>
              </a:xfrm>
              <a:prstGeom prst="rect">
                <a:avLst/>
              </a:prstGeom>
              <a:noFill/>
              <a:effectLst>
                <a:outerShdw dist="17961" dir="2700000" algn="ctr" rotWithShape="0">
                  <a:schemeClr val="bg2"/>
                </a:outerShdw>
              </a:effectLst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𝜇</m:t>
                          </m:r>
                        </m:num>
                        <m:den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𝜎</m:t>
                          </m:r>
                        </m:den>
                      </m:f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~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904197" name="Object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024563" y="2971800"/>
                <a:ext cx="2090737" cy="738188"/>
              </a:xfrm>
              <a:prstGeom prst="rect">
                <a:avLst/>
              </a:prstGeom>
              <a:blipFill rotWithShape="1">
                <a:blip r:embed="rId1"/>
                <a:stretch>
                  <a:fillRect l="-15" r="-607" b="-1677"/>
                </a:stretch>
              </a:blipFill>
              <a:effectLst>
                <a:outerShdw dist="17961" dir="2700000" algn="ctr" rotWithShape="0">
                  <a:schemeClr val="bg2"/>
                </a:outerShdw>
              </a:effec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04198" name="Object 6"/>
              <p:cNvSpPr txBox="1"/>
              <p:nvPr/>
            </p:nvSpPr>
            <p:spPr bwMode="auto">
              <a:xfrm>
                <a:off x="3243264" y="3733801"/>
                <a:ext cx="981075" cy="434975"/>
              </a:xfrm>
              <a:prstGeom prst="rect">
                <a:avLst/>
              </a:prstGeom>
              <a:noFill/>
              <a:effectLst>
                <a:outerShdw dist="17961" dir="2700000" algn="ctr" rotWithShape="0">
                  <a:schemeClr val="bg2"/>
                </a:outerShdw>
              </a:effectLst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904198" name="Object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243264" y="3733801"/>
                <a:ext cx="981075" cy="434975"/>
              </a:xfrm>
              <a:prstGeom prst="rect">
                <a:avLst/>
              </a:prstGeom>
              <a:blipFill rotWithShape="1">
                <a:blip r:embed="rId2"/>
                <a:stretch>
                  <a:fillRect l="-33" r="-1262" b="-2919"/>
                </a:stretch>
              </a:blipFill>
              <a:effectLst>
                <a:outerShdw dist="17961" dir="2700000" algn="ctr" rotWithShape="0">
                  <a:schemeClr val="bg2"/>
                </a:outerShdw>
              </a:effec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04200" name="Object 8"/>
              <p:cNvSpPr txBox="1"/>
              <p:nvPr/>
            </p:nvSpPr>
            <p:spPr bwMode="auto">
              <a:xfrm>
                <a:off x="3733800" y="5029200"/>
                <a:ext cx="1676400" cy="476250"/>
              </a:xfrm>
              <a:prstGeom prst="rect">
                <a:avLst/>
              </a:prstGeom>
              <a:noFill/>
              <a:effectLst>
                <a:outerShdw dist="17961" dir="2700000" algn="ctr" rotWithShape="0">
                  <a:schemeClr val="bg2"/>
                </a:outerShdw>
              </a:effectLst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~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𝜇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904200" name="Object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733800" y="5029200"/>
                <a:ext cx="1676400" cy="476250"/>
              </a:xfrm>
              <a:prstGeom prst="rect">
                <a:avLst/>
              </a:prstGeom>
              <a:blipFill rotWithShape="1">
                <a:blip r:embed="rId3"/>
                <a:stretch>
                  <a:fillRect r="-758" b="-2667"/>
                </a:stretch>
              </a:blipFill>
              <a:effectLst>
                <a:outerShdw dist="17961" dir="2700000" algn="ctr" rotWithShape="0">
                  <a:schemeClr val="bg2"/>
                </a:outerShdw>
              </a:effec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04201" name="Object 9"/>
              <p:cNvSpPr txBox="1"/>
              <p:nvPr/>
            </p:nvSpPr>
            <p:spPr bwMode="auto">
              <a:xfrm>
                <a:off x="4360864" y="5410200"/>
                <a:ext cx="2784475" cy="1066800"/>
              </a:xfrm>
              <a:prstGeom prst="rect">
                <a:avLst/>
              </a:prstGeom>
              <a:noFill/>
              <a:effectLst>
                <a:outerShdw dist="17961" dir="2700000" algn="ctr" rotWithShape="0">
                  <a:schemeClr val="bg2"/>
                </a:outerShdw>
              </a:effectLst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acc>
                                <m:accPr>
                                  <m:chr m:val="̄"/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acc>
                              <m:sSup>
                                <m:sSup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num>
                        <m:den>
                          <m:sSup>
                            <m:sSup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~</m:t>
                      </m:r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𝜒</m:t>
                          </m:r>
                        </m:e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904201" name="Object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360864" y="5410200"/>
                <a:ext cx="2784475" cy="1066800"/>
              </a:xfrm>
              <a:prstGeom prst="rect">
                <a:avLst/>
              </a:prstGeom>
              <a:blipFill rotWithShape="1">
                <a:blip r:embed="rId4"/>
                <a:stretch>
                  <a:fillRect l="-11" r="-445" b="-1190"/>
                </a:stretch>
              </a:blipFill>
              <a:effectLst>
                <a:outerShdw dist="17961" dir="2700000" algn="ctr" rotWithShape="0">
                  <a:schemeClr val="bg2"/>
                </a:outerShdw>
              </a:effec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5" name="图片 1024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3124200" y="3124200"/>
            <a:ext cx="1752600" cy="457200"/>
          </a:xfrm>
          <a:prstGeom prst="rect">
            <a:avLst/>
          </a:prstGeom>
          <a:noFill/>
          <a:ln w="9525">
            <a:noFill/>
          </a:ln>
          <a:effectLst>
            <a:outerShdw dist="17961" dir="2699999" algn="ctr" rotWithShape="0">
              <a:schemeClr val="tx1">
                <a:alpha val="100000"/>
              </a:schemeClr>
            </a:outerShdw>
          </a:effectLst>
        </p:spPr>
      </p:pic>
      <p:pic>
        <p:nvPicPr>
          <p:cNvPr id="1028" name="图片 1027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4343400" y="4343400"/>
            <a:ext cx="1600200" cy="558800"/>
          </a:xfrm>
          <a:prstGeom prst="rect">
            <a:avLst/>
          </a:prstGeom>
          <a:noFill/>
          <a:ln w="9525">
            <a:noFill/>
          </a:ln>
          <a:effectLst>
            <a:outerShdw dist="17961" dir="2699999" algn="ctr" rotWithShape="0">
              <a:schemeClr val="tx1">
                <a:alpha val="100000"/>
              </a:schemeClr>
            </a:outerShdw>
          </a:effectLst>
        </p:spPr>
      </p:pic>
    </p:spTree>
    <p:custDataLst>
      <p:tags r:id="rId7"/>
    </p:custDataLst>
  </p:cSld>
  <p:clrMapOvr>
    <a:masterClrMapping/>
  </p:clrMapOvr>
  <p:transition>
    <p:wipe dir="r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6242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2057400" y="1752600"/>
            <a:ext cx="8153400" cy="4419600"/>
          </a:xfrm>
          <a:noFill/>
        </p:spPr>
        <p:txBody>
          <a:bodyPr/>
          <a:lstStyle/>
          <a:p>
            <a:pPr marL="609600" indent="-609600" algn="just">
              <a:lnSpc>
                <a:spcPct val="90000"/>
              </a:lnSpc>
              <a:spcBef>
                <a:spcPct val="60000"/>
              </a:spcBef>
              <a:buFontTx/>
              <a:buAutoNum type="arabicPeriod"/>
            </a:pPr>
            <a:r>
              <a:rPr lang="zh-CN" altLang="en-US" sz="2800"/>
              <a:t>分布的变量值始终为正 </a:t>
            </a:r>
            <a:endParaRPr lang="zh-CN" altLang="en-US" sz="2800"/>
          </a:p>
          <a:p>
            <a:pPr marL="609600" indent="-609600" algn="just">
              <a:lnSpc>
                <a:spcPct val="90000"/>
              </a:lnSpc>
              <a:spcBef>
                <a:spcPct val="60000"/>
              </a:spcBef>
              <a:buFontTx/>
              <a:buAutoNum type="arabicPeriod"/>
            </a:pPr>
            <a:r>
              <a:rPr lang="zh-CN" altLang="en-US" sz="2800"/>
              <a:t>分布的形状取决于其自由度</a:t>
            </a:r>
            <a:r>
              <a:rPr lang="en-US" altLang="zh-CN" sz="2800" i="1"/>
              <a:t>n</a:t>
            </a:r>
            <a:r>
              <a:rPr lang="zh-CN" altLang="en-US" sz="2800"/>
              <a:t>的大小，通常为不对称的正偏分布，但随着自由度的增大逐渐趋于对称 </a:t>
            </a:r>
            <a:endParaRPr lang="zh-CN" altLang="en-US" sz="2800"/>
          </a:p>
          <a:p>
            <a:pPr marL="609600" indent="-609600" algn="just">
              <a:lnSpc>
                <a:spcPct val="90000"/>
              </a:lnSpc>
              <a:spcBef>
                <a:spcPct val="60000"/>
              </a:spcBef>
              <a:buFontTx/>
              <a:buAutoNum type="arabicPeriod"/>
            </a:pPr>
            <a:r>
              <a:rPr lang="zh-CN" altLang="en-US" sz="2800"/>
              <a:t>期望为：</a:t>
            </a:r>
            <a:r>
              <a:rPr lang="en-US" altLang="zh-CN" sz="2800" i="1"/>
              <a:t>E</a:t>
            </a:r>
            <a:r>
              <a:rPr lang="en-US" altLang="zh-CN" sz="2800"/>
              <a:t>(</a:t>
            </a:r>
            <a:r>
              <a:rPr lang="en-US" altLang="zh-CN" sz="2800" i="1">
                <a:sym typeface="Symbol" panose="05050102010706020507" pitchFamily="18" charset="2"/>
              </a:rPr>
              <a:t></a:t>
            </a:r>
            <a:r>
              <a:rPr lang="en-US" altLang="zh-CN" sz="2800" baseline="30000"/>
              <a:t>2</a:t>
            </a:r>
            <a:r>
              <a:rPr lang="en-US" altLang="zh-CN" sz="2800"/>
              <a:t>)=</a:t>
            </a:r>
            <a:r>
              <a:rPr lang="en-US" altLang="zh-CN" sz="2800" i="1"/>
              <a:t>n</a:t>
            </a:r>
            <a:r>
              <a:rPr lang="zh-CN" altLang="en-US" sz="2800"/>
              <a:t>，方差为：</a:t>
            </a:r>
            <a:r>
              <a:rPr lang="en-US" altLang="zh-CN" sz="2800" i="1"/>
              <a:t>D</a:t>
            </a:r>
            <a:r>
              <a:rPr lang="en-US" altLang="zh-CN" sz="2800"/>
              <a:t>(</a:t>
            </a:r>
            <a:r>
              <a:rPr lang="en-US" altLang="zh-CN" sz="2800" i="1">
                <a:sym typeface="Symbol" panose="05050102010706020507" pitchFamily="18" charset="2"/>
              </a:rPr>
              <a:t></a:t>
            </a:r>
            <a:r>
              <a:rPr lang="en-US" altLang="zh-CN" sz="2800" baseline="30000"/>
              <a:t>2</a:t>
            </a:r>
            <a:r>
              <a:rPr lang="en-US" altLang="zh-CN" sz="2800"/>
              <a:t>)=2</a:t>
            </a:r>
            <a:r>
              <a:rPr lang="en-US" altLang="zh-CN" sz="2800" i="1"/>
              <a:t>n</a:t>
            </a:r>
            <a:r>
              <a:rPr lang="en-US" altLang="zh-CN" sz="2800"/>
              <a:t>(</a:t>
            </a:r>
            <a:r>
              <a:rPr lang="en-US" altLang="zh-CN" sz="2800" i="1"/>
              <a:t>n</a:t>
            </a:r>
            <a:r>
              <a:rPr lang="zh-CN" altLang="en-US" sz="2800"/>
              <a:t>为自由度</a:t>
            </a:r>
            <a:r>
              <a:rPr lang="en-US" altLang="zh-CN" sz="2800"/>
              <a:t>) </a:t>
            </a:r>
            <a:endParaRPr lang="en-US" altLang="zh-CN" sz="2800"/>
          </a:p>
          <a:p>
            <a:pPr marL="609600" indent="-609600" algn="just">
              <a:lnSpc>
                <a:spcPct val="90000"/>
              </a:lnSpc>
              <a:spcBef>
                <a:spcPct val="60000"/>
              </a:spcBef>
              <a:buFontTx/>
              <a:buAutoNum type="arabicPeriod"/>
            </a:pPr>
            <a:r>
              <a:rPr lang="zh-CN" altLang="en-US" sz="2800"/>
              <a:t>可加性：若</a:t>
            </a:r>
            <a:r>
              <a:rPr lang="en-US" altLang="zh-CN" sz="2800" i="1"/>
              <a:t>U</a:t>
            </a:r>
            <a:r>
              <a:rPr lang="zh-CN" altLang="en-US" sz="2800"/>
              <a:t>和</a:t>
            </a:r>
            <a:r>
              <a:rPr lang="en-US" altLang="zh-CN" sz="2800" i="1"/>
              <a:t>V</a:t>
            </a:r>
            <a:r>
              <a:rPr lang="zh-CN" altLang="en-US" sz="2800"/>
              <a:t>为两个独立的</a:t>
            </a:r>
            <a:r>
              <a:rPr lang="zh-CN" altLang="en-US" sz="2800" i="1">
                <a:sym typeface="Symbol" panose="05050102010706020507" pitchFamily="18" charset="2"/>
              </a:rPr>
              <a:t></a:t>
            </a:r>
            <a:r>
              <a:rPr lang="en-US" altLang="zh-CN" sz="2800" baseline="30000"/>
              <a:t>2</a:t>
            </a:r>
            <a:r>
              <a:rPr lang="zh-CN" altLang="en-US" sz="2800"/>
              <a:t>分布随机变量，</a:t>
            </a:r>
            <a:r>
              <a:rPr lang="en-US" altLang="zh-CN" sz="2800" i="1"/>
              <a:t>U</a:t>
            </a:r>
            <a:r>
              <a:rPr lang="en-US" altLang="zh-CN" sz="2800"/>
              <a:t>~</a:t>
            </a:r>
            <a:r>
              <a:rPr lang="en-US" altLang="zh-CN" sz="2800" i="1">
                <a:sym typeface="Symbol" panose="05050102010706020507" pitchFamily="18" charset="2"/>
              </a:rPr>
              <a:t></a:t>
            </a:r>
            <a:r>
              <a:rPr lang="en-US" altLang="zh-CN" sz="2800" baseline="30000"/>
              <a:t>2</a:t>
            </a:r>
            <a:r>
              <a:rPr lang="en-US" altLang="zh-CN" sz="2800"/>
              <a:t>(n</a:t>
            </a:r>
            <a:r>
              <a:rPr lang="en-US" altLang="zh-CN" sz="2800" baseline="-25000"/>
              <a:t>1</a:t>
            </a:r>
            <a:r>
              <a:rPr lang="en-US" altLang="zh-CN" sz="2800"/>
              <a:t>)</a:t>
            </a:r>
            <a:r>
              <a:rPr lang="zh-CN" altLang="en-US" sz="2800"/>
              <a:t>，</a:t>
            </a:r>
            <a:r>
              <a:rPr lang="en-US" altLang="zh-CN" sz="2800" i="1"/>
              <a:t>V</a:t>
            </a:r>
            <a:r>
              <a:rPr lang="en-US" altLang="zh-CN" sz="2800"/>
              <a:t>~</a:t>
            </a:r>
            <a:r>
              <a:rPr lang="en-US" altLang="zh-CN" sz="2800" i="1">
                <a:sym typeface="Symbol" panose="05050102010706020507" pitchFamily="18" charset="2"/>
              </a:rPr>
              <a:t></a:t>
            </a:r>
            <a:r>
              <a:rPr lang="en-US" altLang="zh-CN" sz="2800" baseline="30000"/>
              <a:t>2</a:t>
            </a:r>
            <a:r>
              <a:rPr lang="en-US" altLang="zh-CN" sz="2800"/>
              <a:t>(</a:t>
            </a:r>
            <a:r>
              <a:rPr lang="en-US" altLang="zh-CN" sz="2800" i="1"/>
              <a:t>n</a:t>
            </a:r>
            <a:r>
              <a:rPr lang="en-US" altLang="zh-CN" sz="2800" baseline="-25000"/>
              <a:t>2</a:t>
            </a:r>
            <a:r>
              <a:rPr lang="en-US" altLang="zh-CN" sz="2800"/>
              <a:t>),</a:t>
            </a:r>
            <a:r>
              <a:rPr lang="zh-CN" altLang="en-US" sz="2800"/>
              <a:t>则</a:t>
            </a:r>
            <a:r>
              <a:rPr lang="en-US" altLang="zh-CN" sz="2800" i="1"/>
              <a:t>U</a:t>
            </a:r>
            <a:r>
              <a:rPr lang="en-US" altLang="zh-CN" sz="2800"/>
              <a:t>+</a:t>
            </a:r>
            <a:r>
              <a:rPr lang="en-US" altLang="zh-CN" sz="2800" i="1"/>
              <a:t>V</a:t>
            </a:r>
            <a:r>
              <a:rPr lang="zh-CN" altLang="en-US" sz="2800"/>
              <a:t>这一随机变量服从自由度为</a:t>
            </a:r>
            <a:r>
              <a:rPr lang="en-US" altLang="zh-CN" sz="2800" i="1"/>
              <a:t>n</a:t>
            </a:r>
            <a:r>
              <a:rPr lang="en-US" altLang="zh-CN" sz="2800" baseline="-25000"/>
              <a:t>1</a:t>
            </a:r>
            <a:r>
              <a:rPr lang="en-US" altLang="zh-CN" sz="2800"/>
              <a:t>+</a:t>
            </a:r>
            <a:r>
              <a:rPr lang="en-US" altLang="zh-CN" sz="2800" i="1"/>
              <a:t>n</a:t>
            </a:r>
            <a:r>
              <a:rPr lang="en-US" altLang="zh-CN" sz="2800" baseline="-25000"/>
              <a:t>2</a:t>
            </a:r>
            <a:r>
              <a:rPr lang="zh-CN" altLang="en-US" sz="2800"/>
              <a:t>的</a:t>
            </a:r>
            <a:r>
              <a:rPr lang="zh-CN" altLang="en-US" sz="2800" i="1">
                <a:sym typeface="Symbol" panose="05050102010706020507" pitchFamily="18" charset="2"/>
              </a:rPr>
              <a:t></a:t>
            </a:r>
            <a:r>
              <a:rPr lang="en-US" altLang="zh-CN" sz="2800" baseline="30000"/>
              <a:t>2</a:t>
            </a:r>
            <a:r>
              <a:rPr lang="zh-CN" altLang="en-US" sz="2800"/>
              <a:t>分布 </a:t>
            </a:r>
            <a:endParaRPr lang="zh-CN" altLang="en-US" sz="2800"/>
          </a:p>
        </p:txBody>
      </p:sp>
      <p:sp>
        <p:nvSpPr>
          <p:cNvPr id="906243" name="Rectangle 3"/>
          <p:cNvSpPr>
            <a:spLocks noGrp="1" noChangeArrowheads="1"/>
          </p:cNvSpPr>
          <p:nvPr>
            <p:ph type="title"/>
          </p:nvPr>
        </p:nvSpPr>
        <p:spPr>
          <a:xfrm>
            <a:off x="3352800" y="228600"/>
            <a:ext cx="6781800" cy="680120"/>
          </a:xfrm>
          <a:noFill/>
        </p:spPr>
        <p:txBody>
          <a:bodyPr>
            <a:normAutofit/>
          </a:bodyPr>
          <a:lstStyle/>
          <a:p>
            <a:r>
              <a:rPr lang="en-US" altLang="zh-CN" i="1" dirty="0">
                <a:latin typeface="Arial" panose="020B0604020202020204" pitchFamily="34" charset="0"/>
                <a:sym typeface="Symbol" panose="05050102010706020507" pitchFamily="18" charset="2"/>
              </a:rPr>
              <a:t></a:t>
            </a:r>
            <a:r>
              <a:rPr lang="en-US" altLang="zh-CN" baseline="30000" dirty="0">
                <a:latin typeface="Arial" panose="020B0604020202020204" pitchFamily="34" charset="0"/>
              </a:rPr>
              <a:t>2</a:t>
            </a:r>
            <a:r>
              <a:rPr lang="zh-CN" altLang="en-US" dirty="0">
                <a:latin typeface="Arial" panose="020B0604020202020204" pitchFamily="34" charset="0"/>
              </a:rPr>
              <a:t>分布</a:t>
            </a:r>
            <a:r>
              <a:rPr lang="en-US" altLang="zh-CN" sz="3600" dirty="0">
                <a:solidFill>
                  <a:schemeClr val="hlink"/>
                </a:solidFill>
                <a:latin typeface="Arial" panose="020B0604020202020204" pitchFamily="34" charset="0"/>
              </a:rPr>
              <a:t>(</a:t>
            </a:r>
            <a:r>
              <a:rPr lang="zh-CN" altLang="en-US" sz="3600" dirty="0">
                <a:solidFill>
                  <a:schemeClr val="hlink"/>
                </a:solidFill>
                <a:latin typeface="Times New Roman" panose="02020603050405020304" pitchFamily="18" charset="0"/>
              </a:rPr>
              <a:t>性质和特点</a:t>
            </a:r>
            <a:r>
              <a:rPr lang="en-US" altLang="zh-CN" sz="3600" dirty="0">
                <a:solidFill>
                  <a:schemeClr val="hlink"/>
                </a:solidFill>
                <a:latin typeface="Arial" panose="020B0604020202020204" pitchFamily="34" charset="0"/>
              </a:rPr>
              <a:t>)</a:t>
            </a:r>
            <a:endParaRPr lang="en-US" altLang="zh-CN" sz="3600" dirty="0">
              <a:solidFill>
                <a:schemeClr val="hlink"/>
              </a:solidFill>
              <a:latin typeface="Arial" panose="020B0604020202020204" pitchFamily="34" charset="0"/>
            </a:endParaRPr>
          </a:p>
        </p:txBody>
      </p:sp>
    </p:spTree>
    <p:custDataLst>
      <p:tags r:id="rId1"/>
    </p:custData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62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062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062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folHlink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62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062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062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folHlink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62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062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062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folHlink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624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0624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0624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folHlink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06242" grpId="0" autoUpdateAnimBg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97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209800" y="2286000"/>
            <a:ext cx="7772400" cy="1143000"/>
          </a:xfrm>
          <a:noFill/>
        </p:spPr>
        <p:txBody>
          <a:bodyPr anchor="ctr" anchorCtr="0"/>
          <a:lstStyle/>
          <a:p>
            <a:r>
              <a:rPr lang="en-US" altLang="zh-CN" sz="4400" i="1"/>
              <a:t>t</a:t>
            </a:r>
            <a:r>
              <a:rPr lang="en-US" altLang="zh-CN" sz="4400"/>
              <a:t> </a:t>
            </a:r>
            <a:r>
              <a:rPr lang="zh-CN" altLang="en-US" sz="4400"/>
              <a:t>分布</a:t>
            </a:r>
            <a:endParaRPr lang="zh-CN" altLang="en-US" sz="4400"/>
          </a:p>
        </p:txBody>
      </p:sp>
    </p:spTree>
    <p:custDataLst>
      <p:tags r:id="rId1"/>
    </p:custDataLst>
  </p:cSld>
  <p:clrMapOvr>
    <a:masterClrMapping/>
  </p:clrMapOvr>
  <p:transition>
    <p:zoom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4435" name="Rectangle 3"/>
          <p:cNvSpPr>
            <a:spLocks noGrp="1" noChangeArrowheads="1"/>
          </p:cNvSpPr>
          <p:nvPr>
            <p:ph type="title"/>
          </p:nvPr>
        </p:nvSpPr>
        <p:spPr>
          <a:xfrm>
            <a:off x="3886200" y="228600"/>
            <a:ext cx="6172200" cy="680120"/>
          </a:xfrm>
          <a:noFill/>
        </p:spPr>
        <p:txBody>
          <a:bodyPr/>
          <a:lstStyle/>
          <a:p>
            <a:r>
              <a:rPr lang="en-US" altLang="zh-CN" i="1" dirty="0">
                <a:latin typeface="Times New Roman" panose="02020603050405020304" pitchFamily="18" charset="0"/>
              </a:rPr>
              <a:t>t </a:t>
            </a:r>
            <a:r>
              <a:rPr lang="zh-CN" altLang="en-US" dirty="0"/>
              <a:t>分布</a:t>
            </a:r>
            <a:endParaRPr lang="zh-CN" altLang="en-US" dirty="0"/>
          </a:p>
        </p:txBody>
      </p:sp>
      <p:sp>
        <p:nvSpPr>
          <p:cNvPr id="914436" name="Text Box 4"/>
          <p:cNvSpPr txBox="1">
            <a:spLocks noChangeArrowheads="1"/>
          </p:cNvSpPr>
          <p:nvPr/>
        </p:nvSpPr>
        <p:spPr bwMode="auto">
          <a:xfrm>
            <a:off x="1919289" y="1676401"/>
            <a:ext cx="8353425" cy="40318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7200" indent="-4572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914400" indent="-4572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371600" indent="-4572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828800" indent="-4572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286000" indent="-4572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743200" indent="-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200400" indent="-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657600" indent="-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4114800" indent="-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>
              <a:spcBef>
                <a:spcPct val="50000"/>
              </a:spcBef>
              <a:buFontTx/>
              <a:buAutoNum type="arabicPeriod"/>
            </a:pPr>
            <a:r>
              <a:rPr lang="zh-CN" altLang="en-US" sz="3200" dirty="0">
                <a:latin typeface="Arial" panose="020B0604020202020204" pitchFamily="34" charset="0"/>
              </a:rPr>
              <a:t>高塞特</a:t>
            </a:r>
            <a:r>
              <a:rPr lang="en-US" altLang="zh-CN" sz="3200" dirty="0">
                <a:latin typeface="Arial" panose="020B0604020202020204" pitchFamily="34" charset="0"/>
              </a:rPr>
              <a:t>(</a:t>
            </a:r>
            <a:r>
              <a:rPr lang="en-US" altLang="zh-CN" sz="3200" dirty="0" err="1">
                <a:latin typeface="Arial" panose="020B0604020202020204" pitchFamily="34" charset="0"/>
              </a:rPr>
              <a:t>W.S.Gosset</a:t>
            </a:r>
            <a:r>
              <a:rPr lang="en-US" altLang="zh-CN" sz="3200" dirty="0">
                <a:latin typeface="Arial" panose="020B0604020202020204" pitchFamily="34" charset="0"/>
              </a:rPr>
              <a:t>)</a:t>
            </a:r>
            <a:r>
              <a:rPr lang="zh-CN" altLang="en-US" sz="3200" dirty="0">
                <a:latin typeface="Arial" panose="020B0604020202020204" pitchFamily="34" charset="0"/>
              </a:rPr>
              <a:t>于</a:t>
            </a:r>
            <a:r>
              <a:rPr lang="en-US" altLang="zh-CN" sz="3200" dirty="0">
                <a:latin typeface="Arial" panose="020B0604020202020204" pitchFamily="34" charset="0"/>
              </a:rPr>
              <a:t>1908</a:t>
            </a:r>
            <a:r>
              <a:rPr lang="zh-CN" altLang="en-US" sz="3200" dirty="0">
                <a:latin typeface="Arial" panose="020B0604020202020204" pitchFamily="34" charset="0"/>
              </a:rPr>
              <a:t>年在一篇以“</a:t>
            </a:r>
            <a:r>
              <a:rPr lang="en-US" altLang="zh-CN" sz="3200" dirty="0">
                <a:latin typeface="Arial" panose="020B0604020202020204" pitchFamily="34" charset="0"/>
              </a:rPr>
              <a:t>Student”(</a:t>
            </a:r>
            <a:r>
              <a:rPr lang="zh-CN" altLang="en-US" sz="3200" dirty="0">
                <a:latin typeface="Arial" panose="020B0604020202020204" pitchFamily="34" charset="0"/>
              </a:rPr>
              <a:t>学生</a:t>
            </a:r>
            <a:r>
              <a:rPr lang="en-US" altLang="zh-CN" sz="3200" dirty="0">
                <a:latin typeface="Arial" panose="020B0604020202020204" pitchFamily="34" charset="0"/>
              </a:rPr>
              <a:t>)</a:t>
            </a:r>
            <a:r>
              <a:rPr lang="zh-CN" altLang="en-US" sz="3200" dirty="0">
                <a:latin typeface="Arial" panose="020B0604020202020204" pitchFamily="34" charset="0"/>
              </a:rPr>
              <a:t>为笔名的论文中首次提出</a:t>
            </a:r>
            <a:endParaRPr lang="zh-CN" altLang="en-US" sz="3200" dirty="0">
              <a:latin typeface="Arial" panose="020B0604020202020204" pitchFamily="34" charset="0"/>
            </a:endParaRPr>
          </a:p>
          <a:p>
            <a:pPr algn="just">
              <a:spcBef>
                <a:spcPct val="50000"/>
              </a:spcBef>
              <a:buFontTx/>
              <a:buAutoNum type="arabicPeriod"/>
            </a:pPr>
            <a:r>
              <a:rPr lang="zh-CN" altLang="en-US" sz="3200" dirty="0">
                <a:latin typeface="Arial" panose="020B0604020202020204" pitchFamily="34" charset="0"/>
              </a:rPr>
              <a:t>  </a:t>
            </a:r>
            <a:r>
              <a:rPr lang="en-US" altLang="zh-CN" sz="3200" i="1" dirty="0">
                <a:latin typeface="Arial" panose="020B0604020202020204" pitchFamily="34" charset="0"/>
              </a:rPr>
              <a:t>t </a:t>
            </a:r>
            <a:r>
              <a:rPr lang="zh-CN" altLang="en-US" sz="3200" dirty="0">
                <a:latin typeface="Arial" panose="020B0604020202020204" pitchFamily="34" charset="0"/>
              </a:rPr>
              <a:t>分布是类似正态分布的一种对称分布，它通常要比正态分布平坦和分散</a:t>
            </a:r>
            <a:endParaRPr lang="zh-CN" altLang="en-US" sz="3200" dirty="0">
              <a:latin typeface="Arial" panose="020B0604020202020204" pitchFamily="34" charset="0"/>
            </a:endParaRPr>
          </a:p>
          <a:p>
            <a:pPr algn="just">
              <a:spcBef>
                <a:spcPct val="50000"/>
              </a:spcBef>
              <a:buFontTx/>
              <a:buAutoNum type="arabicPeriod"/>
            </a:pPr>
            <a:r>
              <a:rPr lang="zh-CN" altLang="en-US" sz="3200" dirty="0">
                <a:latin typeface="Arial" panose="020B0604020202020204" pitchFamily="34" charset="0"/>
              </a:rPr>
              <a:t>一个特定的分布依赖于称之为自由度的参数。随着自由度的增大，分布也逐渐趋于正态分布 </a:t>
            </a:r>
            <a:endParaRPr lang="zh-CN" altLang="en-US" sz="3200" dirty="0">
              <a:latin typeface="Arial" panose="020B0604020202020204" pitchFamily="34" charset="0"/>
            </a:endParaRPr>
          </a:p>
        </p:txBody>
      </p:sp>
    </p:spTree>
    <p:custDataLst>
      <p:tags r:id="rId1"/>
    </p:custDataLst>
  </p:cSld>
  <p:clrMapOvr>
    <a:masterClrMapping/>
  </p:clrMapOvr>
  <p:transition>
    <p:wipe dir="r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62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209800" y="2286000"/>
            <a:ext cx="7772400" cy="1143000"/>
          </a:xfrm>
          <a:noFill/>
        </p:spPr>
        <p:txBody>
          <a:bodyPr anchor="ctr" anchorCtr="0"/>
          <a:lstStyle/>
          <a:p>
            <a:r>
              <a:rPr lang="en-US" altLang="zh-CN" sz="4400" i="1"/>
              <a:t>F</a:t>
            </a:r>
            <a:r>
              <a:rPr lang="en-US" altLang="zh-CN" sz="4400"/>
              <a:t> </a:t>
            </a:r>
            <a:r>
              <a:rPr lang="zh-CN" altLang="en-US" sz="4400"/>
              <a:t>分布</a:t>
            </a:r>
            <a:endParaRPr lang="zh-CN" altLang="en-US" sz="4400"/>
          </a:p>
        </p:txBody>
      </p:sp>
    </p:spTree>
    <p:custDataLst>
      <p:tags r:id="rId1"/>
    </p:custDataLst>
  </p:cSld>
  <p:clrMapOvr>
    <a:masterClrMapping/>
  </p:clrMapOvr>
  <p:transition>
    <p:zoom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6722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2057400" y="1676400"/>
            <a:ext cx="8153400" cy="4343400"/>
          </a:xfrm>
          <a:noFill/>
        </p:spPr>
        <p:txBody>
          <a:bodyPr/>
          <a:lstStyle/>
          <a:p>
            <a:pPr marL="609600" indent="-609600" algn="just">
              <a:spcBef>
                <a:spcPct val="60000"/>
              </a:spcBef>
              <a:buFontTx/>
              <a:buAutoNum type="arabicPeriod"/>
            </a:pPr>
            <a:r>
              <a:rPr lang="zh-CN" altLang="en-US" sz="2600"/>
              <a:t>由统计学家费希尔</a:t>
            </a:r>
            <a:r>
              <a:rPr lang="en-US" altLang="zh-CN" sz="2600"/>
              <a:t>(</a:t>
            </a:r>
            <a:r>
              <a:rPr lang="en-US" altLang="zh-CN" sz="2600">
                <a:cs typeface="Times New Roman" panose="02020603050405020304" pitchFamily="18" charset="0"/>
              </a:rPr>
              <a:t>R.A.Fisher</a:t>
            </a:r>
            <a:r>
              <a:rPr lang="en-US" altLang="zh-CN" sz="2600"/>
              <a:t>)</a:t>
            </a:r>
            <a:r>
              <a:rPr lang="en-US" altLang="zh-CN" sz="2600">
                <a:cs typeface="Times New Roman" panose="02020603050405020304" pitchFamily="18" charset="0"/>
              </a:rPr>
              <a:t> </a:t>
            </a:r>
            <a:r>
              <a:rPr lang="zh-CN" altLang="en-US" sz="2600"/>
              <a:t>提出的，以其姓氏的第一个字母来命名</a:t>
            </a:r>
            <a:endParaRPr lang="zh-CN" altLang="en-US" sz="2600"/>
          </a:p>
          <a:p>
            <a:pPr marL="609600" indent="-609600" algn="just">
              <a:spcBef>
                <a:spcPct val="60000"/>
              </a:spcBef>
              <a:buFontTx/>
              <a:buAutoNum type="arabicPeriod"/>
            </a:pPr>
            <a:r>
              <a:rPr lang="zh-CN" altLang="en-US" sz="2600"/>
              <a:t>设若</a:t>
            </a:r>
            <a:r>
              <a:rPr lang="en-US" altLang="zh-CN" sz="2600" i="1">
                <a:latin typeface="Times New Roman" panose="02020603050405020304" pitchFamily="18" charset="0"/>
              </a:rPr>
              <a:t>U</a:t>
            </a:r>
            <a:r>
              <a:rPr lang="zh-CN" altLang="en-US" sz="2600"/>
              <a:t>为服从自由度为</a:t>
            </a:r>
            <a:r>
              <a:rPr lang="en-US" altLang="zh-CN" sz="2600" i="1">
                <a:latin typeface="Times New Roman" panose="02020603050405020304" pitchFamily="18" charset="0"/>
              </a:rPr>
              <a:t>n</a:t>
            </a:r>
            <a:r>
              <a:rPr lang="en-US" altLang="zh-CN" sz="2600" baseline="-25000"/>
              <a:t>1</a:t>
            </a:r>
            <a:r>
              <a:rPr lang="zh-CN" altLang="en-US" sz="2600"/>
              <a:t>的</a:t>
            </a:r>
            <a:r>
              <a:rPr lang="zh-CN" altLang="en-US" sz="2600" i="1">
                <a:sym typeface="Symbol" panose="05050102010706020507" pitchFamily="18" charset="2"/>
              </a:rPr>
              <a:t></a:t>
            </a:r>
            <a:r>
              <a:rPr lang="en-US" altLang="zh-CN" sz="2600" baseline="30000"/>
              <a:t>2</a:t>
            </a:r>
            <a:r>
              <a:rPr lang="zh-CN" altLang="en-US" sz="2600"/>
              <a:t>分布，即</a:t>
            </a:r>
            <a:r>
              <a:rPr lang="en-US" altLang="zh-CN" sz="2600" i="1">
                <a:latin typeface="Times New Roman" panose="02020603050405020304" pitchFamily="18" charset="0"/>
              </a:rPr>
              <a:t>U</a:t>
            </a:r>
            <a:r>
              <a:rPr lang="en-US" altLang="zh-CN" sz="2600"/>
              <a:t>~</a:t>
            </a:r>
            <a:r>
              <a:rPr lang="en-US" altLang="zh-CN" sz="2600" i="1">
                <a:sym typeface="Symbol" panose="05050102010706020507" pitchFamily="18" charset="2"/>
              </a:rPr>
              <a:t></a:t>
            </a:r>
            <a:r>
              <a:rPr lang="en-US" altLang="zh-CN" sz="2600" baseline="30000"/>
              <a:t>2</a:t>
            </a:r>
            <a:r>
              <a:rPr lang="en-US" altLang="zh-CN" sz="2600"/>
              <a:t>(</a:t>
            </a:r>
            <a:r>
              <a:rPr lang="en-US" altLang="zh-CN" sz="2600" i="1">
                <a:latin typeface="Times New Roman" panose="02020603050405020304" pitchFamily="18" charset="0"/>
              </a:rPr>
              <a:t>n</a:t>
            </a:r>
            <a:r>
              <a:rPr lang="en-US" altLang="zh-CN" sz="2600" baseline="-25000"/>
              <a:t>1</a:t>
            </a:r>
            <a:r>
              <a:rPr lang="en-US" altLang="zh-CN" sz="2600"/>
              <a:t>)</a:t>
            </a:r>
            <a:r>
              <a:rPr lang="zh-CN" altLang="en-US" sz="2600"/>
              <a:t>，</a:t>
            </a:r>
            <a:r>
              <a:rPr lang="en-US" altLang="zh-CN" sz="2600" i="1">
                <a:latin typeface="Times New Roman" panose="02020603050405020304" pitchFamily="18" charset="0"/>
              </a:rPr>
              <a:t>V</a:t>
            </a:r>
            <a:r>
              <a:rPr lang="zh-CN" altLang="en-US" sz="2600"/>
              <a:t>为服从自由度为</a:t>
            </a:r>
            <a:r>
              <a:rPr lang="en-US" altLang="zh-CN" sz="2600" i="1">
                <a:latin typeface="Times New Roman" panose="02020603050405020304" pitchFamily="18" charset="0"/>
              </a:rPr>
              <a:t>n</a:t>
            </a:r>
            <a:r>
              <a:rPr lang="en-US" altLang="zh-CN" sz="2600" baseline="-25000"/>
              <a:t>2</a:t>
            </a:r>
            <a:r>
              <a:rPr lang="zh-CN" altLang="en-US" sz="2600"/>
              <a:t>的</a:t>
            </a:r>
            <a:r>
              <a:rPr lang="zh-CN" altLang="en-US" sz="2600" i="1">
                <a:sym typeface="Symbol" panose="05050102010706020507" pitchFamily="18" charset="2"/>
              </a:rPr>
              <a:t></a:t>
            </a:r>
            <a:r>
              <a:rPr lang="en-US" altLang="zh-CN" sz="2600" baseline="30000"/>
              <a:t>2</a:t>
            </a:r>
            <a:r>
              <a:rPr lang="zh-CN" altLang="en-US" sz="2600"/>
              <a:t>分布，即</a:t>
            </a:r>
            <a:r>
              <a:rPr lang="en-US" altLang="zh-CN" sz="2600" i="1">
                <a:latin typeface="Times New Roman" panose="02020603050405020304" pitchFamily="18" charset="0"/>
              </a:rPr>
              <a:t>V</a:t>
            </a:r>
            <a:r>
              <a:rPr lang="en-US" altLang="zh-CN" sz="2600"/>
              <a:t>~</a:t>
            </a:r>
            <a:r>
              <a:rPr lang="en-US" altLang="zh-CN" sz="2600" i="1">
                <a:sym typeface="Symbol" panose="05050102010706020507" pitchFamily="18" charset="2"/>
              </a:rPr>
              <a:t></a:t>
            </a:r>
            <a:r>
              <a:rPr lang="en-US" altLang="zh-CN" sz="2600" baseline="30000"/>
              <a:t>2</a:t>
            </a:r>
            <a:r>
              <a:rPr lang="en-US" altLang="zh-CN" sz="2600"/>
              <a:t>(</a:t>
            </a:r>
            <a:r>
              <a:rPr lang="en-US" altLang="zh-CN" sz="2600" i="1">
                <a:latin typeface="Times New Roman" panose="02020603050405020304" pitchFamily="18" charset="0"/>
              </a:rPr>
              <a:t>n</a:t>
            </a:r>
            <a:r>
              <a:rPr lang="en-US" altLang="zh-CN" sz="2600" baseline="-25000"/>
              <a:t>2</a:t>
            </a:r>
            <a:r>
              <a:rPr lang="en-US" altLang="zh-CN" sz="2600"/>
              <a:t>),</a:t>
            </a:r>
            <a:r>
              <a:rPr lang="zh-CN" altLang="en-US" sz="2600"/>
              <a:t>且</a:t>
            </a:r>
            <a:r>
              <a:rPr lang="en-US" altLang="zh-CN" sz="2600" i="1">
                <a:latin typeface="Times New Roman" panose="02020603050405020304" pitchFamily="18" charset="0"/>
              </a:rPr>
              <a:t>U</a:t>
            </a:r>
            <a:r>
              <a:rPr lang="zh-CN" altLang="en-US" sz="2600"/>
              <a:t>和</a:t>
            </a:r>
            <a:r>
              <a:rPr lang="en-US" altLang="zh-CN" sz="2600" i="1">
                <a:latin typeface="Times New Roman" panose="02020603050405020304" pitchFamily="18" charset="0"/>
              </a:rPr>
              <a:t>V</a:t>
            </a:r>
            <a:r>
              <a:rPr lang="zh-CN" altLang="en-US" sz="2600"/>
              <a:t>相互独立，则称</a:t>
            </a:r>
            <a:r>
              <a:rPr lang="en-US" altLang="zh-CN" sz="2600" i="1">
                <a:cs typeface="Times New Roman" panose="02020603050405020304" pitchFamily="18" charset="0"/>
              </a:rPr>
              <a:t>F</a:t>
            </a:r>
            <a:r>
              <a:rPr lang="zh-CN" altLang="en-US" sz="2600"/>
              <a:t>为服从自由度</a:t>
            </a:r>
            <a:r>
              <a:rPr lang="en-US" altLang="zh-CN" sz="2600" i="1">
                <a:latin typeface="Times New Roman" panose="02020603050405020304" pitchFamily="18" charset="0"/>
              </a:rPr>
              <a:t>n</a:t>
            </a:r>
            <a:r>
              <a:rPr lang="en-US" altLang="zh-CN" sz="2600" baseline="-25000"/>
              <a:t>1</a:t>
            </a:r>
            <a:r>
              <a:rPr lang="zh-CN" altLang="en-US" sz="2600"/>
              <a:t>和</a:t>
            </a:r>
            <a:r>
              <a:rPr lang="en-US" altLang="zh-CN" sz="2600" i="1">
                <a:latin typeface="Times New Roman" panose="02020603050405020304" pitchFamily="18" charset="0"/>
              </a:rPr>
              <a:t>n</a:t>
            </a:r>
            <a:r>
              <a:rPr lang="en-US" altLang="zh-CN" sz="2600" baseline="-25000"/>
              <a:t>2</a:t>
            </a:r>
            <a:r>
              <a:rPr lang="zh-CN" altLang="en-US" sz="2600"/>
              <a:t>的</a:t>
            </a:r>
            <a:r>
              <a:rPr lang="en-US" altLang="zh-CN" sz="2600" i="1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zh-CN" altLang="en-US" sz="2600"/>
              <a:t>分布，记为</a:t>
            </a:r>
            <a:endParaRPr lang="zh-CN" altLang="en-US" sz="2600"/>
          </a:p>
        </p:txBody>
      </p:sp>
      <p:sp>
        <p:nvSpPr>
          <p:cNvPr id="926723" name="Rectangle 3"/>
          <p:cNvSpPr>
            <a:spLocks noGrp="1" noChangeArrowheads="1"/>
          </p:cNvSpPr>
          <p:nvPr>
            <p:ph type="title"/>
          </p:nvPr>
        </p:nvSpPr>
        <p:spPr>
          <a:xfrm>
            <a:off x="3352800" y="228600"/>
            <a:ext cx="6781800" cy="609600"/>
          </a:xfrm>
          <a:noFill/>
        </p:spPr>
        <p:txBody>
          <a:bodyPr>
            <a:normAutofit fontScale="90000"/>
          </a:bodyPr>
          <a:lstStyle/>
          <a:p>
            <a:r>
              <a:rPr lang="en-US" altLang="zh-CN" i="1" dirty="0">
                <a:latin typeface="Arial" panose="020B0604020202020204" pitchFamily="34" charset="0"/>
                <a:sym typeface="Symbol" panose="05050102010706020507" pitchFamily="18" charset="2"/>
              </a:rPr>
              <a:t>F</a:t>
            </a:r>
            <a:r>
              <a:rPr lang="zh-CN" altLang="en-US" dirty="0">
                <a:latin typeface="Arial" panose="020B0604020202020204" pitchFamily="34" charset="0"/>
              </a:rPr>
              <a:t>分布</a:t>
            </a:r>
            <a:r>
              <a:rPr lang="en-US" altLang="zh-CN" sz="3600" dirty="0">
                <a:solidFill>
                  <a:schemeClr val="hlink"/>
                </a:solidFill>
                <a:latin typeface="Arial" panose="020B0604020202020204" pitchFamily="34" charset="0"/>
              </a:rPr>
              <a:t>(</a:t>
            </a:r>
            <a:r>
              <a:rPr lang="en-US" altLang="zh-CN" sz="3600" i="1" dirty="0">
                <a:solidFill>
                  <a:schemeClr val="hlink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F</a:t>
            </a:r>
            <a:r>
              <a:rPr lang="en-US" altLang="zh-CN" sz="3600" dirty="0">
                <a:solidFill>
                  <a:schemeClr val="hlink"/>
                </a:solidFill>
                <a:latin typeface="Arial" panose="020B0604020202020204" pitchFamily="34" charset="0"/>
              </a:rPr>
              <a:t> </a:t>
            </a:r>
            <a:r>
              <a:rPr lang="en-US" altLang="zh-CN" sz="3600" dirty="0">
                <a:solidFill>
                  <a:schemeClr val="hlink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distribution</a:t>
            </a:r>
            <a:r>
              <a:rPr lang="en-US" altLang="zh-CN" sz="3600" dirty="0">
                <a:solidFill>
                  <a:schemeClr val="hlink"/>
                </a:solidFill>
                <a:latin typeface="Arial" panose="020B0604020202020204" pitchFamily="34" charset="0"/>
              </a:rPr>
              <a:t>)</a:t>
            </a:r>
            <a:endParaRPr lang="en-US" altLang="zh-CN" sz="3600" dirty="0">
              <a:solidFill>
                <a:schemeClr val="hlink"/>
              </a:solidFill>
              <a:latin typeface="Arial" panose="020B06040202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26725" name="Object 5"/>
              <p:cNvSpPr txBox="1"/>
              <p:nvPr/>
            </p:nvSpPr>
            <p:spPr bwMode="auto">
              <a:xfrm>
                <a:off x="4567238" y="5410201"/>
                <a:ext cx="2062162" cy="511175"/>
              </a:xfrm>
              <a:prstGeom prst="rect">
                <a:avLst/>
              </a:prstGeom>
              <a:noFill/>
              <a:effectLst>
                <a:outerShdw dist="17961" dir="2700000" algn="ctr" rotWithShape="0">
                  <a:schemeClr val="bg2"/>
                </a:outerShdw>
              </a:effectLst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~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926725" name="Object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567238" y="5410201"/>
                <a:ext cx="2062162" cy="511175"/>
              </a:xfrm>
              <a:prstGeom prst="rect">
                <a:avLst/>
              </a:prstGeom>
              <a:blipFill rotWithShape="1">
                <a:blip r:embed="rId1"/>
                <a:stretch>
                  <a:fillRect l="-15" r="-616" b="-2484"/>
                </a:stretch>
              </a:blipFill>
              <a:effectLst>
                <a:outerShdw dist="17961" dir="2700000" algn="ctr" rotWithShape="0">
                  <a:schemeClr val="bg2"/>
                </a:outerShdw>
              </a:effec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049" name="图片 2048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4610100" y="4038600"/>
            <a:ext cx="1524000" cy="1054100"/>
          </a:xfrm>
          <a:prstGeom prst="rect">
            <a:avLst/>
          </a:prstGeom>
          <a:noFill/>
          <a:ln w="9525">
            <a:noFill/>
          </a:ln>
          <a:effectLst>
            <a:outerShdw dist="17961" dir="2699999" algn="ctr" rotWithShape="0">
              <a:schemeClr val="tx1">
                <a:alpha val="100000"/>
              </a:schemeClr>
            </a:outerShdw>
          </a:effectLst>
        </p:spPr>
      </p:pic>
    </p:spTree>
    <p:custDataLst>
      <p:tags r:id="rId3"/>
    </p:custDataLst>
  </p:cSld>
  <p:clrMapOvr>
    <a:masterClrMapping/>
  </p:clrMapOvr>
  <p:transition>
    <p:wipe dir="r"/>
  </p:transition>
</p:sld>
</file>

<file path=ppt/tags/tag1.xml><?xml version="1.0" encoding="utf-8"?>
<p:tagLst xmlns:p="http://schemas.openxmlformats.org/presentationml/2006/main">
  <p:tag name="LOCALSLIDEID" val="17902976255024110"/>
</p:tagLst>
</file>

<file path=ppt/tags/tag2.xml><?xml version="1.0" encoding="utf-8"?>
<p:tagLst xmlns:p="http://schemas.openxmlformats.org/presentationml/2006/main">
  <p:tag name="LOCALSLIDEID" val="17902976255029056"/>
</p:tagLst>
</file>

<file path=ppt/tags/tag3.xml><?xml version="1.0" encoding="utf-8"?>
<p:tagLst xmlns:p="http://schemas.openxmlformats.org/presentationml/2006/main">
  <p:tag name="LOCALSLIDEID" val="17902976255031021"/>
</p:tagLst>
</file>

<file path=ppt/tags/tag4.xml><?xml version="1.0" encoding="utf-8"?>
<p:tagLst xmlns:p="http://schemas.openxmlformats.org/presentationml/2006/main">
  <p:tag name="LOCALSLIDEID" val="17902976255037194"/>
</p:tagLst>
</file>

<file path=ppt/tags/tag5.xml><?xml version="1.0" encoding="utf-8"?>
<p:tagLst xmlns:p="http://schemas.openxmlformats.org/presentationml/2006/main">
  <p:tag name="LOCALSLIDEID" val="17902976255045755"/>
</p:tagLst>
</file>

<file path=ppt/tags/tag6.xml><?xml version="1.0" encoding="utf-8"?>
<p:tagLst xmlns:p="http://schemas.openxmlformats.org/presentationml/2006/main">
  <p:tag name="LOCALSLIDEID" val="17902976255043897"/>
</p:tagLst>
</file>

<file path=ppt/tags/tag7.xml><?xml version="1.0" encoding="utf-8"?>
<p:tagLst xmlns:p="http://schemas.openxmlformats.org/presentationml/2006/main">
  <p:tag name="LOCALSLIDEID" val="17902976255086758"/>
</p:tagLst>
</file>

<file path=ppt/tags/tag8.xml><?xml version="1.0" encoding="utf-8"?>
<p:tagLst xmlns:p="http://schemas.openxmlformats.org/presentationml/2006/main">
  <p:tag name="LOCALSLIDEID" val="17902976255081273"/>
</p:tagLst>
</file>

<file path=ppt/tags/tag9.xml><?xml version="1.0" encoding="utf-8"?>
<p:tagLst xmlns:p="http://schemas.openxmlformats.org/presentationml/2006/main">
  <p:tag name="LOCALSLIDEID" val="17902976255083650"/>
</p:tagLst>
</file>

<file path=ppt/tags/tag10.xml><?xml version="1.0" encoding="utf-8"?>
<p:tagLst xmlns:p="http://schemas.openxmlformats.org/presentationml/2006/main">
  <p:tag name="LOCALSLIDEID" val="17902976255096475"/>
</p:tagLst>
</file>

<file path=ppt/tags/tag11.xml><?xml version="1.0" encoding="utf-8"?>
<p:tagLst xmlns:p="http://schemas.openxmlformats.org/presentationml/2006/main">
  <p:tag name="LOCALSLIDEID" val="17902976255050250"/>
</p:tagLst>
</file>

<file path=ppt/tags/tag12.xml><?xml version="1.0" encoding="utf-8"?>
<p:tagLst xmlns:p="http://schemas.openxmlformats.org/presentationml/2006/main">
  <p:tag name="LOCALSLIDEID" val="17902976255050011"/>
</p:tagLst>
</file>

<file path=ppt/tags/tag13.xml><?xml version="1.0" encoding="utf-8"?>
<p:tagLst xmlns:p="http://schemas.openxmlformats.org/presentationml/2006/main">
  <p:tag name="LOCALSLIDEID" val="17902976255068991"/>
</p:tagLst>
</file>

<file path=ppt/tags/tag14.xml><?xml version="1.0" encoding="utf-8"?>
<p:tagLst xmlns:p="http://schemas.openxmlformats.org/presentationml/2006/main">
  <p:tag name="LOCALSLIDEID" val="17902976255068266"/>
</p:tagLst>
</file>

<file path=ppt/tags/tag15.xml><?xml version="1.0" encoding="utf-8"?>
<p:tagLst xmlns:p="http://schemas.openxmlformats.org/presentationml/2006/main">
  <p:tag name="LOCALSLIDEID" val="17902976255060952"/>
</p:tagLst>
</file>

<file path=ppt/tags/tag16.xml><?xml version="1.0" encoding="utf-8"?>
<p:tagLst xmlns:p="http://schemas.openxmlformats.org/presentationml/2006/main">
  <p:tag name="LOCALSLIDEID" val="17902976255073132"/>
</p:tagLst>
</file>

<file path=ppt/tags/tag17.xml><?xml version="1.0" encoding="utf-8"?>
<p:tagLst xmlns:p="http://schemas.openxmlformats.org/presentationml/2006/main">
  <p:tag name="LOCALSLIDEID" val="17902976255071975"/>
</p:tagLst>
</file>

<file path=ppt/tags/tag18.xml><?xml version="1.0" encoding="utf-8"?>
<p:tagLst xmlns:p="http://schemas.openxmlformats.org/presentationml/2006/main">
  <p:tag name="LOCALPRESID" val="17902976254967507"/>
</p:tagLst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image" Target="../media/image2.jpeg"/></Relationships>
</file>

<file path=ppt/theme/theme1.xml><?xml version="1.0" encoding="utf-8"?>
<a:theme xmlns:a="http://schemas.openxmlformats.org/drawingml/2006/main" name="AcademicPresentation1_TP10352479">
  <a:themeElements>
    <a:clrScheme name="Solstice">
      <a:dk1>
        <a:sysClr val="windowText" lastClr="000000"/>
      </a:dk1>
      <a:lt1>
        <a:sysClr val="window" lastClr="FFFFFF"/>
      </a:lt1>
      <a:dk2>
        <a:srgbClr val="4F271C"/>
      </a:dk2>
      <a:lt2>
        <a:srgbClr val="E7DEC9"/>
      </a:lt2>
      <a:accent1>
        <a:srgbClr val="3891A7"/>
      </a:accent1>
      <a:accent2>
        <a:srgbClr val="FEB80A"/>
      </a:accent2>
      <a:accent3>
        <a:srgbClr val="C32D2E"/>
      </a:accent3>
      <a:accent4>
        <a:srgbClr val="84AA33"/>
      </a:accent4>
      <a:accent5>
        <a:srgbClr val="964305"/>
      </a:accent5>
      <a:accent6>
        <a:srgbClr val="475A8D"/>
      </a:accent6>
      <a:hlink>
        <a:srgbClr val="8DC765"/>
      </a:hlink>
      <a:folHlink>
        <a:srgbClr val="AA8A14"/>
      </a:folHlink>
    </a:clrScheme>
    <a:fontScheme name="Median">
      <a:maj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Median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  <a:blipFill>
          <a:blip xmlns:r="http://schemas.openxmlformats.org/officeDocument/2006/relationships" r:embed="rId2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40000"/>
                <a:satMod val="155000"/>
              </a:schemeClr>
            </a:gs>
            <a:gs pos="65000">
              <a:schemeClr val="phClr">
                <a:shade val="85000"/>
                <a:satMod val="155000"/>
              </a:schemeClr>
            </a:gs>
            <a:gs pos="100000">
              <a:schemeClr val="phClr">
                <a:shade val="95000"/>
                <a:satMod val="155000"/>
              </a:schemeClr>
            </a:gs>
          </a:gsLst>
          <a:lin ang="16200000" scaled="0"/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  <a:ln w="34925" cap="rnd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algn="tl" rotWithShape="0">
              <a:srgbClr val="000000">
                <a:alpha val="64000"/>
              </a:srgbClr>
            </a:outerShdw>
          </a:effectLst>
        </a:effectStyle>
        <a:effectStyle>
          <a:effectLst>
            <a:outerShdw blurRad="39000" dist="25400" dir="5400000">
              <a:srgbClr val="000000">
                <a:alpha val="35000"/>
              </a:srgbClr>
            </a:outerShdw>
          </a:effectLst>
        </a:effectStyle>
        <a:effectStyle>
          <a:effectLst>
            <a:outerShdw blurRad="39000" dist="25400" dir="5400000">
              <a:srgbClr val="000000">
                <a:alpha val="35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 prstMaterial="matte">
            <a:bevelT h="22225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0000"/>
                <a:satMod val="155000"/>
              </a:schemeClr>
            </a:gs>
            <a:gs pos="35000">
              <a:schemeClr val="phClr">
                <a:shade val="75000"/>
                <a:satMod val="155000"/>
              </a:schemeClr>
            </a:gs>
            <a:gs pos="100000">
              <a:schemeClr val="phClr">
                <a:tint val="80000"/>
                <a:satMod val="255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用于大学课程的学术演示文稿（纸张和铅笔设计）</Template>
  <TotalTime>0</TotalTime>
  <Words>1609</Words>
  <Application>WPS 演示</Application>
  <PresentationFormat>宽屏</PresentationFormat>
  <Paragraphs>121</Paragraphs>
  <Slides>17</Slides>
  <Notes>16</Notes>
  <HiddenSlides>0</HiddenSlides>
  <MMClips>0</MMClips>
  <ScaleCrop>false</ScaleCrop>
  <HeadingPairs>
    <vt:vector size="8" baseType="variant">
      <vt:variant>
        <vt:lpstr>已用的字体</vt:lpstr>
      </vt:variant>
      <vt:variant>
        <vt:i4>19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6</vt:i4>
      </vt:variant>
      <vt:variant>
        <vt:lpstr>幻灯片标题</vt:lpstr>
      </vt:variant>
      <vt:variant>
        <vt:i4>17</vt:i4>
      </vt:variant>
    </vt:vector>
  </HeadingPairs>
  <TitlesOfParts>
    <vt:vector size="43" baseType="lpstr">
      <vt:lpstr>Arial</vt:lpstr>
      <vt:lpstr>宋体</vt:lpstr>
      <vt:lpstr>Wingdings</vt:lpstr>
      <vt:lpstr>微软雅黑</vt:lpstr>
      <vt:lpstr>华文细黑</vt:lpstr>
      <vt:lpstr>Wingdings</vt:lpstr>
      <vt:lpstr>Wingdings 2</vt:lpstr>
      <vt:lpstr>Book Antiqua</vt:lpstr>
      <vt:lpstr>Monotype Sorts</vt:lpstr>
      <vt:lpstr>Wingdings</vt:lpstr>
      <vt:lpstr>Times New Roman</vt:lpstr>
      <vt:lpstr>Symbol</vt:lpstr>
      <vt:lpstr>Cambria Math</vt:lpstr>
      <vt:lpstr>Wingdings 2</vt:lpstr>
      <vt:lpstr>Tw Cen MT</vt:lpstr>
      <vt:lpstr>华文仿宋</vt:lpstr>
      <vt:lpstr>Arial Unicode MS</vt:lpstr>
      <vt:lpstr>Calibri</vt:lpstr>
      <vt:lpstr>等线</vt:lpstr>
      <vt:lpstr>AcademicPresentation1_TP10352479</vt:lpstr>
      <vt:lpstr>Equation.3</vt:lpstr>
      <vt:lpstr>Equation.3</vt:lpstr>
      <vt:lpstr>Equation.3</vt:lpstr>
      <vt:lpstr>Equation.3</vt:lpstr>
      <vt:lpstr>Equation.3</vt:lpstr>
      <vt:lpstr>Paint.Picture</vt:lpstr>
      <vt:lpstr>PowerPoint 演示文稿</vt:lpstr>
      <vt:lpstr>PowerPoint 演示文稿</vt:lpstr>
      <vt:lpstr>统计量(statistic)</vt:lpstr>
      <vt:lpstr>常用统计量</vt:lpstr>
      <vt:lpstr>PowerPoint 演示文稿</vt:lpstr>
      <vt:lpstr>抽样分布 (sampling distribution)</vt:lpstr>
      <vt:lpstr>样本均值的抽样分布</vt:lpstr>
      <vt:lpstr>样本均值的抽样分布与中心极限定理</vt:lpstr>
      <vt:lpstr>中心极限定理(central limit theorem)</vt:lpstr>
      <vt:lpstr>PowerPoint 演示文稿</vt:lpstr>
      <vt:lpstr>2 分布</vt:lpstr>
      <vt:lpstr>2分布(2 distribution)</vt:lpstr>
      <vt:lpstr>2分布(性质和特点)</vt:lpstr>
      <vt:lpstr>t 分布</vt:lpstr>
      <vt:lpstr>t 分布</vt:lpstr>
      <vt:lpstr>F 分布</vt:lpstr>
      <vt:lpstr>F分布(F distribution)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统计学 （第8版）</dc:title>
  <dc:creator>jiajp99@126.com</dc:creator>
  <cp:lastModifiedBy>毛毛与妈妈</cp:lastModifiedBy>
  <cp:revision>49</cp:revision>
  <dcterms:created xsi:type="dcterms:W3CDTF">2023-10-31T03:05:00Z</dcterms:created>
  <dcterms:modified xsi:type="dcterms:W3CDTF">2026-09-25T00:54:55Z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TC101671252052</vt:lpwstr>
  </property>
  <property fmtid="{D5CDD505-2E9C-101B-9397-08002B2CF9AE}" pid="3" name="ContentTypeId">
    <vt:lpwstr>0x0101008D8B3457135D67479991424C624CBB4704002439B9162B2E88498A324BEFF3815221</vt:lpwstr>
  </property>
  <property fmtid="{D5CDD505-2E9C-101B-9397-08002B2CF9AE}" pid="4" name="ImageGenCounter">
    <vt:i4>0</vt:i4>
  </property>
  <property fmtid="{D5CDD505-2E9C-101B-9397-08002B2CF9AE}" pid="5" name="ViolationReportStatus">
    <vt:lpwstr>None</vt:lpwstr>
  </property>
  <property fmtid="{D5CDD505-2E9C-101B-9397-08002B2CF9AE}" pid="6" name="ImageGenStatus">
    <vt:i4>0</vt:i4>
  </property>
  <property fmtid="{D5CDD505-2E9C-101B-9397-08002B2CF9AE}" pid="7" name="PolicheckStatus">
    <vt:i4>0</vt:i4>
  </property>
  <property fmtid="{D5CDD505-2E9C-101B-9397-08002B2CF9AE}" pid="8" name="Applications">
    <vt:lpwstr>67;#Template 12;#53;#PowerPoint 12;#407;#PowerPoint 14</vt:lpwstr>
  </property>
  <property fmtid="{D5CDD505-2E9C-101B-9397-08002B2CF9AE}" pid="9" name="PolicheckCounter">
    <vt:i4>0</vt:i4>
  </property>
  <property fmtid="{D5CDD505-2E9C-101B-9397-08002B2CF9AE}" pid="10" name="APTrustLevel">
    <vt:r8>1</vt:r8>
  </property>
  <property fmtid="{D5CDD505-2E9C-101B-9397-08002B2CF9AE}" pid="11" name="Order">
    <vt:r8>6900900</vt:r8>
  </property>
  <property fmtid="{D5CDD505-2E9C-101B-9397-08002B2CF9AE}" pid="12" name="KSOProductBuildVer">
    <vt:lpwstr>2052-12.1.0.21915</vt:lpwstr>
  </property>
  <property fmtid="{D5CDD505-2E9C-101B-9397-08002B2CF9AE}" pid="13" name="ICV">
    <vt:lpwstr>DF0285BCDCDB31F2E96E4065D5A3C81C_42</vt:lpwstr>
  </property>
</Properties>
</file>