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0"/>
  </p:handoutMasterIdLst>
  <p:sldIdLst>
    <p:sldId id="761" r:id="rId3"/>
    <p:sldId id="1538" r:id="rId4"/>
    <p:sldId id="1540" r:id="rId6"/>
    <p:sldId id="1541" r:id="rId7"/>
    <p:sldId id="1539" r:id="rId8"/>
    <p:sldId id="1544" r:id="rId9"/>
    <p:sldId id="1542" r:id="rId10"/>
    <p:sldId id="1548" r:id="rId11"/>
    <p:sldId id="1546" r:id="rId12"/>
    <p:sldId id="1547" r:id="rId13"/>
    <p:sldId id="1543" r:id="rId14"/>
    <p:sldId id="1549" r:id="rId15"/>
    <p:sldId id="1545" r:id="rId16"/>
    <p:sldId id="1551" r:id="rId17"/>
    <p:sldId id="1550" r:id="rId18"/>
    <p:sldId id="1552" r:id="rId19"/>
    <p:sldId id="365" r:id="rId20"/>
    <p:sldId id="1554" r:id="rId21"/>
    <p:sldId id="1555" r:id="rId22"/>
    <p:sldId id="1556" r:id="rId23"/>
    <p:sldId id="1558" r:id="rId24"/>
    <p:sldId id="1557" r:id="rId25"/>
    <p:sldId id="1553" r:id="rId26"/>
    <p:sldId id="1559" r:id="rId27"/>
    <p:sldId id="1561" r:id="rId28"/>
    <p:sldId id="1560" r:id="rId29"/>
  </p:sldIdLst>
  <p:sldSz cx="12192000" cy="6858000"/>
  <p:notesSz cx="6858000" cy="9144000"/>
  <p:custDataLst>
    <p:tags r:id="rId34"/>
  </p:custDataLst>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A40000"/>
    <a:srgbClr val="E6AF00"/>
    <a:srgbClr val="318AAD"/>
    <a:srgbClr val="3699C0"/>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3500" autoAdjust="0"/>
  </p:normalViewPr>
  <p:slideViewPr>
    <p:cSldViewPr>
      <p:cViewPr varScale="1">
        <p:scale>
          <a:sx n="64" d="100"/>
          <a:sy n="64" d="100"/>
        </p:scale>
        <p:origin x="680" y="40"/>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48" d="100"/>
          <a:sy n="48" d="100"/>
        </p:scale>
        <p:origin x="2684" y="5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4" Type="http://schemas.openxmlformats.org/officeDocument/2006/relationships/tags" Target="tags/tag27.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B7DB3-30DF-43FE-8C4B-1722B4800CF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558D4-C6A0-4B92-951D-4C89C3A60AD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lang="zh-CN" altLang="en-US"/>
              <a:t>单击此处编辑母版标题样式</a:t>
            </a:r>
            <a:endParaRPr lang="en-US" dirty="0"/>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28" name="Date Placeholder 27"/>
          <p:cNvSpPr>
            <a:spLocks noGrp="1"/>
          </p:cNvSpPr>
          <p:nvPr>
            <p:ph type="dt" sz="half" idx="10"/>
          </p:nvPr>
        </p:nvSpPr>
        <p:spPr>
          <a:xfrm>
            <a:off x="101600" y="6068699"/>
            <a:ext cx="2743200" cy="685800"/>
          </a:xfrm>
          <a:prstGeom prst="rect">
            <a:avLst/>
          </a:prstGeom>
        </p:spPr>
        <p:txBody>
          <a:bodyPr>
            <a:noAutofit/>
          </a:bodyPr>
          <a:lstStyle>
            <a:lvl1pPr algn="ctr">
              <a:defRPr sz="2000">
                <a:solidFill>
                  <a:srgbClr val="FFFFFF"/>
                </a:solidFill>
              </a:defRPr>
            </a:lvl1pPr>
          </a:lstStyle>
          <a:p>
            <a:pPr algn="ctr"/>
            <a:fld id="{A192A68D-3DBE-4DB7-A092-DC9DAB0EA4B3}" type="datetime1">
              <a:rPr lang="zh-CN" altLang="en-US" smtClean="0"/>
            </a:fld>
            <a:endParaRPr lang="en-US" sz="2000" dirty="0">
              <a:solidFill>
                <a:srgbClr val="FFFFFF"/>
              </a:solidFill>
            </a:endParaRPr>
          </a:p>
        </p:txBody>
      </p:sp>
      <p:sp>
        <p:nvSpPr>
          <p:cNvPr id="17" name="Footer Placeholder 16"/>
          <p:cNvSpPr>
            <a:spLocks noGrp="1"/>
          </p:cNvSpPr>
          <p:nvPr>
            <p:ph type="ftr" sz="quarter" idx="11"/>
          </p:nvPr>
        </p:nvSpPr>
        <p:spPr>
          <a:xfrm>
            <a:off x="2780524" y="236542"/>
            <a:ext cx="7823200" cy="365125"/>
          </a:xfrm>
          <a:prstGeom prst="rect">
            <a:avLst/>
          </a:prstGeo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a:prstGeom prst="rect">
            <a:avLst/>
          </a:prstGeom>
        </p:spPr>
        <p:txBody>
          <a:bodyPr/>
          <a:lstStyle>
            <a:lvl1pPr>
              <a:defRPr>
                <a:solidFill>
                  <a:schemeClr val="tx2"/>
                </a:solidFill>
              </a:defRPr>
            </a:lvl1pPr>
          </a:lstStyle>
          <a:p>
            <a:fld id="{72AC53DF-4216-466D-99A7-94400E6C2A25}" type="slidenum">
              <a:rPr lang="en-US" smtClean="0"/>
            </a:fld>
            <a:endParaRPr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lang="zh-CN" altLang="en-US" dirty="0"/>
              <a:t>单击此处编辑母版标题样式</a:t>
            </a:r>
            <a:endParaRPr lang="en-US" dirty="0"/>
          </a:p>
        </p:txBody>
      </p:sp>
      <p:sp>
        <p:nvSpPr>
          <p:cNvPr id="8" name="Content Placeholder 7"/>
          <p:cNvSpPr>
            <a:spLocks noGrp="1"/>
          </p:cNvSpPr>
          <p:nvPr>
            <p:ph sz="quarter" idx="1"/>
          </p:nvPr>
        </p:nvSpPr>
        <p:spPr>
          <a:xfrm>
            <a:off x="816864" y="1600200"/>
            <a:ext cx="10871200" cy="44958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0" y="2743200"/>
            <a:ext cx="9497484"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lang="zh-CN" altLang="en-US"/>
              <a:t>单击此处编辑母版标题样式</a:t>
            </a:r>
            <a:endParaRPr lang="en-US" dirty="0"/>
          </a:p>
        </p:txBody>
      </p:sp>
      <p:sp>
        <p:nvSpPr>
          <p:cNvPr id="12" name="Date Placeholder 11"/>
          <p:cNvSpPr>
            <a:spLocks noGrp="1"/>
          </p:cNvSpPr>
          <p:nvPr>
            <p:ph type="dt" sz="half" idx="10"/>
          </p:nvPr>
        </p:nvSpPr>
        <p:spPr>
          <a:xfrm>
            <a:off x="8128000" y="6448252"/>
            <a:ext cx="3556000" cy="365125"/>
          </a:xfrm>
          <a:prstGeom prst="rect">
            <a:avLst/>
          </a:prstGeom>
        </p:spPr>
        <p:txBody>
          <a:bodyPr/>
          <a:lstStyle/>
          <a:p>
            <a:fld id="{913BE477-773F-45A1-9043-C5BB58DEC3E1}" type="datetime1">
              <a:rPr lang="zh-CN" altLang="en-US" smtClean="0"/>
            </a:fld>
            <a:endParaRPr lang="en-US"/>
          </a:p>
        </p:txBody>
      </p:sp>
      <p:sp>
        <p:nvSpPr>
          <p:cNvPr id="13" name="Slide Number Placeholder 12"/>
          <p:cNvSpPr>
            <a:spLocks noGrp="1"/>
          </p:cNvSpPr>
          <p:nvPr>
            <p:ph type="sldNum" sz="quarter" idx="11"/>
          </p:nvPr>
        </p:nvSpPr>
        <p:spPr>
          <a:xfrm>
            <a:off x="0" y="1752600"/>
            <a:ext cx="1727200" cy="701676"/>
          </a:xfrm>
          <a:prstGeom prst="rect">
            <a:avLst/>
          </a:prstGeom>
        </p:spPr>
        <p:txBody>
          <a:bodyPr>
            <a:noAutofit/>
          </a:bodyPr>
          <a:lstStyle>
            <a:lvl1pPr>
              <a:defRPr sz="2400">
                <a:solidFill>
                  <a:srgbClr val="FFFFFF"/>
                </a:solidFill>
              </a:defRPr>
            </a:lvl1pPr>
          </a:lstStyle>
          <a:p>
            <a:pPr algn="ctr"/>
            <a:fld id="{1AD93096-5B34-4342-9326-69289CEAE4C2}" type="slidenum">
              <a:rPr lang="en-US" smtClean="0"/>
            </a:fld>
            <a:endParaRPr lang="en-US" sz="2400" dirty="0">
              <a:solidFill>
                <a:srgbClr val="FFFFFF"/>
              </a:solidFill>
            </a:endParaRPr>
          </a:p>
        </p:txBody>
      </p:sp>
      <p:sp>
        <p:nvSpPr>
          <p:cNvPr id="14" name="Footer Placeholder 13"/>
          <p:cNvSpPr>
            <a:spLocks noGrp="1"/>
          </p:cNvSpPr>
          <p:nvPr>
            <p:ph type="ftr" sz="quarter" idx="12"/>
          </p:nvPr>
        </p:nvSpPr>
        <p:spPr>
          <a:xfrm>
            <a:off x="597171" y="6248210"/>
            <a:ext cx="7443742" cy="365125"/>
          </a:xfrm>
          <a:prstGeom prst="rect">
            <a:avLst/>
          </a:prstGeo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
          </p:nvPr>
        </p:nvSpPr>
        <p:spPr>
          <a:xfrm>
            <a:off x="550533" y="1589567"/>
            <a:ext cx="5181600" cy="45720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1" name="Content Placeholder 10"/>
          <p:cNvSpPr>
            <a:spLocks noGrp="1"/>
          </p:cNvSpPr>
          <p:nvPr>
            <p:ph sz="quarter" idx="2"/>
          </p:nvPr>
        </p:nvSpPr>
        <p:spPr>
          <a:xfrm>
            <a:off x="6459868" y="1589567"/>
            <a:ext cx="5181600" cy="45720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lang="zh-CN" altLang="en-US"/>
              <a:t>单击此处编辑母版标题样式</a:t>
            </a:r>
            <a:endParaRPr lang="en-US" dirty="0"/>
          </a:p>
        </p:txBody>
      </p:sp>
      <p:sp>
        <p:nvSpPr>
          <p:cNvPr id="11" name="Content Placeholder 10"/>
          <p:cNvSpPr>
            <a:spLocks noGrp="1"/>
          </p:cNvSpPr>
          <p:nvPr>
            <p:ph sz="quarter" idx="2"/>
          </p:nvPr>
        </p:nvSpPr>
        <p:spPr>
          <a:xfrm>
            <a:off x="812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3" name="Content Placeholder 12"/>
          <p:cNvSpPr>
            <a:spLocks noGrp="1"/>
          </p:cNvSpPr>
          <p:nvPr>
            <p:ph sz="quarter" idx="4"/>
          </p:nvPr>
        </p:nvSpPr>
        <p:spPr>
          <a:xfrm>
            <a:off x="6400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 name="Date Placeholder 9"/>
          <p:cNvSpPr>
            <a:spLocks noGrp="1"/>
          </p:cNvSpPr>
          <p:nvPr>
            <p:ph type="dt" sz="half" idx="15"/>
          </p:nvPr>
        </p:nvSpPr>
        <p:spPr>
          <a:xfrm>
            <a:off x="8128000" y="6448252"/>
            <a:ext cx="3556000" cy="365125"/>
          </a:xfrm>
          <a:prstGeom prst="rect">
            <a:avLst/>
          </a:prstGeom>
        </p:spPr>
        <p:txBody>
          <a:bodyPr rtlCol="0"/>
          <a:lstStyle/>
          <a:p>
            <a:fld id="{B7A8C118-B4EA-4F8F-B280-BEC0017066F1}" type="datetime1">
              <a:rPr lang="zh-CN" altLang="en-US" smtClean="0"/>
            </a:fld>
            <a:endParaRPr lang="en-US"/>
          </a:p>
        </p:txBody>
      </p:sp>
      <p:sp>
        <p:nvSpPr>
          <p:cNvPr id="12" name="Slide Number Placeholder 11"/>
          <p:cNvSpPr>
            <a:spLocks noGrp="1"/>
          </p:cNvSpPr>
          <p:nvPr>
            <p:ph type="sldNum" sz="quarter" idx="16"/>
          </p:nvPr>
        </p:nvSpPr>
        <p:spPr>
          <a:xfrm>
            <a:off x="558130" y="6381328"/>
            <a:ext cx="616218" cy="357402"/>
          </a:xfrm>
          <a:prstGeom prst="rect">
            <a:avLst/>
          </a:prstGeom>
        </p:spPr>
        <p:txBody>
          <a:bodyPr rtlCol="0"/>
          <a:lstStyle/>
          <a:p>
            <a:pPr algn="ctr"/>
            <a:fld id="{1AD93096-5B34-4342-9326-69289CEAE4C2}" type="slidenum">
              <a:rPr lang="en-US" smtClean="0"/>
            </a:fld>
            <a:endParaRPr lang="en-US"/>
          </a:p>
        </p:txBody>
      </p:sp>
      <p:sp>
        <p:nvSpPr>
          <p:cNvPr id="14" name="Footer Placeholder 13"/>
          <p:cNvSpPr>
            <a:spLocks noGrp="1"/>
          </p:cNvSpPr>
          <p:nvPr>
            <p:ph type="ftr" sz="quarter" idx="17"/>
          </p:nvPr>
        </p:nvSpPr>
        <p:spPr>
          <a:xfrm>
            <a:off x="597171" y="6248210"/>
            <a:ext cx="7443742" cy="365125"/>
          </a:xfrm>
          <a:prstGeom prst="rect">
            <a:avLst/>
          </a:prstGeom>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8128000" y="6448252"/>
            <a:ext cx="3556000" cy="365125"/>
          </a:xfrm>
          <a:prstGeom prst="rect">
            <a:avLst/>
          </a:prstGeom>
        </p:spPr>
        <p:txBody>
          <a:bodyPr/>
          <a:lstStyle/>
          <a:p>
            <a:fld id="{34CCC27A-CD2D-4F14-8F78-FCFFD7611D1B}" type="datetime1">
              <a:rPr lang="zh-CN" altLang="en-US" smtClean="0"/>
            </a:fld>
            <a:endParaRPr lang="en-US"/>
          </a:p>
        </p:txBody>
      </p:sp>
      <p:sp>
        <p:nvSpPr>
          <p:cNvPr id="4" name="Footer Placeholder 3"/>
          <p:cNvSpPr>
            <a:spLocks noGrp="1"/>
          </p:cNvSpPr>
          <p:nvPr>
            <p:ph type="ftr" sz="quarter" idx="11"/>
          </p:nvPr>
        </p:nvSpPr>
        <p:spPr>
          <a:xfrm>
            <a:off x="597171" y="6248210"/>
            <a:ext cx="7443742"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0" y="6448252"/>
            <a:ext cx="3556000" cy="365125"/>
          </a:xfrm>
          <a:prstGeom prst="rect">
            <a:avLst/>
          </a:prstGeom>
        </p:spPr>
        <p:txBody>
          <a:bodyPr/>
          <a:lstStyle/>
          <a:p>
            <a:fld id="{06A809B8-18EF-491B-9E98-44BF0ECCAC83}" type="datetime1">
              <a:rPr lang="zh-CN" altLang="en-US" smtClean="0"/>
            </a:fld>
            <a:endParaRPr lang="en-US"/>
          </a:p>
        </p:txBody>
      </p:sp>
      <p:sp>
        <p:nvSpPr>
          <p:cNvPr id="3" name="Footer Placeholder 2"/>
          <p:cNvSpPr>
            <a:spLocks noGrp="1"/>
          </p:cNvSpPr>
          <p:nvPr>
            <p:ph type="ftr" sz="quarter" idx="11"/>
          </p:nvPr>
        </p:nvSpPr>
        <p:spPr>
          <a:xfrm>
            <a:off x="597171" y="6248210"/>
            <a:ext cx="7443742"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0" y="6248400"/>
            <a:ext cx="711200" cy="381000"/>
          </a:xfrm>
          <a:prstGeom prst="rect">
            <a:avLst/>
          </a:prstGeom>
        </p:spPr>
        <p:txBody>
          <a:bodyPr/>
          <a:lstStyle>
            <a:lvl1pPr>
              <a:defRPr>
                <a:solidFill>
                  <a:schemeClr val="tx2"/>
                </a:solidFill>
              </a:defRPr>
            </a:lvl1pPr>
          </a:lstStyle>
          <a:p>
            <a:fld id="{1AD93096-5B34-4342-9326-69289CEAE4C2}" type="slidenum">
              <a:rPr lang="en-US" smtClean="0"/>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lang="zh-CN" altLang="en-US"/>
              <a:t>单击此处编辑母版标题样式</a:t>
            </a:r>
            <a:endParaRPr lang="en-US" dirty="0"/>
          </a:p>
        </p:txBody>
      </p:sp>
      <p:sp>
        <p:nvSpPr>
          <p:cNvPr id="5" name="Date Placeholder 4"/>
          <p:cNvSpPr>
            <a:spLocks noGrp="1"/>
          </p:cNvSpPr>
          <p:nvPr>
            <p:ph type="dt" sz="half" idx="10"/>
          </p:nvPr>
        </p:nvSpPr>
        <p:spPr>
          <a:xfrm>
            <a:off x="8128000" y="6448252"/>
            <a:ext cx="3556000" cy="365125"/>
          </a:xfrm>
          <a:prstGeom prst="rect">
            <a:avLst/>
          </a:prstGeom>
        </p:spPr>
        <p:txBody>
          <a:bodyPr/>
          <a:lstStyle/>
          <a:p>
            <a:fld id="{2DD03089-DCCC-45C0-A55C-324DDBBD19E4}" type="datetime1">
              <a:rPr lang="zh-CN" altLang="en-US" smtClean="0"/>
            </a:fld>
            <a:endParaRPr lang="en-US"/>
          </a:p>
        </p:txBody>
      </p:sp>
      <p:sp>
        <p:nvSpPr>
          <p:cNvPr id="6" name="Footer Placeholder 5"/>
          <p:cNvSpPr>
            <a:spLocks noGrp="1"/>
          </p:cNvSpPr>
          <p:nvPr>
            <p:ph type="ftr" sz="quarter" idx="11"/>
          </p:nvPr>
        </p:nvSpPr>
        <p:spPr>
          <a:xfrm>
            <a:off x="597171" y="6248210"/>
            <a:ext cx="7443742"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
        <p:nvSpPr>
          <p:cNvPr id="9" name="Content Placeholder 8"/>
          <p:cNvSpPr>
            <a:spLocks noGrp="1"/>
          </p:cNvSpPr>
          <p:nvPr>
            <p:ph sz="quarter" idx="1"/>
          </p:nvPr>
        </p:nvSpPr>
        <p:spPr>
          <a:xfrm>
            <a:off x="3149600" y="1752600"/>
            <a:ext cx="8534400" cy="44196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8" name="Picture 7" descr="sm_pencil.png"/>
          <p:cNvPicPr>
            <a:picLocks noChangeAspect="1"/>
          </p:cNvPicPr>
          <p:nvPr userDrawn="1"/>
        </p:nvPicPr>
        <p:blipFill>
          <a:blip r:embed="rId2"/>
          <a:stretch>
            <a:fillRect/>
          </a:stretch>
        </p:blipFill>
        <p:spPr>
          <a:xfrm>
            <a:off x="816864" y="1755651"/>
            <a:ext cx="2153743" cy="2145615"/>
          </a:xfrm>
          <a:prstGeom prst="rect">
            <a:avLst/>
          </a:prstGeom>
          <a:ln w="50800" cap="sq" cmpd="dbl">
            <a:solidFill>
              <a:schemeClr val="accent2"/>
            </a:solid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endParaRPr lang="zh-CN" altLang="en-US"/>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lang="zh-CN" altLang="en-US"/>
              <a:t>单击此处编辑母版标题样式</a:t>
            </a:r>
            <a:endParaRPr lang="en-US" dirty="0"/>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2" name="Date Placeholder 11"/>
          <p:cNvSpPr>
            <a:spLocks noGrp="1"/>
          </p:cNvSpPr>
          <p:nvPr>
            <p:ph type="dt" sz="half" idx="10"/>
          </p:nvPr>
        </p:nvSpPr>
        <p:spPr>
          <a:xfrm>
            <a:off x="8331200" y="6248404"/>
            <a:ext cx="3556000" cy="365125"/>
          </a:xfrm>
          <a:prstGeom prst="rect">
            <a:avLst/>
          </a:prstGeom>
        </p:spPr>
        <p:txBody>
          <a:bodyPr rtlCol="0"/>
          <a:lstStyle/>
          <a:p>
            <a:fld id="{4B5E4466-AD65-4209-B65C-5868BC503B40}" type="datetime1">
              <a:rPr lang="zh-CN" altLang="en-US" smtClean="0"/>
            </a:fld>
            <a:endParaRPr lang="en-US"/>
          </a:p>
        </p:txBody>
      </p:sp>
      <p:sp>
        <p:nvSpPr>
          <p:cNvPr id="13" name="Slide Number Placeholder 12"/>
          <p:cNvSpPr>
            <a:spLocks noGrp="1"/>
          </p:cNvSpPr>
          <p:nvPr>
            <p:ph type="sldNum" sz="quarter" idx="11"/>
          </p:nvPr>
        </p:nvSpPr>
        <p:spPr>
          <a:xfrm>
            <a:off x="0" y="4667249"/>
            <a:ext cx="1930400" cy="663578"/>
          </a:xfrm>
          <a:prstGeom prst="rect">
            <a:avLst/>
          </a:prstGeom>
        </p:spPr>
        <p:txBody>
          <a:bodyPr rtlCol="0"/>
          <a:lstStyle>
            <a:lvl1pPr>
              <a:defRPr sz="2800"/>
            </a:lvl1pPr>
          </a:lstStyle>
          <a:p>
            <a:pPr algn="ctr"/>
            <a:fld id="{1AD93096-5B34-4342-9326-69289CEAE4C2}" type="slidenum">
              <a:rPr lang="en-US" smtClean="0"/>
            </a:fld>
            <a:endParaRPr lang="en-US" sz="2800" dirty="0"/>
          </a:p>
        </p:txBody>
      </p:sp>
      <p:sp>
        <p:nvSpPr>
          <p:cNvPr id="14" name="Footer Placeholder 13"/>
          <p:cNvSpPr>
            <a:spLocks noGrp="1"/>
          </p:cNvSpPr>
          <p:nvPr>
            <p:ph type="ftr" sz="quarter" idx="12"/>
          </p:nvPr>
        </p:nvSpPr>
        <p:spPr>
          <a:xfrm>
            <a:off x="2133600" y="6248210"/>
            <a:ext cx="6096000" cy="365125"/>
          </a:xfrm>
          <a:prstGeom prst="rect">
            <a:avLst/>
          </a:prstGeom>
        </p:spPr>
        <p:txBody>
          <a:bodyPr rtlCol="0"/>
          <a:lstStyle/>
          <a:p>
            <a:endParaRPr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lang="zh-CN" altLang="en-US"/>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a:xfrm>
            <a:off x="8128000" y="6448252"/>
            <a:ext cx="3556000" cy="365125"/>
          </a:xfrm>
          <a:prstGeom prst="rect">
            <a:avLst/>
          </a:prstGeom>
        </p:spPr>
        <p:txBody>
          <a:bodyPr/>
          <a:lstStyle/>
          <a:p>
            <a:fld id="{C6F0F4B9-8654-4666-B278-A56EF8AD24B9}" type="datetime1">
              <a:rPr lang="zh-CN" altLang="en-US" smtClean="0">
                <a:solidFill>
                  <a:schemeClr val="tx2"/>
                </a:solidFill>
              </a:rPr>
            </a:fld>
            <a:endParaRPr lang="en-US"/>
          </a:p>
        </p:txBody>
      </p:sp>
      <p:sp>
        <p:nvSpPr>
          <p:cNvPr id="5" name="Footer Placeholder 4"/>
          <p:cNvSpPr>
            <a:spLocks noGrp="1"/>
          </p:cNvSpPr>
          <p:nvPr>
            <p:ph type="ftr" sz="quarter" idx="11"/>
          </p:nvPr>
        </p:nvSpPr>
        <p:spPr>
          <a:xfrm>
            <a:off x="597171" y="6248210"/>
            <a:ext cx="7443742"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558130" y="6381328"/>
            <a:ext cx="616218" cy="357402"/>
          </a:xfrm>
          <a:prstGeom prst="rect">
            <a:avLst/>
          </a:prstGeom>
        </p:spPr>
        <p:txBody>
          <a:bodyPr/>
          <a:lstStyle/>
          <a:p>
            <a:fld id="{72AC53DF-4216-466D-99A7-94400E6C2A25}" type="slidenum">
              <a:rPr lang="en-US" sz="1200" smtClean="0">
                <a:solidFill>
                  <a:schemeClr val="tx2"/>
                </a:solidFill>
              </a:rPr>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3"/>
            <a:ext cx="2743200" cy="5516563"/>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09600" y="609600"/>
            <a:ext cx="7416800" cy="551656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737600" y="6248406"/>
            <a:ext cx="2946400" cy="365125"/>
          </a:xfrm>
          <a:prstGeom prst="rect">
            <a:avLst/>
          </a:prstGeom>
        </p:spPr>
        <p:txBody>
          <a:bodyPr/>
          <a:lstStyle/>
          <a:p>
            <a:fld id="{576E0A97-5F99-4E84-B6F5-25253CC05384}" type="datetime1">
              <a:rPr lang="zh-CN" altLang="en-US" smtClean="0">
                <a:solidFill>
                  <a:schemeClr val="tx2"/>
                </a:solidFill>
              </a:rPr>
            </a:fld>
            <a:endParaRPr lang="en-US" dirty="0"/>
          </a:p>
        </p:txBody>
      </p:sp>
      <p:sp>
        <p:nvSpPr>
          <p:cNvPr id="5" name="Footer Placeholder 4"/>
          <p:cNvSpPr>
            <a:spLocks noGrp="1"/>
          </p:cNvSpPr>
          <p:nvPr>
            <p:ph type="ftr" sz="quarter" idx="11"/>
          </p:nvPr>
        </p:nvSpPr>
        <p:spPr>
          <a:xfrm>
            <a:off x="609604" y="6248211"/>
            <a:ext cx="7431311" cy="365125"/>
          </a:xfrm>
          <a:prstGeom prst="rect">
            <a:avLst/>
          </a:prstGeom>
        </p:spPr>
        <p:txBody>
          <a:bodyPr/>
          <a:lstStyle/>
          <a:p>
            <a:endParaRPr lang="en-US" dirty="0"/>
          </a:p>
        </p:txBody>
      </p:sp>
      <p:sp>
        <p:nvSpPr>
          <p:cNvPr id="7" name="Rectangle 6"/>
          <p:cNvSpPr/>
          <p:nvPr/>
        </p:nvSpPr>
        <p:spPr bwMode="white">
          <a:xfrm>
            <a:off x="8128425"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8189385"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8189385"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rot="5400000">
            <a:off x="8075085" y="103718"/>
            <a:ext cx="533400" cy="325968"/>
          </a:xfrm>
          <a:prstGeom prst="rect">
            <a:avLst/>
          </a:prstGeom>
        </p:spPr>
        <p:txBody>
          <a:bodyPr/>
          <a:lstStyle/>
          <a:p>
            <a:fld id="{72AC53DF-4216-466D-99A7-94400E6C2A25}" type="slidenum">
              <a:rPr lang="en-US" sz="1200" smtClean="0">
                <a:solidFill>
                  <a:schemeClr val="tx2"/>
                </a:solidFill>
              </a:rPr>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2107865" y="44624"/>
            <a:ext cx="9576135" cy="865294"/>
          </a:xfrm>
          <a:prstGeom prst="rect">
            <a:avLst/>
          </a:prstGeom>
        </p:spPr>
        <p:txBody>
          <a:bodyPr vert="horz" anchor="ctr">
            <a:normAutofit/>
          </a:bodyPr>
          <a:lstStyle/>
          <a:p>
            <a:r>
              <a:rPr lang="zh-CN" altLang="en-US" dirty="0"/>
              <a:t>单击此处编辑母版标题样式</a:t>
            </a:r>
            <a:endParaRPr lang="en-US" dirty="0"/>
          </a:p>
        </p:txBody>
      </p:sp>
      <p:sp>
        <p:nvSpPr>
          <p:cNvPr id="13" name="Text Placeholder 12"/>
          <p:cNvSpPr>
            <a:spLocks noGrp="1"/>
          </p:cNvSpPr>
          <p:nvPr>
            <p:ph type="body" idx="1"/>
          </p:nvPr>
        </p:nvSpPr>
        <p:spPr>
          <a:xfrm>
            <a:off x="508000" y="1520900"/>
            <a:ext cx="11180064" cy="4716412"/>
          </a:xfrm>
          <a:prstGeom prst="rect">
            <a:avLst/>
          </a:prstGeom>
        </p:spPr>
        <p:txBody>
          <a:bodyPr vert="horz">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Rectangle 6"/>
          <p:cNvSpPr/>
          <p:nvPr/>
        </p:nvSpPr>
        <p:spPr bwMode="white">
          <a:xfrm>
            <a:off x="0" y="903633"/>
            <a:ext cx="12192000" cy="437133"/>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ctr"/>
            <a:endParaRPr lang="en-US" sz="1800"/>
          </a:p>
        </p:txBody>
      </p:sp>
      <p:sp>
        <p:nvSpPr>
          <p:cNvPr id="8" name="Rectangle 7"/>
          <p:cNvSpPr/>
          <p:nvPr userDrawn="1"/>
        </p:nvSpPr>
        <p:spPr>
          <a:xfrm>
            <a:off x="0" y="903634"/>
            <a:ext cx="1959324" cy="4371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200" dirty="0">
              <a:solidFill>
                <a:schemeClr val="bg1"/>
              </a:solidFill>
            </a:endParaRPr>
          </a:p>
        </p:txBody>
      </p:sp>
      <p:sp>
        <p:nvSpPr>
          <p:cNvPr id="12" name="Rectangle 8"/>
          <p:cNvSpPr/>
          <p:nvPr userDrawn="1"/>
        </p:nvSpPr>
        <p:spPr>
          <a:xfrm>
            <a:off x="1" y="-1"/>
            <a:ext cx="1959324" cy="909919"/>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 </a:t>
            </a: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4" name="直接连接符 3"/>
          <p:cNvCxnSpPr/>
          <p:nvPr userDrawn="1"/>
        </p:nvCxnSpPr>
        <p:spPr>
          <a:xfrm>
            <a:off x="-1" y="6381328"/>
            <a:ext cx="1220032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Date Placeholder 13"/>
          <p:cNvSpPr txBox="1"/>
          <p:nvPr userDrawn="1"/>
        </p:nvSpPr>
        <p:spPr>
          <a:xfrm>
            <a:off x="-1" y="903632"/>
            <a:ext cx="1959324" cy="437134"/>
          </a:xfrm>
          <a:prstGeom prst="rect">
            <a:avLst/>
          </a:prstGeom>
        </p:spPr>
        <p:txBody>
          <a:bodyPr vert="horz" anchor="ctr" anchorCtr="0"/>
          <a:lstStyle>
            <a:defPPr>
              <a:defRPr lang="en-US"/>
            </a:defPPr>
            <a:lvl1pPr marL="0" algn="l" defTabSz="914400" rtl="0" latinLnBrk="0">
              <a:defRPr sz="1400" kern="1200">
                <a:solidFill>
                  <a:srgbClr val="FF0000"/>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统计学</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版</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Rectangle 11"/>
          <p:cNvSpPr>
            <a:spLocks noChangeArrowheads="1"/>
          </p:cNvSpPr>
          <p:nvPr userDrawn="1"/>
        </p:nvSpPr>
        <p:spPr bwMode="auto">
          <a:xfrm>
            <a:off x="10692446" y="6433651"/>
            <a:ext cx="8556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20000"/>
              </a:spcBef>
            </a:pPr>
            <a:r>
              <a:rPr lang="en-US" altLang="zh-CN" sz="1600" b="0" dirty="0">
                <a:solidFill>
                  <a:schemeClr val="bg1">
                    <a:lumMod val="50000"/>
                  </a:schemeClr>
                </a:solidFill>
                <a:latin typeface="微软雅黑" panose="020B0503020204020204" pitchFamily="34" charset="-122"/>
                <a:ea typeface="微软雅黑" panose="020B0503020204020204" pitchFamily="34" charset="-122"/>
              </a:rPr>
              <a:t>7 - </a:t>
            </a:r>
            <a:fld id="{16EAF49E-217F-4E01-A667-C6B4D41E8F57}" type="slidenum">
              <a:rPr lang="en-US" altLang="zh-CN" sz="1600" b="0" dirty="0" smtClean="0">
                <a:solidFill>
                  <a:schemeClr val="bg1">
                    <a:lumMod val="50000"/>
                  </a:schemeClr>
                </a:solidFill>
                <a:latin typeface="微软雅黑" panose="020B0503020204020204" pitchFamily="34" charset="-122"/>
                <a:ea typeface="微软雅黑" panose="020B0503020204020204" pitchFamily="34" charset="-122"/>
              </a:rPr>
            </a:fld>
            <a:endParaRPr lang="en-US" altLang="zh-CN" sz="1600" b="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7" name="页脚占位符 4"/>
          <p:cNvSpPr txBox="1"/>
          <p:nvPr userDrawn="1"/>
        </p:nvSpPr>
        <p:spPr>
          <a:xfrm>
            <a:off x="4217505" y="6415985"/>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统计学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第 </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版</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贾俊平</a:t>
            </a:r>
            <a:endParaRPr lang="zh-CN" altLang="en-US" dirty="0">
              <a:latin typeface="微软雅黑" panose="020B0503020204020204" pitchFamily="34" charset="-122"/>
              <a:ea typeface="微软雅黑" panose="020B0503020204020204" pitchFamily="34" charset="-122"/>
            </a:endParaRPr>
          </a:p>
        </p:txBody>
      </p:sp>
      <p:sp>
        <p:nvSpPr>
          <p:cNvPr id="18" name="副标题 2"/>
          <p:cNvSpPr txBox="1"/>
          <p:nvPr userDrawn="1"/>
        </p:nvSpPr>
        <p:spPr>
          <a:xfrm>
            <a:off x="387625" y="6366290"/>
            <a:ext cx="1803251" cy="392320"/>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fld id="{40D7A12C-C48C-4203-A694-F2B6F5190069}" type="datetime1">
              <a:rPr lang="zh-CN" altLang="en-US" sz="1600" b="1" smtClean="0">
                <a:solidFill>
                  <a:schemeClr val="bg1">
                    <a:lumMod val="50000"/>
                  </a:schemeClr>
                </a:solidFill>
                <a:effectLst/>
                <a:latin typeface="+mn-lt"/>
                <a:ea typeface="+mn-ea"/>
                <a:cs typeface="Arial" panose="020B0604020202020204" pitchFamily="34" charset="0"/>
              </a:rPr>
            </a:fld>
            <a:endParaRPr lang="zh-CN" altLang="en-US" sz="1600" b="1" dirty="0">
              <a:solidFill>
                <a:schemeClr val="bg1">
                  <a:lumMod val="50000"/>
                </a:schemeClr>
              </a:solidFill>
              <a:effectLst/>
              <a:latin typeface="+mn-lt"/>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rtl="0" eaLnBrk="1" latinLnBrk="0" hangingPunct="1">
        <a:spcBef>
          <a:spcPct val="0"/>
        </a:spcBef>
        <a:buNone/>
        <a:defRPr sz="3200" kern="1200">
          <a:solidFill>
            <a:schemeClr val="tx2"/>
          </a:solidFill>
          <a:latin typeface="华文细黑" panose="02010600040101010101" pitchFamily="2" charset="-122"/>
          <a:ea typeface="华文细黑" panose="02010600040101010101" pitchFamily="2" charset="-122"/>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tags" Target="../tags/tag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1.vml"/><Relationship Id="rId4" Type="http://schemas.openxmlformats.org/officeDocument/2006/relationships/slideLayout" Target="../slideLayouts/slideLayout4.xml"/><Relationship Id="rId3" Type="http://schemas.openxmlformats.org/officeDocument/2006/relationships/tags" Target="../tags/tag4.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tags" Target="../tags/tag5.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tags" Target="../tags/tag7.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tags" Target="../tags/tag8.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tags" Target="../tags/tag11.xml"/><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tags" Target="../tags/tag13.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4.xml"/><Relationship Id="rId3" Type="http://schemas.openxmlformats.org/officeDocument/2006/relationships/tags" Target="../tags/tag14.xml"/><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4.xml"/><Relationship Id="rId4" Type="http://schemas.openxmlformats.org/officeDocument/2006/relationships/tags" Target="../tags/tag15.xml"/><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4.xml"/><Relationship Id="rId3" Type="http://schemas.openxmlformats.org/officeDocument/2006/relationships/tags" Target="../tags/tag17.xml"/><Relationship Id="rId2" Type="http://schemas.openxmlformats.org/officeDocument/2006/relationships/image" Target="../media/image27.png"/><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4.xml"/><Relationship Id="rId3" Type="http://schemas.openxmlformats.org/officeDocument/2006/relationships/tags" Target="../tags/tag18.xml"/><Relationship Id="rId2" Type="http://schemas.openxmlformats.org/officeDocument/2006/relationships/image" Target="../media/image29.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tags" Target="../tags/tag20.xml"/><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tags" Target="../tags/tag22.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4.xml"/><Relationship Id="rId3" Type="http://schemas.openxmlformats.org/officeDocument/2006/relationships/tags" Target="../tags/tag23.xml"/><Relationship Id="rId2" Type="http://schemas.openxmlformats.org/officeDocument/2006/relationships/image" Target="../media/image35.png"/><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4.xml"/><Relationship Id="rId3" Type="http://schemas.openxmlformats.org/officeDocument/2006/relationships/tags" Target="../tags/tag24.xml"/><Relationship Id="rId2" Type="http://schemas.openxmlformats.org/officeDocument/2006/relationships/image" Target="../media/image37.png"/><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tags" Target="../tags/tag25.xml"/><Relationship Id="rId2" Type="http://schemas.openxmlformats.org/officeDocument/2006/relationships/image" Target="../media/image39.png"/><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4.xml"/><Relationship Id="rId3" Type="http://schemas.openxmlformats.org/officeDocument/2006/relationships/tags" Target="../tags/tag26.xml"/><Relationship Id="rId2" Type="http://schemas.openxmlformats.org/officeDocument/2006/relationships/image" Target="../media/image41.png"/><Relationship Id="rId1"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p:cNvSpPr txBox="1"/>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p:cNvPicPr>
            <a:picLocks noChangeAspect="1"/>
          </p:cNvPicPr>
          <p:nvPr/>
        </p:nvPicPr>
        <p:blipFill>
          <a:blip r:embed="rId1"/>
          <a:stretch>
            <a:fillRect/>
          </a:stretch>
        </p:blipFill>
        <p:spPr>
          <a:xfrm>
            <a:off x="-57405" y="-85059"/>
            <a:ext cx="12423070" cy="6943059"/>
          </a:xfrm>
          <a:prstGeom prst="rect">
            <a:avLst/>
          </a:prstGeom>
        </p:spPr>
      </p:pic>
      <p:sp>
        <p:nvSpPr>
          <p:cNvPr id="9" name="圆角矩形 4"/>
          <p:cNvSpPr/>
          <p:nvPr/>
        </p:nvSpPr>
        <p:spPr>
          <a:xfrm>
            <a:off x="1318436" y="2232837"/>
            <a:ext cx="9803219" cy="3785191"/>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0" scaled="1"/>
            <a:tileRect/>
          </a:gra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7.1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参数估计的基本原理 </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7.2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一个总体参数的区间估计</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7.3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两个总体参数的区间估计</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7.4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样本量的确定 </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文本框 10"/>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参数估计</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250">
        <p:wipe dir="r"/>
      </p:transition>
    </mc:Choice>
    <mc:Fallback>
      <p:transition>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lgn="ctr">
              <a:spcBef>
                <a:spcPts val="0"/>
              </a:spcBef>
            </a:pPr>
            <a:r>
              <a:rPr lang="zh-CN" altLang="en-US" sz="3000" b="1" dirty="0">
                <a:solidFill>
                  <a:srgbClr val="4F271C"/>
                </a:solidFill>
                <a:latin typeface="微软雅黑" panose="020B0503020204020204" pitchFamily="34" charset="-122"/>
                <a:ea typeface="微软雅黑" panose="020B0503020204020204" pitchFamily="34" charset="-122"/>
              </a:rPr>
              <a:t>导  读</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23392" y="1556792"/>
            <a:ext cx="10873208" cy="4680520"/>
          </a:xfrm>
          <a:ln w="12700" cmpd="dbl">
            <a:solidFill>
              <a:schemeClr val="accent1"/>
            </a:solidFill>
          </a:ln>
        </p:spPr>
        <p:txBody>
          <a:bodyPr>
            <a:normAutofit fontScale="85000" lnSpcReduction="20000"/>
          </a:bodyPr>
          <a:lstStyle/>
          <a:p>
            <a:pPr marL="447675" lvl="1" indent="-447675" algn="just">
              <a:lnSpc>
                <a:spcPct val="150000"/>
              </a:lnSpc>
              <a:spcBef>
                <a:spcPts val="700"/>
              </a:spcBef>
              <a:buSzPct val="100000"/>
              <a:buFont typeface="Wingdings" panose="05000000000000000000" pitchFamily="2" charset="2"/>
              <a:buChar char="l"/>
              <a:defRPr/>
            </a:pPr>
            <a:r>
              <a:rPr lang="zh-CN" altLang="zh-CN" dirty="0">
                <a:latin typeface="Arial" panose="020B0604020202020204" pitchFamily="34" charset="0"/>
                <a:cs typeface="Arial" panose="020B0604020202020204" pitchFamily="34" charset="0"/>
              </a:rPr>
              <a:t>随着电子商务发展，线上购物逐渐成为人们生活中的重要消费方式。作为年轻人的大学生群体无疑是网络购物的重要消费群体。网购给人们带来便捷的同时，也造成了某些超额消费现象，进而催生了各类网络信贷平台。大学生便是网络信贷平台的重要使用者。</a:t>
            </a:r>
            <a:r>
              <a:rPr lang="en-US" altLang="zh-CN" dirty="0">
                <a:latin typeface="Arial" panose="020B0604020202020204" pitchFamily="34" charset="0"/>
                <a:cs typeface="Arial" panose="020B0604020202020204" pitchFamily="34" charset="0"/>
              </a:rPr>
              <a:t>2020</a:t>
            </a:r>
            <a:r>
              <a:rPr lang="zh-CN" altLang="zh-CN" dirty="0">
                <a:latin typeface="Arial" panose="020B0604020202020204" pitchFamily="34" charset="0"/>
                <a:cs typeface="Arial" panose="020B0604020202020204" pitchFamily="34" charset="0"/>
              </a:rPr>
              <a:t>年</a:t>
            </a:r>
            <a:r>
              <a:rPr lang="en-US" altLang="zh-CN" dirty="0">
                <a:latin typeface="Arial" panose="020B0604020202020204" pitchFamily="34" charset="0"/>
                <a:cs typeface="Arial" panose="020B0604020202020204" pitchFamily="34" charset="0"/>
              </a:rPr>
              <a:t>11</a:t>
            </a:r>
            <a:r>
              <a:rPr lang="zh-CN" altLang="zh-CN" dirty="0">
                <a:latin typeface="Arial" panose="020B0604020202020204" pitchFamily="34" charset="0"/>
                <a:cs typeface="Arial" panose="020B0604020202020204" pitchFamily="34" charset="0"/>
              </a:rPr>
              <a:t>月，中国人民大学财金学院的几个学生以“双十一”购物促销为背景，通过问卷调查获得大学生“双十一”期间网络购物的消费及信贷情况的相关数据，根据调查数据做了多角度的分析。其中的结论之一是：“双十一”期间女性平均消费金额的</a:t>
            </a:r>
            <a:r>
              <a:rPr lang="en-US" altLang="zh-CN" dirty="0">
                <a:latin typeface="Arial" panose="020B0604020202020204" pitchFamily="34" charset="0"/>
                <a:cs typeface="Arial" panose="020B0604020202020204" pitchFamily="34" charset="0"/>
              </a:rPr>
              <a:t>95%</a:t>
            </a:r>
            <a:r>
              <a:rPr lang="zh-CN" altLang="zh-CN" dirty="0">
                <a:latin typeface="Arial" panose="020B0604020202020204" pitchFamily="34" charset="0"/>
                <a:cs typeface="Arial" panose="020B0604020202020204" pitchFamily="34" charset="0"/>
              </a:rPr>
              <a:t>的置信区间为</a:t>
            </a:r>
            <a:r>
              <a:rPr lang="en-US" altLang="zh-CN" dirty="0">
                <a:latin typeface="Arial" panose="020B0604020202020204" pitchFamily="34" charset="0"/>
                <a:cs typeface="Arial" panose="020B0604020202020204" pitchFamily="34" charset="0"/>
              </a:rPr>
              <a:t> 1063.39~1501.99 </a:t>
            </a:r>
            <a:r>
              <a:rPr lang="zh-CN" altLang="zh-CN" dirty="0">
                <a:latin typeface="Arial" panose="020B0604020202020204" pitchFamily="34" charset="0"/>
                <a:cs typeface="Arial" panose="020B0604020202020204" pitchFamily="34" charset="0"/>
              </a:rPr>
              <a:t>元，男性平均消费金额的</a:t>
            </a:r>
            <a:r>
              <a:rPr lang="en-US" altLang="zh-CN" dirty="0">
                <a:latin typeface="Arial" panose="020B0604020202020204" pitchFamily="34" charset="0"/>
                <a:cs typeface="Arial" panose="020B0604020202020204" pitchFamily="34" charset="0"/>
              </a:rPr>
              <a:t> 95%</a:t>
            </a:r>
            <a:r>
              <a:rPr lang="zh-CN" altLang="zh-CN" dirty="0">
                <a:latin typeface="Arial" panose="020B0604020202020204" pitchFamily="34" charset="0"/>
                <a:cs typeface="Arial" panose="020B0604020202020204" pitchFamily="34" charset="0"/>
              </a:rPr>
              <a:t>的置信区间为</a:t>
            </a:r>
            <a:r>
              <a:rPr lang="en-US" altLang="zh-CN" dirty="0">
                <a:latin typeface="Arial" panose="020B0604020202020204" pitchFamily="34" charset="0"/>
                <a:cs typeface="Arial" panose="020B0604020202020204" pitchFamily="34" charset="0"/>
              </a:rPr>
              <a:t> 496.93~814.15 </a:t>
            </a:r>
            <a:r>
              <a:rPr lang="zh-CN" altLang="zh-CN" dirty="0">
                <a:latin typeface="Arial" panose="020B0604020202020204" pitchFamily="34" charset="0"/>
                <a:cs typeface="Arial" panose="020B0604020202020204" pitchFamily="34" charset="0"/>
              </a:rPr>
              <a:t>元</a:t>
            </a:r>
            <a:endParaRPr lang="zh-CN" altLang="zh-CN" dirty="0">
              <a:latin typeface="Arial" panose="020B0604020202020204" pitchFamily="34" charset="0"/>
              <a:cs typeface="Arial" panose="020B0604020202020204" pitchFamily="34" charset="0"/>
            </a:endParaRPr>
          </a:p>
          <a:p>
            <a:pPr marL="447675" lvl="1" indent="-447675" algn="just">
              <a:lnSpc>
                <a:spcPct val="150000"/>
              </a:lnSpc>
              <a:spcBef>
                <a:spcPts val="700"/>
              </a:spcBef>
              <a:buSzPct val="100000"/>
              <a:buFont typeface="Wingdings" panose="05000000000000000000" pitchFamily="2" charset="2"/>
              <a:buChar char="l"/>
              <a:defRPr/>
            </a:pPr>
            <a:r>
              <a:rPr lang="zh-CN" altLang="zh-CN" dirty="0">
                <a:latin typeface="Arial" panose="020B0604020202020204" pitchFamily="34" charset="0"/>
                <a:cs typeface="Arial" panose="020B0604020202020204" pitchFamily="34" charset="0"/>
              </a:rPr>
              <a:t>什么是置信区间？上面的置信区间是如何构建出来的？</a:t>
            </a:r>
            <a:r>
              <a:rPr lang="en-US" altLang="zh-CN" dirty="0">
                <a:latin typeface="Arial" panose="020B0604020202020204" pitchFamily="34" charset="0"/>
                <a:cs typeface="Arial" panose="020B0604020202020204" pitchFamily="34" charset="0"/>
              </a:rPr>
              <a:t>95%</a:t>
            </a:r>
            <a:r>
              <a:rPr lang="zh-CN" altLang="zh-CN" dirty="0">
                <a:latin typeface="Arial" panose="020B0604020202020204" pitchFamily="34" charset="0"/>
                <a:cs typeface="Arial" panose="020B0604020202020204" pitchFamily="34" charset="0"/>
              </a:rPr>
              <a:t>的置信区间意味着什么？本章内容就将回答这些问题</a:t>
            </a:r>
            <a:endParaRPr lang="zh-CN" altLang="zh-CN" dirty="0">
              <a:latin typeface="Arial" panose="020B0604020202020204" pitchFamily="34" charset="0"/>
              <a:cs typeface="Arial" panose="020B060402020202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双十一”期间大学生平均消费支出有多少</a:t>
            </a:r>
            <a:endPar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参数估计的基本原理</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估计量与估计值</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Rectangle 3"/>
              <p:cNvSpPr txBox="1">
                <a:spLocks noChangeArrowheads="1"/>
              </p:cNvSpPr>
              <p:nvPr/>
            </p:nvSpPr>
            <p:spPr>
              <a:xfrm>
                <a:off x="804470" y="1522406"/>
                <a:ext cx="10620122" cy="4719368"/>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9580" indent="-449580" algn="just">
                  <a:lnSpc>
                    <a:spcPct val="150000"/>
                  </a:lnSpc>
                  <a:buClr>
                    <a:schemeClr val="accent1"/>
                  </a:buClr>
                  <a:buFont typeface="Wingdings" panose="05000000000000000000" pitchFamily="2" charset="2"/>
                  <a:buChar char="l"/>
                  <a:defRPr/>
                </a:pPr>
                <a:r>
                  <a:rPr lang="zh-CN" altLang="en-US" sz="2400" b="1" dirty="0">
                    <a:solidFill>
                      <a:srgbClr val="FF0000"/>
                    </a:solidFill>
                    <a:ea typeface="华文细黑" panose="02010600040101010101" pitchFamily="2" charset="-122"/>
                  </a:rPr>
                  <a:t>参数估计</a:t>
                </a:r>
                <a:r>
                  <a:rPr lang="en-US" altLang="zh-CN" sz="2400" dirty="0">
                    <a:ea typeface="华文细黑" panose="02010600040101010101" pitchFamily="2" charset="-122"/>
                  </a:rPr>
                  <a:t>(parameter estimation)_——</a:t>
                </a:r>
                <a:r>
                  <a:rPr lang="zh-CN" altLang="en-US" sz="2400" dirty="0">
                    <a:ea typeface="华文细黑" panose="02010600040101010101" pitchFamily="2" charset="-122"/>
                  </a:rPr>
                  <a:t>就是用样本统计量去估计总体的参数</a:t>
                </a:r>
                <a:endParaRPr lang="zh-CN" altLang="en-US" sz="2400" dirty="0">
                  <a:ea typeface="华文细黑" panose="02010600040101010101" pitchFamily="2" charset="-122"/>
                </a:endParaRPr>
              </a:p>
              <a:p>
                <a:pPr marL="1076325" lvl="1" indent="-390525" algn="just">
                  <a:lnSpc>
                    <a:spcPct val="150000"/>
                  </a:lnSpc>
                  <a:buClr>
                    <a:srgbClr val="C00000"/>
                  </a:buClr>
                  <a:buFont typeface="Wingdings" panose="05000000000000000000" pitchFamily="2" charset="2"/>
                  <a:buChar char="Ø"/>
                  <a:defRPr/>
                </a:pPr>
                <a:r>
                  <a:rPr lang="zh-CN" altLang="en-US" sz="2000" dirty="0">
                    <a:latin typeface="华文细黑" panose="02010600040101010101" pitchFamily="2" charset="-122"/>
                    <a:ea typeface="华文细黑" panose="02010600040101010101" pitchFamily="2" charset="-122"/>
                  </a:rPr>
                  <a:t>估计量：用于估计总体参数的统计量的名称</a:t>
                </a:r>
                <a:endParaRPr lang="zh-CN" altLang="en-US" sz="2000" dirty="0">
                  <a:latin typeface="华文细黑" panose="02010600040101010101" pitchFamily="2" charset="-122"/>
                  <a:ea typeface="华文细黑" panose="02010600040101010101" pitchFamily="2" charset="-122"/>
                </a:endParaRPr>
              </a:p>
              <a:p>
                <a:pPr marL="1076325" lvl="1" indent="-390525" algn="just">
                  <a:lnSpc>
                    <a:spcPct val="150000"/>
                  </a:lnSpc>
                  <a:buClr>
                    <a:srgbClr val="C00000"/>
                  </a:buClr>
                  <a:buSzPct val="80000"/>
                  <a:buFont typeface="Wingdings" panose="05000000000000000000" pitchFamily="2" charset="2"/>
                  <a:buChar char="Ø"/>
                  <a:defRPr/>
                </a:pPr>
                <a:r>
                  <a:rPr lang="zh-CN" altLang="en-US" sz="2000" dirty="0">
                    <a:latin typeface="华文细黑" panose="02010600040101010101" pitchFamily="2" charset="-122"/>
                    <a:ea typeface="华文细黑" panose="02010600040101010101" pitchFamily="2" charset="-122"/>
                  </a:rPr>
                  <a:t>如样本均值，样本比例，样本方差等</a:t>
                </a:r>
                <a:endParaRPr lang="zh-CN" altLang="en-US" sz="2000" dirty="0">
                  <a:latin typeface="华文细黑" panose="02010600040101010101" pitchFamily="2" charset="-122"/>
                  <a:ea typeface="华文细黑" panose="02010600040101010101" pitchFamily="2" charset="-122"/>
                </a:endParaRPr>
              </a:p>
              <a:p>
                <a:pPr marL="1076325" lvl="1" indent="-390525" algn="just">
                  <a:lnSpc>
                    <a:spcPct val="150000"/>
                  </a:lnSpc>
                  <a:buClr>
                    <a:srgbClr val="C00000"/>
                  </a:buClr>
                  <a:buSzPct val="80000"/>
                  <a:buFont typeface="Wingdings" panose="05000000000000000000" pitchFamily="2" charset="2"/>
                  <a:buChar char="Ø"/>
                  <a:defRPr/>
                </a:pPr>
                <a:r>
                  <a:rPr lang="zh-CN" altLang="en-US" sz="2000" dirty="0">
                    <a:latin typeface="华文细黑" panose="02010600040101010101" pitchFamily="2" charset="-122"/>
                    <a:ea typeface="华文细黑" panose="02010600040101010101" pitchFamily="2" charset="-122"/>
                  </a:rPr>
                  <a:t>例如</a:t>
                </a:r>
                <a:r>
                  <a:rPr lang="en-US" altLang="zh-CN" sz="2000" dirty="0">
                    <a:latin typeface="华文细黑" panose="02010600040101010101" pitchFamily="2" charset="-122"/>
                    <a:ea typeface="华文细黑" panose="02010600040101010101" pitchFamily="2" charset="-122"/>
                  </a:rPr>
                  <a:t>: </a:t>
                </a:r>
                <a:r>
                  <a:rPr lang="zh-CN" altLang="en-US" sz="2000" dirty="0">
                    <a:latin typeface="华文细黑" panose="02010600040101010101" pitchFamily="2" charset="-122"/>
                    <a:ea typeface="华文细黑" panose="02010600040101010101" pitchFamily="2" charset="-122"/>
                  </a:rPr>
                  <a:t>样本均值就是总体均值</a:t>
                </a:r>
                <a14:m>
                  <m:oMath xmlns:m="http://schemas.openxmlformats.org/officeDocument/2006/math">
                    <m:r>
                      <a:rPr lang="zh-CN" altLang="en-US" sz="2000" i="1" smtClean="0">
                        <a:latin typeface="Cambria Math" panose="02040503050406030204" pitchFamily="18" charset="0"/>
                        <a:ea typeface="华文细黑" panose="02010600040101010101" pitchFamily="2" charset="-122"/>
                      </a:rPr>
                      <m:t>𝜇</m:t>
                    </m:r>
                  </m:oMath>
                </a14:m>
                <a:r>
                  <a:rPr lang="zh-CN" altLang="en-US" sz="2000" dirty="0">
                    <a:latin typeface="华文细黑" panose="02010600040101010101" pitchFamily="2" charset="-122"/>
                    <a:ea typeface="华文细黑" panose="02010600040101010101" pitchFamily="2" charset="-122"/>
                  </a:rPr>
                  <a:t>的一个估计量</a:t>
                </a:r>
                <a:endParaRPr lang="zh-CN" altLang="en-US" sz="2000" dirty="0">
                  <a:latin typeface="华文细黑" panose="02010600040101010101" pitchFamily="2" charset="-122"/>
                  <a:ea typeface="华文细黑" panose="02010600040101010101" pitchFamily="2" charset="-122"/>
                </a:endParaRPr>
              </a:p>
              <a:p>
                <a:pPr marL="449580" indent="-449580" algn="just">
                  <a:lnSpc>
                    <a:spcPct val="150000"/>
                  </a:lnSpc>
                  <a:buClr>
                    <a:schemeClr val="accent1"/>
                  </a:buClr>
                  <a:buFont typeface="Wingdings" panose="05000000000000000000" pitchFamily="2" charset="2"/>
                  <a:buChar char="l"/>
                  <a:defRPr/>
                </a:pPr>
                <a:r>
                  <a:rPr lang="zh-CN" altLang="en-US" sz="2400" dirty="0">
                    <a:ea typeface="华文细黑" panose="02010600040101010101" pitchFamily="2" charset="-122"/>
                  </a:rPr>
                  <a:t>参数用</a:t>
                </a:r>
                <a:r>
                  <a:rPr lang="zh-CN" altLang="en-US" sz="2400" i="1" dirty="0">
                    <a:ea typeface="华文细黑" panose="02010600040101010101" pitchFamily="2" charset="-122"/>
                    <a:sym typeface="Symbol" panose="05050102010706020507" pitchFamily="18" charset="2"/>
                  </a:rPr>
                  <a:t></a:t>
                </a:r>
                <a:r>
                  <a:rPr lang="zh-CN" altLang="en-US" sz="2400" dirty="0">
                    <a:ea typeface="华文细黑" panose="02010600040101010101" pitchFamily="2" charset="-122"/>
                    <a:sym typeface="Symbol" panose="05050102010706020507" pitchFamily="18" charset="2"/>
                  </a:rPr>
                  <a:t> 表示，估计量</a:t>
                </a:r>
                <a:r>
                  <a:rPr lang="zh-CN" altLang="en-US" sz="2400" dirty="0">
                    <a:ea typeface="华文细黑" panose="02010600040101010101" pitchFamily="2" charset="-122"/>
                  </a:rPr>
                  <a:t>用</a:t>
                </a:r>
                <a14:m>
                  <m:oMath xmlns:m="http://schemas.openxmlformats.org/officeDocument/2006/math">
                    <m:acc>
                      <m:accPr>
                        <m:ctrlPr>
                          <a:rPr lang="zh-CN" altLang="en-US" sz="2400" i="1" smtClean="0">
                            <a:latin typeface="Cambria Math" panose="02040503050406030204" pitchFamily="18" charset="0"/>
                            <a:ea typeface="华文细黑" panose="02010600040101010101" pitchFamily="2" charset="-122"/>
                          </a:rPr>
                        </m:ctrlPr>
                      </m:accPr>
                      <m:e>
                        <m:r>
                          <a:rPr lang="zh-CN" altLang="en-US" sz="2400" i="1" smtClean="0">
                            <a:latin typeface="Cambria Math" panose="02040503050406030204" pitchFamily="18" charset="0"/>
                            <a:ea typeface="华文细黑" panose="02010600040101010101" pitchFamily="2" charset="-122"/>
                          </a:rPr>
                          <m:t>𝜃</m:t>
                        </m:r>
                      </m:e>
                    </m:acc>
                  </m:oMath>
                </a14:m>
                <a:r>
                  <a:rPr lang="zh-CN" altLang="en-US" sz="2400" dirty="0">
                    <a:ea typeface="华文细黑" panose="02010600040101010101" pitchFamily="2" charset="-122"/>
                  </a:rPr>
                  <a:t>表示</a:t>
                </a:r>
                <a:endParaRPr lang="zh-CN" altLang="en-US" sz="2400" dirty="0">
                  <a:ea typeface="华文细黑" panose="02010600040101010101" pitchFamily="2" charset="-122"/>
                </a:endParaRPr>
              </a:p>
              <a:p>
                <a:pPr marL="449580" indent="-449580" algn="just">
                  <a:lnSpc>
                    <a:spcPct val="150000"/>
                  </a:lnSpc>
                  <a:buClr>
                    <a:schemeClr val="accent1"/>
                  </a:buClr>
                  <a:buFont typeface="Wingdings" panose="05000000000000000000" pitchFamily="2" charset="2"/>
                  <a:buChar char="l"/>
                  <a:defRPr/>
                </a:pPr>
                <a:r>
                  <a:rPr lang="zh-CN" altLang="en-US" sz="2400" b="1" dirty="0">
                    <a:solidFill>
                      <a:srgbClr val="FF0000"/>
                    </a:solidFill>
                    <a:ea typeface="华文细黑" panose="02010600040101010101" pitchFamily="2" charset="-122"/>
                  </a:rPr>
                  <a:t>估计值</a:t>
                </a:r>
                <a:r>
                  <a:rPr lang="en-US" altLang="zh-CN" sz="2400" dirty="0">
                    <a:ea typeface="华文细黑" panose="02010600040101010101" pitchFamily="2" charset="-122"/>
                  </a:rPr>
                  <a:t>——</a:t>
                </a:r>
                <a:r>
                  <a:rPr lang="zh-CN" altLang="en-US" sz="2400" dirty="0">
                    <a:ea typeface="华文细黑" panose="02010600040101010101" pitchFamily="2" charset="-122"/>
                  </a:rPr>
                  <a:t>估计参数时计算出来的统计量的具体值</a:t>
                </a:r>
                <a:endParaRPr lang="zh-CN" altLang="en-US" sz="2400" dirty="0">
                  <a:ea typeface="华文细黑" panose="02010600040101010101" pitchFamily="2" charset="-122"/>
                </a:endParaRPr>
              </a:p>
              <a:p>
                <a:pPr marL="1076325" lvl="1" indent="-390525" algn="just">
                  <a:lnSpc>
                    <a:spcPct val="150000"/>
                  </a:lnSpc>
                  <a:buClr>
                    <a:srgbClr val="C00000"/>
                  </a:buClr>
                  <a:buSzPct val="80000"/>
                  <a:buFont typeface="Wingdings" panose="05000000000000000000" pitchFamily="2" charset="2"/>
                  <a:buChar char="Ø"/>
                  <a:defRPr/>
                </a:pPr>
                <a:r>
                  <a:rPr lang="zh-CN" altLang="en-US" sz="2000" dirty="0">
                    <a:latin typeface="华文细黑" panose="02010600040101010101" pitchFamily="2" charset="-122"/>
                    <a:ea typeface="华文细黑" panose="02010600040101010101" pitchFamily="2" charset="-122"/>
                  </a:rPr>
                  <a:t>如果样本均值</a:t>
                </a:r>
                <a14:m>
                  <m:oMath xmlns:m="http://schemas.openxmlformats.org/officeDocument/2006/math">
                    <m:acc>
                      <m:accPr>
                        <m:chr m:val="̅"/>
                        <m:ctrlPr>
                          <a:rPr lang="zh-CN" altLang="en-US" sz="2000" i="1">
                            <a:latin typeface="Cambria Math" panose="02040503050406030204" pitchFamily="18" charset="0"/>
                            <a:ea typeface="华文细黑" panose="02010600040101010101" pitchFamily="2" charset="-122"/>
                          </a:rPr>
                        </m:ctrlPr>
                      </m:accPr>
                      <m:e>
                        <m:r>
                          <a:rPr lang="en-US" altLang="zh-CN" sz="2000">
                            <a:latin typeface="Cambria Math" panose="02040503050406030204" pitchFamily="18" charset="0"/>
                            <a:ea typeface="华文细黑" panose="02010600040101010101" pitchFamily="2" charset="-122"/>
                          </a:rPr>
                          <m:t>𝑥</m:t>
                        </m:r>
                      </m:e>
                    </m:acc>
                    <m:r>
                      <a:rPr lang="en-US" altLang="zh-CN" sz="2000">
                        <a:latin typeface="Cambria Math" panose="02040503050406030204" pitchFamily="18" charset="0"/>
                        <a:ea typeface="华文细黑" panose="02010600040101010101" pitchFamily="2" charset="-122"/>
                      </a:rPr>
                      <m:t>=</m:t>
                    </m:r>
                    <m:r>
                      <a:rPr lang="en-US" altLang="zh-CN" sz="2000">
                        <a:latin typeface="Cambria Math" panose="02040503050406030204" pitchFamily="18" charset="0"/>
                        <a:ea typeface="华文细黑" panose="02010600040101010101" pitchFamily="2" charset="-122"/>
                      </a:rPr>
                      <m:t>80</m:t>
                    </m:r>
                  </m:oMath>
                </a14:m>
                <a:r>
                  <a:rPr lang="zh-CN" altLang="en-US" sz="2000" dirty="0">
                    <a:latin typeface="华文细黑" panose="02010600040101010101" pitchFamily="2" charset="-122"/>
                    <a:ea typeface="华文细黑" panose="02010600040101010101" pitchFamily="2" charset="-122"/>
                  </a:rPr>
                  <a:t>，则</a:t>
                </a:r>
                <a:r>
                  <a:rPr lang="en-US" altLang="zh-CN" sz="2000" dirty="0">
                    <a:latin typeface="华文细黑" panose="02010600040101010101" pitchFamily="2" charset="-122"/>
                    <a:ea typeface="华文细黑" panose="02010600040101010101" pitchFamily="2" charset="-122"/>
                  </a:rPr>
                  <a:t>80</a:t>
                </a:r>
                <a:r>
                  <a:rPr lang="zh-CN" altLang="en-US" sz="2000" dirty="0">
                    <a:latin typeface="华文细黑" panose="02010600040101010101" pitchFamily="2" charset="-122"/>
                    <a:ea typeface="华文细黑" panose="02010600040101010101" pitchFamily="2" charset="-122"/>
                  </a:rPr>
                  <a:t>就是</a:t>
                </a:r>
                <a:r>
                  <a:rPr lang="zh-CN" altLang="en-US" sz="2000" dirty="0">
                    <a:latin typeface="华文细黑" panose="02010600040101010101" pitchFamily="2" charset="-122"/>
                    <a:ea typeface="华文细黑" panose="02010600040101010101" pitchFamily="2" charset="-122"/>
                    <a:sym typeface="Symbol" panose="05050102010706020507" pitchFamily="18" charset="2"/>
                  </a:rPr>
                  <a:t></a:t>
                </a:r>
                <a:r>
                  <a:rPr lang="zh-CN" altLang="en-US" sz="2000" dirty="0">
                    <a:latin typeface="华文细黑" panose="02010600040101010101" pitchFamily="2" charset="-122"/>
                    <a:ea typeface="华文细黑" panose="02010600040101010101" pitchFamily="2" charset="-122"/>
                  </a:rPr>
                  <a:t> 的估计值</a:t>
                </a:r>
                <a:endParaRPr lang="en-US" altLang="zh-CN" sz="2000" dirty="0">
                  <a:latin typeface="华文细黑" panose="02010600040101010101" pitchFamily="2" charset="-122"/>
                  <a:ea typeface="华文细黑" panose="02010600040101010101" pitchFamily="2" charset="-122"/>
                </a:endParaRPr>
              </a:p>
            </p:txBody>
          </p:sp>
        </mc:Choice>
        <mc:Fallback>
          <p:sp>
            <p:nvSpPr>
              <p:cNvPr id="10" name="Rectangle 3"/>
              <p:cNvSpPr txBox="1">
                <a:spLocks noRot="1" noChangeAspect="1" noMove="1" noResize="1" noEditPoints="1" noAdjustHandles="1" noChangeArrowheads="1" noChangeShapeType="1" noTextEdit="1"/>
              </p:cNvSpPr>
              <p:nvPr/>
            </p:nvSpPr>
            <p:spPr>
              <a:xfrm>
                <a:off x="804470" y="1522406"/>
                <a:ext cx="10620122" cy="4719368"/>
              </a:xfrm>
              <a:prstGeom prst="rect">
                <a:avLst/>
              </a:prstGeom>
              <a:blipFill rotWithShape="1">
                <a:blip r:embed="rId1"/>
                <a:stretch>
                  <a:fillRect l="-65" t="-141" r="-57" b="-127"/>
                </a:stretch>
              </a:blipFill>
              <a:ln w="12700">
                <a:solidFill>
                  <a:schemeClr val="accent1"/>
                </a:solidFill>
                <a:miter lim="800000"/>
              </a:ln>
            </p:spPr>
            <p:txBody>
              <a:bodyPr/>
              <a:lstStyle/>
              <a:p>
                <a:r>
                  <a:rPr lang="zh-CN" altLang="en-US">
                    <a:noFill/>
                  </a:rPr>
                  <a:t> </a:t>
                </a:r>
              </a:p>
            </p:txBody>
          </p:sp>
        </mc:Fallback>
      </mc:AlternateContent>
    </p:spTree>
    <p:custDataLst>
      <p:tags r:id="rId2"/>
    </p:custData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参数估计的基本原理</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点估计与区间估计</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Rectangle 3"/>
          <p:cNvSpPr txBox="1">
            <a:spLocks noChangeArrowheads="1"/>
          </p:cNvSpPr>
          <p:nvPr/>
        </p:nvSpPr>
        <p:spPr>
          <a:xfrm>
            <a:off x="767408" y="1484784"/>
            <a:ext cx="4680520" cy="4753754"/>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9580" indent="-449580" algn="just">
              <a:lnSpc>
                <a:spcPct val="100000"/>
              </a:lnSpc>
              <a:buClr>
                <a:schemeClr val="accent1"/>
              </a:buClr>
              <a:buFont typeface="Wingdings" panose="05000000000000000000" pitchFamily="2" charset="2"/>
              <a:buChar char="l"/>
              <a:defRPr/>
            </a:pPr>
            <a:r>
              <a:rPr lang="zh-CN" altLang="en-US" sz="2000" b="1" dirty="0">
                <a:solidFill>
                  <a:srgbClr val="FF0000"/>
                </a:solidFill>
                <a:ea typeface="华文细黑" panose="02010600040101010101" pitchFamily="2" charset="-122"/>
              </a:rPr>
              <a:t>点估计</a:t>
            </a:r>
            <a:r>
              <a:rPr lang="en-US" altLang="zh-CN" sz="2000" dirty="0">
                <a:ea typeface="华文细黑" panose="02010600040101010101" pitchFamily="2" charset="-122"/>
              </a:rPr>
              <a:t>——</a:t>
            </a:r>
            <a:r>
              <a:rPr lang="zh-CN" altLang="en-US" sz="2000" dirty="0">
                <a:ea typeface="华文细黑" panose="02010600040101010101" pitchFamily="2" charset="-122"/>
              </a:rPr>
              <a:t>用样本的估计量的某个取值直接作为总体参数的估计值</a:t>
            </a:r>
            <a:endParaRPr lang="zh-CN" altLang="en-US" sz="2000" dirty="0">
              <a:ea typeface="华文细黑" panose="02010600040101010101" pitchFamily="2" charset="-122"/>
            </a:endParaRPr>
          </a:p>
          <a:p>
            <a:pPr marL="1076325" lvl="1" indent="-390525" algn="just">
              <a:lnSpc>
                <a:spcPct val="100000"/>
              </a:lnSpc>
              <a:buClr>
                <a:srgbClr val="C00000"/>
              </a:buClr>
              <a:buSzPct val="80000"/>
              <a:buFont typeface="Wingdings" panose="05000000000000000000" pitchFamily="2" charset="2"/>
              <a:buChar char="Ø"/>
              <a:defRPr/>
            </a:pPr>
            <a:r>
              <a:rPr lang="zh-CN" altLang="en-US" sz="1600" dirty="0">
                <a:latin typeface="华文细黑" panose="02010600040101010101" pitchFamily="2" charset="-122"/>
                <a:ea typeface="华文细黑" panose="02010600040101010101" pitchFamily="2" charset="-122"/>
              </a:rPr>
              <a:t>例如：用样本均值直接作为总体均值的估计；用两个样本均值之差直接作为总体均值之差的估计</a:t>
            </a:r>
            <a:endParaRPr lang="zh-CN" altLang="en-US" sz="1600" dirty="0">
              <a:latin typeface="华文细黑" panose="02010600040101010101" pitchFamily="2" charset="-122"/>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2000" dirty="0">
                <a:ea typeface="华文细黑" panose="02010600040101010101" pitchFamily="2" charset="-122"/>
              </a:rPr>
              <a:t>点估计无法给出估计值接近总体参数程度的信息</a:t>
            </a:r>
            <a:endParaRPr lang="zh-CN" altLang="en-US" sz="2000" dirty="0">
              <a:ea typeface="华文细黑" panose="02010600040101010101" pitchFamily="2" charset="-122"/>
            </a:endParaRPr>
          </a:p>
          <a:p>
            <a:pPr marL="1076325" lvl="1" indent="-390525" algn="just">
              <a:lnSpc>
                <a:spcPct val="100000"/>
              </a:lnSpc>
              <a:buClr>
                <a:srgbClr val="C00000"/>
              </a:buClr>
              <a:buSzPct val="80000"/>
              <a:buFont typeface="Wingdings" panose="05000000000000000000" pitchFamily="2" charset="2"/>
              <a:buChar char="Ø"/>
              <a:defRPr/>
            </a:pPr>
            <a:r>
              <a:rPr lang="zh-CN" altLang="en-US" sz="1600" dirty="0">
                <a:latin typeface="华文细黑" panose="02010600040101010101" pitchFamily="2" charset="-122"/>
                <a:ea typeface="华文细黑" panose="02010600040101010101" pitchFamily="2" charset="-122"/>
              </a:rPr>
              <a:t>由于样本是随机的，抽出一个具体的样本得到的估计值很可能不同于总体真值</a:t>
            </a:r>
            <a:endParaRPr lang="zh-CN" altLang="en-US" sz="1600" dirty="0">
              <a:latin typeface="华文细黑" panose="02010600040101010101" pitchFamily="2" charset="-122"/>
              <a:ea typeface="华文细黑" panose="02010600040101010101" pitchFamily="2" charset="-122"/>
            </a:endParaRPr>
          </a:p>
          <a:p>
            <a:pPr marL="1076325" lvl="1" indent="-390525" algn="just">
              <a:lnSpc>
                <a:spcPct val="100000"/>
              </a:lnSpc>
              <a:buClr>
                <a:srgbClr val="C00000"/>
              </a:buClr>
              <a:buSzPct val="80000"/>
              <a:buFont typeface="Wingdings" panose="05000000000000000000" pitchFamily="2" charset="2"/>
              <a:buChar char="Ø"/>
              <a:defRPr/>
            </a:pPr>
            <a:r>
              <a:rPr lang="zh-CN" altLang="en-US" sz="1600" dirty="0">
                <a:latin typeface="华文细黑" panose="02010600040101010101" pitchFamily="2" charset="-122"/>
                <a:ea typeface="华文细黑" panose="02010600040101010101" pitchFamily="2" charset="-122"/>
              </a:rPr>
              <a:t>一个点估计量的可靠性是由它的标准误来衡量的，这表明一个具体的点估计值无法给出估计的可靠性的度量 </a:t>
            </a:r>
            <a:endParaRPr lang="zh-CN" altLang="en-US" sz="1600" dirty="0">
              <a:latin typeface="华文细黑" panose="02010600040101010101" pitchFamily="2" charset="-122"/>
              <a:ea typeface="华文细黑" panose="02010600040101010101" pitchFamily="2" charset="-122"/>
            </a:endParaRPr>
          </a:p>
          <a:p>
            <a:pPr marL="1076325" lvl="1" indent="-390525" algn="just">
              <a:lnSpc>
                <a:spcPct val="100000"/>
              </a:lnSpc>
              <a:buClr>
                <a:srgbClr val="C00000"/>
              </a:buClr>
              <a:buSzPct val="80000"/>
              <a:buFont typeface="Wingdings" panose="05000000000000000000" pitchFamily="2" charset="2"/>
              <a:buChar char="Ø"/>
              <a:defRPr/>
            </a:pPr>
            <a:endParaRPr lang="zh-CN" altLang="en-US" sz="1600" dirty="0">
              <a:latin typeface="华文细黑" panose="02010600040101010101" pitchFamily="2" charset="-122"/>
              <a:ea typeface="华文细黑" panose="02010600040101010101" pitchFamily="2" charset="-122"/>
            </a:endParaRPr>
          </a:p>
        </p:txBody>
      </p:sp>
      <p:sp>
        <p:nvSpPr>
          <p:cNvPr id="12" name="Rectangle 3"/>
          <p:cNvSpPr txBox="1">
            <a:spLocks noChangeArrowheads="1"/>
          </p:cNvSpPr>
          <p:nvPr/>
        </p:nvSpPr>
        <p:spPr>
          <a:xfrm>
            <a:off x="5591944" y="1484784"/>
            <a:ext cx="5854545"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9580" indent="-449580" algn="just">
              <a:lnSpc>
                <a:spcPct val="100000"/>
              </a:lnSpc>
              <a:buClr>
                <a:schemeClr val="accent1"/>
              </a:buClr>
              <a:buFont typeface="Wingdings" panose="05000000000000000000" pitchFamily="2" charset="2"/>
              <a:buChar char="l"/>
              <a:defRPr/>
            </a:pPr>
            <a:r>
              <a:rPr lang="zh-CN" altLang="en-US" sz="2000" b="1" dirty="0">
                <a:solidFill>
                  <a:srgbClr val="FF0000"/>
                </a:solidFill>
                <a:ea typeface="华文细黑" panose="02010600040101010101" pitchFamily="2" charset="-122"/>
              </a:rPr>
              <a:t>区间估计</a:t>
            </a:r>
            <a:r>
              <a:rPr lang="en-US" altLang="zh-CN" sz="2000" dirty="0">
                <a:ea typeface="华文细黑" panose="02010600040101010101" pitchFamily="2" charset="-122"/>
              </a:rPr>
              <a:t>——</a:t>
            </a:r>
            <a:r>
              <a:rPr lang="zh-CN" altLang="en-US" sz="2000" dirty="0">
                <a:ea typeface="华文细黑" panose="02010600040101010101" pitchFamily="2" charset="-122"/>
              </a:rPr>
              <a:t>在点估计的基础上，给出总体参数估计的一个估计区间，该区间由样本统计量加减估计误差而得到</a:t>
            </a:r>
            <a:endParaRPr lang="zh-CN" altLang="en-US" sz="20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2000" b="1" dirty="0">
                <a:solidFill>
                  <a:srgbClr val="FF0000"/>
                </a:solidFill>
                <a:ea typeface="华文细黑" panose="02010600040101010101" pitchFamily="2" charset="-122"/>
              </a:rPr>
              <a:t>置信水平</a:t>
            </a:r>
            <a:r>
              <a:rPr lang="en-US" altLang="zh-CN" sz="2000" dirty="0">
                <a:ea typeface="华文细黑" panose="02010600040101010101" pitchFamily="2" charset="-122"/>
              </a:rPr>
              <a:t>——</a:t>
            </a:r>
            <a:r>
              <a:rPr lang="zh-CN" altLang="zh-CN" sz="2000" dirty="0">
                <a:ea typeface="华文细黑" panose="02010600040101010101" pitchFamily="2" charset="-122"/>
              </a:rPr>
              <a:t>如果将构造置信区间的步骤重复多次，置信区间中包含总体参数真值的次数所占的比例称为置信水平，也称为置信度或置信系数（</a:t>
            </a:r>
            <a:r>
              <a:rPr lang="en-US" altLang="zh-CN" sz="2000" dirty="0">
                <a:ea typeface="华文细黑" panose="02010600040101010101" pitchFamily="2" charset="-122"/>
              </a:rPr>
              <a:t>confidence coefficient</a:t>
            </a:r>
            <a:r>
              <a:rPr lang="zh-CN" altLang="zh-CN" sz="2000" dirty="0">
                <a:ea typeface="华文细黑" panose="02010600040101010101" pitchFamily="2" charset="-122"/>
              </a:rPr>
              <a:t>）。常用的置信水平有</a:t>
            </a:r>
            <a:r>
              <a:rPr lang="en-US" altLang="zh-CN" sz="2000" dirty="0">
                <a:ea typeface="华文细黑" panose="02010600040101010101" pitchFamily="2" charset="-122"/>
              </a:rPr>
              <a:t>90%</a:t>
            </a:r>
            <a:r>
              <a:rPr lang="zh-CN" altLang="zh-CN" sz="2000" dirty="0">
                <a:ea typeface="华文细黑" panose="02010600040101010101" pitchFamily="2" charset="-122"/>
              </a:rPr>
              <a:t>、</a:t>
            </a:r>
            <a:r>
              <a:rPr lang="en-US" altLang="zh-CN" sz="2000" dirty="0">
                <a:ea typeface="华文细黑" panose="02010600040101010101" pitchFamily="2" charset="-122"/>
              </a:rPr>
              <a:t>95%</a:t>
            </a:r>
            <a:r>
              <a:rPr lang="zh-CN" altLang="zh-CN" sz="2000" dirty="0">
                <a:ea typeface="华文细黑" panose="02010600040101010101" pitchFamily="2" charset="-122"/>
              </a:rPr>
              <a:t>和</a:t>
            </a:r>
            <a:r>
              <a:rPr lang="en-US" altLang="zh-CN" sz="2000" dirty="0">
                <a:ea typeface="华文细黑" panose="02010600040101010101" pitchFamily="2" charset="-122"/>
              </a:rPr>
              <a:t>99%</a:t>
            </a:r>
            <a:r>
              <a:rPr lang="zh-CN" altLang="zh-CN" sz="2000" dirty="0">
                <a:ea typeface="华文细黑" panose="02010600040101010101" pitchFamily="2" charset="-122"/>
              </a:rPr>
              <a:t>。</a:t>
            </a:r>
            <a:endParaRPr lang="zh-CN" altLang="en-US" sz="2000" dirty="0">
              <a:ea typeface="华文细黑" panose="02010600040101010101" pitchFamily="2" charset="-122"/>
            </a:endParaRPr>
          </a:p>
        </p:txBody>
      </p:sp>
      <p:graphicFrame>
        <p:nvGraphicFramePr>
          <p:cNvPr id="13" name="对象 12"/>
          <p:cNvGraphicFramePr>
            <a:graphicFrameLocks noChangeAspect="1"/>
          </p:cNvGraphicFramePr>
          <p:nvPr/>
        </p:nvGraphicFramePr>
        <p:xfrm>
          <a:off x="6310662" y="4412974"/>
          <a:ext cx="5126980" cy="1759226"/>
        </p:xfrm>
        <a:graphic>
          <a:graphicData uri="http://schemas.openxmlformats.org/presentationml/2006/ole">
            <mc:AlternateContent xmlns:mc="http://schemas.openxmlformats.org/markup-compatibility/2006">
              <mc:Choice xmlns:v="urn:schemas-microsoft-com:vml" Requires="v">
                <p:oleObj spid="_x0000_s1026" name="Visio" r:id="rId1" imgW="4090035" imgH="1388110" progId="Visio.Drawing.15">
                  <p:embed/>
                </p:oleObj>
              </mc:Choice>
              <mc:Fallback>
                <p:oleObj name="Visio" r:id="rId1" imgW="4090035" imgH="1388110" progId="Visio.Drawing.15">
                  <p:embed/>
                  <p:pic>
                    <p:nvPicPr>
                      <p:cNvPr id="0" name="对象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662" y="4412974"/>
                        <a:ext cx="5126980" cy="1759226"/>
                      </a:xfrm>
                      <a:prstGeom prst="rect">
                        <a:avLst/>
                      </a:prstGeom>
                      <a:solidFill>
                        <a:schemeClr val="bg1"/>
                      </a:solidFill>
                      <a:ln w="3175">
                        <a:noFill/>
                      </a:ln>
                    </p:spPr>
                  </p:pic>
                </p:oleObj>
              </mc:Fallback>
            </mc:AlternateContent>
          </a:graphicData>
        </a:graphic>
      </p:graphicFrame>
    </p:spTree>
    <p:custDataLst>
      <p:tags r:id="rId3"/>
    </p:custData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参数估计的基本原理</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点估计与区间估计</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14" name="TJ71.EPS" descr="id:2147508197;FounderCES"/>
          <p:cNvPicPr/>
          <p:nvPr/>
        </p:nvPicPr>
        <p:blipFill>
          <a:blip r:embed="rId1"/>
          <a:stretch>
            <a:fillRect/>
          </a:stretch>
        </p:blipFill>
        <p:spPr>
          <a:xfrm>
            <a:off x="745510" y="1556792"/>
            <a:ext cx="6214586" cy="4684982"/>
          </a:xfrm>
          <a:prstGeom prst="rect">
            <a:avLst/>
          </a:prstGeom>
          <a:ln>
            <a:solidFill>
              <a:schemeClr val="accent1"/>
            </a:solidFill>
          </a:ln>
        </p:spPr>
      </p:pic>
      <p:graphicFrame>
        <p:nvGraphicFramePr>
          <p:cNvPr id="5" name="表格 4"/>
          <p:cNvGraphicFramePr>
            <a:graphicFrameLocks noGrp="1"/>
          </p:cNvGraphicFramePr>
          <p:nvPr/>
        </p:nvGraphicFramePr>
        <p:xfrm>
          <a:off x="7248128" y="2276872"/>
          <a:ext cx="4320479" cy="3964900"/>
        </p:xfrm>
        <a:graphic>
          <a:graphicData uri="http://schemas.openxmlformats.org/drawingml/2006/table">
            <a:tbl>
              <a:tblPr firstRow="1" firstCol="1" bandRow="1">
                <a:tableStyleId>{5C22544A-7EE6-4342-B048-85BDC9FD1C3A}</a:tableStyleId>
              </a:tblPr>
              <a:tblGrid>
                <a:gridCol w="1269029"/>
                <a:gridCol w="1035227"/>
                <a:gridCol w="1152128"/>
                <a:gridCol w="864095"/>
              </a:tblGrid>
              <a:tr h="908947">
                <a:tc>
                  <a:txBody>
                    <a:bodyPr/>
                    <a:lstStyle/>
                    <a:p>
                      <a:pPr algn="ctr">
                        <a:lnSpc>
                          <a:spcPts val="1200"/>
                        </a:lnSpc>
                      </a:pPr>
                      <a:r>
                        <a:rPr lang="zh-CN" sz="1800" b="1">
                          <a:effectLst/>
                        </a:rPr>
                        <a:t>置信水平</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dirty="0">
                          <a:effectLst/>
                        </a:rPr>
                        <a:t>α</a:t>
                      </a:r>
                      <a:endParaRPr lang="zh-CN" sz="18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α/2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z</a:t>
                      </a:r>
                      <a:r>
                        <a:rPr lang="en-US" sz="1800" b="1" baseline="-25000">
                          <a:effectLst/>
                        </a:rPr>
                        <a:t>α/2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899834">
                <a:tc>
                  <a:txBody>
                    <a:bodyPr/>
                    <a:lstStyle/>
                    <a:p>
                      <a:pPr algn="ctr">
                        <a:lnSpc>
                          <a:spcPts val="1200"/>
                        </a:lnSpc>
                      </a:pPr>
                      <a:r>
                        <a:rPr lang="en-US" sz="1800" b="1">
                          <a:effectLst/>
                        </a:rPr>
                        <a:t>90%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dirty="0">
                          <a:effectLst/>
                        </a:rPr>
                        <a:t>0.10</a:t>
                      </a:r>
                      <a:endParaRPr lang="zh-CN" sz="18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0.05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1.645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899834">
                <a:tc>
                  <a:txBody>
                    <a:bodyPr/>
                    <a:lstStyle/>
                    <a:p>
                      <a:pPr algn="ctr">
                        <a:lnSpc>
                          <a:spcPts val="1200"/>
                        </a:lnSpc>
                      </a:pPr>
                      <a:r>
                        <a:rPr lang="en-US" sz="1800" b="1">
                          <a:effectLst/>
                        </a:rPr>
                        <a:t>95%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0.05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0.025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1.96</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1256285">
                <a:tc>
                  <a:txBody>
                    <a:bodyPr/>
                    <a:lstStyle/>
                    <a:p>
                      <a:pPr algn="ctr">
                        <a:lnSpc>
                          <a:spcPts val="1200"/>
                        </a:lnSpc>
                      </a:pPr>
                      <a:r>
                        <a:rPr lang="en-US" sz="1800" b="1">
                          <a:effectLst/>
                        </a:rPr>
                        <a:t>99%</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0.01</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0.005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800"/>
                        </a:lnSpc>
                      </a:pPr>
                      <a:r>
                        <a:rPr lang="en-US" sz="1800" b="1" dirty="0">
                          <a:effectLst/>
                        </a:rPr>
                        <a:t>2.58</a:t>
                      </a:r>
                      <a:endParaRPr lang="zh-CN" sz="18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p:sp>
        <p:nvSpPr>
          <p:cNvPr id="15" name="文本框 14"/>
          <p:cNvSpPr txBox="1"/>
          <p:nvPr/>
        </p:nvSpPr>
        <p:spPr>
          <a:xfrm>
            <a:off x="7536160" y="1665671"/>
            <a:ext cx="3816424" cy="286297"/>
          </a:xfrm>
          <a:prstGeom prst="rect">
            <a:avLst/>
          </a:prstGeom>
          <a:noFill/>
        </p:spPr>
        <p:txBody>
          <a:bodyPr wrap="square">
            <a:spAutoFit/>
          </a:bodyPr>
          <a:lstStyle/>
          <a:p>
            <a:pPr indent="228600" algn="ctr">
              <a:lnSpc>
                <a:spcPts val="1400"/>
              </a:lnSpc>
            </a:pPr>
            <a:r>
              <a:rPr lang="zh-CN" altLang="zh-CN" sz="1800" b="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常用置信水平的</a:t>
            </a:r>
            <a:r>
              <a:rPr lang="en-US" altLang="zh-CN" sz="1800" b="1"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b="1"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zh-CN" altLang="zh-CN" sz="1800" b="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值</a:t>
            </a:r>
            <a:endParaRPr lang="zh-CN" altLang="zh-CN" sz="2400" dirty="0">
              <a:solidFill>
                <a:srgbClr val="000000"/>
              </a:solidFill>
              <a:effectLst/>
              <a:latin typeface="NEU-BZ-S92"/>
              <a:ea typeface="方正书宋_GBK"/>
              <a:cs typeface="Times New Roman" panose="02020603050405020304" pitchFamily="18" charset="0"/>
            </a:endParaRPr>
          </a:p>
        </p:txBody>
      </p:sp>
    </p:spTree>
    <p:custDataLst>
      <p:tags r:id="rId2"/>
    </p:custData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参数估计的基本原理</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对置信区间的理解</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804470" y="1484785"/>
            <a:ext cx="6515666"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9580" indent="-449580" algn="just">
              <a:lnSpc>
                <a:spcPct val="100000"/>
              </a:lnSpc>
              <a:buClr>
                <a:schemeClr val="accent1"/>
              </a:buClr>
              <a:buFont typeface="Wingdings" panose="05000000000000000000" pitchFamily="2" charset="2"/>
              <a:buChar char="l"/>
              <a:defRPr/>
            </a:pPr>
            <a:r>
              <a:rPr lang="zh-CN" altLang="en-US" sz="1400" b="1" dirty="0">
                <a:solidFill>
                  <a:srgbClr val="FF0000"/>
                </a:solidFill>
                <a:ea typeface="华文细黑" panose="02010600040101010101" pitchFamily="2" charset="-122"/>
              </a:rPr>
              <a:t>置信区间</a:t>
            </a:r>
            <a:r>
              <a:rPr lang="en-US" altLang="zh-CN" sz="1400" dirty="0">
                <a:ea typeface="华文细黑" panose="02010600040101010101" pitchFamily="2" charset="-122"/>
              </a:rPr>
              <a:t>—</a:t>
            </a:r>
            <a:r>
              <a:rPr lang="zh-CN" altLang="en-US" sz="1400" dirty="0">
                <a:ea typeface="华文细黑" panose="02010600040101010101" pitchFamily="2" charset="-122"/>
              </a:rPr>
              <a:t>由样本估计量构造出的总体参数在一定置信水平下的估计区间。统计学家在某种程度上确信这个区间会包含真正的总体参数，所以给它取名为置信区间</a:t>
            </a:r>
            <a:endParaRPr lang="en-US" altLang="zh-CN"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如果用某种方法构造的所有区间中有</a:t>
            </a:r>
            <a:r>
              <a:rPr lang="en-US" altLang="zh-CN" sz="1400" dirty="0">
                <a:ea typeface="华文细黑" panose="02010600040101010101" pitchFamily="2" charset="-122"/>
              </a:rPr>
              <a:t>95%</a:t>
            </a:r>
            <a:r>
              <a:rPr lang="zh-CN" altLang="en-US" sz="1400" dirty="0">
                <a:ea typeface="华文细黑" panose="02010600040101010101" pitchFamily="2" charset="-122"/>
              </a:rPr>
              <a:t>的区间包含总体参数的真值，</a:t>
            </a:r>
            <a:r>
              <a:rPr lang="en-US" altLang="zh-CN" sz="1400" dirty="0">
                <a:ea typeface="华文细黑" panose="02010600040101010101" pitchFamily="2" charset="-122"/>
              </a:rPr>
              <a:t>5%</a:t>
            </a:r>
            <a:r>
              <a:rPr lang="zh-CN" altLang="en-US" sz="1400" dirty="0">
                <a:ea typeface="华文细黑" panose="02010600040101010101" pitchFamily="2" charset="-122"/>
              </a:rPr>
              <a:t>的区间不包含总体参数的真值，那么，用该方法构造的区间称为置信水平为</a:t>
            </a:r>
            <a:r>
              <a:rPr lang="en-US" altLang="zh-CN" sz="1400" dirty="0">
                <a:ea typeface="华文细黑" panose="02010600040101010101" pitchFamily="2" charset="-122"/>
              </a:rPr>
              <a:t>95%</a:t>
            </a:r>
            <a:r>
              <a:rPr lang="zh-CN" altLang="en-US" sz="1400" dirty="0">
                <a:ea typeface="华文细黑" panose="02010600040101010101" pitchFamily="2" charset="-122"/>
              </a:rPr>
              <a:t>的置信区间。同样，其他置信水平的区间也可以用类似的方式进行表述</a:t>
            </a:r>
            <a:endParaRPr lang="en-US" altLang="zh-CN"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总体参数的真值是固定的，而用样本构造的区间则是不固定的，因此置信区间是一个随机区间，它会因样本的不同而变化，而且不是所有的区间都包含总体参数</a:t>
            </a:r>
            <a:endParaRPr lang="zh-CN" altLang="en-US"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实际估计时往往只抽取一个样本，此时所构造的是与该样本相联系的一定置信水平</a:t>
            </a:r>
            <a:r>
              <a:rPr lang="en-US" altLang="zh-CN" sz="1400" dirty="0">
                <a:ea typeface="华文细黑" panose="02010600040101010101" pitchFamily="2" charset="-122"/>
              </a:rPr>
              <a:t>(</a:t>
            </a:r>
            <a:r>
              <a:rPr lang="zh-CN" altLang="en-US" sz="1400" dirty="0">
                <a:ea typeface="华文细黑" panose="02010600040101010101" pitchFamily="2" charset="-122"/>
              </a:rPr>
              <a:t>比如</a:t>
            </a:r>
            <a:r>
              <a:rPr lang="en-US" altLang="zh-CN" sz="1400" dirty="0">
                <a:ea typeface="华文细黑" panose="02010600040101010101" pitchFamily="2" charset="-122"/>
              </a:rPr>
              <a:t>95%)</a:t>
            </a:r>
            <a:r>
              <a:rPr lang="zh-CN" altLang="en-US" sz="1400" dirty="0">
                <a:ea typeface="华文细黑" panose="02010600040101010101" pitchFamily="2" charset="-122"/>
              </a:rPr>
              <a:t>下的置信区间。我们希望这个区间是大量包含总体参数真值的区间中的一个，但它也可能是少数几个不包含参数真值的区间中的一个</a:t>
            </a:r>
            <a:endParaRPr lang="en-US" altLang="zh-CN"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当抽取一个具体的样本，用该样本所构造的区间是一个特定的常数区间，无法知道这个样本所产生的区间是否包含总体参数的真值，它可能是包含总体均值的区间中的一个，也可能是未包含总体均值的那一个</a:t>
            </a:r>
            <a:endParaRPr lang="zh-CN" altLang="en-US"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一个特定区间总是“包含”或“绝对不包含”参数的真值，不存在“以多大的概率包含总体参数”的问题</a:t>
            </a:r>
            <a:endParaRPr lang="zh-CN" altLang="en-US" sz="1400" dirty="0">
              <a:ea typeface="华文细黑" panose="02010600040101010101" pitchFamily="2" charset="-122"/>
            </a:endParaRPr>
          </a:p>
          <a:p>
            <a:pPr marL="449580" indent="-449580" algn="just">
              <a:lnSpc>
                <a:spcPct val="100000"/>
              </a:lnSpc>
              <a:buClr>
                <a:schemeClr val="accent1"/>
              </a:buClr>
              <a:buFont typeface="Wingdings" panose="05000000000000000000" pitchFamily="2" charset="2"/>
              <a:buChar char="l"/>
              <a:defRPr/>
            </a:pPr>
            <a:r>
              <a:rPr lang="zh-CN" altLang="en-US" sz="1400" dirty="0">
                <a:ea typeface="华文细黑" panose="02010600040101010101" pitchFamily="2" charset="-122"/>
              </a:rPr>
              <a:t>置信水平只是告诉我们在多次估计得到的区间中大概有多少个区间包含了参数的真值，而不是针对所抽取的这个样本所构建的区间而言的 </a:t>
            </a:r>
            <a:endParaRPr lang="zh-CN" altLang="en-US" sz="1400" dirty="0">
              <a:ea typeface="华文细黑" panose="02010600040101010101" pitchFamily="2" charset="-122"/>
            </a:endParaRPr>
          </a:p>
          <a:p>
            <a:pPr marL="449580" indent="-449580" algn="just">
              <a:lnSpc>
                <a:spcPct val="100000"/>
              </a:lnSpc>
              <a:buClr>
                <a:srgbClr val="000099"/>
              </a:buClr>
              <a:buFont typeface="Wingdings" panose="05000000000000000000" pitchFamily="2" charset="2"/>
              <a:buChar char="l"/>
              <a:defRPr/>
            </a:pPr>
            <a:endParaRPr lang="zh-CN" altLang="en-US" sz="1400" dirty="0">
              <a:ea typeface="华文细黑" panose="02010600040101010101" pitchFamily="2" charset="-122"/>
            </a:endParaRPr>
          </a:p>
        </p:txBody>
      </p:sp>
      <p:pic>
        <p:nvPicPr>
          <p:cNvPr id="11" name="TJ73.EPS" descr="id:2147508219;FounderCES"/>
          <p:cNvPicPr/>
          <p:nvPr/>
        </p:nvPicPr>
        <p:blipFill>
          <a:blip r:embed="rId1"/>
          <a:stretch>
            <a:fillRect/>
          </a:stretch>
        </p:blipFill>
        <p:spPr>
          <a:xfrm>
            <a:off x="7536160" y="2708920"/>
            <a:ext cx="3851370" cy="3532855"/>
          </a:xfrm>
          <a:prstGeom prst="rect">
            <a:avLst/>
          </a:prstGeom>
          <a:ln>
            <a:solidFill>
              <a:schemeClr val="accent1"/>
            </a:solidFill>
          </a:ln>
        </p:spPr>
      </p:pic>
      <p:sp>
        <p:nvSpPr>
          <p:cNvPr id="12" name="文本框 11"/>
          <p:cNvSpPr txBox="1"/>
          <p:nvPr/>
        </p:nvSpPr>
        <p:spPr>
          <a:xfrm>
            <a:off x="7320136" y="1854985"/>
            <a:ext cx="3995386" cy="369332"/>
          </a:xfrm>
          <a:prstGeom prst="rect">
            <a:avLst/>
          </a:prstGeom>
          <a:noFill/>
        </p:spPr>
        <p:txBody>
          <a:bodyPr wrap="square">
            <a:spAutoFit/>
          </a:bodyPr>
          <a:lstStyle/>
          <a:p>
            <a:pPr algn="ctr"/>
            <a:r>
              <a:rPr lang="zh-CN" altLang="zh-CN" sz="1800" b="1" dirty="0">
                <a:effectLst/>
                <a:latin typeface="Calibri" panose="020F0502020204030204" pitchFamily="34" charset="0"/>
                <a:ea typeface="华文细黑" panose="02010600040101010101" pitchFamily="2" charset="-122"/>
                <a:cs typeface="Calibri" panose="020F0502020204030204" pitchFamily="34" charset="0"/>
              </a:rPr>
              <a:t>重复构造出的</a:t>
            </a:r>
            <a:r>
              <a:rPr lang="en-US" altLang="zh-CN" sz="1800" b="1" i="1" dirty="0">
                <a:effectLst/>
                <a:latin typeface="Calibri" panose="020F0502020204030204" pitchFamily="34" charset="0"/>
                <a:ea typeface="华文细黑" panose="02010600040101010101" pitchFamily="2" charset="-122"/>
              </a:rPr>
              <a:t>μ</a:t>
            </a:r>
            <a:r>
              <a:rPr lang="zh-CN" altLang="zh-CN" sz="1800" b="1" dirty="0">
                <a:effectLst/>
                <a:latin typeface="Calibri" panose="020F0502020204030204" pitchFamily="34" charset="0"/>
                <a:ea typeface="华文细黑" panose="02010600040101010101" pitchFamily="2" charset="-122"/>
                <a:cs typeface="Calibri" panose="020F0502020204030204" pitchFamily="34" charset="0"/>
              </a:rPr>
              <a:t>的</a:t>
            </a:r>
            <a:r>
              <a:rPr lang="en-US" altLang="zh-CN" sz="1800" b="1" dirty="0">
                <a:effectLst/>
                <a:latin typeface="Calibri" panose="020F0502020204030204" pitchFamily="34" charset="0"/>
                <a:ea typeface="华文细黑" panose="02010600040101010101" pitchFamily="2" charset="-122"/>
              </a:rPr>
              <a:t>20</a:t>
            </a:r>
            <a:r>
              <a:rPr lang="zh-CN" altLang="zh-CN" sz="1800" b="1" dirty="0">
                <a:effectLst/>
                <a:latin typeface="Calibri" panose="020F0502020204030204" pitchFamily="34" charset="0"/>
                <a:ea typeface="华文细黑" panose="02010600040101010101" pitchFamily="2" charset="-122"/>
                <a:cs typeface="Calibri" panose="020F0502020204030204" pitchFamily="34" charset="0"/>
              </a:rPr>
              <a:t>个置信区间</a:t>
            </a:r>
            <a:endParaRPr lang="zh-CN" altLang="en-US" b="1" dirty="0"/>
          </a:p>
        </p:txBody>
      </p:sp>
    </p:spTree>
    <p:custDataLst>
      <p:tags r:id="rId2"/>
    </p:custData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参数估计的基本原理</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评价估计量的标准</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Rectangle 3"/>
          <p:cNvSpPr txBox="1">
            <a:spLocks noChangeArrowheads="1"/>
          </p:cNvSpPr>
          <p:nvPr/>
        </p:nvSpPr>
        <p:spPr>
          <a:xfrm>
            <a:off x="764715" y="1556792"/>
            <a:ext cx="3764477" cy="47038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Clr>
                <a:srgbClr val="000099"/>
              </a:buClr>
              <a:buNone/>
              <a:defRPr/>
            </a:pPr>
            <a:r>
              <a:rPr lang="zh-CN" altLang="en-US" sz="1600" b="1" dirty="0">
                <a:solidFill>
                  <a:srgbClr val="FF0000"/>
                </a:solidFill>
                <a:ea typeface="华文细黑" panose="02010600040101010101" pitchFamily="2" charset="-122"/>
              </a:rPr>
              <a:t>无偏性</a:t>
            </a:r>
            <a:r>
              <a:rPr lang="en-US" altLang="zh-CN" sz="1600" dirty="0">
                <a:ea typeface="华文细黑" panose="02010600040101010101" pitchFamily="2" charset="-122"/>
              </a:rPr>
              <a:t>——</a:t>
            </a:r>
            <a:r>
              <a:rPr lang="zh-CN" altLang="en-US" sz="1600" dirty="0">
                <a:ea typeface="华文细黑" panose="02010600040101010101" pitchFamily="2" charset="-122"/>
              </a:rPr>
              <a:t>估计量抽样分布的数学期望等于被估计的总体参数</a:t>
            </a:r>
            <a:endParaRPr lang="en-US" altLang="zh-CN" sz="1600" dirty="0">
              <a:ea typeface="华文细黑" panose="02010600040101010101" pitchFamily="2" charset="-122"/>
            </a:endParaRPr>
          </a:p>
        </p:txBody>
      </p:sp>
      <p:sp>
        <p:nvSpPr>
          <p:cNvPr id="15" name="Rectangle 3"/>
          <p:cNvSpPr txBox="1">
            <a:spLocks noChangeArrowheads="1"/>
          </p:cNvSpPr>
          <p:nvPr/>
        </p:nvSpPr>
        <p:spPr>
          <a:xfrm>
            <a:off x="4611161" y="1556791"/>
            <a:ext cx="3429598" cy="4703889"/>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Clr>
                <a:srgbClr val="000099"/>
              </a:buClr>
              <a:buNone/>
              <a:defRPr/>
            </a:pPr>
            <a:r>
              <a:rPr lang="zh-CN" altLang="en-US" sz="1600" b="1" dirty="0">
                <a:solidFill>
                  <a:srgbClr val="FF0000"/>
                </a:solidFill>
                <a:ea typeface="华文细黑" panose="02010600040101010101" pitchFamily="2" charset="-122"/>
              </a:rPr>
              <a:t>有效性</a:t>
            </a:r>
            <a:r>
              <a:rPr lang="en-US" altLang="zh-CN" sz="1600" dirty="0">
                <a:ea typeface="华文细黑" panose="02010600040101010101" pitchFamily="2" charset="-122"/>
              </a:rPr>
              <a:t>——</a:t>
            </a:r>
            <a:r>
              <a:rPr lang="zh-CN" altLang="en-US" sz="1600" dirty="0">
                <a:ea typeface="华文细黑" panose="02010600040101010101" pitchFamily="2" charset="-122"/>
              </a:rPr>
              <a:t>对同一总体参数的两个无偏点估计量，标准差小的估计量更有效 </a:t>
            </a:r>
            <a:endParaRPr lang="zh-CN" altLang="en-US" sz="1600" dirty="0">
              <a:ea typeface="华文细黑" panose="02010600040101010101" pitchFamily="2" charset="-122"/>
            </a:endParaRPr>
          </a:p>
          <a:p>
            <a:pPr marL="0" indent="0" algn="just">
              <a:lnSpc>
                <a:spcPct val="100000"/>
              </a:lnSpc>
              <a:buClr>
                <a:srgbClr val="000099"/>
              </a:buClr>
              <a:buNone/>
              <a:defRPr/>
            </a:pPr>
            <a:endParaRPr lang="en-US" altLang="zh-CN" sz="1600" dirty="0">
              <a:ea typeface="华文细黑" panose="02010600040101010101" pitchFamily="2" charset="-122"/>
            </a:endParaRPr>
          </a:p>
        </p:txBody>
      </p:sp>
      <p:sp>
        <p:nvSpPr>
          <p:cNvPr id="17" name="Rectangle 3"/>
          <p:cNvSpPr txBox="1">
            <a:spLocks noChangeArrowheads="1"/>
          </p:cNvSpPr>
          <p:nvPr/>
        </p:nvSpPr>
        <p:spPr>
          <a:xfrm>
            <a:off x="8122728" y="1556790"/>
            <a:ext cx="3434824" cy="47038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Clr>
                <a:srgbClr val="000099"/>
              </a:buClr>
              <a:buNone/>
              <a:defRPr/>
            </a:pPr>
            <a:r>
              <a:rPr lang="zh-CN" altLang="en-US" sz="1600" b="1" dirty="0">
                <a:solidFill>
                  <a:srgbClr val="FF0000"/>
                </a:solidFill>
                <a:ea typeface="华文细黑" panose="02010600040101010101" pitchFamily="2" charset="-122"/>
              </a:rPr>
              <a:t>一致性</a:t>
            </a:r>
            <a:r>
              <a:rPr lang="en-US" altLang="zh-CN" sz="1600" dirty="0">
                <a:ea typeface="华文细黑" panose="02010600040101010101" pitchFamily="2" charset="-122"/>
              </a:rPr>
              <a:t>——</a:t>
            </a:r>
            <a:r>
              <a:rPr lang="zh-CN" altLang="en-US" sz="1600" dirty="0">
                <a:ea typeface="华文细黑" panose="02010600040101010101" pitchFamily="2" charset="-122"/>
              </a:rPr>
              <a:t>随着样本量的增大，估计量的值越来越接近被估计的总体参数</a:t>
            </a:r>
            <a:endParaRPr lang="zh-CN" altLang="en-US" sz="1600" dirty="0">
              <a:ea typeface="华文细黑" panose="02010600040101010101" pitchFamily="2" charset="-122"/>
            </a:endParaRPr>
          </a:p>
          <a:p>
            <a:pPr marL="0" indent="0" algn="just">
              <a:lnSpc>
                <a:spcPct val="100000"/>
              </a:lnSpc>
              <a:buClr>
                <a:srgbClr val="000099"/>
              </a:buClr>
              <a:buNone/>
              <a:defRPr/>
            </a:pPr>
            <a:endParaRPr lang="en-US" altLang="zh-CN" sz="1600" dirty="0">
              <a:ea typeface="华文细黑" panose="02010600040101010101" pitchFamily="2" charset="-122"/>
            </a:endParaRPr>
          </a:p>
        </p:txBody>
      </p:sp>
      <p:pic>
        <p:nvPicPr>
          <p:cNvPr id="19" name="TJ74.EPS" descr="id:2147508047;FounderCES"/>
          <p:cNvPicPr/>
          <p:nvPr/>
        </p:nvPicPr>
        <p:blipFill>
          <a:blip r:embed="rId1"/>
          <a:stretch>
            <a:fillRect/>
          </a:stretch>
        </p:blipFill>
        <p:spPr>
          <a:xfrm>
            <a:off x="839416" y="2780928"/>
            <a:ext cx="3528392" cy="3384197"/>
          </a:xfrm>
          <a:prstGeom prst="rect">
            <a:avLst/>
          </a:prstGeom>
          <a:ln>
            <a:solidFill>
              <a:schemeClr val="accent1"/>
            </a:solidFill>
          </a:ln>
        </p:spPr>
      </p:pic>
      <p:pic>
        <p:nvPicPr>
          <p:cNvPr id="20" name="TJ75.EPS" descr="id:2147508225;FounderCES"/>
          <p:cNvPicPr/>
          <p:nvPr/>
        </p:nvPicPr>
        <p:blipFill>
          <a:blip r:embed="rId2"/>
          <a:stretch>
            <a:fillRect/>
          </a:stretch>
        </p:blipFill>
        <p:spPr>
          <a:xfrm>
            <a:off x="4727848" y="2761658"/>
            <a:ext cx="3168351" cy="3390661"/>
          </a:xfrm>
          <a:prstGeom prst="rect">
            <a:avLst/>
          </a:prstGeom>
          <a:ln>
            <a:solidFill>
              <a:schemeClr val="accent1"/>
            </a:solidFill>
          </a:ln>
        </p:spPr>
      </p:pic>
      <p:pic>
        <p:nvPicPr>
          <p:cNvPr id="21" name="TJ76.EPS" descr="id:2147508240;FounderCES"/>
          <p:cNvPicPr/>
          <p:nvPr/>
        </p:nvPicPr>
        <p:blipFill>
          <a:blip r:embed="rId3"/>
          <a:stretch>
            <a:fillRect/>
          </a:stretch>
        </p:blipFill>
        <p:spPr>
          <a:xfrm>
            <a:off x="8256240" y="2784579"/>
            <a:ext cx="3171045" cy="3367740"/>
          </a:xfrm>
          <a:prstGeom prst="rect">
            <a:avLst/>
          </a:prstGeom>
          <a:ln>
            <a:solidFill>
              <a:schemeClr val="accent1"/>
            </a:solidFill>
          </a:ln>
        </p:spPr>
      </p:pic>
    </p:spTree>
    <p:custDataLst>
      <p:tags r:id="rId4"/>
    </p:custData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总体均值的区间估计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正态总体方差未知或非正态总体大样本 </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Rectangle 3"/>
              <p:cNvSpPr txBox="1">
                <a:spLocks noChangeArrowheads="1"/>
              </p:cNvSpPr>
              <p:nvPr/>
            </p:nvSpPr>
            <p:spPr>
              <a:xfrm>
                <a:off x="839416" y="1484784"/>
                <a:ext cx="10585176"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None/>
                </a:pP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正态总体</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方差已知</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或非正态总体</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大样本</a:t>
                </a:r>
                <a:endParaRPr lang="zh-CN" altLang="zh-CN" sz="1600" b="1" dirty="0">
                  <a:solidFill>
                    <a:srgbClr val="FF0000"/>
                  </a:solidFill>
                  <a:effectLst/>
                  <a:latin typeface="NEU-BZ-S92"/>
                  <a:ea typeface="方正书宋_GBK"/>
                  <a:cs typeface="Times New Roman" panose="02020603050405020304" pitchFamily="18" charset="0"/>
                </a:endParaRPr>
              </a:p>
              <a:p>
                <a:pPr marL="449580" indent="-449580" algn="just">
                  <a:lnSpc>
                    <a:spcPct val="100000"/>
                  </a:lnSpc>
                  <a:buClr>
                    <a:schemeClr val="accent1"/>
                  </a:buClr>
                  <a:buFont typeface="Wingdings" panose="05000000000000000000" pitchFamily="2" charset="2"/>
                  <a:buChar char="l"/>
                  <a:defRPr/>
                </a:pPr>
                <a:r>
                  <a:rPr lang="zh-CN" altLang="zh-CN" sz="1600" dirty="0">
                    <a:ea typeface="华文细黑" panose="02010600040101010101" pitchFamily="2" charset="-122"/>
                  </a:rPr>
                  <a:t>当总体服从正态分布且</a:t>
                </a:r>
                <a:r>
                  <a:rPr lang="en-US" altLang="zh-CN" sz="1600" dirty="0">
                    <a:ea typeface="华文细黑" panose="02010600040101010101" pitchFamily="2" charset="-122"/>
                  </a:rPr>
                  <a:t>σ2</a:t>
                </a:r>
                <a:r>
                  <a:rPr lang="zh-CN" altLang="zh-CN" sz="1600" dirty="0">
                    <a:ea typeface="华文细黑" panose="02010600040101010101" pitchFamily="2" charset="-122"/>
                  </a:rPr>
                  <a:t>已知时</a:t>
                </a:r>
                <a:r>
                  <a:rPr lang="en-US" altLang="zh-CN" sz="1600" dirty="0">
                    <a:ea typeface="华文细黑" panose="02010600040101010101" pitchFamily="2" charset="-122"/>
                  </a:rPr>
                  <a:t>,</a:t>
                </a:r>
                <a:r>
                  <a:rPr lang="zh-CN" altLang="zh-CN" sz="1600" dirty="0">
                    <a:ea typeface="华文细黑" panose="02010600040101010101" pitchFamily="2" charset="-122"/>
                  </a:rPr>
                  <a:t>或者总体不是正态分布但为大样本时</a:t>
                </a:r>
                <a:r>
                  <a:rPr lang="en-US" altLang="zh-CN" sz="1600" dirty="0">
                    <a:ea typeface="华文细黑" panose="02010600040101010101" pitchFamily="2" charset="-122"/>
                  </a:rPr>
                  <a:t>,</a:t>
                </a:r>
                <a:r>
                  <a:rPr lang="zh-CN" altLang="zh-CN" sz="1600" dirty="0">
                    <a:ea typeface="华文细黑" panose="02010600040101010101" pitchFamily="2" charset="-122"/>
                  </a:rPr>
                  <a:t>样本均值</a:t>
                </a:r>
                <a14:m>
                  <m:oMath xmlns:m="http://schemas.openxmlformats.org/officeDocument/2006/math">
                    <m:acc>
                      <m:accPr>
                        <m:chr m:val="̅"/>
                        <m:ctrlPr>
                          <a:rPr lang="zh-CN" altLang="zh-CN" sz="1600" i="1">
                            <a:latin typeface="Cambria Math" panose="02040503050406030204" pitchFamily="18" charset="0"/>
                            <a:ea typeface="华文细黑" panose="02010600040101010101" pitchFamily="2" charset="-122"/>
                          </a:rPr>
                        </m:ctrlPr>
                      </m:accPr>
                      <m:e>
                        <m:r>
                          <m:rPr>
                            <m:sty m:val="p"/>
                          </m:rPr>
                          <a:rPr lang="en-US" altLang="zh-CN" sz="1600">
                            <a:latin typeface="Cambria Math" panose="02040503050406030204" pitchFamily="18" charset="0"/>
                            <a:ea typeface="华文细黑" panose="02010600040101010101" pitchFamily="2" charset="-122"/>
                          </a:rPr>
                          <m:t>x</m:t>
                        </m:r>
                      </m:e>
                    </m:acc>
                  </m:oMath>
                </a14:m>
                <a:r>
                  <a:rPr lang="zh-CN" altLang="zh-CN" sz="1600" dirty="0">
                    <a:ea typeface="华文细黑" panose="02010600040101010101" pitchFamily="2" charset="-122"/>
                  </a:rPr>
                  <a:t>的抽样分布均为正态分布</a:t>
                </a:r>
                <a:r>
                  <a:rPr lang="en-US" altLang="zh-CN" sz="1600" dirty="0">
                    <a:ea typeface="华文细黑" panose="02010600040101010101" pitchFamily="2" charset="-122"/>
                  </a:rPr>
                  <a:t>,</a:t>
                </a:r>
                <a:r>
                  <a:rPr lang="zh-CN" altLang="zh-CN" sz="1600" dirty="0">
                    <a:ea typeface="华文细黑" panose="02010600040101010101" pitchFamily="2" charset="-122"/>
                  </a:rPr>
                  <a:t>其数学期望为总体均值</a:t>
                </a:r>
                <a:r>
                  <a:rPr lang="en-US" altLang="zh-CN" sz="1600" dirty="0">
                    <a:ea typeface="华文细黑" panose="02010600040101010101" pitchFamily="2" charset="-122"/>
                  </a:rPr>
                  <a:t>μ,</a:t>
                </a:r>
                <a:r>
                  <a:rPr lang="zh-CN" altLang="zh-CN" sz="1600" dirty="0">
                    <a:ea typeface="华文细黑" panose="02010600040101010101" pitchFamily="2" charset="-122"/>
                  </a:rPr>
                  <a:t>方差为</a:t>
                </a:r>
                <a:r>
                  <a:rPr lang="en-US" altLang="zh-CN" sz="1600" dirty="0">
                    <a:ea typeface="华文细黑" panose="02010600040101010101" pitchFamily="2" charset="-122"/>
                  </a:rPr>
                  <a:t>σ2/n</a:t>
                </a:r>
                <a:r>
                  <a:rPr lang="zh-CN" altLang="zh-CN" sz="1600" dirty="0">
                    <a:ea typeface="华文细黑" panose="02010600040101010101" pitchFamily="2" charset="-122"/>
                  </a:rPr>
                  <a:t>。而样本均值经过标准化以后的随机变量服从标准正态分布</a:t>
                </a:r>
                <a:r>
                  <a:rPr lang="en-US" altLang="zh-CN" sz="1600" dirty="0">
                    <a:ea typeface="华文细黑" panose="02010600040101010101" pitchFamily="2" charset="-122"/>
                  </a:rPr>
                  <a:t>,</a:t>
                </a:r>
                <a:r>
                  <a:rPr lang="zh-CN" altLang="zh-CN" sz="1600" dirty="0">
                    <a:ea typeface="华文细黑" panose="02010600040101010101" pitchFamily="2" charset="-122"/>
                  </a:rPr>
                  <a:t>即</a:t>
                </a:r>
                <a:endParaRPr lang="en-US" altLang="zh-CN" sz="1600" dirty="0">
                  <a:ea typeface="华文细黑" panose="02010600040101010101" pitchFamily="2" charset="-122"/>
                </a:endParaRPr>
              </a:p>
              <a:p>
                <a:pPr marL="0" indent="0" algn="ctr">
                  <a:lnSpc>
                    <a:spcPct val="100000"/>
                  </a:lnSpc>
                  <a:buClr>
                    <a:schemeClr val="accent1"/>
                  </a:buClr>
                  <a:buNone/>
                  <a:defRPr/>
                </a:pP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𝜇</m:t>
                        </m:r>
                      </m:num>
                      <m:den>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ad>
                          <m:radPr>
                            <m:degHide m:val="on"/>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(0,1)</a:t>
                </a:r>
                <a:endParaRPr lang="zh-CN" altLang="zh-CN" sz="1600" dirty="0">
                  <a:solidFill>
                    <a:srgbClr val="000000"/>
                  </a:solidFill>
                  <a:effectLst/>
                  <a:latin typeface="NEU-BZ-S92"/>
                  <a:ea typeface="方正书宋_GBK"/>
                  <a:cs typeface="Times New Roman" panose="02020603050405020304" pitchFamily="18" charset="0"/>
                </a:endParaRPr>
              </a:p>
              <a:p>
                <a:pPr indent="0" algn="just">
                  <a:lnSpc>
                    <a:spcPct val="100000"/>
                  </a:lnSpc>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总体均值</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μ</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置信水平下的置信区间为</a:t>
                </a:r>
                <a:endParaRPr lang="en-US" altLang="zh-CN" sz="1600" dirty="0">
                  <a:solidFill>
                    <a:srgbClr val="000000"/>
                  </a:solidFill>
                  <a:latin typeface="NEU-BZ-S92"/>
                  <a:ea typeface="华文细黑" panose="02010600040101010101" pitchFamily="2" charset="-122"/>
                  <a:cs typeface="Times New Roman" panose="02020603050405020304" pitchFamily="18" charset="0"/>
                </a:endParaRPr>
              </a:p>
              <a:p>
                <a:pPr indent="0" algn="ctr">
                  <a:lnSpc>
                    <a:spcPct val="100000"/>
                  </a:lnSpc>
                  <a:buNone/>
                </a:pPr>
                <a14:m>
                  <m:oMath xmlns:m="http://schemas.openxmlformats.org/officeDocument/2006/math">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oMath>
                </a14:m>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α/2</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sty m:val="p"/>
                          </m:rPr>
                          <a:rPr lang="en-US" altLang="zh-CN" sz="1600" i="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σ</m:t>
                        </m:r>
                      </m:num>
                      <m:den>
                        <m:rad>
                          <m:radPr>
                            <m:degHide m:val="on"/>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m:rPr>
                                <m:sty m:val="p"/>
                              </m:rPr>
                              <a:rPr lang="en-US" altLang="zh-CN" sz="1600" i="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n</m:t>
                            </m:r>
                          </m:e>
                        </m:rad>
                      </m:den>
                    </m:f>
                  </m:oMath>
                </a14:m>
                <a:endParaRPr lang="en-US"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indent="0" algn="just">
                  <a:lnSpc>
                    <a:spcPct val="100000"/>
                  </a:lnSpc>
                  <a:buNone/>
                </a:pP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式中</a:t>
                </a:r>
                <a:r>
                  <a:rPr lang="en-US" altLang="zh-CN" sz="1600" dirty="0">
                    <a:effectLst/>
                    <a:latin typeface="Calibri" panose="020F0502020204030204" pitchFamily="34" charset="0"/>
                    <a:ea typeface="华文细黑" panose="02010600040101010101" pitchFamily="2" charset="-122"/>
                  </a:rPr>
                  <a:t>,</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600" i="1" dirty="0">
                    <a:effectLst/>
                    <a:latin typeface="Calibri" panose="020F0502020204030204" pitchFamily="34" charset="0"/>
                    <a:ea typeface="华文细黑" panose="02010600040101010101" pitchFamily="2" charset="-122"/>
                  </a:rPr>
                  <a:t>-z</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14:m>
                  <m:oMath xmlns:m="http://schemas.openxmlformats.org/officeDocument/2006/math">
                    <m:f>
                      <m:f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𝜎</m:t>
                        </m:r>
                      </m:num>
                      <m:den>
                        <m:rad>
                          <m:radPr>
                            <m:degHide m:val="on"/>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称为置信下限</a:t>
                </a:r>
                <a:r>
                  <a:rPr lang="en-US" altLang="zh-CN" sz="1600" dirty="0">
                    <a:effectLst/>
                    <a:latin typeface="Calibri" panose="020F0502020204030204" pitchFamily="34" charset="0"/>
                    <a:ea typeface="华文细黑" panose="02010600040101010101" pitchFamily="2" charset="-122"/>
                  </a:rPr>
                  <a:t>,</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600" i="1" dirty="0">
                    <a:effectLst/>
                    <a:latin typeface="Calibri" panose="020F0502020204030204" pitchFamily="34" charset="0"/>
                    <a:ea typeface="华文细黑" panose="02010600040101010101" pitchFamily="2" charset="-122"/>
                  </a:rPr>
                  <a:t>+z</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14:m>
                  <m:oMath xmlns:m="http://schemas.openxmlformats.org/officeDocument/2006/math">
                    <m:f>
                      <m:f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𝜎</m:t>
                        </m:r>
                      </m:num>
                      <m:den>
                        <m:rad>
                          <m:radPr>
                            <m:degHide m:val="on"/>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称为置信上限</a:t>
                </a:r>
                <a:r>
                  <a:rPr lang="en-US" altLang="zh-CN" sz="1600" dirty="0">
                    <a:effectLst/>
                    <a:latin typeface="Calibri" panose="020F0502020204030204" pitchFamily="34" charset="0"/>
                    <a:ea typeface="华文细黑" panose="02010600040101010101" pitchFamily="2" charset="-122"/>
                  </a:rPr>
                  <a:t>;</a:t>
                </a:r>
                <a:r>
                  <a:rPr lang="en-US" altLang="zh-CN" sz="1600" i="1" dirty="0">
                    <a:effectLst/>
                    <a:latin typeface="Calibri" panose="020F0502020204030204" pitchFamily="34" charset="0"/>
                    <a:ea typeface="华文细黑" panose="02010600040101010101" pitchFamily="2" charset="-122"/>
                  </a:rPr>
                  <a:t>α</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是事先所确定的一个概率值</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也称为风险值</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它是总体均值不包括在置信区间内的概率</a:t>
                </a:r>
                <a:r>
                  <a:rPr lang="en-US" altLang="zh-CN" sz="1600" dirty="0">
                    <a:effectLst/>
                    <a:latin typeface="Calibri" panose="020F0502020204030204" pitchFamily="34" charset="0"/>
                    <a:ea typeface="华文细黑" panose="02010600040101010101" pitchFamily="2" charset="-122"/>
                  </a:rPr>
                  <a:t>;1-</a:t>
                </a:r>
                <a:r>
                  <a:rPr lang="en-US" altLang="zh-CN" sz="1600" i="1" dirty="0">
                    <a:effectLst/>
                    <a:latin typeface="Calibri" panose="020F0502020204030204" pitchFamily="34" charset="0"/>
                    <a:ea typeface="华文细黑" panose="02010600040101010101" pitchFamily="2" charset="-122"/>
                  </a:rPr>
                  <a:t>α</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称为置信水平</a:t>
                </a:r>
                <a:r>
                  <a:rPr lang="en-US" altLang="zh-CN" sz="1600" dirty="0">
                    <a:effectLst/>
                    <a:latin typeface="Calibri" panose="020F0502020204030204" pitchFamily="34" charset="0"/>
                    <a:ea typeface="华文细黑" panose="02010600040101010101" pitchFamily="2" charset="-122"/>
                  </a:rPr>
                  <a:t>;</a:t>
                </a:r>
                <a:r>
                  <a:rPr lang="en-US" altLang="zh-CN" sz="1600" i="1" dirty="0">
                    <a:effectLst/>
                    <a:latin typeface="Calibri" panose="020F0502020204030204" pitchFamily="34" charset="0"/>
                    <a:ea typeface="华文细黑" panose="02010600040101010101" pitchFamily="2" charset="-122"/>
                  </a:rPr>
                  <a:t>z</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是标准正态分布右侧面积为</a:t>
                </a:r>
                <a:r>
                  <a:rPr lang="en-US" altLang="zh-CN" sz="1600" i="1" dirty="0">
                    <a:effectLst/>
                    <a:latin typeface="Calibri" panose="020F0502020204030204" pitchFamily="34" charset="0"/>
                    <a:ea typeface="华文细黑" panose="02010600040101010101" pitchFamily="2" charset="-122"/>
                  </a:rPr>
                  <a:t>α/</a:t>
                </a:r>
                <a:r>
                  <a:rPr lang="en-US" altLang="zh-CN" sz="1600" dirty="0">
                    <a:effectLst/>
                    <a:latin typeface="Calibri" panose="020F0502020204030204" pitchFamily="34" charset="0"/>
                    <a:ea typeface="华文细黑" panose="02010600040101010101" pitchFamily="2" charset="-122"/>
                  </a:rPr>
                  <a:t>2</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时的</a:t>
                </a:r>
                <a:r>
                  <a:rPr lang="en-US" altLang="zh-CN" sz="1600" i="1" dirty="0">
                    <a:effectLst/>
                    <a:latin typeface="Calibri" panose="020F0502020204030204" pitchFamily="34" charset="0"/>
                    <a:ea typeface="华文细黑" panose="02010600040101010101" pitchFamily="2" charset="-122"/>
                  </a:rPr>
                  <a:t>z</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值</a:t>
                </a:r>
                <a:r>
                  <a:rPr lang="en-US" altLang="zh-CN" sz="1600" dirty="0">
                    <a:effectLst/>
                    <a:latin typeface="Calibri" panose="020F0502020204030204" pitchFamily="34" charset="0"/>
                    <a:ea typeface="华文细黑" panose="02010600040101010101" pitchFamily="2" charset="-122"/>
                  </a:rPr>
                  <a:t>;</a:t>
                </a:r>
                <a:r>
                  <a:rPr lang="en-US" altLang="zh-CN" sz="1600" i="1" dirty="0">
                    <a:effectLst/>
                    <a:latin typeface="Calibri" panose="020F0502020204030204" pitchFamily="34" charset="0"/>
                    <a:ea typeface="华文细黑" panose="02010600040101010101" pitchFamily="2" charset="-122"/>
                  </a:rPr>
                  <a:t>z</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14:m>
                  <m:oMath xmlns:m="http://schemas.openxmlformats.org/officeDocument/2006/math">
                    <m:f>
                      <m:f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𝜎</m:t>
                        </m:r>
                      </m:num>
                      <m:den>
                        <m:rad>
                          <m:radPr>
                            <m:degHide m:val="on"/>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是估计总体均值时的估计误差</a:t>
                </a:r>
                <a:r>
                  <a:rPr lang="en-US" altLang="zh-CN" sz="1600" dirty="0">
                    <a:effectLst/>
                    <a:latin typeface="Calibri" panose="020F0502020204030204" pitchFamily="34" charset="0"/>
                    <a:ea typeface="华文细黑" panose="02010600040101010101" pitchFamily="2" charset="-122"/>
                  </a:rPr>
                  <a:t>(estimate error)</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。这就是说</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总体均值的置信区间由两部分组成</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点估计值和描述估计量精度的</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值</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这个</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值称为估计误差</a:t>
                </a:r>
                <a:endParaRPr lang="en-US" altLang="zh-CN" sz="1600" dirty="0">
                  <a:effectLst/>
                  <a:latin typeface="Calibri" panose="020F0502020204030204" pitchFamily="34" charset="0"/>
                  <a:ea typeface="华文细黑" panose="02010600040101010101" pitchFamily="2" charset="-122"/>
                  <a:cs typeface="Calibri" panose="020F0502020204030204" pitchFamily="34" charset="0"/>
                </a:endParaRPr>
              </a:p>
              <a:p>
                <a:pPr marL="449580" indent="-449580" algn="just">
                  <a:lnSpc>
                    <a:spcPct val="100000"/>
                  </a:lnSpc>
                  <a:buClr>
                    <a:schemeClr val="accent1"/>
                  </a:buClr>
                  <a:buFont typeface="Wingdings" panose="05000000000000000000" pitchFamily="2" charset="2"/>
                  <a:buChar char="l"/>
                  <a:defRPr/>
                </a:pPr>
                <a:r>
                  <a:rPr lang="zh-CN" altLang="zh-CN" sz="1600" dirty="0">
                    <a:ea typeface="华文细黑" panose="02010600040101010101" pitchFamily="2" charset="-122"/>
                  </a:rPr>
                  <a:t>如果总体服从正态分布但</a:t>
                </a:r>
                <a:r>
                  <a:rPr lang="en-US" altLang="zh-CN" sz="1600" dirty="0">
                    <a:ea typeface="华文细黑" panose="02010600040101010101" pitchFamily="2" charset="-122"/>
                  </a:rPr>
                  <a:t>σ2</a:t>
                </a:r>
                <a:r>
                  <a:rPr lang="zh-CN" altLang="zh-CN" sz="1600" dirty="0">
                    <a:ea typeface="华文细黑" panose="02010600040101010101" pitchFamily="2" charset="-122"/>
                  </a:rPr>
                  <a:t>未知</a:t>
                </a:r>
                <a:r>
                  <a:rPr lang="en-US" altLang="zh-CN" sz="1600" dirty="0">
                    <a:ea typeface="华文细黑" panose="02010600040101010101" pitchFamily="2" charset="-122"/>
                  </a:rPr>
                  <a:t>,</a:t>
                </a:r>
                <a:r>
                  <a:rPr lang="zh-CN" altLang="zh-CN" sz="1600" dirty="0">
                    <a:ea typeface="华文细黑" panose="02010600040101010101" pitchFamily="2" charset="-122"/>
                  </a:rPr>
                  <a:t>或总体并不服从正态分布</a:t>
                </a:r>
                <a:r>
                  <a:rPr lang="en-US" altLang="zh-CN" sz="1600" dirty="0">
                    <a:ea typeface="华文细黑" panose="02010600040101010101" pitchFamily="2" charset="-122"/>
                  </a:rPr>
                  <a:t>,</a:t>
                </a:r>
                <a:r>
                  <a:rPr lang="zh-CN" altLang="zh-CN" sz="1600" dirty="0">
                    <a:ea typeface="华文细黑" panose="02010600040101010101" pitchFamily="2" charset="-122"/>
                  </a:rPr>
                  <a:t>只要是在大样本条件下</a:t>
                </a:r>
                <a:r>
                  <a:rPr lang="en-US" altLang="zh-CN" sz="1600" dirty="0">
                    <a:ea typeface="华文细黑" panose="02010600040101010101" pitchFamily="2" charset="-122"/>
                  </a:rPr>
                  <a:t>,</a:t>
                </a:r>
                <a:r>
                  <a:rPr lang="zh-CN" altLang="zh-CN" sz="1600" dirty="0">
                    <a:ea typeface="华文细黑" panose="02010600040101010101" pitchFamily="2" charset="-122"/>
                  </a:rPr>
                  <a:t>式</a:t>
                </a:r>
                <a:r>
                  <a:rPr lang="en-US" altLang="zh-CN" sz="1600" dirty="0">
                    <a:ea typeface="华文细黑" panose="02010600040101010101" pitchFamily="2" charset="-122"/>
                  </a:rPr>
                  <a:t>(7.1)</a:t>
                </a:r>
                <a:r>
                  <a:rPr lang="zh-CN" altLang="zh-CN" sz="1600" dirty="0">
                    <a:ea typeface="华文细黑" panose="02010600040101010101" pitchFamily="2" charset="-122"/>
                  </a:rPr>
                  <a:t>中的总体方差</a:t>
                </a:r>
                <a:r>
                  <a:rPr lang="en-US" altLang="zh-CN" sz="1600" dirty="0">
                    <a:ea typeface="华文细黑" panose="02010600040101010101" pitchFamily="2" charset="-122"/>
                  </a:rPr>
                  <a:t>σ2</a:t>
                </a:r>
                <a:r>
                  <a:rPr lang="zh-CN" altLang="zh-CN" sz="1600" dirty="0">
                    <a:ea typeface="华文细黑" panose="02010600040101010101" pitchFamily="2" charset="-122"/>
                  </a:rPr>
                  <a:t>就可以用样本方差</a:t>
                </a:r>
                <a:r>
                  <a:rPr lang="en-US" altLang="zh-CN" sz="1600" dirty="0">
                    <a:ea typeface="华文细黑" panose="02010600040101010101" pitchFamily="2" charset="-122"/>
                  </a:rPr>
                  <a:t>s2</a:t>
                </a:r>
                <a:r>
                  <a:rPr lang="zh-CN" altLang="zh-CN" sz="1600" dirty="0">
                    <a:ea typeface="华文细黑" panose="02010600040101010101" pitchFamily="2" charset="-122"/>
                  </a:rPr>
                  <a:t>代替</a:t>
                </a:r>
                <a:r>
                  <a:rPr lang="en-US" altLang="zh-CN" sz="1600" dirty="0">
                    <a:ea typeface="华文细黑" panose="02010600040101010101" pitchFamily="2" charset="-122"/>
                  </a:rPr>
                  <a:t>,</a:t>
                </a:r>
                <a:r>
                  <a:rPr lang="zh-CN" altLang="zh-CN" sz="1600" dirty="0">
                    <a:ea typeface="华文细黑" panose="02010600040101010101" pitchFamily="2" charset="-122"/>
                  </a:rPr>
                  <a:t>这时总体均值</a:t>
                </a:r>
                <a:r>
                  <a:rPr lang="en-US" altLang="zh-CN" sz="1600" dirty="0">
                    <a:ea typeface="华文细黑" panose="02010600040101010101" pitchFamily="2" charset="-122"/>
                  </a:rPr>
                  <a:t>μ</a:t>
                </a:r>
                <a:r>
                  <a:rPr lang="zh-CN" altLang="zh-CN" sz="1600" dirty="0">
                    <a:ea typeface="华文细黑" panose="02010600040101010101" pitchFamily="2" charset="-122"/>
                  </a:rPr>
                  <a:t>在</a:t>
                </a:r>
                <a:r>
                  <a:rPr lang="en-US" altLang="zh-CN" sz="1600" dirty="0">
                    <a:ea typeface="华文细黑" panose="02010600040101010101" pitchFamily="2" charset="-122"/>
                  </a:rPr>
                  <a:t>1-α</a:t>
                </a:r>
                <a:r>
                  <a:rPr lang="zh-CN" altLang="zh-CN" sz="1600" dirty="0">
                    <a:ea typeface="华文细黑" panose="02010600040101010101" pitchFamily="2" charset="-122"/>
                  </a:rPr>
                  <a:t>置信水平下的置信区间可以写为</a:t>
                </a:r>
                <a:r>
                  <a:rPr lang="en-US" altLang="zh-CN" sz="1600" dirty="0">
                    <a:ea typeface="华文细黑" panose="02010600040101010101" pitchFamily="2" charset="-122"/>
                  </a:rPr>
                  <a:t>:</a:t>
                </a:r>
                <a:endParaRPr lang="zh-CN" altLang="zh-CN" sz="1600" dirty="0">
                  <a:ea typeface="华文细黑" panose="02010600040101010101" pitchFamily="2" charset="-122"/>
                </a:endParaRPr>
              </a:p>
              <a:p>
                <a:pPr marL="0" indent="0" algn="ctr">
                  <a:buNone/>
                </a:pPr>
                <a:r>
                  <a:rPr lang="zh-CN" altLang="zh-CN" sz="1600" i="1" dirty="0">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600" i="1" dirty="0">
                    <a:effectLst/>
                    <a:latin typeface="Calibri" panose="020F0502020204030204" pitchFamily="34" charset="0"/>
                    <a:ea typeface="华文细黑" panose="02010600040101010101" pitchFamily="2" charset="-122"/>
                  </a:rPr>
                  <a:t>±z</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14:m>
                  <m:oMath xmlns:m="http://schemas.openxmlformats.org/officeDocument/2006/math">
                    <m:f>
                      <m:f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𝑠</m:t>
                        </m:r>
                      </m:num>
                      <m:den>
                        <m:rad>
                          <m:radPr>
                            <m:degHide m:val="on"/>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endParaRPr lang="zh-CN" altLang="en-US" sz="1600" dirty="0">
                  <a:ea typeface="华文细黑" panose="02010600040101010101" pitchFamily="2" charset="-122"/>
                </a:endParaRPr>
              </a:p>
            </p:txBody>
          </p:sp>
        </mc:Choice>
        <mc:Fallback>
          <p:sp>
            <p:nvSpPr>
              <p:cNvPr id="10" name="Rectangle 3"/>
              <p:cNvSpPr txBox="1">
                <a:spLocks noRot="1" noChangeAspect="1" noMove="1" noResize="1" noEditPoints="1" noAdjustHandles="1" noChangeArrowheads="1" noChangeShapeType="1" noTextEdit="1"/>
              </p:cNvSpPr>
              <p:nvPr/>
            </p:nvSpPr>
            <p:spPr>
              <a:xfrm>
                <a:off x="839416" y="1484784"/>
                <a:ext cx="10585176" cy="4756990"/>
              </a:xfrm>
              <a:prstGeom prst="rect">
                <a:avLst/>
              </a:prstGeom>
              <a:blipFill rotWithShape="1">
                <a:blip r:embed="rId1"/>
                <a:stretch>
                  <a:fillRect l="-65" t="-137" r="-57" b="-126"/>
                </a:stretch>
              </a:blipFill>
              <a:ln w="12700">
                <a:solidFill>
                  <a:schemeClr val="accent1"/>
                </a:solidFill>
                <a:miter lim="800000"/>
              </a:ln>
            </p:spPr>
            <p:txBody>
              <a:bodyPr/>
              <a:lstStyle/>
              <a:p>
                <a:r>
                  <a:rPr lang="zh-CN" altLang="en-US">
                    <a:noFill/>
                  </a:rPr>
                  <a:t> </a:t>
                </a:r>
              </a:p>
            </p:txBody>
          </p:sp>
        </mc:Fallback>
      </mc:AlternateContent>
    </p:spTree>
    <p:custDataLst>
      <p:tags r:id="rId2"/>
    </p:custData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总体均值的区间估计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正态总体方差未知或非正态总体大样本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 </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839416" y="1484784"/>
            <a:ext cx="5112568"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Clr>
                <a:schemeClr val="accent1"/>
              </a:buClr>
              <a:buNone/>
              <a:defRPr/>
            </a:pPr>
            <a:r>
              <a:rPr lang="zh-CN" altLang="zh-CN" sz="1800" b="1" dirty="0">
                <a:solidFill>
                  <a:srgbClr val="FF0000"/>
                </a:solidFill>
                <a:ea typeface="华文细黑" panose="02010600040101010101" pitchFamily="2" charset="-122"/>
              </a:rPr>
              <a:t>【例</a:t>
            </a:r>
            <a:r>
              <a:rPr lang="en-US" altLang="zh-CN" sz="1800" b="1" dirty="0">
                <a:solidFill>
                  <a:srgbClr val="FF0000"/>
                </a:solidFill>
                <a:ea typeface="华文细黑" panose="02010600040101010101" pitchFamily="2" charset="-122"/>
              </a:rPr>
              <a:t>7.1</a:t>
            </a:r>
            <a:r>
              <a:rPr lang="zh-CN" altLang="zh-CN" sz="1800" b="1" dirty="0">
                <a:solidFill>
                  <a:srgbClr val="FF0000"/>
                </a:solidFill>
                <a:ea typeface="华文细黑" panose="02010600040101010101" pitchFamily="2" charset="-122"/>
              </a:rPr>
              <a:t>】</a:t>
            </a:r>
            <a:r>
              <a:rPr lang="zh-CN" altLang="zh-CN" sz="1800" dirty="0">
                <a:ea typeface="华文细黑" panose="02010600040101010101" pitchFamily="2" charset="-122"/>
              </a:rPr>
              <a:t>一家食品生产企业以生产袋装食品为主</a:t>
            </a:r>
            <a:r>
              <a:rPr lang="en-US" altLang="zh-CN" sz="1800" dirty="0">
                <a:ea typeface="华文细黑" panose="02010600040101010101" pitchFamily="2" charset="-122"/>
              </a:rPr>
              <a:t>,</a:t>
            </a:r>
            <a:r>
              <a:rPr lang="zh-CN" altLang="zh-CN" sz="1800" dirty="0">
                <a:ea typeface="华文细黑" panose="02010600040101010101" pitchFamily="2" charset="-122"/>
              </a:rPr>
              <a:t>每天的产量大约为</a:t>
            </a:r>
            <a:r>
              <a:rPr lang="en-US" altLang="zh-CN" sz="1800" dirty="0">
                <a:ea typeface="华文细黑" panose="02010600040101010101" pitchFamily="2" charset="-122"/>
              </a:rPr>
              <a:t>8 000</a:t>
            </a:r>
            <a:r>
              <a:rPr lang="zh-CN" altLang="zh-CN" sz="1800" dirty="0">
                <a:ea typeface="华文细黑" panose="02010600040101010101" pitchFamily="2" charset="-122"/>
              </a:rPr>
              <a:t>袋。按规定每袋的重量应为</a:t>
            </a:r>
            <a:r>
              <a:rPr lang="en-US" altLang="zh-CN" sz="1800" dirty="0">
                <a:ea typeface="华文细黑" panose="02010600040101010101" pitchFamily="2" charset="-122"/>
              </a:rPr>
              <a:t>100</a:t>
            </a:r>
            <a:r>
              <a:rPr lang="zh-CN" altLang="zh-CN" sz="1800" dirty="0">
                <a:ea typeface="华文细黑" panose="02010600040101010101" pitchFamily="2" charset="-122"/>
              </a:rPr>
              <a:t>克。为对产品重量进行监测</a:t>
            </a:r>
            <a:r>
              <a:rPr lang="en-US" altLang="zh-CN" sz="1800" dirty="0">
                <a:ea typeface="华文细黑" panose="02010600040101010101" pitchFamily="2" charset="-122"/>
              </a:rPr>
              <a:t>,</a:t>
            </a:r>
            <a:r>
              <a:rPr lang="zh-CN" altLang="zh-CN" sz="1800" dirty="0">
                <a:ea typeface="华文细黑" panose="02010600040101010101" pitchFamily="2" charset="-122"/>
              </a:rPr>
              <a:t>企业质检部门经常要进行抽检</a:t>
            </a:r>
            <a:r>
              <a:rPr lang="en-US" altLang="zh-CN" sz="1800" dirty="0">
                <a:ea typeface="华文细黑" panose="02010600040101010101" pitchFamily="2" charset="-122"/>
              </a:rPr>
              <a:t>,</a:t>
            </a:r>
            <a:r>
              <a:rPr lang="zh-CN" altLang="zh-CN" sz="1800" dirty="0">
                <a:ea typeface="华文细黑" panose="02010600040101010101" pitchFamily="2" charset="-122"/>
              </a:rPr>
              <a:t>以分析每袋重量是否符合要求。现从某天生产的一批食品中随机抽取</a:t>
            </a:r>
            <a:r>
              <a:rPr lang="en-US" altLang="zh-CN" sz="1800" dirty="0">
                <a:ea typeface="华文细黑" panose="02010600040101010101" pitchFamily="2" charset="-122"/>
              </a:rPr>
              <a:t>25</a:t>
            </a:r>
            <a:r>
              <a:rPr lang="zh-CN" altLang="zh-CN" sz="1800" dirty="0">
                <a:ea typeface="华文细黑" panose="02010600040101010101" pitchFamily="2" charset="-122"/>
              </a:rPr>
              <a:t>袋</a:t>
            </a:r>
            <a:r>
              <a:rPr lang="en-US" altLang="zh-CN" sz="1800" dirty="0">
                <a:ea typeface="华文细黑" panose="02010600040101010101" pitchFamily="2" charset="-122"/>
              </a:rPr>
              <a:t>,</a:t>
            </a:r>
            <a:r>
              <a:rPr lang="zh-CN" altLang="zh-CN" sz="1800" dirty="0">
                <a:ea typeface="华文细黑" panose="02010600040101010101" pitchFamily="2" charset="-122"/>
              </a:rPr>
              <a:t>测得每袋重量如表</a:t>
            </a:r>
            <a:r>
              <a:rPr lang="en-US" altLang="zh-CN" sz="1800" dirty="0">
                <a:ea typeface="华文细黑" panose="02010600040101010101" pitchFamily="2" charset="-122"/>
              </a:rPr>
              <a:t>7-2</a:t>
            </a:r>
            <a:r>
              <a:rPr lang="zh-CN" altLang="zh-CN" sz="1800" dirty="0">
                <a:ea typeface="华文细黑" panose="02010600040101010101" pitchFamily="2" charset="-122"/>
              </a:rPr>
              <a:t>所示</a:t>
            </a:r>
            <a:r>
              <a:rPr lang="zh-CN" altLang="en-US" sz="1800" dirty="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已知产品重量服从正态分布</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且总体标准差为</a:t>
            </a:r>
            <a:r>
              <a:rPr lang="en-US" altLang="zh-CN" sz="1800" dirty="0">
                <a:effectLst/>
                <a:latin typeface="Calibri" panose="020F0502020204030204" pitchFamily="34" charset="0"/>
                <a:ea typeface="华文细黑" panose="02010600040101010101" pitchFamily="2" charset="-122"/>
              </a:rPr>
              <a:t>10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克。试估计该天产品平均重量的置信区间</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置信水平为</a:t>
            </a:r>
            <a:r>
              <a:rPr lang="en-US" altLang="zh-CN" sz="1800" dirty="0">
                <a:effectLst/>
                <a:latin typeface="Calibri" panose="020F0502020204030204" pitchFamily="34" charset="0"/>
                <a:ea typeface="华文细黑" panose="02010600040101010101" pitchFamily="2" charset="-122"/>
              </a:rPr>
              <a:t>95%</a:t>
            </a:r>
            <a:endParaRPr lang="zh-CN" altLang="en-US" sz="1800" dirty="0">
              <a:ea typeface="华文细黑" panose="02010600040101010101" pitchFamily="2" charset="-122"/>
            </a:endParaRPr>
          </a:p>
        </p:txBody>
      </p:sp>
      <p:graphicFrame>
        <p:nvGraphicFramePr>
          <p:cNvPr id="3" name="表格 2"/>
          <p:cNvGraphicFramePr>
            <a:graphicFrameLocks noGrp="1"/>
          </p:cNvGraphicFramePr>
          <p:nvPr/>
        </p:nvGraphicFramePr>
        <p:xfrm>
          <a:off x="911424" y="3861048"/>
          <a:ext cx="4968550" cy="2304257"/>
        </p:xfrm>
        <a:graphic>
          <a:graphicData uri="http://schemas.openxmlformats.org/drawingml/2006/table">
            <a:tbl>
              <a:tblPr firstRow="1" firstCol="1" bandRow="1">
                <a:tableStyleId>{5C22544A-7EE6-4342-B048-85BDC9FD1C3A}</a:tableStyleId>
              </a:tblPr>
              <a:tblGrid>
                <a:gridCol w="1015223"/>
                <a:gridCol w="1015223"/>
                <a:gridCol w="1015223"/>
                <a:gridCol w="1015223"/>
                <a:gridCol w="907658"/>
              </a:tblGrid>
              <a:tr h="427062">
                <a:tc>
                  <a:txBody>
                    <a:bodyPr/>
                    <a:lstStyle/>
                    <a:p>
                      <a:pPr algn="ctr">
                        <a:lnSpc>
                          <a:spcPts val="1200"/>
                        </a:lnSpc>
                      </a:pPr>
                      <a:r>
                        <a:rPr lang="en-US" sz="1600" b="1">
                          <a:effectLst/>
                        </a:rPr>
                        <a:t>112.5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dirty="0">
                          <a:effectLst/>
                        </a:rPr>
                        <a:t>101.0</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103.0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102.0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100.5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27062">
                <a:tc>
                  <a:txBody>
                    <a:bodyPr/>
                    <a:lstStyle/>
                    <a:p>
                      <a:pPr algn="ctr">
                        <a:lnSpc>
                          <a:spcPts val="1200"/>
                        </a:lnSpc>
                      </a:pPr>
                      <a:r>
                        <a:rPr lang="en-US" sz="1600" b="1">
                          <a:effectLst/>
                        </a:rPr>
                        <a:t>102.6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dirty="0">
                          <a:effectLst/>
                        </a:rPr>
                        <a:t>107.5</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dirty="0">
                          <a:effectLst/>
                        </a:rPr>
                        <a:t>95.0</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108.8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dirty="0">
                          <a:effectLst/>
                        </a:rPr>
                        <a:t>115.6</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r h="427062">
                <a:tc>
                  <a:txBody>
                    <a:bodyPr/>
                    <a:lstStyle/>
                    <a:p>
                      <a:pPr algn="ctr">
                        <a:lnSpc>
                          <a:spcPts val="1200"/>
                        </a:lnSpc>
                      </a:pPr>
                      <a:r>
                        <a:rPr lang="en-US" sz="1600" b="1">
                          <a:effectLst/>
                        </a:rPr>
                        <a:t>100.0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123.5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102.0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101.6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102.2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27062">
                <a:tc>
                  <a:txBody>
                    <a:bodyPr/>
                    <a:lstStyle/>
                    <a:p>
                      <a:pPr algn="ctr">
                        <a:lnSpc>
                          <a:spcPts val="1200"/>
                        </a:lnSpc>
                      </a:pPr>
                      <a:r>
                        <a:rPr lang="en-US" sz="1600" b="1">
                          <a:effectLst/>
                        </a:rPr>
                        <a:t>116.6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95.4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97.8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108.6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105.0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596009">
                <a:tc>
                  <a:txBody>
                    <a:bodyPr/>
                    <a:lstStyle/>
                    <a:p>
                      <a:pPr algn="ctr">
                        <a:lnSpc>
                          <a:spcPts val="1200"/>
                        </a:lnSpc>
                      </a:pPr>
                      <a:r>
                        <a:rPr lang="en-US" sz="1600" b="1">
                          <a:effectLst/>
                        </a:rPr>
                        <a:t>136.8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102.8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101.5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98.4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800"/>
                        </a:lnSpc>
                      </a:pPr>
                      <a:r>
                        <a:rPr lang="en-US" sz="1600" b="1" dirty="0">
                          <a:effectLst/>
                        </a:rPr>
                        <a:t>93.3</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mc:AlternateContent xmlns:mc="http://schemas.openxmlformats.org/markup-compatibility/2006">
        <mc:Choice xmlns:a14="http://schemas.microsoft.com/office/drawing/2010/main" Requires="a14">
          <p:sp>
            <p:nvSpPr>
              <p:cNvPr id="6" name="Rectangle 3"/>
              <p:cNvSpPr txBox="1">
                <a:spLocks noChangeArrowheads="1"/>
              </p:cNvSpPr>
              <p:nvPr/>
            </p:nvSpPr>
            <p:spPr>
              <a:xfrm>
                <a:off x="6023992" y="1484784"/>
                <a:ext cx="5472608"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σ</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=10,</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置信水平</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查标准正态分布表得</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=1.96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根据样本数据计算的样本均值为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634</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105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(7.2)</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105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36</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10</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e>
                        </m:rad>
                      </m:den>
                    </m:f>
                  </m:oMath>
                </a14:m>
                <a:endParaRPr lang="zh-CN" altLang="zh-CN" sz="1800" dirty="0">
                  <a:solidFill>
                    <a:srgbClr val="000000"/>
                  </a:solidFill>
                  <a:effectLst/>
                  <a:latin typeface="NEU-BZ-S92"/>
                  <a:ea typeface="方正书宋_GBK"/>
                  <a:cs typeface="Times New Roman" panose="02020603050405020304" pitchFamily="18" charset="0"/>
                </a:endParaRPr>
              </a:p>
              <a:p>
                <a:pPr marL="0" indent="0">
                  <a:lnSpc>
                    <a:spcPct val="15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effectLst/>
                    <a:latin typeface="Calibri" panose="020F0502020204030204" pitchFamily="34" charset="0"/>
                    <a:ea typeface="华文细黑" panose="02010600040101010101" pitchFamily="2" charset="-122"/>
                  </a:rPr>
                  <a:t>105.36±3.92=(101.44,109.28),</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该批食品平均重量</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effectLst/>
                    <a:latin typeface="Calibri" panose="020F0502020204030204" pitchFamily="34" charset="0"/>
                    <a:ea typeface="华文细黑" panose="02010600040101010101" pitchFamily="2" charset="-122"/>
                  </a:rPr>
                  <a:t>101.44~109.28</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克</a:t>
                </a:r>
                <a:endParaRPr lang="zh-CN" altLang="en-US" sz="1800" dirty="0">
                  <a:ea typeface="华文细黑" panose="02010600040101010101" pitchFamily="2" charset="-122"/>
                </a:endParaRPr>
              </a:p>
            </p:txBody>
          </p:sp>
        </mc:Choice>
        <mc:Fallback>
          <p:sp>
            <p:nvSpPr>
              <p:cNvPr id="6" name="Rectangle 3"/>
              <p:cNvSpPr txBox="1">
                <a:spLocks noRot="1" noChangeAspect="1" noMove="1" noResize="1" noEditPoints="1" noAdjustHandles="1" noChangeArrowheads="1" noChangeShapeType="1" noTextEdit="1"/>
              </p:cNvSpPr>
              <p:nvPr/>
            </p:nvSpPr>
            <p:spPr>
              <a:xfrm>
                <a:off x="6023992" y="1484784"/>
                <a:ext cx="5472608" cy="4756990"/>
              </a:xfrm>
              <a:prstGeom prst="rect">
                <a:avLst/>
              </a:prstGeom>
              <a:blipFill rotWithShape="1">
                <a:blip r:embed="rId1"/>
                <a:stretch>
                  <a:fillRect l="-123" t="-137" r="-106" b="-126"/>
                </a:stretch>
              </a:blipFill>
              <a:ln w="12700">
                <a:solidFill>
                  <a:schemeClr val="accent1"/>
                </a:solidFill>
                <a:miter lim="800000"/>
              </a:ln>
            </p:spPr>
            <p:txBody>
              <a:bodyPr/>
              <a:lstStyle/>
              <a:p>
                <a:r>
                  <a:rPr lang="zh-CN" altLang="en-US">
                    <a:noFill/>
                  </a:rPr>
                  <a:t> </a:t>
                </a:r>
              </a:p>
            </p:txBody>
          </p:sp>
        </mc:Fallback>
      </mc:AlternateContent>
    </p:spTree>
    <p:custDataLst>
      <p:tags r:id="rId2"/>
    </p:custData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总体均值的区间估计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 </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839416" y="1484784"/>
            <a:ext cx="5112568"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Clr>
                <a:schemeClr val="accent1"/>
              </a:buClr>
              <a:buNone/>
              <a:defRPr/>
            </a:pPr>
            <a:r>
              <a:rPr lang="zh-CN" altLang="zh-CN" sz="2000" b="1" dirty="0">
                <a:solidFill>
                  <a:srgbClr val="FF0000"/>
                </a:solidFill>
                <a:ea typeface="华文细黑" panose="02010600040101010101" pitchFamily="2" charset="-122"/>
              </a:rPr>
              <a:t>【例</a:t>
            </a:r>
            <a:r>
              <a:rPr lang="en-US" altLang="zh-CN" sz="2000" b="1" dirty="0">
                <a:solidFill>
                  <a:srgbClr val="FF0000"/>
                </a:solidFill>
                <a:ea typeface="华文细黑" panose="02010600040101010101" pitchFamily="2" charset="-122"/>
              </a:rPr>
              <a:t>7.2</a:t>
            </a:r>
            <a:r>
              <a:rPr lang="zh-CN" altLang="zh-CN" sz="2000" b="1" dirty="0">
                <a:solidFill>
                  <a:srgbClr val="FF0000"/>
                </a:solidFill>
                <a:ea typeface="华文细黑" panose="02010600040101010101" pitchFamily="2" charset="-122"/>
              </a:rPr>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一家保险公司收集到由</a:t>
            </a:r>
            <a:r>
              <a:rPr lang="en-US" altLang="zh-CN" sz="2000" dirty="0">
                <a:effectLst/>
                <a:latin typeface="Calibri" panose="020F0502020204030204" pitchFamily="34" charset="0"/>
                <a:ea typeface="华文细黑" panose="02010600040101010101" pitchFamily="2" charset="-122"/>
              </a:rPr>
              <a:t>36</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位投保人组成的随机样本</a:t>
            </a:r>
            <a:r>
              <a:rPr lang="en-US" altLang="zh-CN" sz="2000" dirty="0">
                <a:effectLst/>
                <a:latin typeface="Calibri" panose="020F0502020204030204" pitchFamily="34" charset="0"/>
                <a:ea typeface="华文细黑" panose="02010600040101010101" pitchFamily="2" charset="-122"/>
              </a:rPr>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得到每位投保人的年龄数据如表</a:t>
            </a:r>
            <a:r>
              <a:rPr lang="en-US" altLang="zh-CN" sz="2000" dirty="0">
                <a:effectLst/>
                <a:latin typeface="Calibri" panose="020F0502020204030204" pitchFamily="34" charset="0"/>
                <a:ea typeface="华文细黑" panose="02010600040101010101" pitchFamily="2" charset="-122"/>
              </a:rPr>
              <a:t>7-3</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所示</a:t>
            </a:r>
            <a:r>
              <a:rPr lang="zh-CN" altLang="en-US" sz="2000" dirty="0">
                <a:latin typeface="Calibri" panose="020F0502020204030204" pitchFamily="34" charset="0"/>
                <a:ea typeface="华文细黑" panose="02010600040101010101" pitchFamily="2" charset="-122"/>
                <a:cs typeface="Calibri" panose="020F0502020204030204" pitchFamily="34" charset="0"/>
              </a:rPr>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试建立投保人平均年龄的</a:t>
            </a:r>
            <a:r>
              <a:rPr lang="en-US" altLang="zh-CN" sz="2000" dirty="0">
                <a:effectLst/>
                <a:latin typeface="Calibri" panose="020F0502020204030204" pitchFamily="34" charset="0"/>
                <a:ea typeface="华文细黑" panose="02010600040101010101" pitchFamily="2" charset="-122"/>
              </a:rPr>
              <a:t>90%</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的置信区间</a:t>
            </a:r>
            <a:endParaRPr lang="zh-CN" altLang="en-US" sz="2000" dirty="0">
              <a:ea typeface="华文细黑" panose="02010600040101010101" pitchFamily="2" charset="-122"/>
            </a:endParaRPr>
          </a:p>
        </p:txBody>
      </p:sp>
      <mc:AlternateContent xmlns:mc="http://schemas.openxmlformats.org/markup-compatibility/2006">
        <mc:Choice xmlns:a14="http://schemas.microsoft.com/office/drawing/2010/main" Requires="a14">
          <p:sp>
            <p:nvSpPr>
              <p:cNvPr id="6" name="Rectangle 3"/>
              <p:cNvSpPr txBox="1">
                <a:spLocks noChangeArrowheads="1"/>
              </p:cNvSpPr>
              <p:nvPr/>
            </p:nvSpPr>
            <p:spPr>
              <a:xfrm>
                <a:off x="6023992" y="1484784"/>
                <a:ext cx="5472608"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=36,1-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=90%,</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=1.645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。由于总体方差未知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但为大样本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可用样本方差来代替总体方差。</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根据样本数据计算的样本均值和标准差如下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39</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岁</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s=</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i</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e>
                    </m:rad>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77</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(7.3)</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39</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645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77</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36</m:t>
                            </m:r>
                          </m:e>
                        </m:rad>
                      </m:den>
                    </m:f>
                  </m:oMath>
                </a14:m>
                <a:endParaRPr lang="zh-CN" altLang="zh-CN" sz="1800" dirty="0">
                  <a:solidFill>
                    <a:srgbClr val="000000"/>
                  </a:solidFill>
                  <a:effectLst/>
                  <a:latin typeface="NEU-BZ-S92"/>
                  <a:ea typeface="方正书宋_GBK"/>
                  <a:cs typeface="Times New Roman" panose="02020603050405020304" pitchFamily="18" charset="0"/>
                </a:endParaRPr>
              </a:p>
              <a:p>
                <a:pPr marL="0" indent="0">
                  <a:lnSpc>
                    <a:spcPct val="15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effectLst/>
                    <a:latin typeface="Calibri" panose="020F0502020204030204" pitchFamily="34" charset="0"/>
                    <a:ea typeface="华文细黑" panose="02010600040101010101" pitchFamily="2" charset="-122"/>
                  </a:rPr>
                  <a:t>39.5±2.13=(37.4,41.6),</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投保人平均年龄的</a:t>
                </a:r>
                <a:r>
                  <a:rPr lang="en-US" altLang="zh-CN" sz="1800" dirty="0">
                    <a:effectLst/>
                    <a:latin typeface="Calibri" panose="020F0502020204030204" pitchFamily="34" charset="0"/>
                    <a:ea typeface="华文细黑" panose="02010600040101010101" pitchFamily="2" charset="-122"/>
                  </a:rPr>
                  <a:t>90%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effectLst/>
                    <a:latin typeface="Calibri" panose="020F0502020204030204" pitchFamily="34" charset="0"/>
                    <a:ea typeface="华文细黑" panose="02010600040101010101" pitchFamily="2" charset="-122"/>
                  </a:rPr>
                  <a:t>37.4~41.6</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岁</a:t>
                </a:r>
                <a:endParaRPr lang="zh-CN" altLang="en-US" sz="1800" dirty="0">
                  <a:ea typeface="华文细黑" panose="02010600040101010101" pitchFamily="2" charset="-122"/>
                </a:endParaRPr>
              </a:p>
            </p:txBody>
          </p:sp>
        </mc:Choice>
        <mc:Fallback>
          <p:sp>
            <p:nvSpPr>
              <p:cNvPr id="6" name="Rectangle 3"/>
              <p:cNvSpPr txBox="1">
                <a:spLocks noRot="1" noChangeAspect="1" noMove="1" noResize="1" noEditPoints="1" noAdjustHandles="1" noChangeArrowheads="1" noChangeShapeType="1" noTextEdit="1"/>
              </p:cNvSpPr>
              <p:nvPr/>
            </p:nvSpPr>
            <p:spPr>
              <a:xfrm>
                <a:off x="6023992" y="1484784"/>
                <a:ext cx="5472608" cy="4756990"/>
              </a:xfrm>
              <a:prstGeom prst="rect">
                <a:avLst/>
              </a:prstGeom>
              <a:blipFill rotWithShape="1">
                <a:blip r:embed="rId1"/>
                <a:stretch>
                  <a:fillRect l="-123" t="-137" r="-106" b="-2315"/>
                </a:stretch>
              </a:blipFill>
              <a:ln w="12700">
                <a:solidFill>
                  <a:schemeClr val="accent1"/>
                </a:solidFill>
                <a:miter lim="800000"/>
              </a:ln>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983432" y="3417092"/>
          <a:ext cx="4824535" cy="2676204"/>
        </p:xfrm>
        <a:graphic>
          <a:graphicData uri="http://schemas.openxmlformats.org/drawingml/2006/table">
            <a:tbl>
              <a:tblPr firstRow="1" firstCol="1" bandRow="1">
                <a:tableStyleId>{5C22544A-7EE6-4342-B048-85BDC9FD1C3A}</a:tableStyleId>
              </a:tblPr>
              <a:tblGrid>
                <a:gridCol w="800960"/>
                <a:gridCol w="821497"/>
                <a:gridCol w="821497"/>
                <a:gridCol w="821497"/>
                <a:gridCol w="821497"/>
                <a:gridCol w="737587"/>
              </a:tblGrid>
              <a:tr h="418410">
                <a:tc>
                  <a:txBody>
                    <a:bodyPr/>
                    <a:lstStyle/>
                    <a:p>
                      <a:pPr algn="ctr">
                        <a:lnSpc>
                          <a:spcPts val="1200"/>
                        </a:lnSpc>
                      </a:pPr>
                      <a:r>
                        <a:rPr lang="en-US" sz="1600" b="1">
                          <a:effectLst/>
                        </a:rPr>
                        <a:t>23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410">
                <a:tc>
                  <a:txBody>
                    <a:bodyPr/>
                    <a:lstStyle/>
                    <a:p>
                      <a:pPr algn="ctr">
                        <a:lnSpc>
                          <a:spcPts val="1200"/>
                        </a:lnSpc>
                      </a:pPr>
                      <a:r>
                        <a:rPr lang="en-US" sz="1600" b="1">
                          <a:effectLst/>
                        </a:rPr>
                        <a:t>36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410">
                <a:tc>
                  <a:txBody>
                    <a:bodyPr/>
                    <a:lstStyle/>
                    <a:p>
                      <a:pPr algn="ctr">
                        <a:lnSpc>
                          <a:spcPts val="1200"/>
                        </a:lnSpc>
                      </a:pPr>
                      <a:r>
                        <a:rPr lang="en-US" sz="1600" b="1">
                          <a:effectLst/>
                        </a:rPr>
                        <a:t>42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410">
                <a:tc>
                  <a:txBody>
                    <a:bodyPr/>
                    <a:lstStyle/>
                    <a:p>
                      <a:pPr algn="ctr">
                        <a:lnSpc>
                          <a:spcPts val="1200"/>
                        </a:lnSpc>
                      </a:pPr>
                      <a:r>
                        <a:rPr lang="en-US" sz="1600" b="1">
                          <a:effectLst/>
                        </a:rPr>
                        <a:t>34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410">
                <a:tc>
                  <a:txBody>
                    <a:bodyPr/>
                    <a:lstStyle/>
                    <a:p>
                      <a:pPr algn="ctr">
                        <a:lnSpc>
                          <a:spcPts val="1200"/>
                        </a:lnSpc>
                      </a:pPr>
                      <a:r>
                        <a:rPr lang="en-US" sz="1600" b="1">
                          <a:effectLst/>
                        </a:rPr>
                        <a:t>39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584154">
                <a:tc>
                  <a:txBody>
                    <a:bodyPr/>
                    <a:lstStyle/>
                    <a:p>
                      <a:pPr algn="ctr">
                        <a:lnSpc>
                          <a:spcPts val="1200"/>
                        </a:lnSpc>
                      </a:pPr>
                      <a:r>
                        <a:rPr lang="en-US" sz="1600" b="1">
                          <a:effectLst/>
                        </a:rPr>
                        <a:t>34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800"/>
                        </a:lnSpc>
                      </a:pPr>
                      <a:r>
                        <a:rPr lang="en-US" sz="1600" b="1" dirty="0">
                          <a:effectLst/>
                        </a:rPr>
                        <a:t>32</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p:spTree>
    <p:custDataLst>
      <p:tags r:id="rId2"/>
    </p:custData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总体均值的区间估计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正态总体方差未知、小样本 </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Rectangle 3"/>
              <p:cNvSpPr txBox="1">
                <a:spLocks noChangeArrowheads="1"/>
              </p:cNvSpPr>
              <p:nvPr/>
            </p:nvSpPr>
            <p:spPr>
              <a:xfrm>
                <a:off x="839416" y="1484784"/>
                <a:ext cx="5544616"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None/>
                </a:pPr>
                <a:r>
                  <a:rPr lang="zh-CN"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正态总体</a:t>
                </a:r>
                <a:r>
                  <a:rPr lang="en-US"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a:t>
                </a:r>
                <a:r>
                  <a:rPr lang="zh-CN"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方差未知</a:t>
                </a:r>
                <a:r>
                  <a:rPr lang="en-US"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a:t>
                </a:r>
                <a:r>
                  <a:rPr lang="zh-CN"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小样本</a:t>
                </a:r>
                <a:endParaRPr lang="en-US" altLang="zh-CN" sz="1600" b="1" dirty="0">
                  <a:solidFill>
                    <a:srgbClr val="FF0000"/>
                  </a:solidFill>
                  <a:latin typeface="Calibri" panose="020F0502020204030204" pitchFamily="34" charset="0"/>
                  <a:ea typeface="华文细黑" panose="02010600040101010101" pitchFamily="2" charset="-122"/>
                  <a:cs typeface="Calibri" panose="020F0502020204030204" pitchFamily="34" charset="0"/>
                </a:endParaRPr>
              </a:p>
              <a:p>
                <a:pPr marL="449580" indent="-449580" algn="just">
                  <a:lnSpc>
                    <a:spcPct val="150000"/>
                  </a:lnSpc>
                  <a:buClr>
                    <a:schemeClr val="accent1"/>
                  </a:buClr>
                  <a:buFont typeface="Wingdings" panose="05000000000000000000" pitchFamily="2" charset="2"/>
                  <a:buChar char="l"/>
                  <a:defRPr/>
                </a:pPr>
                <a:r>
                  <a:rPr lang="zh-CN" altLang="zh-CN" sz="1600" dirty="0">
                    <a:ea typeface="华文细黑" panose="02010600040101010101" pitchFamily="2" charset="-122"/>
                  </a:rPr>
                  <a:t>如果总体服从正态分布</a:t>
                </a:r>
                <a:r>
                  <a:rPr lang="en-US" altLang="zh-CN" sz="1600" dirty="0">
                    <a:ea typeface="华文细黑" panose="02010600040101010101" pitchFamily="2" charset="-122"/>
                  </a:rPr>
                  <a:t>,</a:t>
                </a:r>
                <a:r>
                  <a:rPr lang="zh-CN" altLang="zh-CN" sz="1600" dirty="0">
                    <a:ea typeface="华文细黑" panose="02010600040101010101" pitchFamily="2" charset="-122"/>
                  </a:rPr>
                  <a:t>则无论样本量如何</a:t>
                </a:r>
                <a:r>
                  <a:rPr lang="en-US" altLang="zh-CN" sz="1600" dirty="0">
                    <a:ea typeface="华文细黑" panose="02010600040101010101" pitchFamily="2" charset="-122"/>
                  </a:rPr>
                  <a:t>,</a:t>
                </a:r>
                <a:r>
                  <a:rPr lang="zh-CN" altLang="zh-CN" sz="1600" dirty="0">
                    <a:ea typeface="华文细黑" panose="02010600040101010101" pitchFamily="2" charset="-122"/>
                  </a:rPr>
                  <a:t>样本均值</a:t>
                </a:r>
                <a14:m>
                  <m:oMath xmlns:m="http://schemas.openxmlformats.org/officeDocument/2006/math">
                    <m:acc>
                      <m:accPr>
                        <m:chr m:val="̅"/>
                        <m:ctrlPr>
                          <a:rPr lang="zh-CN" altLang="zh-CN" sz="1600" i="1">
                            <a:latin typeface="Cambria Math" panose="02040503050406030204" pitchFamily="18" charset="0"/>
                            <a:ea typeface="华文细黑" panose="02010600040101010101" pitchFamily="2" charset="-122"/>
                          </a:rPr>
                        </m:ctrlPr>
                      </m:accPr>
                      <m:e>
                        <m:r>
                          <m:rPr>
                            <m:sty m:val="p"/>
                          </m:rPr>
                          <a:rPr lang="en-US" altLang="zh-CN" sz="1600">
                            <a:latin typeface="Cambria Math" panose="02040503050406030204" pitchFamily="18" charset="0"/>
                            <a:ea typeface="华文细黑" panose="02010600040101010101" pitchFamily="2" charset="-122"/>
                          </a:rPr>
                          <m:t>x</m:t>
                        </m:r>
                      </m:e>
                    </m:acc>
                  </m:oMath>
                </a14:m>
                <a:r>
                  <a:rPr lang="zh-CN" altLang="zh-CN" sz="1600" dirty="0">
                    <a:ea typeface="华文细黑" panose="02010600040101010101" pitchFamily="2" charset="-122"/>
                  </a:rPr>
                  <a:t>的抽样分布都服从正态分布。这时</a:t>
                </a:r>
                <a:r>
                  <a:rPr lang="en-US" altLang="zh-CN" sz="1600" dirty="0">
                    <a:ea typeface="华文细黑" panose="02010600040101010101" pitchFamily="2" charset="-122"/>
                  </a:rPr>
                  <a:t>,</a:t>
                </a:r>
                <a:r>
                  <a:rPr lang="zh-CN" altLang="zh-CN" sz="1600" dirty="0">
                    <a:ea typeface="华文细黑" panose="02010600040101010101" pitchFamily="2" charset="-122"/>
                  </a:rPr>
                  <a:t>只要总体方差</a:t>
                </a:r>
                <a:r>
                  <a:rPr lang="en-US" altLang="zh-CN" sz="1600" dirty="0">
                    <a:ea typeface="华文细黑" panose="02010600040101010101" pitchFamily="2" charset="-122"/>
                  </a:rPr>
                  <a:t>σ2</a:t>
                </a:r>
                <a:r>
                  <a:rPr lang="zh-CN" altLang="zh-CN" sz="1600" dirty="0">
                    <a:ea typeface="华文细黑" panose="02010600040101010101" pitchFamily="2" charset="-122"/>
                  </a:rPr>
                  <a:t>已知</a:t>
                </a:r>
                <a:r>
                  <a:rPr lang="en-US" altLang="zh-CN" sz="1600" dirty="0">
                    <a:ea typeface="华文细黑" panose="02010600040101010101" pitchFamily="2" charset="-122"/>
                  </a:rPr>
                  <a:t>,</a:t>
                </a:r>
                <a:r>
                  <a:rPr lang="zh-CN" altLang="zh-CN" sz="1600" dirty="0">
                    <a:ea typeface="华文细黑" panose="02010600040101010101" pitchFamily="2" charset="-122"/>
                  </a:rPr>
                  <a:t>即使是在小样本的情况下</a:t>
                </a:r>
                <a:r>
                  <a:rPr lang="en-US" altLang="zh-CN" sz="1600" dirty="0">
                    <a:ea typeface="华文细黑" panose="02010600040101010101" pitchFamily="2" charset="-122"/>
                  </a:rPr>
                  <a:t>,</a:t>
                </a:r>
                <a:r>
                  <a:rPr lang="zh-CN" altLang="zh-CN" sz="1600" dirty="0">
                    <a:ea typeface="华文细黑" panose="02010600040101010101" pitchFamily="2" charset="-122"/>
                  </a:rPr>
                  <a:t>也可以按式</a:t>
                </a:r>
                <a:r>
                  <a:rPr lang="en-US" altLang="zh-CN" sz="1600" dirty="0">
                    <a:ea typeface="华文细黑" panose="02010600040101010101" pitchFamily="2" charset="-122"/>
                  </a:rPr>
                  <a:t>(7.1)</a:t>
                </a:r>
                <a:r>
                  <a:rPr lang="zh-CN" altLang="zh-CN" sz="1600" dirty="0">
                    <a:ea typeface="华文细黑" panose="02010600040101010101" pitchFamily="2" charset="-122"/>
                  </a:rPr>
                  <a:t>建立总体均值的置信区间</a:t>
                </a:r>
                <a:endParaRPr lang="en-US" altLang="zh-CN" sz="1600" dirty="0">
                  <a:ea typeface="华文细黑" panose="02010600040101010101" pitchFamily="2" charset="-122"/>
                </a:endParaRPr>
              </a:p>
              <a:p>
                <a:pPr marL="449580" indent="-449580" algn="just">
                  <a:lnSpc>
                    <a:spcPct val="150000"/>
                  </a:lnSpc>
                  <a:buClr>
                    <a:schemeClr val="accent1"/>
                  </a:buClr>
                  <a:buFont typeface="Wingdings" panose="05000000000000000000" pitchFamily="2" charset="2"/>
                  <a:buChar char="l"/>
                  <a:defRPr/>
                </a:pPr>
                <a:r>
                  <a:rPr lang="zh-CN" altLang="zh-CN" sz="1600" dirty="0">
                    <a:ea typeface="华文细黑" panose="02010600040101010101" pitchFamily="2" charset="-122"/>
                  </a:rPr>
                  <a:t>如果总体方差</a:t>
                </a:r>
                <a:r>
                  <a:rPr lang="en-US" altLang="zh-CN" sz="1600" dirty="0">
                    <a:ea typeface="华文细黑" panose="02010600040101010101" pitchFamily="2" charset="-122"/>
                  </a:rPr>
                  <a:t>σ2</a:t>
                </a:r>
                <a:r>
                  <a:rPr lang="zh-CN" altLang="zh-CN" sz="1600" dirty="0">
                    <a:ea typeface="华文细黑" panose="02010600040101010101" pitchFamily="2" charset="-122"/>
                  </a:rPr>
                  <a:t>未知</a:t>
                </a:r>
                <a:r>
                  <a:rPr lang="en-US" altLang="zh-CN" sz="1600" dirty="0">
                    <a:ea typeface="华文细黑" panose="02010600040101010101" pitchFamily="2" charset="-122"/>
                  </a:rPr>
                  <a:t>,</a:t>
                </a:r>
                <a:r>
                  <a:rPr lang="zh-CN" altLang="zh-CN" sz="1600" dirty="0">
                    <a:ea typeface="华文细黑" panose="02010600040101010101" pitchFamily="2" charset="-122"/>
                  </a:rPr>
                  <a:t>而且是在小样本情况下</a:t>
                </a:r>
                <a:r>
                  <a:rPr lang="en-US" altLang="zh-CN" sz="1600" dirty="0">
                    <a:ea typeface="华文细黑" panose="02010600040101010101" pitchFamily="2" charset="-122"/>
                  </a:rPr>
                  <a:t>,</a:t>
                </a:r>
                <a:r>
                  <a:rPr lang="zh-CN" altLang="zh-CN" sz="1600" dirty="0">
                    <a:ea typeface="华文细黑" panose="02010600040101010101" pitchFamily="2" charset="-122"/>
                  </a:rPr>
                  <a:t>则需要用样本方差</a:t>
                </a:r>
                <a:r>
                  <a:rPr lang="en-US" altLang="zh-CN" sz="1600" dirty="0">
                    <a:ea typeface="华文细黑" panose="02010600040101010101" pitchFamily="2" charset="-122"/>
                  </a:rPr>
                  <a:t>s2</a:t>
                </a:r>
                <a:r>
                  <a:rPr lang="zh-CN" altLang="zh-CN" sz="1600" dirty="0">
                    <a:ea typeface="华文细黑" panose="02010600040101010101" pitchFamily="2" charset="-122"/>
                  </a:rPr>
                  <a:t>代替</a:t>
                </a:r>
                <a:r>
                  <a:rPr lang="en-US" altLang="zh-CN" sz="1600" dirty="0">
                    <a:ea typeface="华文细黑" panose="02010600040101010101" pitchFamily="2" charset="-122"/>
                  </a:rPr>
                  <a:t>σ2,</a:t>
                </a:r>
                <a:r>
                  <a:rPr lang="zh-CN" altLang="zh-CN" sz="1600" dirty="0">
                    <a:ea typeface="华文细黑" panose="02010600040101010101" pitchFamily="2" charset="-122"/>
                  </a:rPr>
                  <a:t>这时</a:t>
                </a:r>
                <a:r>
                  <a:rPr lang="en-US" altLang="zh-CN" sz="1600" dirty="0">
                    <a:ea typeface="华文细黑" panose="02010600040101010101" pitchFamily="2" charset="-122"/>
                  </a:rPr>
                  <a:t>,</a:t>
                </a:r>
                <a:r>
                  <a:rPr lang="zh-CN" altLang="zh-CN" sz="1600" dirty="0">
                    <a:ea typeface="华文细黑" panose="02010600040101010101" pitchFamily="2" charset="-122"/>
                  </a:rPr>
                  <a:t>样本均值经过标准化以后的随机变量服从自由度为</a:t>
                </a:r>
                <a:r>
                  <a:rPr lang="en-US" altLang="zh-CN" sz="1600" dirty="0">
                    <a:ea typeface="华文细黑" panose="02010600040101010101" pitchFamily="2" charset="-122"/>
                  </a:rPr>
                  <a:t>(n-1)</a:t>
                </a:r>
                <a:r>
                  <a:rPr lang="zh-CN" altLang="zh-CN" sz="1600" dirty="0">
                    <a:ea typeface="华文细黑" panose="02010600040101010101" pitchFamily="2" charset="-122"/>
                  </a:rPr>
                  <a:t>的</a:t>
                </a:r>
                <a:r>
                  <a:rPr lang="en-US" altLang="zh-CN" sz="1600" dirty="0">
                    <a:ea typeface="华文细黑" panose="02010600040101010101" pitchFamily="2" charset="-122"/>
                  </a:rPr>
                  <a:t>t</a:t>
                </a:r>
                <a:r>
                  <a:rPr lang="zh-CN" altLang="zh-CN" sz="1600" dirty="0">
                    <a:ea typeface="华文细黑" panose="02010600040101010101" pitchFamily="2" charset="-122"/>
                  </a:rPr>
                  <a:t>分布</a:t>
                </a:r>
                <a:r>
                  <a:rPr lang="en-US" altLang="zh-CN" sz="1600" dirty="0">
                    <a:ea typeface="华文细黑" panose="02010600040101010101" pitchFamily="2" charset="-122"/>
                  </a:rPr>
                  <a:t>,</a:t>
                </a:r>
                <a:r>
                  <a:rPr lang="zh-CN" altLang="zh-CN" sz="1600" dirty="0">
                    <a:ea typeface="华文细黑" panose="02010600040101010101" pitchFamily="2" charset="-122"/>
                  </a:rPr>
                  <a:t>即</a:t>
                </a:r>
                <a:endParaRPr lang="zh-CN" altLang="zh-CN" sz="1600" dirty="0">
                  <a:ea typeface="华文细黑" panose="02010600040101010101" pitchFamily="2" charset="-122"/>
                </a:endParaRPr>
              </a:p>
              <a:p>
                <a:pPr marL="0" indent="0" algn="ctr">
                  <a:lnSpc>
                    <a:spcPct val="150000"/>
                  </a:lnSpc>
                  <a:buNone/>
                </a:pPr>
                <a:r>
                  <a:rPr lang="en-US" altLang="zh-CN" sz="1600" i="1" dirty="0"/>
                  <a:t>t=</a:t>
                </a:r>
                <a14:m>
                  <m:oMath xmlns:m="http://schemas.openxmlformats.org/officeDocument/2006/math">
                    <m:f>
                      <m:fPr>
                        <m:ctrlPr>
                          <a:rPr lang="zh-CN" altLang="zh-CN" sz="1600" i="1">
                            <a:latin typeface="Cambria Math" panose="02040503050406030204" pitchFamily="18" charset="0"/>
                          </a:rPr>
                        </m:ctrlPr>
                      </m:fPr>
                      <m:num>
                        <m:acc>
                          <m:accPr>
                            <m:chr m:val="̅"/>
                            <m:ctrlPr>
                              <a:rPr lang="zh-CN" altLang="zh-CN" sz="1600" i="1">
                                <a:latin typeface="Cambria Math" panose="02040503050406030204" pitchFamily="18" charset="0"/>
                              </a:rPr>
                            </m:ctrlPr>
                          </m:accPr>
                          <m:e>
                            <m:r>
                              <m:rPr>
                                <m:sty m:val="p"/>
                              </m:rPr>
                              <a:rPr lang="en-US" altLang="zh-CN" sz="1600">
                                <a:latin typeface="Cambria Math" panose="02040503050406030204" pitchFamily="18" charset="0"/>
                              </a:rPr>
                              <m:t>x</m:t>
                            </m:r>
                          </m:e>
                        </m:acc>
                        <m:r>
                          <m:rPr>
                            <m:nor/>
                          </m:rPr>
                          <a:rPr lang="en-US" altLang="zh-CN" sz="1600" i="1">
                            <a:latin typeface="Cambria Math" panose="02040503050406030204" pitchFamily="18" charset="0"/>
                          </a:rPr>
                          <m:t>−</m:t>
                        </m:r>
                        <m:r>
                          <a:rPr lang="en-US" altLang="zh-CN" sz="1600" i="1">
                            <a:latin typeface="Cambria Math" panose="02040503050406030204" pitchFamily="18" charset="0"/>
                          </a:rPr>
                          <m:t>𝜇</m:t>
                        </m:r>
                      </m:num>
                      <m:den>
                        <m:r>
                          <a:rPr lang="en-US" altLang="zh-CN" sz="1600" i="1">
                            <a:latin typeface="Cambria Math" panose="02040503050406030204" pitchFamily="18" charset="0"/>
                          </a:rPr>
                          <m:t>𝑠</m:t>
                        </m:r>
                        <m:r>
                          <m:rPr>
                            <m:nor/>
                          </m:rPr>
                          <a:rPr lang="en-US" altLang="zh-CN" sz="1600">
                            <a:latin typeface="Cambria Math" panose="02040503050406030204" pitchFamily="18" charset="0"/>
                          </a:rPr>
                          <m:t>/</m:t>
                        </m:r>
                        <m:rad>
                          <m:radPr>
                            <m:degHide m:val="on"/>
                            <m:ctrlPr>
                              <a:rPr lang="zh-CN" altLang="zh-CN" sz="1600" i="1">
                                <a:latin typeface="Cambria Math" panose="02040503050406030204" pitchFamily="18" charset="0"/>
                              </a:rPr>
                            </m:ctrlPr>
                          </m:radPr>
                          <m:deg/>
                          <m:e>
                            <m:r>
                              <a:rPr lang="en-US" altLang="zh-CN" sz="1600" i="1">
                                <a:latin typeface="Cambria Math" panose="02040503050406030204" pitchFamily="18" charset="0"/>
                              </a:rPr>
                              <m:t>𝑛</m:t>
                            </m:r>
                          </m:e>
                        </m:rad>
                      </m:den>
                    </m:f>
                  </m:oMath>
                </a14:m>
                <a:r>
                  <a:rPr lang="en-US" altLang="zh-CN" sz="1600" i="1" dirty="0"/>
                  <a:t>~t</a:t>
                </a:r>
                <a:r>
                  <a:rPr lang="en-US" altLang="zh-CN" sz="1600" dirty="0"/>
                  <a:t>(</a:t>
                </a:r>
                <a:r>
                  <a:rPr lang="en-US" altLang="zh-CN" sz="1600" i="1" dirty="0"/>
                  <a:t>n-</a:t>
                </a:r>
                <a:r>
                  <a:rPr lang="en-US" altLang="zh-CN" sz="1600" dirty="0"/>
                  <a:t>1)</a:t>
                </a:r>
                <a:endParaRPr lang="zh-CN" altLang="zh-CN" sz="1600" dirty="0"/>
              </a:p>
              <a:p>
                <a:pPr marL="449580" indent="-449580" algn="just">
                  <a:lnSpc>
                    <a:spcPct val="150000"/>
                  </a:lnSpc>
                  <a:buClr>
                    <a:schemeClr val="accent1"/>
                  </a:buClr>
                  <a:buFont typeface="Wingdings" panose="05000000000000000000" pitchFamily="2" charset="2"/>
                  <a:buChar char="l"/>
                  <a:defRPr/>
                </a:pPr>
                <a:r>
                  <a:rPr lang="zh-CN" altLang="zh-CN" sz="1600" dirty="0">
                    <a:ea typeface="华文细黑" panose="02010600040101010101" pitchFamily="2" charset="-122"/>
                  </a:rPr>
                  <a:t>因此</a:t>
                </a:r>
                <a:r>
                  <a:rPr lang="en-US" altLang="zh-CN" sz="1600" dirty="0">
                    <a:ea typeface="华文细黑" panose="02010600040101010101" pitchFamily="2" charset="-122"/>
                  </a:rPr>
                  <a:t>,</a:t>
                </a:r>
                <a:r>
                  <a:rPr lang="zh-CN" altLang="zh-CN" sz="1600" dirty="0">
                    <a:ea typeface="华文细黑" panose="02010600040101010101" pitchFamily="2" charset="-122"/>
                  </a:rPr>
                  <a:t>需要采用</a:t>
                </a:r>
                <a:r>
                  <a:rPr lang="en-US" altLang="zh-CN" sz="1600" dirty="0">
                    <a:ea typeface="华文细黑" panose="02010600040101010101" pitchFamily="2" charset="-122"/>
                  </a:rPr>
                  <a:t>t</a:t>
                </a:r>
                <a:r>
                  <a:rPr lang="zh-CN" altLang="zh-CN" sz="1600" dirty="0">
                    <a:ea typeface="华文细黑" panose="02010600040101010101" pitchFamily="2" charset="-122"/>
                  </a:rPr>
                  <a:t>分布来建立总体均值</a:t>
                </a:r>
                <a:r>
                  <a:rPr lang="en-US" altLang="zh-CN" sz="1600" dirty="0">
                    <a:ea typeface="华文细黑" panose="02010600040101010101" pitchFamily="2" charset="-122"/>
                  </a:rPr>
                  <a:t>μ</a:t>
                </a:r>
                <a:r>
                  <a:rPr lang="zh-CN" altLang="zh-CN" sz="1600" dirty="0">
                    <a:ea typeface="华文细黑" panose="02010600040101010101" pitchFamily="2" charset="-122"/>
                  </a:rPr>
                  <a:t>的置信区间</a:t>
                </a:r>
                <a:endParaRPr lang="en-US" altLang="zh-CN" sz="1600" dirty="0">
                  <a:ea typeface="华文细黑" panose="02010600040101010101" pitchFamily="2" charset="-122"/>
                </a:endParaRPr>
              </a:p>
            </p:txBody>
          </p:sp>
        </mc:Choice>
        <mc:Fallback>
          <p:sp>
            <p:nvSpPr>
              <p:cNvPr id="10" name="Rectangle 3"/>
              <p:cNvSpPr txBox="1">
                <a:spLocks noRot="1" noChangeAspect="1" noMove="1" noResize="1" noEditPoints="1" noAdjustHandles="1" noChangeArrowheads="1" noChangeShapeType="1" noTextEdit="1"/>
              </p:cNvSpPr>
              <p:nvPr/>
            </p:nvSpPr>
            <p:spPr>
              <a:xfrm>
                <a:off x="839416" y="1484784"/>
                <a:ext cx="5544616" cy="4756990"/>
              </a:xfrm>
              <a:prstGeom prst="rect">
                <a:avLst/>
              </a:prstGeom>
              <a:blipFill rotWithShape="1">
                <a:blip r:embed="rId1"/>
                <a:stretch>
                  <a:fillRect l="-125" t="-137" r="-108" b="-126"/>
                </a:stretch>
              </a:blipFill>
              <a:ln w="12700">
                <a:solidFill>
                  <a:schemeClr val="accent1"/>
                </a:solidFill>
                <a:miter lim="800000"/>
              </a:ln>
            </p:spPr>
            <p:txBody>
              <a:bodyPr/>
              <a:lstStyle/>
              <a:p>
                <a:r>
                  <a:rPr lang="zh-CN" altLang="en-US">
                    <a:noFill/>
                  </a:rPr>
                  <a:t> </a:t>
                </a:r>
              </a:p>
            </p:txBody>
          </p:sp>
        </mc:Fallback>
      </mc:AlternateContent>
      <p:pic>
        <p:nvPicPr>
          <p:cNvPr id="7" name="TJ77.EPS" descr="id:2147508333;FounderCES"/>
          <p:cNvPicPr/>
          <p:nvPr/>
        </p:nvPicPr>
        <p:blipFill>
          <a:blip r:embed="rId2"/>
          <a:stretch>
            <a:fillRect/>
          </a:stretch>
        </p:blipFill>
        <p:spPr>
          <a:xfrm>
            <a:off x="6528048" y="1521849"/>
            <a:ext cx="5040560" cy="2771247"/>
          </a:xfrm>
          <a:prstGeom prst="rect">
            <a:avLst/>
          </a:prstGeom>
          <a:ln>
            <a:solidFill>
              <a:schemeClr val="accent1"/>
            </a:solidFill>
          </a:ln>
        </p:spPr>
      </p:pic>
      <p:sp>
        <p:nvSpPr>
          <p:cNvPr id="9" name="文本框 8"/>
          <p:cNvSpPr txBox="1"/>
          <p:nvPr/>
        </p:nvSpPr>
        <p:spPr>
          <a:xfrm>
            <a:off x="6960096" y="1506839"/>
            <a:ext cx="4464496" cy="307777"/>
          </a:xfrm>
          <a:prstGeom prst="rect">
            <a:avLst/>
          </a:prstGeom>
          <a:noFill/>
        </p:spPr>
        <p:txBody>
          <a:bodyPr wrap="square">
            <a:spAutoFit/>
          </a:bodyPr>
          <a:lstStyle/>
          <a:p>
            <a:pPr algn="ctr"/>
            <a:r>
              <a:rPr lang="zh-CN" altLang="zh-CN" sz="14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不同自由度的</a:t>
            </a:r>
            <a:r>
              <a:rPr lang="en-US" altLang="zh-CN" sz="1400" b="1" i="1" dirty="0">
                <a:solidFill>
                  <a:srgbClr val="FF0000"/>
                </a:solidFill>
                <a:effectLst/>
                <a:latin typeface="Calibri" panose="020F0502020204030204" pitchFamily="34" charset="0"/>
                <a:ea typeface="华文细黑" panose="02010600040101010101" pitchFamily="2" charset="-122"/>
              </a:rPr>
              <a:t>t</a:t>
            </a:r>
            <a:r>
              <a:rPr lang="zh-CN" altLang="zh-CN" sz="14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分布与标准正态分布的比较</a:t>
            </a:r>
            <a:endParaRPr lang="zh-CN" altLang="en-US" sz="1400" dirty="0">
              <a:solidFill>
                <a:srgbClr val="FF0000"/>
              </a:solidFill>
            </a:endParaRPr>
          </a:p>
        </p:txBody>
      </p:sp>
      <mc:AlternateContent xmlns:mc="http://schemas.openxmlformats.org/markup-compatibility/2006">
        <mc:Choice xmlns:a14="http://schemas.microsoft.com/office/drawing/2010/main" Requires="a14">
          <p:sp>
            <p:nvSpPr>
              <p:cNvPr id="13" name="Rectangle 3"/>
              <p:cNvSpPr txBox="1">
                <a:spLocks noChangeArrowheads="1"/>
              </p:cNvSpPr>
              <p:nvPr/>
            </p:nvSpPr>
            <p:spPr>
              <a:xfrm>
                <a:off x="6528048" y="4474177"/>
                <a:ext cx="5040560" cy="1767598"/>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ts val="1635"/>
                  </a:lnSpc>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分布建立的总体均值</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μ</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置信水平下的置信区间为</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600" dirty="0">
                  <a:solidFill>
                    <a:srgbClr val="000000"/>
                  </a:solidFill>
                  <a:effectLst/>
                  <a:latin typeface="NEU-BZ-S92"/>
                  <a:ea typeface="方正书宋_GBK"/>
                  <a:cs typeface="Times New Roman" panose="02020603050405020304" pitchFamily="18" charset="0"/>
                </a:endParaRPr>
              </a:p>
              <a:p>
                <a:pPr indent="0" algn="just">
                  <a:lnSpc>
                    <a:spcPts val="1635"/>
                  </a:lnSpc>
                  <a:buNone/>
                </a:pP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num>
                      <m:den>
                        <m:rad>
                          <m:radPr>
                            <m:degHide m:val="on"/>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endParaRPr lang="zh-CN" altLang="zh-CN" sz="1600" dirty="0">
                  <a:solidFill>
                    <a:srgbClr val="000000"/>
                  </a:solidFill>
                  <a:effectLst/>
                  <a:latin typeface="NEU-BZ-S92"/>
                  <a:ea typeface="方正书宋_GBK"/>
                  <a:cs typeface="Times New Roman" panose="02020603050405020304" pitchFamily="18" charset="0"/>
                </a:endParaRPr>
              </a:p>
              <a:p>
                <a:pPr marL="0" indent="0">
                  <a:buNone/>
                </a:pP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式中</a:t>
                </a:r>
                <a:r>
                  <a:rPr lang="en-US" altLang="zh-CN" sz="1600" dirty="0">
                    <a:effectLst/>
                    <a:latin typeface="Calibri" panose="020F0502020204030204" pitchFamily="34" charset="0"/>
                    <a:ea typeface="华文细黑" panose="02010600040101010101" pitchFamily="2" charset="-122"/>
                  </a:rPr>
                  <a:t>,</a:t>
                </a:r>
                <a:r>
                  <a:rPr lang="en-US" altLang="zh-CN" sz="1600" i="1" dirty="0">
                    <a:effectLst/>
                    <a:latin typeface="Calibri" panose="020F0502020204030204" pitchFamily="34" charset="0"/>
                    <a:ea typeface="华文细黑" panose="02010600040101010101" pitchFamily="2" charset="-122"/>
                  </a:rPr>
                  <a:t>t</a:t>
                </a:r>
                <a:r>
                  <a:rPr lang="en-US" altLang="zh-CN" sz="1600" i="1" baseline="-25000" dirty="0">
                    <a:effectLst/>
                    <a:latin typeface="Calibri" panose="020F0502020204030204" pitchFamily="34" charset="0"/>
                    <a:ea typeface="华文细黑" panose="02010600040101010101" pitchFamily="2" charset="-122"/>
                  </a:rPr>
                  <a:t>α/</a:t>
                </a:r>
                <a:r>
                  <a:rPr lang="en-US" altLang="zh-CN" sz="1600" baseline="-25000" dirty="0">
                    <a:effectLst/>
                    <a:latin typeface="Calibri" panose="020F0502020204030204" pitchFamily="34" charset="0"/>
                    <a:ea typeface="华文细黑" panose="02010600040101010101" pitchFamily="2" charset="-122"/>
                  </a:rPr>
                  <a:t>2</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是自由度为</a:t>
                </a:r>
                <a:r>
                  <a:rPr lang="en-US" altLang="zh-CN" sz="1600" i="1" dirty="0">
                    <a:effectLst/>
                    <a:latin typeface="Calibri" panose="020F0502020204030204" pitchFamily="34" charset="0"/>
                    <a:ea typeface="华文细黑" panose="02010600040101010101" pitchFamily="2" charset="-122"/>
                  </a:rPr>
                  <a:t>n-</a:t>
                </a:r>
                <a:r>
                  <a:rPr lang="en-US" altLang="zh-CN" sz="1600" dirty="0">
                    <a:effectLst/>
                    <a:latin typeface="Calibri" panose="020F0502020204030204" pitchFamily="34" charset="0"/>
                    <a:ea typeface="华文细黑" panose="02010600040101010101" pitchFamily="2" charset="-122"/>
                  </a:rPr>
                  <a:t>1</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时</a:t>
                </a:r>
                <a:r>
                  <a:rPr lang="en-US" altLang="zh-CN" sz="1600" dirty="0">
                    <a:effectLst/>
                    <a:latin typeface="Calibri" panose="020F0502020204030204" pitchFamily="34" charset="0"/>
                    <a:ea typeface="华文细黑" panose="02010600040101010101" pitchFamily="2" charset="-122"/>
                  </a:rPr>
                  <a:t>,</a:t>
                </a:r>
                <a:r>
                  <a:rPr lang="en-US" altLang="zh-CN" sz="1600" i="1" dirty="0">
                    <a:effectLst/>
                    <a:latin typeface="Calibri" panose="020F0502020204030204" pitchFamily="34" charset="0"/>
                    <a:ea typeface="华文细黑" panose="02010600040101010101" pitchFamily="2" charset="-122"/>
                  </a:rPr>
                  <a:t>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分布中右侧面积为</a:t>
                </a:r>
                <a:r>
                  <a:rPr lang="en-US" altLang="zh-CN" sz="1600" i="1" dirty="0">
                    <a:effectLst/>
                    <a:latin typeface="Calibri" panose="020F0502020204030204" pitchFamily="34" charset="0"/>
                    <a:ea typeface="华文细黑" panose="02010600040101010101" pitchFamily="2" charset="-122"/>
                  </a:rPr>
                  <a:t>α/</a:t>
                </a:r>
                <a:r>
                  <a:rPr lang="en-US" altLang="zh-CN" sz="1600" dirty="0">
                    <a:effectLst/>
                    <a:latin typeface="Calibri" panose="020F0502020204030204" pitchFamily="34" charset="0"/>
                    <a:ea typeface="华文细黑" panose="02010600040101010101" pitchFamily="2" charset="-122"/>
                  </a:rPr>
                  <a:t>2</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时的</a:t>
                </a:r>
                <a:r>
                  <a:rPr lang="en-US" altLang="zh-CN" sz="1600" i="1" dirty="0">
                    <a:effectLst/>
                    <a:latin typeface="Calibri" panose="020F0502020204030204" pitchFamily="34" charset="0"/>
                    <a:ea typeface="华文细黑" panose="02010600040101010101" pitchFamily="2" charset="-122"/>
                  </a:rPr>
                  <a:t>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值</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该值可通过书后所附的</a:t>
                </a:r>
                <a:r>
                  <a:rPr lang="en-US" altLang="zh-CN" sz="1600" i="1" dirty="0">
                    <a:effectLst/>
                    <a:latin typeface="Calibri" panose="020F0502020204030204" pitchFamily="34" charset="0"/>
                    <a:ea typeface="华文细黑" panose="02010600040101010101" pitchFamily="2" charset="-122"/>
                  </a:rPr>
                  <a:t>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分布表查得</a:t>
                </a:r>
                <a:r>
                  <a:rPr lang="en-US" altLang="zh-CN" sz="1600" dirty="0">
                    <a:effectLst/>
                    <a:latin typeface="Calibri" panose="020F0502020204030204" pitchFamily="34" charset="0"/>
                    <a:ea typeface="华文细黑" panose="02010600040101010101" pitchFamily="2" charset="-122"/>
                  </a:rPr>
                  <a: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也可利用</a:t>
                </a:r>
                <a:r>
                  <a:rPr lang="en-US" altLang="zh-CN" sz="1600" dirty="0">
                    <a:effectLst/>
                    <a:latin typeface="Calibri" panose="020F0502020204030204" pitchFamily="34" charset="0"/>
                    <a:ea typeface="华文细黑" panose="02010600040101010101" pitchFamily="2" charset="-122"/>
                  </a:rPr>
                  <a:t>Excel</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提供的</a:t>
                </a:r>
                <a:r>
                  <a:rPr lang="en-US" altLang="zh-CN" sz="1600" dirty="0">
                    <a:effectLst/>
                    <a:latin typeface="Calibri" panose="020F0502020204030204" pitchFamily="34" charset="0"/>
                    <a:ea typeface="华文细黑" panose="02010600040101010101" pitchFamily="2" charset="-122"/>
                  </a:rPr>
                  <a:t>T.INV</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统计函数计算</a:t>
                </a:r>
                <a:r>
                  <a:rPr lang="en-US" altLang="zh-CN" sz="1600" i="1" dirty="0">
                    <a:effectLst/>
                    <a:latin typeface="Calibri" panose="020F0502020204030204" pitchFamily="34" charset="0"/>
                    <a:ea typeface="华文细黑" panose="02010600040101010101" pitchFamily="2" charset="-122"/>
                  </a:rPr>
                  <a:t>t</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分布的临界值</a:t>
                </a:r>
                <a:endParaRPr lang="en-US" altLang="zh-CN" sz="1600" dirty="0">
                  <a:ea typeface="华文细黑" panose="02010600040101010101" pitchFamily="2" charset="-122"/>
                </a:endParaRPr>
              </a:p>
            </p:txBody>
          </p:sp>
        </mc:Choice>
        <mc:Fallback>
          <p:sp>
            <p:nvSpPr>
              <p:cNvPr id="13" name="Rectangle 3"/>
              <p:cNvSpPr txBox="1">
                <a:spLocks noRot="1" noChangeAspect="1" noMove="1" noResize="1" noEditPoints="1" noAdjustHandles="1" noChangeArrowheads="1" noChangeShapeType="1" noTextEdit="1"/>
              </p:cNvSpPr>
              <p:nvPr/>
            </p:nvSpPr>
            <p:spPr>
              <a:xfrm>
                <a:off x="6528048" y="4474177"/>
                <a:ext cx="5040560" cy="1767598"/>
              </a:xfrm>
              <a:prstGeom prst="rect">
                <a:avLst/>
              </a:prstGeom>
              <a:blipFill rotWithShape="1">
                <a:blip r:embed="rId3"/>
                <a:stretch>
                  <a:fillRect l="-131" t="-393" r="-122" b="-339"/>
                </a:stretch>
              </a:blipFill>
              <a:ln w="12700">
                <a:solidFill>
                  <a:schemeClr val="accent1"/>
                </a:solidFill>
                <a:miter lim="800000"/>
              </a:ln>
            </p:spPr>
            <p:txBody>
              <a:bodyPr/>
              <a:lstStyle/>
              <a:p>
                <a:r>
                  <a:rPr lang="zh-CN" altLang="en-US">
                    <a:noFill/>
                  </a:rPr>
                  <a:t> </a:t>
                </a:r>
              </a:p>
            </p:txBody>
          </p:sp>
        </mc:Fallback>
      </mc:AlternateContent>
    </p:spTree>
    <p:custDataLst>
      <p:tags r:id="rId4"/>
    </p:custData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总体均值的区间估计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正态总体方差未知、小样本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 </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839416" y="1484784"/>
            <a:ext cx="5616624"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just">
              <a:lnSpc>
                <a:spcPct val="150000"/>
              </a:lnSpc>
              <a:buNone/>
            </a:pPr>
            <a:r>
              <a:rPr lang="zh-CN" altLang="zh-CN" sz="2000" b="1" dirty="0">
                <a:solidFill>
                  <a:srgbClr val="FF0000"/>
                </a:solidFill>
                <a:ea typeface="华文细黑" panose="02010600040101010101" pitchFamily="2" charset="-122"/>
              </a:rPr>
              <a:t>【例</a:t>
            </a:r>
            <a:r>
              <a:rPr lang="en-US" altLang="zh-CN" sz="2000" b="1" dirty="0">
                <a:solidFill>
                  <a:srgbClr val="FF0000"/>
                </a:solidFill>
                <a:ea typeface="华文细黑" panose="02010600040101010101" pitchFamily="2" charset="-122"/>
              </a:rPr>
              <a:t>7.3</a:t>
            </a:r>
            <a:r>
              <a:rPr lang="zh-CN" altLang="zh-CN" sz="2000" b="1" dirty="0">
                <a:solidFill>
                  <a:srgbClr val="FF0000"/>
                </a:solidFill>
                <a:ea typeface="华文细黑" panose="02010600040101010101" pitchFamily="2" charset="-122"/>
              </a:rPr>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一家保险公司收集到由</a:t>
            </a:r>
            <a:r>
              <a:rPr lang="en-US" altLang="zh-CN" sz="2000" dirty="0">
                <a:effectLst/>
                <a:latin typeface="Calibri" panose="020F0502020204030204" pitchFamily="34" charset="0"/>
                <a:ea typeface="华文细黑" panose="02010600040101010101" pitchFamily="2" charset="-122"/>
              </a:rPr>
              <a:t>36</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位投保人</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7.3</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】已知某种灯泡的寿命服从正态分布</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现从一批灯泡中随机抽取</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测得其使用寿命</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单位</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小时</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如下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50000"/>
              </a:lnSpc>
              <a:buNone/>
            </a:pP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1 510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1 450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1 480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1 460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1 520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1 480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1 490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1 460</a:t>
            </a:r>
            <a:endPar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endParaRPr>
          </a:p>
          <a:p>
            <a:pPr indent="0" algn="just">
              <a:lnSpc>
                <a:spcPct val="150000"/>
              </a:lnSpc>
              <a:buNone/>
            </a:pP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1 480	1 510	1 530	1 470	1 500	1 520	1 510	1 470</a:t>
            </a:r>
            <a:endParaRPr lang="zh-CN" altLang="zh-CN" sz="1600" dirty="0">
              <a:solidFill>
                <a:srgbClr val="000000"/>
              </a:solidFill>
              <a:effectLst/>
              <a:latin typeface="NEU-BZ-S92"/>
              <a:ea typeface="方正书宋_GBK"/>
              <a:cs typeface="Times New Roman" panose="02020603050405020304" pitchFamily="18" charset="0"/>
            </a:endParaRPr>
          </a:p>
          <a:p>
            <a:pPr marL="0" indent="0">
              <a:lnSpc>
                <a:spcPct val="15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试建立该批灯泡平均使用寿命的</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a:t>
            </a:r>
            <a:endParaRPr lang="zh-CN" altLang="en-US" sz="2000" dirty="0">
              <a:ea typeface="华文细黑" panose="02010600040101010101" pitchFamily="2" charset="-122"/>
            </a:endParaRPr>
          </a:p>
        </p:txBody>
      </p:sp>
      <mc:AlternateContent xmlns:mc="http://schemas.openxmlformats.org/markup-compatibility/2006">
        <mc:Choice xmlns:a14="http://schemas.microsoft.com/office/drawing/2010/main" Requires="a14">
          <p:sp>
            <p:nvSpPr>
              <p:cNvPr id="6" name="Rectangle 3"/>
              <p:cNvSpPr txBox="1">
                <a:spLocks noChangeArrowheads="1"/>
              </p:cNvSpPr>
              <p:nvPr/>
            </p:nvSpPr>
            <p:spPr>
              <a:xfrm>
                <a:off x="6600056" y="1484784"/>
                <a:ext cx="4896544"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algn="just">
                  <a:lnSpc>
                    <a:spcPct val="10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zh-CN" altLang="en-US"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根据抽样结果计算得</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0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23</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840</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16</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1 490(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小时</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0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s=</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i</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e>
                    </m:rad>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200</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16</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e>
                    </m:rad>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77</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0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=0.05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分布表得</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025</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131,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由式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得平均使用寿命的置信区间为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lnSpc>
                    <a:spcPct val="10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rad>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1 490</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131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24</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77</m:t>
                        </m:r>
                      </m:num>
                      <m:den>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16</m:t>
                            </m:r>
                          </m:e>
                        </m:rad>
                      </m:den>
                    </m:f>
                  </m:oMath>
                </a14:m>
                <a:endParaRPr lang="zh-CN" altLang="zh-CN" sz="1800" dirty="0">
                  <a:solidFill>
                    <a:srgbClr val="000000"/>
                  </a:solidFill>
                  <a:effectLst/>
                  <a:latin typeface="NEU-BZ-S92"/>
                  <a:ea typeface="方正书宋_GBK"/>
                  <a:cs typeface="Times New Roman" panose="02020603050405020304" pitchFamily="18" charset="0"/>
                </a:endParaRPr>
              </a:p>
              <a:p>
                <a:pPr marL="0" indent="0">
                  <a:lnSpc>
                    <a:spcPct val="10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effectLst/>
                    <a:latin typeface="Calibri" panose="020F0502020204030204" pitchFamily="34" charset="0"/>
                    <a:ea typeface="华文细黑" panose="02010600040101010101" pitchFamily="2" charset="-122"/>
                  </a:rPr>
                  <a:t>1 490±13.2=(1 476.8,1 503.2),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该种灯泡平均使用寿命的</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effectLst/>
                    <a:latin typeface="Calibri" panose="020F0502020204030204" pitchFamily="34" charset="0"/>
                    <a:ea typeface="华文细黑" panose="02010600040101010101" pitchFamily="2" charset="-122"/>
                  </a:rPr>
                  <a:t>1 476.8~1 503.2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小时</a:t>
                </a:r>
                <a:endParaRPr lang="zh-CN" altLang="en-US" sz="1800" dirty="0">
                  <a:ea typeface="华文细黑" panose="02010600040101010101" pitchFamily="2" charset="-122"/>
                </a:endParaRPr>
              </a:p>
            </p:txBody>
          </p:sp>
        </mc:Choice>
        <mc:Fallback>
          <p:sp>
            <p:nvSpPr>
              <p:cNvPr id="6" name="Rectangle 3"/>
              <p:cNvSpPr txBox="1">
                <a:spLocks noRot="1" noChangeAspect="1" noMove="1" noResize="1" noEditPoints="1" noAdjustHandles="1" noChangeArrowheads="1" noChangeShapeType="1" noTextEdit="1"/>
              </p:cNvSpPr>
              <p:nvPr/>
            </p:nvSpPr>
            <p:spPr>
              <a:xfrm>
                <a:off x="6600056" y="1484784"/>
                <a:ext cx="4896544" cy="4756990"/>
              </a:xfrm>
              <a:prstGeom prst="rect">
                <a:avLst/>
              </a:prstGeom>
              <a:blipFill rotWithShape="1">
                <a:blip r:embed="rId1"/>
                <a:stretch>
                  <a:fillRect l="-140" t="-137" r="-118" b="-126"/>
                </a:stretch>
              </a:blipFill>
              <a:ln w="12700">
                <a:solidFill>
                  <a:schemeClr val="accent1"/>
                </a:solidFill>
                <a:miter lim="800000"/>
              </a:ln>
            </p:spPr>
            <p:txBody>
              <a:bodyPr/>
              <a:lstStyle/>
              <a:p>
                <a:r>
                  <a:rPr lang="zh-CN" altLang="en-US">
                    <a:noFill/>
                  </a:rPr>
                  <a:t> </a:t>
                </a:r>
              </a:p>
            </p:txBody>
          </p:sp>
        </mc:Fallback>
      </mc:AlternateContent>
    </p:spTree>
    <p:custDataLst>
      <p:tags r:id="rId2"/>
    </p:custData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一个总体均值的区间估计小结</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1271464" y="1628800"/>
          <a:ext cx="9793088" cy="4536504"/>
        </p:xfrm>
        <a:graphic>
          <a:graphicData uri="http://schemas.openxmlformats.org/drawingml/2006/table">
            <a:tbl>
              <a:tblPr firstRow="1" firstCol="1" bandRow="1">
                <a:tableStyleId>{5C22544A-7EE6-4342-B048-85BDC9FD1C3A}</a:tableStyleId>
              </a:tblPr>
              <a:tblGrid>
                <a:gridCol w="2274792"/>
                <a:gridCol w="2274792"/>
                <a:gridCol w="2621752"/>
                <a:gridCol w="2621752"/>
              </a:tblGrid>
              <a:tr h="998970">
                <a:tc>
                  <a:txBody>
                    <a:bodyPr/>
                    <a:lstStyle/>
                    <a:p>
                      <a:pPr algn="ctr">
                        <a:lnSpc>
                          <a:spcPts val="1200"/>
                        </a:lnSpc>
                      </a:pPr>
                      <a:r>
                        <a:rPr lang="zh-CN" sz="2000" b="1">
                          <a:effectLst/>
                        </a:rPr>
                        <a:t>总体分布</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2000" b="1">
                          <a:effectLst/>
                        </a:rPr>
                        <a:t>样本量</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2000" b="1">
                          <a:effectLst/>
                        </a:rPr>
                        <a:t>σ</a:t>
                      </a:r>
                      <a:r>
                        <a:rPr lang="zh-CN" sz="2000" b="1">
                          <a:effectLst/>
                        </a:rPr>
                        <a:t>已知</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2000" b="1">
                          <a:effectLst/>
                        </a:rPr>
                        <a:t>σ</a:t>
                      </a:r>
                      <a:r>
                        <a:rPr lang="zh-CN" sz="2000" b="1">
                          <a:effectLst/>
                        </a:rPr>
                        <a:t>未知</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r>
              <a:tr h="1179178">
                <a:tc rowSpan="2">
                  <a:txBody>
                    <a:bodyPr/>
                    <a:lstStyle/>
                    <a:p>
                      <a:pPr algn="ctr">
                        <a:lnSpc>
                          <a:spcPts val="1200"/>
                        </a:lnSpc>
                      </a:pPr>
                      <a:r>
                        <a:rPr lang="zh-CN" sz="2000" b="1">
                          <a:effectLst/>
                        </a:rPr>
                        <a:t>正态分布</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2000" b="1">
                          <a:effectLst/>
                        </a:rPr>
                        <a:t>大样本</a:t>
                      </a:r>
                      <a:r>
                        <a:rPr lang="en-US" sz="2000" b="1">
                          <a:effectLst/>
                        </a:rPr>
                        <a:t>(n≥30)</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endParaRPr lang="zh-CN"/>
                    </a:p>
                  </a:txBody>
                  <a:tcPr marL="0" marR="0" marT="0" marB="0" anchor="ctr">
                    <a:blipFill>
                      <a:blip r:embed="rId1"/>
                      <a:stretch>
                        <a:fillRect l="-173550" t="-85052" r="-100696" b="-200515"/>
                      </a:stretch>
                    </a:blipFill>
                  </a:tcPr>
                </a:tc>
                <a:tc>
                  <a:txBody>
                    <a:bodyPr/>
                    <a:lstStyle/>
                    <a:p>
                      <a:endParaRPr lang="zh-CN"/>
                    </a:p>
                  </a:txBody>
                  <a:tcPr marL="0" marR="0" marT="0" marB="0" anchor="ctr">
                    <a:blipFill>
                      <a:blip r:embed="rId1"/>
                      <a:stretch>
                        <a:fillRect l="-274186" t="-85052" r="-930" b="-200515"/>
                      </a:stretch>
                    </a:blipFill>
                  </a:tcPr>
                </a:tc>
              </a:tr>
              <a:tr h="1179178">
                <a:tc vMerge="1">
                  <a:tcPr/>
                </a:tc>
                <a:tc>
                  <a:txBody>
                    <a:bodyPr/>
                    <a:lstStyle/>
                    <a:p>
                      <a:pPr algn="ctr">
                        <a:lnSpc>
                          <a:spcPts val="1200"/>
                        </a:lnSpc>
                      </a:pPr>
                      <a:r>
                        <a:rPr lang="zh-CN" sz="2000" b="1">
                          <a:effectLst/>
                        </a:rPr>
                        <a:t>小样本</a:t>
                      </a:r>
                      <a:r>
                        <a:rPr lang="en-US" sz="2000" b="1">
                          <a:effectLst/>
                        </a:rPr>
                        <a:t>(n&lt;30)</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endParaRPr lang="zh-CN"/>
                    </a:p>
                  </a:txBody>
                  <a:tcPr marL="0" marR="0" marT="0" marB="0" anchor="ctr">
                    <a:blipFill>
                      <a:blip r:embed="rId1"/>
                      <a:stretch>
                        <a:fillRect l="-173550" t="-186010" r="-100696" b="-101554"/>
                      </a:stretch>
                    </a:blipFill>
                  </a:tcPr>
                </a:tc>
                <a:tc>
                  <a:txBody>
                    <a:bodyPr/>
                    <a:lstStyle/>
                    <a:p>
                      <a:endParaRPr lang="zh-CN"/>
                    </a:p>
                  </a:txBody>
                  <a:tcPr marL="0" marR="0" marT="0" marB="0" anchor="ctr">
                    <a:blipFill>
                      <a:blip r:embed="rId1"/>
                      <a:stretch>
                        <a:fillRect l="-274186" t="-186010" r="-930" b="-101554"/>
                      </a:stretch>
                    </a:blipFill>
                  </a:tcPr>
                </a:tc>
              </a:tr>
              <a:tr h="1179178">
                <a:tc>
                  <a:txBody>
                    <a:bodyPr/>
                    <a:lstStyle/>
                    <a:p>
                      <a:pPr algn="ctr">
                        <a:lnSpc>
                          <a:spcPts val="1200"/>
                        </a:lnSpc>
                      </a:pPr>
                      <a:r>
                        <a:rPr lang="zh-CN" sz="2000" b="1">
                          <a:effectLst/>
                        </a:rPr>
                        <a:t>非正态分布</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2000" b="1">
                          <a:effectLst/>
                        </a:rPr>
                        <a:t>大样本</a:t>
                      </a:r>
                      <a:r>
                        <a:rPr lang="en-US" sz="2000" b="1">
                          <a:effectLst/>
                        </a:rPr>
                        <a:t>(n≥30)</a:t>
                      </a:r>
                      <a:endParaRPr lang="zh-CN" sz="20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endParaRPr lang="zh-CN"/>
                    </a:p>
                  </a:txBody>
                  <a:tcPr marL="0" marR="0" marT="0" marB="0" anchor="ctr">
                    <a:blipFill>
                      <a:blip r:embed="rId1"/>
                      <a:stretch>
                        <a:fillRect l="-173550" t="-284536" r="-100696" b="-1031"/>
                      </a:stretch>
                    </a:blipFill>
                  </a:tcPr>
                </a:tc>
                <a:tc>
                  <a:txBody>
                    <a:bodyPr/>
                    <a:lstStyle/>
                    <a:p>
                      <a:endParaRPr lang="zh-CN"/>
                    </a:p>
                  </a:txBody>
                  <a:tcPr marL="0" marR="0" marT="0" marB="0" anchor="ctr">
                    <a:blipFill>
                      <a:blip r:embed="rId1"/>
                      <a:stretch>
                        <a:fillRect l="-274186" t="-284536" r="-930" b="-1031"/>
                      </a:stretch>
                    </a:blipFill>
                  </a:tcPr>
                </a:tc>
              </a:tr>
            </a:tbl>
          </a:graphicData>
        </a:graphic>
      </p:graphicFrame>
    </p:spTree>
    <p:custDataLst>
      <p:tags r:id="rId2"/>
    </p:custData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5832648" cy="4680520"/>
              </a:xfrm>
              <a:ln w="12700" cmpd="dbl">
                <a:solidFill>
                  <a:schemeClr val="accent1"/>
                </a:solidFill>
              </a:ln>
            </p:spPr>
            <p:txBody>
              <a:bodyPr>
                <a:noAutofit/>
              </a:bodyPr>
              <a:lstStyle/>
              <a:p>
                <a:pPr marL="447675" indent="-447675" algn="just">
                  <a:lnSpc>
                    <a:spcPct val="120000"/>
                  </a:lnSpc>
                  <a:buClr>
                    <a:srgbClr val="318AAD"/>
                  </a:buClr>
                  <a:buSzPct val="100000"/>
                  <a:buFont typeface="Wingdings" panose="05000000000000000000" pitchFamily="2" charset="2"/>
                  <a:buChar char="l"/>
                  <a:defRPr/>
                </a:pPr>
                <a:r>
                  <a:rPr lang="zh-CN" altLang="zh-CN" sz="1400" dirty="0">
                    <a:latin typeface="Arial" panose="020B0604020202020204" pitchFamily="34" charset="0"/>
                    <a:cs typeface="Arial" panose="020B0604020202020204" pitchFamily="34" charset="0"/>
                  </a:rPr>
                  <a:t>当样本量足够大时</a:t>
                </a:r>
                <a:r>
                  <a:rPr lang="en-US" altLang="zh-CN" sz="1400" dirty="0">
                    <a:latin typeface="Arial" panose="020B0604020202020204" pitchFamily="34" charset="0"/>
                    <a:cs typeface="Arial" panose="020B0604020202020204" pitchFamily="34" charset="0"/>
                  </a:rPr>
                  <a:t>,</a:t>
                </a:r>
                <a:r>
                  <a:rPr lang="zh-CN" altLang="zh-CN" sz="1400" dirty="0">
                    <a:latin typeface="Arial" panose="020B0604020202020204" pitchFamily="34" charset="0"/>
                    <a:cs typeface="Arial" panose="020B0604020202020204" pitchFamily="34" charset="0"/>
                  </a:rPr>
                  <a:t>比例</a:t>
                </a:r>
                <a:r>
                  <a:rPr lang="en-US" altLang="zh-CN" sz="1400" dirty="0">
                    <a:latin typeface="Arial" panose="020B0604020202020204" pitchFamily="34" charset="0"/>
                    <a:cs typeface="Arial" panose="020B0604020202020204" pitchFamily="34" charset="0"/>
                  </a:rPr>
                  <a:t>p</a:t>
                </a:r>
                <a:r>
                  <a:rPr lang="zh-CN" altLang="zh-CN" sz="1400" dirty="0">
                    <a:latin typeface="Arial" panose="020B0604020202020204" pitchFamily="34" charset="0"/>
                    <a:cs typeface="Arial" panose="020B0604020202020204" pitchFamily="34" charset="0"/>
                  </a:rPr>
                  <a:t>的抽样分布可用正态分布近似。</a:t>
                </a:r>
                <a:r>
                  <a:rPr lang="en-US" altLang="zh-CN" sz="1400" dirty="0">
                    <a:latin typeface="Arial" panose="020B0604020202020204" pitchFamily="34" charset="0"/>
                    <a:cs typeface="Arial" panose="020B0604020202020204" pitchFamily="34" charset="0"/>
                  </a:rPr>
                  <a:t>p</a:t>
                </a:r>
                <a:r>
                  <a:rPr lang="zh-CN" altLang="zh-CN" sz="1400" dirty="0">
                    <a:latin typeface="Arial" panose="020B0604020202020204" pitchFamily="34" charset="0"/>
                    <a:cs typeface="Arial" panose="020B0604020202020204" pitchFamily="34" charset="0"/>
                  </a:rPr>
                  <a:t>的数学期望为</a:t>
                </a:r>
                <a:r>
                  <a:rPr lang="en-US" altLang="zh-CN" sz="1400" dirty="0">
                    <a:latin typeface="Arial" panose="020B0604020202020204" pitchFamily="34" charset="0"/>
                    <a:cs typeface="Arial" panose="020B0604020202020204" pitchFamily="34" charset="0"/>
                  </a:rPr>
                  <a:t>E(p)=π;p</a:t>
                </a:r>
                <a:r>
                  <a:rPr lang="zh-CN" altLang="zh-CN" sz="1400" dirty="0">
                    <a:latin typeface="Arial" panose="020B0604020202020204" pitchFamily="34" charset="0"/>
                    <a:cs typeface="Arial" panose="020B0604020202020204" pitchFamily="34" charset="0"/>
                  </a:rPr>
                  <a:t>的方差为</a:t>
                </a:r>
                <a14:m>
                  <m:oMath xmlns:m="http://schemas.openxmlformats.org/officeDocument/2006/math">
                    <m:sSubSup>
                      <m:sSubSupPr>
                        <m:ctrlPr>
                          <a:rPr lang="zh-CN" altLang="zh-CN" sz="1400" i="1">
                            <a:latin typeface="Cambria Math" panose="02040503050406030204" pitchFamily="18" charset="0"/>
                            <a:cs typeface="Arial" panose="020B0604020202020204" pitchFamily="34" charset="0"/>
                          </a:rPr>
                        </m:ctrlPr>
                      </m:sSubSupPr>
                      <m:e>
                        <m:r>
                          <m:rPr>
                            <m:sty m:val="p"/>
                          </m:rPr>
                          <a:rPr lang="en-US" altLang="zh-CN" sz="1400" b="0" i="1">
                            <a:latin typeface="Cambria Math" panose="02040503050406030204" pitchFamily="18" charset="0"/>
                            <a:cs typeface="Arial" panose="020B0604020202020204" pitchFamily="34" charset="0"/>
                          </a:rPr>
                          <m:t>σ</m:t>
                        </m:r>
                      </m:e>
                      <m:sub>
                        <m:r>
                          <m:rPr>
                            <m:sty m:val="p"/>
                          </m:rPr>
                          <a:rPr lang="en-US" altLang="zh-CN" sz="1400" b="0" i="1">
                            <a:latin typeface="Cambria Math" panose="02040503050406030204" pitchFamily="18" charset="0"/>
                            <a:cs typeface="Arial" panose="020B0604020202020204" pitchFamily="34" charset="0"/>
                          </a:rPr>
                          <m:t>p</m:t>
                        </m:r>
                      </m:sub>
                      <m:sup>
                        <m:r>
                          <a:rPr lang="en-US" altLang="zh-CN" sz="1400" b="0">
                            <a:latin typeface="Cambria Math" panose="02040503050406030204" pitchFamily="18" charset="0"/>
                            <a:cs typeface="Arial" panose="020B0604020202020204" pitchFamily="34" charset="0"/>
                          </a:rPr>
                          <m:t>2</m:t>
                        </m:r>
                      </m:sup>
                    </m:sSubSup>
                  </m:oMath>
                </a14:m>
                <a:r>
                  <a:rPr lang="en-US" altLang="zh-CN" sz="1400" dirty="0">
                    <a:latin typeface="Arial" panose="020B0604020202020204" pitchFamily="34" charset="0"/>
                    <a:cs typeface="Arial" panose="020B0604020202020204" pitchFamily="34" charset="0"/>
                  </a:rPr>
                  <a:t>=</a:t>
                </a:r>
                <a14:m>
                  <m:oMath xmlns:m="http://schemas.openxmlformats.org/officeDocument/2006/math">
                    <m:f>
                      <m:fPr>
                        <m:ctrlPr>
                          <a:rPr lang="zh-CN" altLang="zh-CN" sz="1400" i="1">
                            <a:latin typeface="Cambria Math" panose="02040503050406030204" pitchFamily="18" charset="0"/>
                            <a:cs typeface="Arial" panose="020B0604020202020204" pitchFamily="34" charset="0"/>
                          </a:rPr>
                        </m:ctrlPr>
                      </m:fPr>
                      <m:num>
                        <m:r>
                          <m:rPr>
                            <m:sty m:val="p"/>
                          </m:rPr>
                          <a:rPr lang="en-US" altLang="zh-CN" sz="1400" b="0" i="1">
                            <a:latin typeface="Cambria Math" panose="02040503050406030204" pitchFamily="18" charset="0"/>
                            <a:cs typeface="Arial" panose="020B0604020202020204" pitchFamily="34" charset="0"/>
                          </a:rPr>
                          <m:t>π</m:t>
                        </m:r>
                        <m:r>
                          <m:rPr>
                            <m:nor/>
                          </m:rPr>
                          <a:rPr lang="en-US" altLang="zh-CN" sz="1400">
                            <a:latin typeface="Arial" panose="020B0604020202020204" pitchFamily="34" charset="0"/>
                            <a:cs typeface="Arial" panose="020B0604020202020204" pitchFamily="34" charset="0"/>
                          </a:rPr>
                          <m:t>(</m:t>
                        </m:r>
                        <m:r>
                          <a:rPr lang="en-US" altLang="zh-CN" sz="1400" b="0">
                            <a:latin typeface="Cambria Math" panose="02040503050406030204" pitchFamily="18" charset="0"/>
                            <a:cs typeface="Arial" panose="020B0604020202020204" pitchFamily="34" charset="0"/>
                          </a:rPr>
                          <m:t>1</m:t>
                        </m:r>
                        <m:r>
                          <m:rPr>
                            <m:nor/>
                          </m:rPr>
                          <a:rPr lang="en-US" altLang="zh-CN" sz="1400">
                            <a:latin typeface="Arial" panose="020B0604020202020204" pitchFamily="34" charset="0"/>
                            <a:cs typeface="Arial" panose="020B0604020202020204" pitchFamily="34" charset="0"/>
                          </a:rPr>
                          <m:t>−</m:t>
                        </m:r>
                        <m:r>
                          <m:rPr>
                            <m:sty m:val="p"/>
                          </m:rPr>
                          <a:rPr lang="en-US" altLang="zh-CN" sz="1400" b="0" i="1">
                            <a:latin typeface="Cambria Math" panose="02040503050406030204" pitchFamily="18" charset="0"/>
                            <a:cs typeface="Arial" panose="020B0604020202020204" pitchFamily="34" charset="0"/>
                          </a:rPr>
                          <m:t>π</m:t>
                        </m:r>
                        <m:r>
                          <m:rPr>
                            <m:nor/>
                          </m:rPr>
                          <a:rPr lang="en-US" altLang="zh-CN" sz="1400">
                            <a:latin typeface="Arial" panose="020B0604020202020204" pitchFamily="34" charset="0"/>
                            <a:cs typeface="Arial" panose="020B0604020202020204" pitchFamily="34" charset="0"/>
                          </a:rPr>
                          <m:t>)</m:t>
                        </m:r>
                      </m:num>
                      <m:den>
                        <m:r>
                          <m:rPr>
                            <m:sty m:val="p"/>
                          </m:rPr>
                          <a:rPr lang="en-US" altLang="zh-CN" sz="1400" b="0" i="1">
                            <a:latin typeface="Cambria Math" panose="02040503050406030204" pitchFamily="18" charset="0"/>
                            <a:cs typeface="Arial" panose="020B0604020202020204" pitchFamily="34" charset="0"/>
                          </a:rPr>
                          <m:t>n</m:t>
                        </m:r>
                      </m:den>
                    </m:f>
                  </m:oMath>
                </a14:m>
                <a:r>
                  <a:rPr lang="zh-CN" altLang="zh-CN" sz="1400" dirty="0">
                    <a:latin typeface="Arial" panose="020B0604020202020204" pitchFamily="34" charset="0"/>
                    <a:cs typeface="Arial" panose="020B0604020202020204" pitchFamily="34" charset="0"/>
                  </a:rPr>
                  <a:t>。样本比例经标准化后的随机变量服从标准正态分布</a:t>
                </a:r>
                <a:r>
                  <a:rPr lang="en-US" altLang="zh-CN" sz="1400" dirty="0">
                    <a:latin typeface="Arial" panose="020B0604020202020204" pitchFamily="34" charset="0"/>
                    <a:cs typeface="Arial" panose="020B0604020202020204" pitchFamily="34" charset="0"/>
                  </a:rPr>
                  <a:t>,</a:t>
                </a:r>
                <a:r>
                  <a:rPr lang="zh-CN" altLang="zh-CN" sz="1400" dirty="0">
                    <a:latin typeface="Arial" panose="020B0604020202020204" pitchFamily="34" charset="0"/>
                    <a:cs typeface="Arial" panose="020B0604020202020204" pitchFamily="34" charset="0"/>
                  </a:rPr>
                  <a:t>即</a:t>
                </a:r>
                <a:endParaRPr lang="zh-CN" altLang="zh-CN" sz="1400" dirty="0">
                  <a:latin typeface="Arial" panose="020B0604020202020204" pitchFamily="34" charset="0"/>
                  <a:cs typeface="Arial" panose="020B0604020202020204" pitchFamily="34" charset="0"/>
                </a:endParaRPr>
              </a:p>
              <a:p>
                <a:pPr indent="0" algn="just">
                  <a:lnSpc>
                    <a:spcPct val="120000"/>
                  </a:lnSpc>
                  <a:buNone/>
                </a:pPr>
                <a:r>
                  <a:rPr lang="zh-CN" altLang="zh-CN" sz="1400" i="1" dirty="0">
                    <a:solidFill>
                      <a:srgbClr val="000000"/>
                    </a:solidFill>
                    <a:effectLst/>
                    <a:latin typeface="Calibri" panose="020F0502020204030204" pitchFamily="34" charset="0"/>
                    <a:cs typeface="Calibri" panose="020F0502020204030204" pitchFamily="34" charset="0"/>
                  </a:rPr>
                  <a:t>　　</a:t>
                </a:r>
                <a:r>
                  <a:rPr lang="en-US" altLang="zh-CN" sz="1400" i="1" dirty="0">
                    <a:solidFill>
                      <a:srgbClr val="000000"/>
                    </a:solidFill>
                    <a:effectLst/>
                    <a:latin typeface="Calibri" panose="020F0502020204030204" pitchFamily="34" charset="0"/>
                    <a:cs typeface="Times New Roman" panose="02020603050405020304" pitchFamily="18" charset="0"/>
                  </a:rPr>
                  <a:t>z=</a:t>
                </a:r>
                <a14:m>
                  <m:oMath xmlns:m="http://schemas.openxmlformats.org/officeDocument/2006/math">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400" i="1">
                            <a:solidFill>
                              <a:srgbClr val="000000"/>
                            </a:solidFill>
                            <a:effectLst/>
                            <a:latin typeface="Cambria Math" panose="02040503050406030204" pitchFamily="18" charset="0"/>
                            <a:cs typeface="Calibri" panose="020F0502020204030204" pitchFamily="34" charset="0"/>
                          </a:rPr>
                          <m:t>𝑝</m:t>
                        </m:r>
                        <m:r>
                          <m:rPr>
                            <m:nor/>
                          </m:rPr>
                          <a:rPr lang="en-US" altLang="zh-CN" sz="1400" i="1">
                            <a:solidFill>
                              <a:srgbClr val="000000"/>
                            </a:solidFill>
                            <a:effectLst/>
                            <a:latin typeface="Calibri" panose="020F0502020204030204" pitchFamily="34" charset="0"/>
                            <a:cs typeface="Times New Roman" panose="02020603050405020304" pitchFamily="18" charset="0"/>
                          </a:rPr>
                          <m:t>−</m:t>
                        </m:r>
                        <m:r>
                          <a:rPr lang="en-US" altLang="zh-CN" sz="1400" i="1">
                            <a:solidFill>
                              <a:srgbClr val="000000"/>
                            </a:solidFill>
                            <a:effectLst/>
                            <a:latin typeface="Cambria Math" panose="02040503050406030204" pitchFamily="18" charset="0"/>
                            <a:cs typeface="Calibri" panose="020F0502020204030204" pitchFamily="34" charset="0"/>
                          </a:rPr>
                          <m:t>𝜋</m:t>
                        </m:r>
                      </m:num>
                      <m:den>
                        <m:rad>
                          <m:radPr>
                            <m:degHide m:val="on"/>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400" i="1">
                                <a:solidFill>
                                  <a:srgbClr val="000000"/>
                                </a:solidFill>
                                <a:effectLst/>
                                <a:latin typeface="Cambria Math" panose="02040503050406030204" pitchFamily="18" charset="0"/>
                                <a:cs typeface="Calibri" panose="020F0502020204030204" pitchFamily="34" charset="0"/>
                              </a:rPr>
                              <m:t>𝜋</m:t>
                            </m:r>
                            <m:r>
                              <m:rPr>
                                <m:nor/>
                              </m:rPr>
                              <a:rPr lang="en-US" altLang="zh-CN" sz="1400">
                                <a:solidFill>
                                  <a:srgbClr val="000000"/>
                                </a:solidFill>
                                <a:effectLst/>
                                <a:latin typeface="Calibri" panose="020F0502020204030204" pitchFamily="34" charset="0"/>
                                <a:cs typeface="Times New Roman" panose="02020603050405020304" pitchFamily="18" charset="0"/>
                              </a:rPr>
                              <m:t>(</m:t>
                            </m:r>
                            <m:r>
                              <a:rPr lang="en-US" altLang="zh-CN" sz="1400">
                                <a:solidFill>
                                  <a:srgbClr val="000000"/>
                                </a:solidFill>
                                <a:effectLst/>
                                <a:latin typeface="Cambria Math" panose="02040503050406030204" pitchFamily="18" charset="0"/>
                                <a:cs typeface="Calibri" panose="020F0502020204030204" pitchFamily="34" charset="0"/>
                              </a:rPr>
                              <m:t>1</m:t>
                            </m:r>
                            <m:r>
                              <m:rPr>
                                <m:nor/>
                              </m:rPr>
                              <a:rPr lang="en-US" altLang="zh-CN" sz="1400" i="1">
                                <a:solidFill>
                                  <a:srgbClr val="000000"/>
                                </a:solidFill>
                                <a:effectLst/>
                                <a:latin typeface="Calibri" panose="020F0502020204030204" pitchFamily="34" charset="0"/>
                                <a:cs typeface="Times New Roman" panose="02020603050405020304" pitchFamily="18" charset="0"/>
                              </a:rPr>
                              <m:t>−</m:t>
                            </m:r>
                            <m:r>
                              <a:rPr lang="en-US" altLang="zh-CN" sz="1400" i="1">
                                <a:solidFill>
                                  <a:srgbClr val="000000"/>
                                </a:solidFill>
                                <a:effectLst/>
                                <a:latin typeface="Cambria Math" panose="02040503050406030204" pitchFamily="18" charset="0"/>
                                <a:cs typeface="Calibri" panose="020F0502020204030204" pitchFamily="34" charset="0"/>
                              </a:rPr>
                              <m:t>𝜋</m:t>
                            </m:r>
                            <m:r>
                              <m:rPr>
                                <m:nor/>
                              </m:rPr>
                              <a:rPr lang="en-US" altLang="zh-CN" sz="1400">
                                <a:solidFill>
                                  <a:srgbClr val="000000"/>
                                </a:solidFill>
                                <a:effectLst/>
                                <a:latin typeface="Calibri" panose="020F0502020204030204" pitchFamily="34" charset="0"/>
                                <a:cs typeface="Times New Roman" panose="02020603050405020304" pitchFamily="18" charset="0"/>
                              </a:rPr>
                              <m:t>)/</m:t>
                            </m:r>
                            <m:r>
                              <a:rPr lang="en-US" altLang="zh-CN" sz="1400" i="1">
                                <a:solidFill>
                                  <a:srgbClr val="000000"/>
                                </a:solidFill>
                                <a:effectLst/>
                                <a:latin typeface="Cambria Math" panose="02040503050406030204" pitchFamily="18" charset="0"/>
                                <a:cs typeface="Calibri" panose="020F0502020204030204" pitchFamily="34" charset="0"/>
                              </a:rPr>
                              <m:t>𝑛</m:t>
                            </m:r>
                          </m:e>
                        </m:rad>
                      </m:den>
                    </m:f>
                  </m:oMath>
                </a14:m>
                <a:r>
                  <a:rPr lang="en-US" altLang="zh-CN" sz="1400" i="1" dirty="0">
                    <a:solidFill>
                      <a:srgbClr val="000000"/>
                    </a:solidFill>
                    <a:effectLst/>
                    <a:latin typeface="Calibri" panose="020F0502020204030204" pitchFamily="34" charset="0"/>
                    <a:cs typeface="Times New Roman" panose="02020603050405020304" pitchFamily="18" charset="0"/>
                  </a:rPr>
                  <a:t>~N</a:t>
                </a:r>
                <a:r>
                  <a:rPr lang="en-US" altLang="zh-CN" sz="1400" dirty="0">
                    <a:solidFill>
                      <a:srgbClr val="000000"/>
                    </a:solidFill>
                    <a:effectLst/>
                    <a:latin typeface="Calibri" panose="020F0502020204030204" pitchFamily="34" charset="0"/>
                    <a:cs typeface="Times New Roman" panose="02020603050405020304" pitchFamily="18" charset="0"/>
                  </a:rPr>
                  <a:t>(0,1)</a:t>
                </a:r>
                <a:endParaRPr lang="zh-CN" altLang="zh-CN" sz="1400" dirty="0">
                  <a:solidFill>
                    <a:srgbClr val="000000"/>
                  </a:solidFill>
                  <a:effectLst/>
                  <a:latin typeface="NEU-BZ-S92"/>
                  <a:ea typeface="方正书宋_GBK"/>
                  <a:cs typeface="Times New Roman" panose="02020603050405020304" pitchFamily="18" charset="0"/>
                </a:endParaRPr>
              </a:p>
              <a:p>
                <a:pPr indent="0" algn="just">
                  <a:lnSpc>
                    <a:spcPct val="120000"/>
                  </a:lnSpc>
                  <a:buNone/>
                </a:pPr>
                <a:r>
                  <a:rPr lang="zh-CN" altLang="zh-CN" sz="1400" dirty="0">
                    <a:solidFill>
                      <a:srgbClr val="000000"/>
                    </a:solidFill>
                    <a:effectLst/>
                    <a:latin typeface="Calibri" panose="020F0502020204030204" pitchFamily="34" charset="0"/>
                    <a:cs typeface="Calibri" panose="020F0502020204030204" pitchFamily="34" charset="0"/>
                  </a:rPr>
                  <a:t>在样本比例</a:t>
                </a:r>
                <a:r>
                  <a:rPr lang="en-US" altLang="zh-CN" sz="1400" i="1" dirty="0">
                    <a:solidFill>
                      <a:srgbClr val="000000"/>
                    </a:solidFill>
                    <a:effectLst/>
                    <a:latin typeface="Calibri" panose="020F0502020204030204" pitchFamily="34" charset="0"/>
                    <a:cs typeface="Times New Roman" panose="02020603050405020304" pitchFamily="18" charset="0"/>
                  </a:rPr>
                  <a:t>p</a:t>
                </a:r>
                <a:r>
                  <a:rPr lang="zh-CN" altLang="zh-CN" sz="1400" dirty="0">
                    <a:solidFill>
                      <a:srgbClr val="000000"/>
                    </a:solidFill>
                    <a:effectLst/>
                    <a:latin typeface="Calibri" panose="020F0502020204030204" pitchFamily="34" charset="0"/>
                    <a:cs typeface="Calibri" panose="020F0502020204030204" pitchFamily="34" charset="0"/>
                  </a:rPr>
                  <a:t>的基础上加减估计误差</a:t>
                </a:r>
                <a:r>
                  <a:rPr lang="en-US" altLang="zh-CN" sz="1400" i="1" dirty="0">
                    <a:solidFill>
                      <a:srgbClr val="000000"/>
                    </a:solidFill>
                    <a:effectLst/>
                    <a:latin typeface="Calibri" panose="020F0502020204030204" pitchFamily="34" charset="0"/>
                    <a:cs typeface="Times New Roman" panose="02020603050405020304" pitchFamily="18" charset="0"/>
                  </a:rPr>
                  <a:t>z</a:t>
                </a:r>
                <a:r>
                  <a:rPr lang="en-US" altLang="zh-CN" sz="1400" i="1" baseline="-25000" dirty="0">
                    <a:solidFill>
                      <a:srgbClr val="000000"/>
                    </a:solidFill>
                    <a:effectLst/>
                    <a:latin typeface="Calibri" panose="020F0502020204030204" pitchFamily="34" charset="0"/>
                    <a:cs typeface="Times New Roman" panose="02020603050405020304" pitchFamily="18" charset="0"/>
                  </a:rPr>
                  <a:t>α/</a:t>
                </a:r>
                <a:r>
                  <a:rPr lang="en-US" altLang="zh-CN" sz="1400" baseline="-25000" dirty="0">
                    <a:solidFill>
                      <a:srgbClr val="000000"/>
                    </a:solidFill>
                    <a:effectLst/>
                    <a:latin typeface="Calibri" panose="020F0502020204030204" pitchFamily="34" charset="0"/>
                    <a:cs typeface="Times New Roman" panose="02020603050405020304" pitchFamily="18" charset="0"/>
                  </a:rPr>
                  <a:t>2</a:t>
                </a:r>
                <a:r>
                  <a:rPr lang="en-US" altLang="zh-CN" sz="1400" i="1" dirty="0">
                    <a:solidFill>
                      <a:srgbClr val="000000"/>
                    </a:solidFill>
                    <a:effectLst/>
                    <a:latin typeface="Calibri" panose="020F0502020204030204" pitchFamily="34" charset="0"/>
                    <a:cs typeface="Times New Roman" panose="02020603050405020304" pitchFamily="18" charset="0"/>
                  </a:rPr>
                  <a:t>σ</a:t>
                </a:r>
                <a:r>
                  <a:rPr lang="en-US" altLang="zh-CN" sz="1400" i="1" baseline="-25000" dirty="0">
                    <a:solidFill>
                      <a:srgbClr val="000000"/>
                    </a:solidFill>
                    <a:effectLst/>
                    <a:latin typeface="Calibri" panose="020F0502020204030204" pitchFamily="34" charset="0"/>
                    <a:cs typeface="Times New Roman" panose="02020603050405020304" pitchFamily="18" charset="0"/>
                  </a:rPr>
                  <a:t>p</a:t>
                </a:r>
                <a:r>
                  <a:rPr lang="en-US" altLang="zh-CN" sz="1400" dirty="0">
                    <a:solidFill>
                      <a:srgbClr val="000000"/>
                    </a:solidFill>
                    <a:effectLst/>
                    <a:latin typeface="Calibri" panose="020F0502020204030204" pitchFamily="34" charset="0"/>
                    <a:cs typeface="Times New Roman" panose="02020603050405020304" pitchFamily="18" charset="0"/>
                  </a:rPr>
                  <a:t>,</a:t>
                </a:r>
                <a:r>
                  <a:rPr lang="zh-CN" altLang="zh-CN" sz="1400" dirty="0">
                    <a:solidFill>
                      <a:srgbClr val="000000"/>
                    </a:solidFill>
                    <a:effectLst/>
                    <a:latin typeface="Calibri" panose="020F0502020204030204" pitchFamily="34" charset="0"/>
                    <a:cs typeface="Calibri" panose="020F0502020204030204" pitchFamily="34" charset="0"/>
                  </a:rPr>
                  <a:t>即得总体比例</a:t>
                </a:r>
                <a:r>
                  <a:rPr lang="en-US" altLang="zh-CN" sz="1400" i="1" dirty="0">
                    <a:solidFill>
                      <a:srgbClr val="000000"/>
                    </a:solidFill>
                    <a:effectLst/>
                    <a:latin typeface="Calibri" panose="020F0502020204030204" pitchFamily="34" charset="0"/>
                    <a:cs typeface="Times New Roman" panose="02020603050405020304" pitchFamily="18" charset="0"/>
                  </a:rPr>
                  <a:t>π</a:t>
                </a:r>
                <a:r>
                  <a:rPr lang="zh-CN" altLang="zh-CN" sz="1400" dirty="0">
                    <a:solidFill>
                      <a:srgbClr val="000000"/>
                    </a:solidFill>
                    <a:effectLst/>
                    <a:latin typeface="Calibri" panose="020F0502020204030204" pitchFamily="34" charset="0"/>
                    <a:cs typeface="Calibri" panose="020F0502020204030204" pitchFamily="34" charset="0"/>
                  </a:rPr>
                  <a:t>在</a:t>
                </a:r>
                <a:r>
                  <a:rPr lang="en-US" altLang="zh-CN" sz="1400" dirty="0">
                    <a:solidFill>
                      <a:srgbClr val="000000"/>
                    </a:solidFill>
                    <a:effectLst/>
                    <a:latin typeface="Calibri" panose="020F0502020204030204" pitchFamily="34" charset="0"/>
                    <a:cs typeface="Times New Roman" panose="02020603050405020304" pitchFamily="18" charset="0"/>
                  </a:rPr>
                  <a:t>1-</a:t>
                </a:r>
                <a:r>
                  <a:rPr lang="en-US" altLang="zh-CN" sz="1400" i="1" dirty="0">
                    <a:solidFill>
                      <a:srgbClr val="000000"/>
                    </a:solidFill>
                    <a:effectLst/>
                    <a:latin typeface="Calibri" panose="020F0502020204030204" pitchFamily="34" charset="0"/>
                    <a:cs typeface="Times New Roman" panose="02020603050405020304" pitchFamily="18" charset="0"/>
                  </a:rPr>
                  <a:t>α</a:t>
                </a:r>
                <a:r>
                  <a:rPr lang="zh-CN" altLang="zh-CN" sz="1400" dirty="0">
                    <a:solidFill>
                      <a:srgbClr val="000000"/>
                    </a:solidFill>
                    <a:effectLst/>
                    <a:latin typeface="Calibri" panose="020F0502020204030204" pitchFamily="34" charset="0"/>
                    <a:cs typeface="Calibri" panose="020F0502020204030204" pitchFamily="34" charset="0"/>
                  </a:rPr>
                  <a:t>置信水平下的置信区间为</a:t>
                </a:r>
                <a:r>
                  <a:rPr lang="en-US" altLang="zh-CN" sz="1400" dirty="0">
                    <a:solidFill>
                      <a:srgbClr val="000000"/>
                    </a:solidFill>
                    <a:effectLst/>
                    <a:latin typeface="Calibri" panose="020F0502020204030204" pitchFamily="34" charset="0"/>
                    <a:cs typeface="Times New Roman" panose="02020603050405020304" pitchFamily="18" charset="0"/>
                  </a:rPr>
                  <a:t>:</a:t>
                </a:r>
                <a:endParaRPr lang="zh-CN" altLang="zh-CN" sz="1400" dirty="0">
                  <a:solidFill>
                    <a:srgbClr val="000000"/>
                  </a:solidFill>
                  <a:effectLst/>
                  <a:latin typeface="NEU-BZ-S92"/>
                  <a:ea typeface="方正书宋_GBK"/>
                  <a:cs typeface="Times New Roman" panose="02020603050405020304" pitchFamily="18" charset="0"/>
                </a:endParaRPr>
              </a:p>
              <a:p>
                <a:pPr indent="0" algn="just">
                  <a:lnSpc>
                    <a:spcPct val="120000"/>
                  </a:lnSpc>
                  <a:buNone/>
                </a:pPr>
                <a:r>
                  <a:rPr lang="zh-CN" altLang="zh-CN" sz="1400" i="1" dirty="0">
                    <a:solidFill>
                      <a:srgbClr val="000000"/>
                    </a:solidFill>
                    <a:effectLst/>
                    <a:latin typeface="Calibri" panose="020F0502020204030204" pitchFamily="34" charset="0"/>
                    <a:cs typeface="Calibri" panose="020F0502020204030204" pitchFamily="34" charset="0"/>
                  </a:rPr>
                  <a:t>　　</a:t>
                </a:r>
                <a:r>
                  <a:rPr lang="en-US" altLang="zh-CN" sz="1400" i="1" dirty="0" err="1">
                    <a:solidFill>
                      <a:srgbClr val="000000"/>
                    </a:solidFill>
                    <a:effectLst/>
                    <a:latin typeface="Calibri" panose="020F0502020204030204" pitchFamily="34" charset="0"/>
                    <a:cs typeface="Times New Roman" panose="02020603050405020304" pitchFamily="18" charset="0"/>
                  </a:rPr>
                  <a:t>p±z</a:t>
                </a:r>
                <a:r>
                  <a:rPr lang="en-US" altLang="zh-CN" sz="1400" i="1" baseline="-25000" dirty="0">
                    <a:solidFill>
                      <a:srgbClr val="000000"/>
                    </a:solidFill>
                    <a:effectLst/>
                    <a:latin typeface="Calibri" panose="020F0502020204030204" pitchFamily="34" charset="0"/>
                    <a:cs typeface="Times New Roman" panose="02020603050405020304" pitchFamily="18" charset="0"/>
                  </a:rPr>
                  <a:t>α/</a:t>
                </a:r>
                <a:r>
                  <a:rPr lang="en-US" altLang="zh-CN" sz="1400" baseline="-25000" dirty="0">
                    <a:solidFill>
                      <a:srgbClr val="000000"/>
                    </a:solidFill>
                    <a:effectLst/>
                    <a:latin typeface="Calibri" panose="020F0502020204030204" pitchFamily="34" charset="0"/>
                    <a:cs typeface="Times New Roman" panose="02020603050405020304" pitchFamily="18" charset="0"/>
                  </a:rPr>
                  <a:t>2</a:t>
                </a:r>
                <a14:m>
                  <m:oMath xmlns:m="http://schemas.openxmlformats.org/officeDocument/2006/math">
                    <m:rad>
                      <m:radPr>
                        <m:degHide m:val="on"/>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400" i="1">
                                <a:solidFill>
                                  <a:srgbClr val="000000"/>
                                </a:solidFill>
                                <a:effectLst/>
                                <a:latin typeface="Cambria Math" panose="02040503050406030204" pitchFamily="18" charset="0"/>
                                <a:cs typeface="Calibri" panose="020F0502020204030204" pitchFamily="34" charset="0"/>
                              </a:rPr>
                              <m:t>𝜋</m:t>
                            </m:r>
                            <m:r>
                              <m:rPr>
                                <m:nor/>
                              </m:rPr>
                              <a:rPr lang="en-US" altLang="zh-CN" sz="1400">
                                <a:solidFill>
                                  <a:srgbClr val="000000"/>
                                </a:solidFill>
                                <a:effectLst/>
                                <a:latin typeface="Calibri" panose="020F0502020204030204" pitchFamily="34" charset="0"/>
                                <a:cs typeface="Times New Roman" panose="02020603050405020304" pitchFamily="18" charset="0"/>
                              </a:rPr>
                              <m:t>(</m:t>
                            </m:r>
                            <m:r>
                              <a:rPr lang="en-US" altLang="zh-CN" sz="1400">
                                <a:solidFill>
                                  <a:srgbClr val="000000"/>
                                </a:solidFill>
                                <a:effectLst/>
                                <a:latin typeface="Cambria Math" panose="02040503050406030204" pitchFamily="18" charset="0"/>
                                <a:cs typeface="Calibri" panose="020F0502020204030204" pitchFamily="34" charset="0"/>
                              </a:rPr>
                              <m:t>1</m:t>
                            </m:r>
                            <m:r>
                              <m:rPr>
                                <m:nor/>
                              </m:rPr>
                              <a:rPr lang="en-US" altLang="zh-CN" sz="1400" i="1">
                                <a:solidFill>
                                  <a:srgbClr val="000000"/>
                                </a:solidFill>
                                <a:effectLst/>
                                <a:latin typeface="Calibri" panose="020F0502020204030204" pitchFamily="34" charset="0"/>
                                <a:cs typeface="Times New Roman" panose="02020603050405020304" pitchFamily="18" charset="0"/>
                              </a:rPr>
                              <m:t>−</m:t>
                            </m:r>
                            <m:r>
                              <a:rPr lang="en-US" altLang="zh-CN" sz="1400" i="1">
                                <a:solidFill>
                                  <a:srgbClr val="000000"/>
                                </a:solidFill>
                                <a:effectLst/>
                                <a:latin typeface="Cambria Math" panose="02040503050406030204" pitchFamily="18" charset="0"/>
                                <a:cs typeface="Calibri" panose="020F0502020204030204" pitchFamily="34" charset="0"/>
                              </a:rPr>
                              <m:t>𝜋</m:t>
                            </m:r>
                            <m:r>
                              <m:rPr>
                                <m:nor/>
                              </m:rPr>
                              <a:rPr lang="en-US" altLang="zh-CN" sz="1400">
                                <a:solidFill>
                                  <a:srgbClr val="000000"/>
                                </a:solidFill>
                                <a:effectLst/>
                                <a:latin typeface="Calibri" panose="020F0502020204030204" pitchFamily="34" charset="0"/>
                                <a:cs typeface="Times New Roman" panose="02020603050405020304" pitchFamily="18" charset="0"/>
                              </a:rPr>
                              <m:t>)</m:t>
                            </m:r>
                          </m:num>
                          <m:den>
                            <m:r>
                              <a:rPr lang="en-US" altLang="zh-CN" sz="1400" i="1">
                                <a:solidFill>
                                  <a:srgbClr val="000000"/>
                                </a:solidFill>
                                <a:effectLst/>
                                <a:latin typeface="Cambria Math" panose="02040503050406030204" pitchFamily="18" charset="0"/>
                                <a:cs typeface="Calibri" panose="020F0502020204030204" pitchFamily="34" charset="0"/>
                              </a:rPr>
                              <m:t>𝑛</m:t>
                            </m:r>
                          </m:den>
                        </m:f>
                      </m:e>
                    </m:rad>
                  </m:oMath>
                </a14:m>
                <a:endParaRPr lang="zh-CN" altLang="zh-CN" sz="1400" dirty="0">
                  <a:solidFill>
                    <a:srgbClr val="000000"/>
                  </a:solidFill>
                  <a:effectLst/>
                  <a:latin typeface="NEU-BZ-S92"/>
                  <a:ea typeface="方正书宋_GBK"/>
                  <a:cs typeface="Times New Roman" panose="02020603050405020304" pitchFamily="18" charset="0"/>
                </a:endParaRPr>
              </a:p>
              <a:p>
                <a:pPr indent="0" algn="just">
                  <a:lnSpc>
                    <a:spcPct val="120000"/>
                  </a:lnSpc>
                  <a:buNone/>
                </a:pPr>
                <a:r>
                  <a:rPr lang="zh-CN" altLang="zh-CN" sz="1400" dirty="0">
                    <a:solidFill>
                      <a:srgbClr val="000000"/>
                    </a:solidFill>
                    <a:effectLst/>
                    <a:latin typeface="Calibri" panose="020F0502020204030204" pitchFamily="34" charset="0"/>
                    <a:cs typeface="Calibri" panose="020F0502020204030204" pitchFamily="34" charset="0"/>
                  </a:rPr>
                  <a:t>用样本比例</a:t>
                </a:r>
                <a:r>
                  <a:rPr lang="en-US" altLang="zh-CN" sz="1400" i="1" dirty="0">
                    <a:solidFill>
                      <a:srgbClr val="000000"/>
                    </a:solidFill>
                    <a:effectLst/>
                    <a:latin typeface="Calibri" panose="020F0502020204030204" pitchFamily="34" charset="0"/>
                    <a:cs typeface="Times New Roman" panose="02020603050405020304" pitchFamily="18" charset="0"/>
                  </a:rPr>
                  <a:t>p</a:t>
                </a:r>
                <a:r>
                  <a:rPr lang="zh-CN" altLang="zh-CN" sz="1400" dirty="0">
                    <a:solidFill>
                      <a:srgbClr val="000000"/>
                    </a:solidFill>
                    <a:effectLst/>
                    <a:latin typeface="Calibri" panose="020F0502020204030204" pitchFamily="34" charset="0"/>
                    <a:cs typeface="Calibri" panose="020F0502020204030204" pitchFamily="34" charset="0"/>
                  </a:rPr>
                  <a:t>来代替</a:t>
                </a:r>
                <a:r>
                  <a:rPr lang="en-US" altLang="zh-CN" sz="1400" i="1" dirty="0">
                    <a:solidFill>
                      <a:srgbClr val="000000"/>
                    </a:solidFill>
                    <a:effectLst/>
                    <a:latin typeface="Calibri" panose="020F0502020204030204" pitchFamily="34" charset="0"/>
                    <a:cs typeface="Times New Roman" panose="02020603050405020304" pitchFamily="18" charset="0"/>
                  </a:rPr>
                  <a:t>π</a:t>
                </a:r>
                <a:r>
                  <a:rPr lang="zh-CN" altLang="zh-CN" sz="1400" dirty="0">
                    <a:solidFill>
                      <a:srgbClr val="000000"/>
                    </a:solidFill>
                    <a:effectLst/>
                    <a:latin typeface="Calibri" panose="020F0502020204030204" pitchFamily="34" charset="0"/>
                    <a:cs typeface="Calibri" panose="020F0502020204030204" pitchFamily="34" charset="0"/>
                  </a:rPr>
                  <a:t>时</a:t>
                </a:r>
                <a:r>
                  <a:rPr lang="en-US" altLang="zh-CN" sz="1400" dirty="0">
                    <a:solidFill>
                      <a:srgbClr val="000000"/>
                    </a:solidFill>
                    <a:effectLst/>
                    <a:latin typeface="Calibri" panose="020F0502020204030204" pitchFamily="34" charset="0"/>
                    <a:cs typeface="Times New Roman" panose="02020603050405020304" pitchFamily="18" charset="0"/>
                  </a:rPr>
                  <a:t>,</a:t>
                </a:r>
                <a:r>
                  <a:rPr lang="zh-CN" altLang="zh-CN" sz="1400" dirty="0">
                    <a:solidFill>
                      <a:srgbClr val="000000"/>
                    </a:solidFill>
                    <a:effectLst/>
                    <a:latin typeface="Calibri" panose="020F0502020204030204" pitchFamily="34" charset="0"/>
                    <a:cs typeface="Calibri" panose="020F0502020204030204" pitchFamily="34" charset="0"/>
                  </a:rPr>
                  <a:t>总体比例的置信区间可表示为</a:t>
                </a:r>
                <a:r>
                  <a:rPr lang="en-US" altLang="zh-CN" sz="1400" dirty="0">
                    <a:solidFill>
                      <a:srgbClr val="000000"/>
                    </a:solidFill>
                    <a:effectLst/>
                    <a:latin typeface="Calibri" panose="020F0502020204030204" pitchFamily="34" charset="0"/>
                    <a:cs typeface="Times New Roman" panose="02020603050405020304" pitchFamily="18" charset="0"/>
                  </a:rPr>
                  <a:t>:</a:t>
                </a:r>
                <a:endParaRPr lang="zh-CN" altLang="zh-CN" sz="1400" dirty="0">
                  <a:solidFill>
                    <a:srgbClr val="000000"/>
                  </a:solidFill>
                  <a:effectLst/>
                  <a:latin typeface="NEU-BZ-S92"/>
                  <a:ea typeface="方正书宋_GBK"/>
                  <a:cs typeface="Times New Roman" panose="02020603050405020304" pitchFamily="18" charset="0"/>
                </a:endParaRPr>
              </a:p>
              <a:p>
                <a:pPr indent="0" algn="just">
                  <a:lnSpc>
                    <a:spcPct val="120000"/>
                  </a:lnSpc>
                  <a:buNone/>
                </a:pPr>
                <a:r>
                  <a:rPr lang="zh-CN" altLang="zh-CN" sz="1400" i="1" dirty="0">
                    <a:solidFill>
                      <a:srgbClr val="000000"/>
                    </a:solidFill>
                    <a:effectLst/>
                    <a:latin typeface="Calibri" panose="020F0502020204030204" pitchFamily="34" charset="0"/>
                    <a:cs typeface="Calibri" panose="020F0502020204030204" pitchFamily="34" charset="0"/>
                  </a:rPr>
                  <a:t>　　</a:t>
                </a:r>
                <a:r>
                  <a:rPr lang="en-US" altLang="zh-CN" sz="1400" i="1" dirty="0" err="1">
                    <a:solidFill>
                      <a:srgbClr val="000000"/>
                    </a:solidFill>
                    <a:effectLst/>
                    <a:latin typeface="Calibri" panose="020F0502020204030204" pitchFamily="34" charset="0"/>
                    <a:cs typeface="Times New Roman" panose="02020603050405020304" pitchFamily="18" charset="0"/>
                  </a:rPr>
                  <a:t>p±z</a:t>
                </a:r>
                <a:r>
                  <a:rPr lang="en-US" altLang="zh-CN" sz="1400" i="1" baseline="-25000" dirty="0">
                    <a:solidFill>
                      <a:srgbClr val="000000"/>
                    </a:solidFill>
                    <a:effectLst/>
                    <a:latin typeface="Calibri" panose="020F0502020204030204" pitchFamily="34" charset="0"/>
                    <a:cs typeface="Times New Roman" panose="02020603050405020304" pitchFamily="18" charset="0"/>
                  </a:rPr>
                  <a:t>α/</a:t>
                </a:r>
                <a:r>
                  <a:rPr lang="en-US" altLang="zh-CN" sz="1400" baseline="-25000" dirty="0">
                    <a:solidFill>
                      <a:srgbClr val="000000"/>
                    </a:solidFill>
                    <a:effectLst/>
                    <a:latin typeface="Calibri" panose="020F0502020204030204" pitchFamily="34" charset="0"/>
                    <a:cs typeface="Times New Roman" panose="02020603050405020304" pitchFamily="18" charset="0"/>
                  </a:rPr>
                  <a:t>2</a:t>
                </a:r>
                <a14:m>
                  <m:oMath xmlns:m="http://schemas.openxmlformats.org/officeDocument/2006/math">
                    <m:rad>
                      <m:radPr>
                        <m:degHide m:val="on"/>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400" i="1">
                                <a:solidFill>
                                  <a:srgbClr val="000000"/>
                                </a:solidFill>
                                <a:effectLst/>
                                <a:latin typeface="Cambria Math" panose="02040503050406030204" pitchFamily="18" charset="0"/>
                                <a:cs typeface="Calibri" panose="020F0502020204030204" pitchFamily="34" charset="0"/>
                              </a:rPr>
                              <m:t>𝑝</m:t>
                            </m:r>
                            <m:r>
                              <m:rPr>
                                <m:nor/>
                              </m:rPr>
                              <a:rPr lang="en-US" altLang="zh-CN" sz="1400">
                                <a:solidFill>
                                  <a:srgbClr val="000000"/>
                                </a:solidFill>
                                <a:effectLst/>
                                <a:latin typeface="Calibri" panose="020F0502020204030204" pitchFamily="34" charset="0"/>
                                <a:cs typeface="Times New Roman" panose="02020603050405020304" pitchFamily="18" charset="0"/>
                              </a:rPr>
                              <m:t>(</m:t>
                            </m:r>
                            <m:r>
                              <a:rPr lang="en-US" altLang="zh-CN" sz="1400">
                                <a:solidFill>
                                  <a:srgbClr val="000000"/>
                                </a:solidFill>
                                <a:effectLst/>
                                <a:latin typeface="Cambria Math" panose="02040503050406030204" pitchFamily="18" charset="0"/>
                                <a:cs typeface="Calibri" panose="020F0502020204030204" pitchFamily="34" charset="0"/>
                              </a:rPr>
                              <m:t>1</m:t>
                            </m:r>
                            <m:r>
                              <m:rPr>
                                <m:nor/>
                              </m:rPr>
                              <a:rPr lang="en-US" altLang="zh-CN" sz="1400" i="1">
                                <a:solidFill>
                                  <a:srgbClr val="000000"/>
                                </a:solidFill>
                                <a:effectLst/>
                                <a:latin typeface="Calibri" panose="020F0502020204030204" pitchFamily="34" charset="0"/>
                                <a:cs typeface="Times New Roman" panose="02020603050405020304" pitchFamily="18" charset="0"/>
                              </a:rPr>
                              <m:t>−</m:t>
                            </m:r>
                            <m:r>
                              <a:rPr lang="en-US" altLang="zh-CN" sz="1400" i="1">
                                <a:solidFill>
                                  <a:srgbClr val="000000"/>
                                </a:solidFill>
                                <a:effectLst/>
                                <a:latin typeface="Cambria Math" panose="02040503050406030204" pitchFamily="18" charset="0"/>
                                <a:cs typeface="Calibri" panose="020F0502020204030204" pitchFamily="34" charset="0"/>
                              </a:rPr>
                              <m:t>𝑝</m:t>
                            </m:r>
                            <m:r>
                              <m:rPr>
                                <m:nor/>
                              </m:rPr>
                              <a:rPr lang="en-US" altLang="zh-CN" sz="1400">
                                <a:solidFill>
                                  <a:srgbClr val="000000"/>
                                </a:solidFill>
                                <a:effectLst/>
                                <a:latin typeface="Calibri" panose="020F0502020204030204" pitchFamily="34" charset="0"/>
                                <a:cs typeface="Times New Roman" panose="02020603050405020304" pitchFamily="18" charset="0"/>
                              </a:rPr>
                              <m:t>)</m:t>
                            </m:r>
                          </m:num>
                          <m:den>
                            <m:r>
                              <a:rPr lang="en-US" altLang="zh-CN" sz="1400" i="1">
                                <a:solidFill>
                                  <a:srgbClr val="000000"/>
                                </a:solidFill>
                                <a:effectLst/>
                                <a:latin typeface="Cambria Math" panose="02040503050406030204" pitchFamily="18" charset="0"/>
                                <a:cs typeface="Calibri" panose="020F0502020204030204" pitchFamily="34" charset="0"/>
                              </a:rPr>
                              <m:t>𝑛</m:t>
                            </m:r>
                          </m:den>
                        </m:f>
                      </m:e>
                    </m:rad>
                  </m:oMath>
                </a14:m>
                <a:endParaRPr lang="en-US" altLang="zh-CN" sz="1400" dirty="0">
                  <a:solidFill>
                    <a:srgbClr val="000000"/>
                  </a:solidFill>
                  <a:effectLst/>
                  <a:latin typeface="Calibri" panose="020F0502020204030204" pitchFamily="34" charset="0"/>
                  <a:cs typeface="Calibri" panose="020F0502020204030204" pitchFamily="34" charset="0"/>
                </a:endParaRPr>
              </a:p>
              <a:p>
                <a:pPr indent="0" algn="just">
                  <a:lnSpc>
                    <a:spcPct val="120000"/>
                  </a:lnSpc>
                  <a:buNone/>
                </a:pPr>
                <a:r>
                  <a:rPr lang="zh-CN" altLang="zh-CN" sz="1400" dirty="0">
                    <a:effectLst/>
                    <a:latin typeface="Calibri" panose="020F0502020204030204" pitchFamily="34" charset="0"/>
                    <a:cs typeface="Calibri" panose="020F0502020204030204" pitchFamily="34" charset="0"/>
                  </a:rPr>
                  <a:t>式中</a:t>
                </a:r>
                <a:r>
                  <a:rPr lang="en-US" altLang="zh-CN" sz="1400" dirty="0">
                    <a:effectLst/>
                    <a:latin typeface="Calibri" panose="020F0502020204030204" pitchFamily="34" charset="0"/>
                  </a:rPr>
                  <a:t>,</a:t>
                </a:r>
                <a:r>
                  <a:rPr lang="en-US" altLang="zh-CN" sz="1400" i="1" dirty="0">
                    <a:effectLst/>
                    <a:latin typeface="Calibri" panose="020F0502020204030204" pitchFamily="34" charset="0"/>
                  </a:rPr>
                  <a:t>α</a:t>
                </a:r>
                <a:r>
                  <a:rPr lang="zh-CN" altLang="zh-CN" sz="1400" dirty="0">
                    <a:effectLst/>
                    <a:latin typeface="Calibri" panose="020F0502020204030204" pitchFamily="34" charset="0"/>
                    <a:cs typeface="Calibri" panose="020F0502020204030204" pitchFamily="34" charset="0"/>
                  </a:rPr>
                  <a:t>是显著性水平</a:t>
                </a:r>
                <a:r>
                  <a:rPr lang="en-US" altLang="zh-CN" sz="1400" dirty="0">
                    <a:effectLst/>
                    <a:latin typeface="Calibri" panose="020F0502020204030204" pitchFamily="34" charset="0"/>
                  </a:rPr>
                  <a:t>;</a:t>
                </a:r>
                <a:r>
                  <a:rPr lang="en-US" altLang="zh-CN" sz="1400" i="1" dirty="0">
                    <a:effectLst/>
                    <a:latin typeface="Calibri" panose="020F0502020204030204" pitchFamily="34" charset="0"/>
                  </a:rPr>
                  <a:t>z</a:t>
                </a:r>
                <a:r>
                  <a:rPr lang="en-US" altLang="zh-CN" sz="1400" i="1" baseline="-25000" dirty="0">
                    <a:effectLst/>
                    <a:latin typeface="Calibri" panose="020F0502020204030204" pitchFamily="34" charset="0"/>
                  </a:rPr>
                  <a:t>α/</a:t>
                </a:r>
                <a:r>
                  <a:rPr lang="en-US" altLang="zh-CN" sz="1400" baseline="-25000" dirty="0">
                    <a:effectLst/>
                    <a:latin typeface="Calibri" panose="020F0502020204030204" pitchFamily="34" charset="0"/>
                  </a:rPr>
                  <a:t>2</a:t>
                </a:r>
                <a:r>
                  <a:rPr lang="zh-CN" altLang="zh-CN" sz="1400" dirty="0">
                    <a:effectLst/>
                    <a:latin typeface="Calibri" panose="020F0502020204030204" pitchFamily="34" charset="0"/>
                    <a:cs typeface="Calibri" panose="020F0502020204030204" pitchFamily="34" charset="0"/>
                  </a:rPr>
                  <a:t>是标准正态分布右侧面积为</a:t>
                </a:r>
                <a:r>
                  <a:rPr lang="en-US" altLang="zh-CN" sz="1400" i="1" dirty="0">
                    <a:effectLst/>
                    <a:latin typeface="Calibri" panose="020F0502020204030204" pitchFamily="34" charset="0"/>
                  </a:rPr>
                  <a:t>α</a:t>
                </a:r>
                <a:r>
                  <a:rPr lang="en-US" altLang="zh-CN" sz="1400" dirty="0">
                    <a:effectLst/>
                    <a:latin typeface="Calibri" panose="020F0502020204030204" pitchFamily="34" charset="0"/>
                  </a:rPr>
                  <a:t>/2</a:t>
                </a:r>
                <a:r>
                  <a:rPr lang="zh-CN" altLang="zh-CN" sz="1400" dirty="0">
                    <a:effectLst/>
                    <a:latin typeface="Calibri" panose="020F0502020204030204" pitchFamily="34" charset="0"/>
                    <a:cs typeface="Calibri" panose="020F0502020204030204" pitchFamily="34" charset="0"/>
                  </a:rPr>
                  <a:t>时的</a:t>
                </a:r>
                <a:r>
                  <a:rPr lang="en-US" altLang="zh-CN" sz="1400" i="1" dirty="0">
                    <a:effectLst/>
                    <a:latin typeface="Calibri" panose="020F0502020204030204" pitchFamily="34" charset="0"/>
                  </a:rPr>
                  <a:t>z</a:t>
                </a:r>
                <a:r>
                  <a:rPr lang="zh-CN" altLang="zh-CN" sz="1400" dirty="0">
                    <a:effectLst/>
                    <a:latin typeface="Calibri" panose="020F0502020204030204" pitchFamily="34" charset="0"/>
                    <a:cs typeface="Calibri" panose="020F0502020204030204" pitchFamily="34" charset="0"/>
                  </a:rPr>
                  <a:t>值</a:t>
                </a:r>
                <a:r>
                  <a:rPr lang="en-US" altLang="zh-CN" sz="1400" dirty="0">
                    <a:effectLst/>
                    <a:latin typeface="Calibri" panose="020F0502020204030204" pitchFamily="34" charset="0"/>
                  </a:rPr>
                  <a:t>;</a:t>
                </a:r>
                <a:r>
                  <a:rPr lang="en-US" altLang="zh-CN" sz="1400" i="1" dirty="0">
                    <a:effectLst/>
                    <a:latin typeface="Calibri" panose="020F0502020204030204" pitchFamily="34" charset="0"/>
                  </a:rPr>
                  <a:t>z</a:t>
                </a:r>
                <a:r>
                  <a:rPr lang="en-US" altLang="zh-CN" sz="1400" i="1" baseline="-25000" dirty="0">
                    <a:effectLst/>
                    <a:latin typeface="Calibri" panose="020F0502020204030204" pitchFamily="34" charset="0"/>
                  </a:rPr>
                  <a:t>α/</a:t>
                </a:r>
                <a:r>
                  <a:rPr lang="en-US" altLang="zh-CN" sz="1400" baseline="-25000" dirty="0">
                    <a:effectLst/>
                    <a:latin typeface="Calibri" panose="020F0502020204030204" pitchFamily="34" charset="0"/>
                  </a:rPr>
                  <a:t>2</a:t>
                </a:r>
                <a14:m>
                  <m:oMath xmlns:m="http://schemas.openxmlformats.org/officeDocument/2006/math">
                    <m:rad>
                      <m:radPr>
                        <m:degHide m:val="on"/>
                        <m:ctrlPr>
                          <a:rPr lang="zh-CN" altLang="zh-CN" sz="1400" i="1">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400" i="1">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400" i="1">
                                <a:effectLst/>
                                <a:latin typeface="Cambria Math" panose="02040503050406030204" pitchFamily="18" charset="0"/>
                                <a:cs typeface="Calibri" panose="020F0502020204030204" pitchFamily="34" charset="0"/>
                              </a:rPr>
                              <m:t>𝑝</m:t>
                            </m:r>
                            <m:r>
                              <m:rPr>
                                <m:nor/>
                              </m:rPr>
                              <a:rPr lang="en-US" altLang="zh-CN" sz="1400">
                                <a:effectLst/>
                                <a:latin typeface="Calibri" panose="020F0502020204030204" pitchFamily="34" charset="0"/>
                              </a:rPr>
                              <m:t>(</m:t>
                            </m:r>
                            <m:r>
                              <a:rPr lang="en-US" altLang="zh-CN" sz="1400">
                                <a:effectLst/>
                                <a:latin typeface="Cambria Math" panose="02040503050406030204" pitchFamily="18" charset="0"/>
                                <a:cs typeface="Calibri" panose="020F0502020204030204" pitchFamily="34" charset="0"/>
                              </a:rPr>
                              <m:t>1</m:t>
                            </m:r>
                            <m:r>
                              <m:rPr>
                                <m:nor/>
                              </m:rPr>
                              <a:rPr lang="en-US" altLang="zh-CN" sz="1400" i="1">
                                <a:effectLst/>
                                <a:latin typeface="Calibri" panose="020F0502020204030204" pitchFamily="34" charset="0"/>
                              </a:rPr>
                              <m:t>−</m:t>
                            </m:r>
                            <m:r>
                              <a:rPr lang="en-US" altLang="zh-CN" sz="1400" i="1">
                                <a:effectLst/>
                                <a:latin typeface="Cambria Math" panose="02040503050406030204" pitchFamily="18" charset="0"/>
                                <a:cs typeface="Calibri" panose="020F0502020204030204" pitchFamily="34" charset="0"/>
                              </a:rPr>
                              <m:t>𝑝</m:t>
                            </m:r>
                            <m:r>
                              <m:rPr>
                                <m:nor/>
                              </m:rPr>
                              <a:rPr lang="en-US" altLang="zh-CN" sz="1400">
                                <a:effectLst/>
                                <a:latin typeface="Calibri" panose="020F0502020204030204" pitchFamily="34" charset="0"/>
                              </a:rPr>
                              <m:t>)</m:t>
                            </m:r>
                          </m:num>
                          <m:den>
                            <m:r>
                              <a:rPr lang="en-US" altLang="zh-CN" sz="1400" i="1">
                                <a:effectLst/>
                                <a:latin typeface="Cambria Math" panose="02040503050406030204" pitchFamily="18" charset="0"/>
                                <a:cs typeface="Calibri" panose="020F0502020204030204" pitchFamily="34" charset="0"/>
                              </a:rPr>
                              <m:t>𝑛</m:t>
                            </m:r>
                          </m:den>
                        </m:f>
                      </m:e>
                    </m:rad>
                  </m:oMath>
                </a14:m>
                <a:r>
                  <a:rPr lang="zh-CN" altLang="zh-CN" sz="1400" dirty="0">
                    <a:effectLst/>
                    <a:latin typeface="Calibri" panose="020F0502020204030204" pitchFamily="34" charset="0"/>
                    <a:cs typeface="Calibri" panose="020F0502020204030204" pitchFamily="34" charset="0"/>
                  </a:rPr>
                  <a:t>是估计总体比例时的估计误差</a:t>
                </a:r>
                <a:endParaRPr lang="en-US" altLang="zh-CN" sz="1400" dirty="0">
                  <a:latin typeface="Arial" panose="020B0604020202020204" pitchFamily="34" charset="0"/>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5832648" cy="4680520"/>
              </a:xfrm>
              <a:blipFill rotWithShape="1">
                <a:blip r:embed="rId1"/>
                <a:stretch>
                  <a:fillRect l="-112" t="-144" r="-102" b="-970"/>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总体比例的区间估计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Content Placeholder 8"/>
              <p:cNvSpPr txBox="1"/>
              <p:nvPr/>
            </p:nvSpPr>
            <p:spPr>
              <a:xfrm>
                <a:off x="6528048" y="1556792"/>
                <a:ext cx="5112568"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7.4</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某城市想要估计下岗职工中女性所占的比例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随机抽取了</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100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个下岗职工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其中</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人为女职工。试以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的置信水平估计该城市下岗职工中女性比例的置信区间</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=100,</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=1.96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。根据抽样结果计算的样本比例为</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65</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100</m:t>
                        </m:r>
                      </m:den>
                    </m:f>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=65%</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(7.8)</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err="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e>
                    </m:rad>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65</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65</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100</m:t>
                            </m:r>
                          </m:den>
                        </m:f>
                      </m:e>
                    </m:rad>
                  </m:oMath>
                </a14:m>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65%±9.35%=(55.65%,74.35%),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该城市下岗职工中女性比例的</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55.65%~74.35%</a:t>
                </a:r>
                <a:endParaRPr lang="zh-CN" altLang="zh-CN" sz="1800" dirty="0">
                  <a:solidFill>
                    <a:srgbClr val="000000"/>
                  </a:solidFill>
                  <a:effectLst/>
                  <a:latin typeface="NEU-BZ-S92"/>
                  <a:ea typeface="方正书宋_GBK"/>
                  <a:cs typeface="Times New Roman" panose="02020603050405020304" pitchFamily="18" charset="0"/>
                </a:endParaRPr>
              </a:p>
            </p:txBody>
          </p:sp>
        </mc:Choice>
        <mc:Fallback>
          <p:sp>
            <p:nvSpPr>
              <p:cNvPr id="7" name="Content Placeholder 8"/>
              <p:cNvSpPr txBox="1">
                <a:spLocks noRot="1" noChangeAspect="1" noMove="1" noResize="1" noEditPoints="1" noAdjustHandles="1" noChangeArrowheads="1" noChangeShapeType="1" noTextEdit="1"/>
              </p:cNvSpPr>
              <p:nvPr/>
            </p:nvSpPr>
            <p:spPr>
              <a:xfrm>
                <a:off x="6528048" y="1556792"/>
                <a:ext cx="5112568" cy="4680520"/>
              </a:xfrm>
              <a:prstGeom prst="rect">
                <a:avLst/>
              </a:prstGeom>
              <a:blipFill rotWithShape="1">
                <a:blip r:embed="rId2"/>
                <a:stretch>
                  <a:fillRect l="-129" t="-144" r="-116"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一个总体参数的区间估计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5832648" cy="4680520"/>
              </a:xfrm>
              <a:ln w="12700" cmpd="dbl">
                <a:solidFill>
                  <a:schemeClr val="accent1"/>
                </a:solidFill>
              </a:ln>
            </p:spPr>
            <p:txBody>
              <a:bodyPr>
                <a:noAutofit/>
              </a:bodyPr>
              <a:lstStyle/>
              <a:p>
                <a:pPr marL="447675" indent="-447675" algn="just">
                  <a:buClr>
                    <a:srgbClr val="318AAD"/>
                  </a:buClr>
                  <a:buSzPct val="100000"/>
                  <a:buFont typeface="Wingdings" panose="05000000000000000000" pitchFamily="2" charset="2"/>
                  <a:buChar char="l"/>
                  <a:defRPr/>
                </a:pPr>
                <a:r>
                  <a:rPr lang="zh-CN" altLang="zh-CN" sz="1400" dirty="0">
                    <a:latin typeface="Arial" panose="020B0604020202020204" pitchFamily="34" charset="0"/>
                    <a:cs typeface="Arial" panose="020B0604020202020204" pitchFamily="34" charset="0"/>
                  </a:rPr>
                  <a:t>建立总体方差</a:t>
                </a:r>
                <a:r>
                  <a:rPr lang="en-US" altLang="zh-CN" sz="1400" dirty="0">
                    <a:latin typeface="Arial" panose="020B0604020202020204" pitchFamily="34" charset="0"/>
                    <a:cs typeface="Arial" panose="020B0604020202020204" pitchFamily="34" charset="0"/>
                  </a:rPr>
                  <a:t>σ2</a:t>
                </a:r>
                <a:r>
                  <a:rPr lang="zh-CN" altLang="zh-CN" sz="1400" dirty="0">
                    <a:latin typeface="Arial" panose="020B0604020202020204" pitchFamily="34" charset="0"/>
                    <a:cs typeface="Arial" panose="020B0604020202020204" pitchFamily="34" charset="0"/>
                  </a:rPr>
                  <a:t>的置信区间</a:t>
                </a:r>
                <a:r>
                  <a:rPr lang="en-US" altLang="zh-CN" sz="1400" dirty="0">
                    <a:latin typeface="Arial" panose="020B0604020202020204" pitchFamily="34" charset="0"/>
                    <a:cs typeface="Arial" panose="020B0604020202020204" pitchFamily="34" charset="0"/>
                  </a:rPr>
                  <a:t>,</a:t>
                </a:r>
                <a:r>
                  <a:rPr lang="zh-CN" altLang="zh-CN" sz="1400" dirty="0">
                    <a:latin typeface="Arial" panose="020B0604020202020204" pitchFamily="34" charset="0"/>
                    <a:cs typeface="Arial" panose="020B0604020202020204" pitchFamily="34" charset="0"/>
                  </a:rPr>
                  <a:t>也就是要找到一个</a:t>
                </a:r>
                <a:r>
                  <a:rPr lang="en-US" altLang="zh-CN" sz="1400" dirty="0">
                    <a:latin typeface="Arial" panose="020B0604020202020204" pitchFamily="34" charset="0"/>
                    <a:cs typeface="Arial" panose="020B0604020202020204" pitchFamily="34" charset="0"/>
                  </a:rPr>
                  <a:t>χ2</a:t>
                </a:r>
                <a:r>
                  <a:rPr lang="zh-CN" altLang="zh-CN" sz="1400" dirty="0">
                    <a:latin typeface="Arial" panose="020B0604020202020204" pitchFamily="34" charset="0"/>
                    <a:cs typeface="Arial" panose="020B0604020202020204" pitchFamily="34" charset="0"/>
                  </a:rPr>
                  <a:t>值</a:t>
                </a:r>
                <a:r>
                  <a:rPr lang="en-US" altLang="zh-CN" sz="1400" dirty="0">
                    <a:latin typeface="Arial" panose="020B0604020202020204" pitchFamily="34" charset="0"/>
                    <a:cs typeface="Arial" panose="020B0604020202020204" pitchFamily="34" charset="0"/>
                  </a:rPr>
                  <a:t>,</a:t>
                </a:r>
                <a:r>
                  <a:rPr lang="zh-CN" altLang="zh-CN" sz="1400" dirty="0">
                    <a:latin typeface="Arial" panose="020B0604020202020204" pitchFamily="34" charset="0"/>
                    <a:cs typeface="Arial" panose="020B0604020202020204" pitchFamily="34" charset="0"/>
                  </a:rPr>
                  <a:t>使其满足</a:t>
                </a:r>
                <a:endParaRPr lang="zh-CN" altLang="zh-CN" sz="1400" dirty="0">
                  <a:latin typeface="Arial" panose="020B0604020202020204" pitchFamily="34" charset="0"/>
                  <a:cs typeface="Arial" panose="020B0604020202020204" pitchFamily="34" charset="0"/>
                </a:endParaRPr>
              </a:p>
              <a:p>
                <a:pPr indent="0" algn="just">
                  <a:buNone/>
                </a:pPr>
                <a:r>
                  <a:rPr lang="zh-CN" altLang="zh-CN" sz="14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4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χ</a:t>
                </a:r>
                <a:r>
                  <a:rPr lang="en-US" altLang="zh-CN" sz="14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endParaRPr lang="en-US" altLang="zh-CN" sz="14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rgbClr val="318AAD"/>
                  </a:buClr>
                  <a:buSzPct val="100000"/>
                  <a:buFont typeface="Wingdings" panose="05000000000000000000" pitchFamily="2" charset="2"/>
                  <a:buChar char="l"/>
                  <a:defRPr/>
                </a:pPr>
                <a:r>
                  <a:rPr lang="zh-CN" altLang="zh-CN" sz="1400" dirty="0">
                    <a:latin typeface="Arial" panose="020B0604020202020204" pitchFamily="34" charset="0"/>
                    <a:cs typeface="Arial" panose="020B0604020202020204" pitchFamily="34" charset="0"/>
                  </a:rPr>
                  <a:t>由于</a:t>
                </a:r>
                <a14:m>
                  <m:oMath xmlns:m="http://schemas.openxmlformats.org/officeDocument/2006/math">
                    <m:f>
                      <m:fPr>
                        <m:ctrlPr>
                          <a:rPr lang="zh-CN" altLang="zh-CN" sz="1400" i="1">
                            <a:latin typeface="Cambria Math" panose="02040503050406030204" pitchFamily="18" charset="0"/>
                            <a:cs typeface="Arial" panose="020B0604020202020204" pitchFamily="34" charset="0"/>
                          </a:rPr>
                        </m:ctrlPr>
                      </m:fPr>
                      <m:num>
                        <m:r>
                          <m:rPr>
                            <m:nor/>
                          </m:rPr>
                          <a:rPr lang="en-US" altLang="zh-CN" sz="1400">
                            <a:latin typeface="Arial" panose="020B0604020202020204" pitchFamily="34" charset="0"/>
                            <a:cs typeface="Arial" panose="020B0604020202020204" pitchFamily="34" charset="0"/>
                          </a:rPr>
                          <m:t>(</m:t>
                        </m:r>
                        <m:r>
                          <a:rPr lang="en-US" altLang="zh-CN" sz="1400">
                            <a:latin typeface="Cambria Math" panose="02040503050406030204" pitchFamily="18" charset="0"/>
                            <a:cs typeface="Arial" panose="020B0604020202020204" pitchFamily="34" charset="0"/>
                          </a:rPr>
                          <m:t>𝑛</m:t>
                        </m:r>
                        <m:r>
                          <m:rPr>
                            <m:nor/>
                          </m:rPr>
                          <a:rPr lang="en-US" altLang="zh-CN" sz="1400">
                            <a:latin typeface="Arial" panose="020B0604020202020204" pitchFamily="34" charset="0"/>
                            <a:cs typeface="Arial" panose="020B0604020202020204" pitchFamily="34" charset="0"/>
                          </a:rPr>
                          <m:t>−</m:t>
                        </m:r>
                        <m:r>
                          <a:rPr lang="en-US" altLang="zh-CN" sz="1400">
                            <a:latin typeface="Cambria Math" panose="02040503050406030204" pitchFamily="18" charset="0"/>
                            <a:cs typeface="Arial" panose="020B0604020202020204" pitchFamily="34" charset="0"/>
                          </a:rPr>
                          <m:t>1</m:t>
                        </m:r>
                        <m:r>
                          <m:rPr>
                            <m:nor/>
                          </m:rPr>
                          <a:rPr lang="en-US" altLang="zh-CN" sz="1400">
                            <a:latin typeface="Arial" panose="020B0604020202020204" pitchFamily="34" charset="0"/>
                            <a:cs typeface="Arial" panose="020B0604020202020204" pitchFamily="34" charset="0"/>
                          </a:rPr>
                          <m:t>)</m:t>
                        </m:r>
                        <m:sSup>
                          <m:sSupPr>
                            <m:ctrlPr>
                              <a:rPr lang="zh-CN" altLang="zh-CN" sz="1400" i="1">
                                <a:latin typeface="Cambria Math" panose="02040503050406030204" pitchFamily="18" charset="0"/>
                                <a:cs typeface="Arial" panose="020B0604020202020204" pitchFamily="34" charset="0"/>
                              </a:rPr>
                            </m:ctrlPr>
                          </m:sSupPr>
                          <m:e>
                            <m:r>
                              <a:rPr lang="en-US" altLang="zh-CN" sz="1400">
                                <a:latin typeface="Cambria Math" panose="02040503050406030204" pitchFamily="18" charset="0"/>
                                <a:cs typeface="Arial" panose="020B0604020202020204" pitchFamily="34" charset="0"/>
                              </a:rPr>
                              <m:t>𝑠</m:t>
                            </m:r>
                          </m:e>
                          <m:sup>
                            <m:r>
                              <a:rPr lang="en-US" altLang="zh-CN" sz="1400">
                                <a:latin typeface="Cambria Math" panose="02040503050406030204" pitchFamily="18" charset="0"/>
                                <a:cs typeface="Arial" panose="020B0604020202020204" pitchFamily="34" charset="0"/>
                              </a:rPr>
                              <m:t>2</m:t>
                            </m:r>
                          </m:sup>
                        </m:sSup>
                      </m:num>
                      <m:den>
                        <m:sSup>
                          <m:sSupPr>
                            <m:ctrlPr>
                              <a:rPr lang="zh-CN" altLang="zh-CN" sz="1400" i="1">
                                <a:latin typeface="Cambria Math" panose="02040503050406030204" pitchFamily="18" charset="0"/>
                                <a:cs typeface="Arial" panose="020B0604020202020204" pitchFamily="34" charset="0"/>
                              </a:rPr>
                            </m:ctrlPr>
                          </m:sSupPr>
                          <m:e>
                            <m:r>
                              <a:rPr lang="en-US" altLang="zh-CN" sz="1400">
                                <a:latin typeface="Cambria Math" panose="02040503050406030204" pitchFamily="18" charset="0"/>
                                <a:cs typeface="Arial" panose="020B0604020202020204" pitchFamily="34" charset="0"/>
                              </a:rPr>
                              <m:t>𝜎</m:t>
                            </m:r>
                          </m:e>
                          <m:sup>
                            <m:r>
                              <a:rPr lang="en-US" altLang="zh-CN" sz="1400">
                                <a:latin typeface="Cambria Math" panose="02040503050406030204" pitchFamily="18" charset="0"/>
                                <a:cs typeface="Arial" panose="020B0604020202020204" pitchFamily="34" charset="0"/>
                              </a:rPr>
                              <m:t>2</m:t>
                            </m:r>
                          </m:sup>
                        </m:sSup>
                      </m:den>
                    </m:f>
                  </m:oMath>
                </a14:m>
                <a:r>
                  <a:rPr lang="en-US" altLang="zh-CN" sz="1400" dirty="0">
                    <a:latin typeface="Arial" panose="020B0604020202020204" pitchFamily="34" charset="0"/>
                    <a:cs typeface="Arial" panose="020B0604020202020204" pitchFamily="34" charset="0"/>
                  </a:rPr>
                  <a:t>~χ2(n-1),</a:t>
                </a:r>
                <a:r>
                  <a:rPr lang="zh-CN" altLang="zh-CN" sz="1400" dirty="0">
                    <a:latin typeface="Arial" panose="020B0604020202020204" pitchFamily="34" charset="0"/>
                    <a:cs typeface="Arial" panose="020B0604020202020204" pitchFamily="34" charset="0"/>
                  </a:rPr>
                  <a:t>可用它来代替</a:t>
                </a:r>
                <a:r>
                  <a:rPr lang="en-US" altLang="zh-CN" sz="1400" dirty="0">
                    <a:latin typeface="Arial" panose="020B0604020202020204" pitchFamily="34" charset="0"/>
                    <a:cs typeface="Arial" panose="020B0604020202020204" pitchFamily="34" charset="0"/>
                  </a:rPr>
                  <a:t>χ2,</a:t>
                </a:r>
                <a:r>
                  <a:rPr lang="zh-CN" altLang="zh-CN" sz="1400" dirty="0">
                    <a:latin typeface="Arial" panose="020B0604020202020204" pitchFamily="34" charset="0"/>
                    <a:cs typeface="Arial" panose="020B0604020202020204" pitchFamily="34" charset="0"/>
                  </a:rPr>
                  <a:t>于是有</a:t>
                </a:r>
                <a:endParaRPr lang="zh-CN" altLang="zh-CN" sz="1400" dirty="0">
                  <a:latin typeface="Arial" panose="020B0604020202020204" pitchFamily="34" charset="0"/>
                  <a:cs typeface="Arial" panose="020B0604020202020204" pitchFamily="34" charset="0"/>
                </a:endParaRPr>
              </a:p>
              <a:p>
                <a:pPr indent="0" algn="just">
                  <a:buNone/>
                </a:pPr>
                <a:r>
                  <a:rPr lang="zh-CN" altLang="zh-CN" sz="14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p>
                          <m:s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sSup>
                          <m:s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endParaRPr lang="en-US" altLang="zh-CN" sz="14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rgbClr val="318AAD"/>
                  </a:buClr>
                  <a:buSzPct val="100000"/>
                  <a:buFont typeface="Wingdings" panose="05000000000000000000" pitchFamily="2" charset="2"/>
                  <a:buChar char="l"/>
                  <a:defRPr/>
                </a:pPr>
                <a:r>
                  <a:rPr lang="zh-CN" altLang="zh-CN" sz="1400" dirty="0">
                    <a:latin typeface="Arial" panose="020B0604020202020204" pitchFamily="34" charset="0"/>
                    <a:cs typeface="Arial" panose="020B0604020202020204" pitchFamily="34" charset="0"/>
                  </a:rPr>
                  <a:t>根据式</a:t>
                </a:r>
                <a:r>
                  <a:rPr lang="en-US" altLang="zh-CN" sz="1400" dirty="0">
                    <a:latin typeface="Arial" panose="020B0604020202020204" pitchFamily="34" charset="0"/>
                    <a:cs typeface="Arial" panose="020B0604020202020204" pitchFamily="34" charset="0"/>
                  </a:rPr>
                  <a:t>(7.10)</a:t>
                </a:r>
                <a:r>
                  <a:rPr lang="zh-CN" altLang="zh-CN" sz="1400" dirty="0">
                    <a:latin typeface="Arial" panose="020B0604020202020204" pitchFamily="34" charset="0"/>
                    <a:cs typeface="Arial" panose="020B0604020202020204" pitchFamily="34" charset="0"/>
                  </a:rPr>
                  <a:t>可推导出总体方差</a:t>
                </a:r>
                <a:r>
                  <a:rPr lang="en-US" altLang="zh-CN" sz="1400" dirty="0">
                    <a:latin typeface="Arial" panose="020B0604020202020204" pitchFamily="34" charset="0"/>
                    <a:cs typeface="Arial" panose="020B0604020202020204" pitchFamily="34" charset="0"/>
                  </a:rPr>
                  <a:t>σ2</a:t>
                </a:r>
                <a:r>
                  <a:rPr lang="zh-CN" altLang="zh-CN" sz="1400" dirty="0">
                    <a:latin typeface="Arial" panose="020B0604020202020204" pitchFamily="34" charset="0"/>
                    <a:cs typeface="Arial" panose="020B0604020202020204" pitchFamily="34" charset="0"/>
                  </a:rPr>
                  <a:t>在</a:t>
                </a:r>
                <a:r>
                  <a:rPr lang="en-US" altLang="zh-CN" sz="1400" dirty="0">
                    <a:latin typeface="Arial" panose="020B0604020202020204" pitchFamily="34" charset="0"/>
                    <a:cs typeface="Arial" panose="020B0604020202020204" pitchFamily="34" charset="0"/>
                  </a:rPr>
                  <a:t>1-α</a:t>
                </a:r>
                <a:r>
                  <a:rPr lang="zh-CN" altLang="zh-CN" sz="1400" dirty="0">
                    <a:latin typeface="Arial" panose="020B0604020202020204" pitchFamily="34" charset="0"/>
                    <a:cs typeface="Arial" panose="020B0604020202020204" pitchFamily="34" charset="0"/>
                  </a:rPr>
                  <a:t>置信水平下的置信区间为</a:t>
                </a:r>
                <a:r>
                  <a:rPr lang="en-US" altLang="zh-CN" sz="1400" dirty="0">
                    <a:latin typeface="Arial" panose="020B0604020202020204" pitchFamily="34" charset="0"/>
                    <a:cs typeface="Arial" panose="020B0604020202020204" pitchFamily="34" charset="0"/>
                  </a:rPr>
                  <a:t>:</a:t>
                </a:r>
                <a:endParaRPr lang="zh-CN" altLang="zh-CN" sz="1400" dirty="0">
                  <a:latin typeface="Arial" panose="020B0604020202020204" pitchFamily="34" charset="0"/>
                  <a:cs typeface="Arial" panose="020B0604020202020204" pitchFamily="34" charset="0"/>
                </a:endParaRPr>
              </a:p>
              <a:p>
                <a:pPr indent="0" algn="just">
                  <a:buNone/>
                </a:pPr>
                <a:r>
                  <a:rPr lang="zh-CN" altLang="zh-CN" sz="14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p>
                          <m:s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den>
                    </m:f>
                  </m:oMath>
                </a14:m>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4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σ</a:t>
                </a:r>
                <a:r>
                  <a:rPr lang="en-US" altLang="zh-CN" sz="14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4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p>
                          <m:s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sSubSup>
                          <m:sSubSupPr>
                            <m:ctrlPr>
                              <a:rPr lang="zh-CN" altLang="zh-CN" sz="14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4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4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4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den>
                    </m:f>
                  </m:oMath>
                </a14:m>
                <a:endParaRPr lang="en-US" altLang="zh-CN" sz="14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indent="0" algn="just">
                  <a:buNone/>
                </a:pPr>
                <a:endParaRPr lang="zh-CN" altLang="zh-CN" sz="1400" dirty="0">
                  <a:solidFill>
                    <a:srgbClr val="000000"/>
                  </a:solidFill>
                  <a:effectLst/>
                  <a:latin typeface="NEU-BZ-S92"/>
                  <a:ea typeface="方正书宋_GBK"/>
                  <a:cs typeface="Times New Roman" panose="02020603050405020304" pitchFamily="18"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5832648" cy="4680520"/>
              </a:xfrm>
              <a:blipFill rotWithShape="1">
                <a:blip r:embed="rId1"/>
                <a:stretch>
                  <a:fillRect l="-112" t="-144" r="-102"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总体方差的区间估计</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Content Placeholder 8"/>
              <p:cNvSpPr txBox="1"/>
              <p:nvPr/>
            </p:nvSpPr>
            <p:spPr>
              <a:xfrm>
                <a:off x="6528048" y="1556792"/>
                <a:ext cx="5112568" cy="4680520"/>
              </a:xfrm>
              <a:prstGeom prst="rect">
                <a:avLst/>
              </a:prstGeom>
              <a:ln w="12700" cmpd="dbl">
                <a:solidFill>
                  <a:schemeClr val="accent1"/>
                </a:solidFill>
              </a:ln>
            </p:spPr>
            <p:txBody>
              <a:bodyPr vert="horz">
                <a:normAutofit lnSpcReduction="10000"/>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7.4</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的数据</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的置信水平建立食品总体重量标准差的置信区间。</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根据样本数据计算的样本方差为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s</a:t>
                </a:r>
                <a:r>
                  <a:rPr lang="en-US" altLang="zh-CN" sz="18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237</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02</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93</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21</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根据显著性水平</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=0.05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和自由度</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χ</a:t>
                </a:r>
                <a:r>
                  <a:rPr lang="en-US" altLang="zh-CN" sz="18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分布表得</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Sup>
                      <m:sSub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025</m:t>
                        </m:r>
                      </m:sub>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39</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364 1</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Sup>
                      <m:sSub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𝜒</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975</m:t>
                        </m:r>
                      </m:sub>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12</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401 1</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所以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总体方差</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σ</a:t>
                </a:r>
                <a:r>
                  <a:rPr lang="en-US" altLang="zh-CN" sz="18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93</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21</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39</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364</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oMath>
                </a14:m>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σ</a:t>
                </a:r>
                <a:r>
                  <a:rPr lang="en-US" altLang="zh-CN" sz="1800" baseline="30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93</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21</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401</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oMath>
                </a14:m>
                <a:endParaRPr lang="zh-CN" altLang="zh-CN" sz="18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effectLst/>
                    <a:latin typeface="Calibri" panose="020F0502020204030204" pitchFamily="34" charset="0"/>
                    <a:ea typeface="华文细黑" panose="02010600040101010101" pitchFamily="2" charset="-122"/>
                  </a:rPr>
                  <a:t>56.83≤</a:t>
                </a:r>
                <a:r>
                  <a:rPr lang="en-US" altLang="zh-CN" sz="1800" i="1" dirty="0">
                    <a:effectLst/>
                    <a:latin typeface="Calibri" panose="020F0502020204030204" pitchFamily="34" charset="0"/>
                    <a:ea typeface="华文细黑" panose="02010600040101010101" pitchFamily="2" charset="-122"/>
                  </a:rPr>
                  <a:t>σ</a:t>
                </a:r>
                <a:r>
                  <a:rPr lang="en-US" altLang="zh-CN" sz="1800" baseline="30000" dirty="0">
                    <a:effectLst/>
                    <a:latin typeface="Calibri" panose="020F0502020204030204" pitchFamily="34" charset="0"/>
                    <a:ea typeface="华文细黑" panose="02010600040101010101" pitchFamily="2" charset="-122"/>
                  </a:rPr>
                  <a:t>2</a:t>
                </a:r>
                <a:r>
                  <a:rPr lang="en-US" altLang="zh-CN" sz="1800" dirty="0">
                    <a:effectLst/>
                    <a:latin typeface="Calibri" panose="020F0502020204030204" pitchFamily="34" charset="0"/>
                    <a:ea typeface="华文细黑" panose="02010600040101010101" pitchFamily="2" charset="-122"/>
                  </a:rPr>
                  <a:t>≤180.39</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。相应地</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总体标准差的置信区间则为</a:t>
                </a:r>
                <a:r>
                  <a:rPr lang="en-US" altLang="zh-CN" sz="1800" dirty="0">
                    <a:effectLst/>
                    <a:latin typeface="Calibri" panose="020F0502020204030204" pitchFamily="34" charset="0"/>
                    <a:ea typeface="华文细黑" panose="02010600040101010101" pitchFamily="2" charset="-122"/>
                  </a:rPr>
                  <a:t>7.54≤</a:t>
                </a:r>
                <a:r>
                  <a:rPr lang="en-US" altLang="zh-CN" sz="1800" i="1" dirty="0">
                    <a:effectLst/>
                    <a:latin typeface="Calibri" panose="020F0502020204030204" pitchFamily="34" charset="0"/>
                    <a:ea typeface="华文细黑" panose="02010600040101010101" pitchFamily="2" charset="-122"/>
                  </a:rPr>
                  <a:t>σ</a:t>
                </a:r>
                <a:r>
                  <a:rPr lang="en-US" altLang="zh-CN" sz="1800" dirty="0">
                    <a:effectLst/>
                    <a:latin typeface="Calibri" panose="020F0502020204030204" pitchFamily="34" charset="0"/>
                    <a:ea typeface="华文细黑" panose="02010600040101010101" pitchFamily="2" charset="-122"/>
                  </a:rPr>
                  <a:t>≤13.43</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。该企业生产的食品总体重量标准差的</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effectLst/>
                    <a:latin typeface="Calibri" panose="020F0502020204030204" pitchFamily="34" charset="0"/>
                    <a:ea typeface="华文细黑" panose="02010600040101010101" pitchFamily="2" charset="-122"/>
                  </a:rPr>
                  <a:t>7.54~13.43</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克</a:t>
                </a:r>
                <a:endParaRPr lang="zh-CN" altLang="zh-CN" sz="1800" dirty="0">
                  <a:solidFill>
                    <a:srgbClr val="000000"/>
                  </a:solidFill>
                  <a:effectLst/>
                  <a:latin typeface="NEU-BZ-S92"/>
                  <a:ea typeface="方正书宋_GBK"/>
                  <a:cs typeface="Times New Roman" panose="02020603050405020304" pitchFamily="18" charset="0"/>
                </a:endParaRPr>
              </a:p>
            </p:txBody>
          </p:sp>
        </mc:Choice>
        <mc:Fallback>
          <p:sp>
            <p:nvSpPr>
              <p:cNvPr id="7" name="Content Placeholder 8"/>
              <p:cNvSpPr txBox="1">
                <a:spLocks noRot="1" noChangeAspect="1" noMove="1" noResize="1" noEditPoints="1" noAdjustHandles="1" noChangeArrowheads="1" noChangeShapeType="1" noTextEdit="1"/>
              </p:cNvSpPr>
              <p:nvPr/>
            </p:nvSpPr>
            <p:spPr>
              <a:xfrm>
                <a:off x="6528048" y="1556792"/>
                <a:ext cx="5112568" cy="4680520"/>
              </a:xfrm>
              <a:prstGeom prst="rect">
                <a:avLst/>
              </a:prstGeom>
              <a:blipFill rotWithShape="1">
                <a:blip r:embed="rId2"/>
                <a:stretch>
                  <a:fillRect l="-129" t="-144" r="-116" b="-128"/>
                </a:stretch>
              </a:blipFill>
              <a:ln w="12700" cmpd="dbl">
                <a:solidFill>
                  <a:schemeClr val="accent1"/>
                </a:solidFill>
              </a:ln>
            </p:spPr>
            <p:txBody>
              <a:bodyPr/>
              <a:lstStyle/>
              <a:p>
                <a:r>
                  <a:rPr lang="zh-CN" altLang="en-US">
                    <a:noFill/>
                  </a:rPr>
                  <a:t> </a:t>
                </a:r>
              </a:p>
            </p:txBody>
          </p:sp>
        </mc:Fallback>
      </mc:AlternateContent>
      <p:pic>
        <p:nvPicPr>
          <p:cNvPr id="6" name="TJ78.EPS" descr="id:2147508383;FounderCES"/>
          <p:cNvPicPr/>
          <p:nvPr/>
        </p:nvPicPr>
        <p:blipFill>
          <a:blip r:embed="rId3"/>
          <a:stretch>
            <a:fillRect/>
          </a:stretch>
        </p:blipFill>
        <p:spPr>
          <a:xfrm>
            <a:off x="1199456" y="4077072"/>
            <a:ext cx="4824536" cy="2017003"/>
          </a:xfrm>
          <a:prstGeom prst="rect">
            <a:avLst/>
          </a:prstGeom>
          <a:ln>
            <a:solidFill>
              <a:schemeClr val="accent1"/>
            </a:solidFill>
          </a:ln>
        </p:spPr>
      </p:pic>
    </p:spTree>
    <p:custDataLst>
      <p:tags r:id="rId4"/>
    </p:custData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10945216" cy="4680520"/>
              </a:xfrm>
              <a:ln w="12700" cmpd="dbl">
                <a:solidFill>
                  <a:schemeClr val="accent1"/>
                </a:solidFill>
              </a:ln>
            </p:spPr>
            <p:txBody>
              <a:bodyPr>
                <a:noAutofit/>
              </a:bodyPr>
              <a:lstStyle/>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独立样本</a:t>
                </a:r>
                <a:r>
                  <a:rPr lang="en-US" altLang="zh-CN" sz="1500" dirty="0">
                    <a:latin typeface="Arial" panose="020B0604020202020204" pitchFamily="34" charset="0"/>
                    <a:cs typeface="Arial" panose="020B0604020202020204" pitchFamily="34" charset="0"/>
                  </a:rPr>
                  <a:t>(independent sample)——</a:t>
                </a:r>
                <a:r>
                  <a:rPr lang="zh-CN" altLang="zh-CN" sz="1500" dirty="0">
                    <a:latin typeface="Arial" panose="020B0604020202020204" pitchFamily="34" charset="0"/>
                    <a:cs typeface="Arial" panose="020B0604020202020204" pitchFamily="34" charset="0"/>
                  </a:rPr>
                  <a:t>如果两个样本是从两个总体中独立抽取的</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即一个样本中的元素与另一个样本中的元素相互独立</a:t>
                </a:r>
                <a:endParaRPr lang="en-US" altLang="zh-CN" sz="1500" dirty="0">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如果两个总体都为正态分布</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或两个总体不服从正态分布但两个样本都为大样本</a:t>
                </a:r>
                <a:r>
                  <a:rPr lang="en-US" altLang="zh-CN" sz="1500" dirty="0">
                    <a:latin typeface="Arial" panose="020B0604020202020204" pitchFamily="34" charset="0"/>
                    <a:cs typeface="Arial" panose="020B0604020202020204" pitchFamily="34" charset="0"/>
                  </a:rPr>
                  <a:t>(n1≥30</a:t>
                </a:r>
                <a:r>
                  <a:rPr lang="zh-CN" altLang="zh-CN" sz="1500" dirty="0">
                    <a:latin typeface="Arial" panose="020B0604020202020204" pitchFamily="34" charset="0"/>
                    <a:cs typeface="Arial" panose="020B0604020202020204" pitchFamily="34" charset="0"/>
                  </a:rPr>
                  <a:t>和</a:t>
                </a:r>
                <a:r>
                  <a:rPr lang="en-US" altLang="zh-CN" sz="1500" dirty="0">
                    <a:latin typeface="Arial" panose="020B0604020202020204" pitchFamily="34" charset="0"/>
                    <a:cs typeface="Arial" panose="020B0604020202020204" pitchFamily="34" charset="0"/>
                  </a:rPr>
                  <a:t>n2≥30),</a:t>
                </a:r>
                <a:r>
                  <a:rPr lang="zh-CN" altLang="zh-CN" sz="1500" dirty="0">
                    <a:latin typeface="Arial" panose="020B0604020202020204" pitchFamily="34" charset="0"/>
                    <a:cs typeface="Arial" panose="020B0604020202020204" pitchFamily="34" charset="0"/>
                  </a:rPr>
                  <a:t>根据抽样分布的知识可知</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两个样本均值之差</a:t>
                </a:r>
                <a14:m>
                  <m:oMath xmlns:m="http://schemas.openxmlformats.org/officeDocument/2006/math">
                    <m:sSub>
                      <m:sSubPr>
                        <m:ctrlPr>
                          <a:rPr lang="zh-CN" altLang="zh-CN" sz="1500" i="1">
                            <a:latin typeface="Cambria Math" panose="02040503050406030204" pitchFamily="18" charset="0"/>
                            <a:cs typeface="Arial" panose="020B0604020202020204" pitchFamily="34" charset="0"/>
                          </a:rPr>
                        </m:ctrlPr>
                      </m:sSubPr>
                      <m:e>
                        <m:acc>
                          <m:accPr>
                            <m:chr m:val="̅"/>
                            <m:ctrlPr>
                              <a:rPr lang="zh-CN" altLang="zh-CN" sz="1500" i="1">
                                <a:latin typeface="Cambria Math" panose="02040503050406030204" pitchFamily="18" charset="0"/>
                                <a:cs typeface="Arial" panose="020B0604020202020204" pitchFamily="34" charset="0"/>
                              </a:rPr>
                            </m:ctrlPr>
                          </m:accPr>
                          <m:e>
                            <m:r>
                              <m:rPr>
                                <m:sty m:val="p"/>
                              </m:rPr>
                              <a:rPr lang="en-US" altLang="zh-CN" sz="1500" b="0">
                                <a:latin typeface="Cambria Math" panose="02040503050406030204" pitchFamily="18" charset="0"/>
                                <a:cs typeface="Arial" panose="020B0604020202020204" pitchFamily="34" charset="0"/>
                              </a:rPr>
                              <m:t>x</m:t>
                            </m:r>
                          </m:e>
                        </m:acc>
                      </m:e>
                      <m:sub>
                        <m:r>
                          <a:rPr lang="en-US" altLang="zh-CN" sz="1500" b="0">
                            <a:latin typeface="Cambria Math" panose="02040503050406030204" pitchFamily="18" charset="0"/>
                            <a:cs typeface="Arial" panose="020B0604020202020204" pitchFamily="34" charset="0"/>
                          </a:rPr>
                          <m:t>1</m:t>
                        </m:r>
                      </m:sub>
                    </m:sSub>
                  </m:oMath>
                </a14:m>
                <a:r>
                  <a:rPr lang="en-US" altLang="zh-CN" sz="1500" dirty="0">
                    <a:latin typeface="Arial" panose="020B0604020202020204" pitchFamily="34" charset="0"/>
                    <a:cs typeface="Arial" panose="020B0604020202020204" pitchFamily="34" charset="0"/>
                  </a:rPr>
                  <a:t>-</a:t>
                </a:r>
                <a14:m>
                  <m:oMath xmlns:m="http://schemas.openxmlformats.org/officeDocument/2006/math">
                    <m:sSub>
                      <m:sSubPr>
                        <m:ctrlPr>
                          <a:rPr lang="zh-CN" altLang="zh-CN" sz="1500" i="1">
                            <a:latin typeface="Cambria Math" panose="02040503050406030204" pitchFamily="18" charset="0"/>
                            <a:cs typeface="Arial" panose="020B0604020202020204" pitchFamily="34" charset="0"/>
                          </a:rPr>
                        </m:ctrlPr>
                      </m:sSubPr>
                      <m:e>
                        <m:acc>
                          <m:accPr>
                            <m:chr m:val="̅"/>
                            <m:ctrlPr>
                              <a:rPr lang="zh-CN" altLang="zh-CN" sz="1500" i="1">
                                <a:latin typeface="Cambria Math" panose="02040503050406030204" pitchFamily="18" charset="0"/>
                                <a:cs typeface="Arial" panose="020B0604020202020204" pitchFamily="34" charset="0"/>
                              </a:rPr>
                            </m:ctrlPr>
                          </m:accPr>
                          <m:e>
                            <m:r>
                              <m:rPr>
                                <m:sty m:val="p"/>
                              </m:rPr>
                              <a:rPr lang="en-US" altLang="zh-CN" sz="1500" b="0">
                                <a:latin typeface="Cambria Math" panose="02040503050406030204" pitchFamily="18" charset="0"/>
                                <a:cs typeface="Arial" panose="020B0604020202020204" pitchFamily="34" charset="0"/>
                              </a:rPr>
                              <m:t>x</m:t>
                            </m:r>
                          </m:e>
                        </m:acc>
                      </m:e>
                      <m:sub>
                        <m:r>
                          <a:rPr lang="en-US" altLang="zh-CN" sz="1500" b="0">
                            <a:latin typeface="Cambria Math" panose="02040503050406030204" pitchFamily="18" charset="0"/>
                            <a:cs typeface="Arial" panose="020B0604020202020204" pitchFamily="34" charset="0"/>
                          </a:rPr>
                          <m:t>2</m:t>
                        </m:r>
                      </m:sub>
                    </m:sSub>
                  </m:oMath>
                </a14:m>
                <a:r>
                  <a:rPr lang="zh-CN" altLang="zh-CN" sz="1500" dirty="0">
                    <a:latin typeface="Arial" panose="020B0604020202020204" pitchFamily="34" charset="0"/>
                    <a:cs typeface="Arial" panose="020B0604020202020204" pitchFamily="34" charset="0"/>
                  </a:rPr>
                  <a:t>的抽样分布服从期望值为</a:t>
                </a:r>
                <a:r>
                  <a:rPr lang="en-US" altLang="zh-CN" sz="1500" dirty="0">
                    <a:latin typeface="Arial" panose="020B0604020202020204" pitchFamily="34" charset="0"/>
                    <a:cs typeface="Arial" panose="020B0604020202020204" pitchFamily="34" charset="0"/>
                  </a:rPr>
                  <a:t>(μ1-μ2)</a:t>
                </a:r>
                <a:r>
                  <a:rPr lang="zh-CN" altLang="zh-CN" sz="1500" dirty="0">
                    <a:latin typeface="Arial" panose="020B0604020202020204" pitchFamily="34" charset="0"/>
                    <a:cs typeface="Arial" panose="020B0604020202020204" pitchFamily="34" charset="0"/>
                  </a:rPr>
                  <a:t>、方差为</a:t>
                </a:r>
                <a14:m>
                  <m:oMath xmlns:m="http://schemas.openxmlformats.org/officeDocument/2006/math">
                    <m:d>
                      <m:dPr>
                        <m:ctrlPr>
                          <a:rPr lang="zh-CN" altLang="zh-CN" sz="1500" i="1">
                            <a:latin typeface="Cambria Math" panose="02040503050406030204" pitchFamily="18" charset="0"/>
                            <a:cs typeface="Arial" panose="020B0604020202020204" pitchFamily="34" charset="0"/>
                          </a:rPr>
                        </m:ctrlPr>
                      </m:dPr>
                      <m:e>
                        <m:f>
                          <m:fPr>
                            <m:ctrlPr>
                              <a:rPr lang="zh-CN" altLang="zh-CN" sz="1500" i="1">
                                <a:latin typeface="Cambria Math" panose="02040503050406030204" pitchFamily="18" charset="0"/>
                                <a:cs typeface="Arial" panose="020B0604020202020204" pitchFamily="34" charset="0"/>
                              </a:rPr>
                            </m:ctrlPr>
                          </m:fPr>
                          <m:num>
                            <m:sSubSup>
                              <m:sSubSupPr>
                                <m:ctrlPr>
                                  <a:rPr lang="zh-CN" altLang="zh-CN" sz="1500" i="1">
                                    <a:latin typeface="Cambria Math" panose="02040503050406030204" pitchFamily="18" charset="0"/>
                                    <a:cs typeface="Arial" panose="020B0604020202020204" pitchFamily="34" charset="0"/>
                                  </a:rPr>
                                </m:ctrlPr>
                              </m:sSubSupPr>
                              <m:e>
                                <m:r>
                                  <m:rPr>
                                    <m:sty m:val="p"/>
                                  </m:rPr>
                                  <a:rPr lang="en-US" altLang="zh-CN" sz="1500" b="0" i="1">
                                    <a:latin typeface="Cambria Math" panose="02040503050406030204" pitchFamily="18" charset="0"/>
                                    <a:cs typeface="Arial" panose="020B0604020202020204" pitchFamily="34" charset="0"/>
                                  </a:rPr>
                                  <m:t>σ</m:t>
                                </m:r>
                              </m:e>
                              <m:sub>
                                <m:r>
                                  <a:rPr lang="en-US" altLang="zh-CN" sz="1500" b="0">
                                    <a:latin typeface="Cambria Math" panose="02040503050406030204" pitchFamily="18" charset="0"/>
                                    <a:cs typeface="Arial" panose="020B0604020202020204" pitchFamily="34" charset="0"/>
                                  </a:rPr>
                                  <m:t>1</m:t>
                                </m:r>
                              </m:sub>
                              <m:sup>
                                <m:r>
                                  <a:rPr lang="en-US" altLang="zh-CN" sz="1500" b="0">
                                    <a:latin typeface="Cambria Math" panose="02040503050406030204" pitchFamily="18" charset="0"/>
                                    <a:cs typeface="Arial" panose="020B0604020202020204" pitchFamily="34" charset="0"/>
                                  </a:rPr>
                                  <m:t>2</m:t>
                                </m:r>
                              </m:sup>
                            </m:sSubSup>
                          </m:num>
                          <m:den>
                            <m:sSub>
                              <m:sSubPr>
                                <m:ctrlPr>
                                  <a:rPr lang="zh-CN" altLang="zh-CN" sz="1500" i="1">
                                    <a:latin typeface="Cambria Math" panose="02040503050406030204" pitchFamily="18" charset="0"/>
                                    <a:cs typeface="Arial" panose="020B0604020202020204" pitchFamily="34" charset="0"/>
                                  </a:rPr>
                                </m:ctrlPr>
                              </m:sSubPr>
                              <m:e>
                                <m:r>
                                  <m:rPr>
                                    <m:sty m:val="p"/>
                                  </m:rPr>
                                  <a:rPr lang="en-US" altLang="zh-CN" sz="1500" b="0" i="1">
                                    <a:latin typeface="Cambria Math" panose="02040503050406030204" pitchFamily="18" charset="0"/>
                                    <a:cs typeface="Arial" panose="020B0604020202020204" pitchFamily="34" charset="0"/>
                                  </a:rPr>
                                  <m:t>n</m:t>
                                </m:r>
                              </m:e>
                              <m:sub>
                                <m:r>
                                  <a:rPr lang="en-US" altLang="zh-CN" sz="1500" b="0">
                                    <a:latin typeface="Cambria Math" panose="02040503050406030204" pitchFamily="18" charset="0"/>
                                    <a:cs typeface="Arial" panose="020B0604020202020204" pitchFamily="34" charset="0"/>
                                  </a:rPr>
                                  <m:t>1</m:t>
                                </m:r>
                              </m:sub>
                            </m:sSub>
                          </m:den>
                        </m:f>
                        <m:r>
                          <a:rPr lang="en-US" altLang="zh-CN" sz="1500" b="0">
                            <a:latin typeface="Cambria Math" panose="02040503050406030204" pitchFamily="18" charset="0"/>
                            <a:cs typeface="Arial" panose="020B0604020202020204" pitchFamily="34" charset="0"/>
                          </a:rPr>
                          <m:t>+</m:t>
                        </m:r>
                        <m:f>
                          <m:fPr>
                            <m:ctrlPr>
                              <a:rPr lang="zh-CN" altLang="zh-CN" sz="1500" i="1">
                                <a:latin typeface="Cambria Math" panose="02040503050406030204" pitchFamily="18" charset="0"/>
                                <a:cs typeface="Arial" panose="020B0604020202020204" pitchFamily="34" charset="0"/>
                              </a:rPr>
                            </m:ctrlPr>
                          </m:fPr>
                          <m:num>
                            <m:sSubSup>
                              <m:sSubSupPr>
                                <m:ctrlPr>
                                  <a:rPr lang="zh-CN" altLang="zh-CN" sz="1500" i="1">
                                    <a:latin typeface="Cambria Math" panose="02040503050406030204" pitchFamily="18" charset="0"/>
                                    <a:cs typeface="Arial" panose="020B0604020202020204" pitchFamily="34" charset="0"/>
                                  </a:rPr>
                                </m:ctrlPr>
                              </m:sSubSupPr>
                              <m:e>
                                <m:r>
                                  <m:rPr>
                                    <m:sty m:val="p"/>
                                  </m:rPr>
                                  <a:rPr lang="en-US" altLang="zh-CN" sz="1500" b="0" i="1">
                                    <a:latin typeface="Cambria Math" panose="02040503050406030204" pitchFamily="18" charset="0"/>
                                    <a:cs typeface="Arial" panose="020B0604020202020204" pitchFamily="34" charset="0"/>
                                  </a:rPr>
                                  <m:t>σ</m:t>
                                </m:r>
                              </m:e>
                              <m:sub>
                                <m:r>
                                  <a:rPr lang="en-US" altLang="zh-CN" sz="1500" b="0">
                                    <a:latin typeface="Cambria Math" panose="02040503050406030204" pitchFamily="18" charset="0"/>
                                    <a:cs typeface="Arial" panose="020B0604020202020204" pitchFamily="34" charset="0"/>
                                  </a:rPr>
                                  <m:t>2</m:t>
                                </m:r>
                              </m:sub>
                              <m:sup>
                                <m:r>
                                  <a:rPr lang="en-US" altLang="zh-CN" sz="1500" b="0">
                                    <a:latin typeface="Cambria Math" panose="02040503050406030204" pitchFamily="18" charset="0"/>
                                    <a:cs typeface="Arial" panose="020B0604020202020204" pitchFamily="34" charset="0"/>
                                  </a:rPr>
                                  <m:t>2</m:t>
                                </m:r>
                              </m:sup>
                            </m:sSubSup>
                          </m:num>
                          <m:den>
                            <m:sSub>
                              <m:sSubPr>
                                <m:ctrlPr>
                                  <a:rPr lang="zh-CN" altLang="zh-CN" sz="1500" i="1">
                                    <a:latin typeface="Cambria Math" panose="02040503050406030204" pitchFamily="18" charset="0"/>
                                    <a:cs typeface="Arial" panose="020B0604020202020204" pitchFamily="34" charset="0"/>
                                  </a:rPr>
                                </m:ctrlPr>
                              </m:sSubPr>
                              <m:e>
                                <m:r>
                                  <m:rPr>
                                    <m:sty m:val="p"/>
                                  </m:rPr>
                                  <a:rPr lang="en-US" altLang="zh-CN" sz="1500" b="0" i="1">
                                    <a:latin typeface="Cambria Math" panose="02040503050406030204" pitchFamily="18" charset="0"/>
                                    <a:cs typeface="Arial" panose="020B0604020202020204" pitchFamily="34" charset="0"/>
                                  </a:rPr>
                                  <m:t>n</m:t>
                                </m:r>
                              </m:e>
                              <m:sub>
                                <m:r>
                                  <a:rPr lang="en-US" altLang="zh-CN" sz="1500" b="0">
                                    <a:latin typeface="Cambria Math" panose="02040503050406030204" pitchFamily="18" charset="0"/>
                                    <a:cs typeface="Arial" panose="020B0604020202020204" pitchFamily="34" charset="0"/>
                                  </a:rPr>
                                  <m:t>2</m:t>
                                </m:r>
                              </m:sub>
                            </m:sSub>
                          </m:den>
                        </m:f>
                      </m:e>
                    </m:d>
                  </m:oMath>
                </a14:m>
                <a:r>
                  <a:rPr lang="zh-CN" altLang="zh-CN" sz="1500" dirty="0">
                    <a:latin typeface="Arial" panose="020B0604020202020204" pitchFamily="34" charset="0"/>
                    <a:cs typeface="Arial" panose="020B0604020202020204" pitchFamily="34" charset="0"/>
                  </a:rPr>
                  <a:t>的正态分布</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两个样本均值之差经标准化后服从标准正态分布</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即</a:t>
                </a:r>
                <a:endParaRPr lang="zh-CN" altLang="zh-CN" sz="1500" dirty="0">
                  <a:latin typeface="Arial" panose="020B0604020202020204" pitchFamily="34" charset="0"/>
                  <a:cs typeface="Arial" panose="020B0604020202020204" pitchFamily="34" charset="0"/>
                </a:endParaRPr>
              </a:p>
              <a:p>
                <a:pPr indent="0" algn="just">
                  <a:lnSpc>
                    <a:spcPct val="110000"/>
                  </a:lnSpc>
                  <a:buNone/>
                </a:pPr>
                <a:r>
                  <a:rPr lang="zh-CN" altLang="zh-CN" sz="15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14:m>
                  <m:oMath xmlns:m="http://schemas.openxmlformats.org/officeDocument/2006/math">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5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m:rPr>
                            <m:nor/>
                          </m:rPr>
                          <a:rPr lang="en-US" altLang="zh-CN" sz="15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5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m:rPr>
                            <m:nor/>
                          </m:rPr>
                          <a:rPr lang="en-US" altLang="zh-CN" sz="15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m:rPr>
                            <m:nor/>
                          </m:rPr>
                          <a:rPr lang="en-US" altLang="zh-CN" sz="15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𝜇</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m:rPr>
                            <m:nor/>
                          </m:rPr>
                          <a:rPr lang="en-US" altLang="zh-CN" sz="15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𝜇</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5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ad>
                          <m:radPr>
                            <m:degHide m:val="on"/>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rad>
                      </m:den>
                    </m:f>
                  </m:oMath>
                </a14:m>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(0,1)</a:t>
                </a:r>
                <a:endPar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当两个总体的方差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都已知时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两个总体均值之差</a:t>
                </a:r>
                <a:r>
                  <a:rPr lang="en-US" altLang="zh-CN" sz="1500" dirty="0">
                    <a:latin typeface="Arial" panose="020B0604020202020204" pitchFamily="34" charset="0"/>
                    <a:cs typeface="Arial" panose="020B0604020202020204" pitchFamily="34" charset="0"/>
                  </a:rPr>
                  <a:t>μ1-μ2</a:t>
                </a:r>
                <a:r>
                  <a:rPr lang="zh-CN" altLang="zh-CN" sz="1500" dirty="0">
                    <a:latin typeface="Arial" panose="020B0604020202020204" pitchFamily="34" charset="0"/>
                    <a:cs typeface="Arial" panose="020B0604020202020204" pitchFamily="34" charset="0"/>
                  </a:rPr>
                  <a:t>在</a:t>
                </a:r>
                <a:r>
                  <a:rPr lang="en-US" altLang="zh-CN" sz="1500" dirty="0">
                    <a:latin typeface="Arial" panose="020B0604020202020204" pitchFamily="34" charset="0"/>
                    <a:cs typeface="Arial" panose="020B0604020202020204" pitchFamily="34" charset="0"/>
                  </a:rPr>
                  <a:t>1-α</a:t>
                </a:r>
                <a:r>
                  <a:rPr lang="zh-CN" altLang="zh-CN" sz="1500" dirty="0">
                    <a:latin typeface="Arial" panose="020B0604020202020204" pitchFamily="34" charset="0"/>
                    <a:cs typeface="Arial" panose="020B0604020202020204" pitchFamily="34" charset="0"/>
                  </a:rPr>
                  <a:t>置信水平下的置信区间为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indent="0" algn="just">
                  <a:lnSpc>
                    <a:spcPct val="110000"/>
                  </a:lnSpc>
                  <a:buNone/>
                </a:pPr>
                <a:r>
                  <a:rPr lang="zh-CN" altLang="zh-CN" sz="15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5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5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rad>
                  </m:oMath>
                </a14:m>
                <a:endParaRPr lang="en-US" altLang="zh-CN" sz="15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当两个总体的方差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未知时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可用两个样本方差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来代替</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这时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两个总体均值之差</a:t>
                </a:r>
                <a:r>
                  <a:rPr lang="en-US" altLang="zh-CN" sz="1500" dirty="0">
                    <a:latin typeface="Arial" panose="020B0604020202020204" pitchFamily="34" charset="0"/>
                    <a:cs typeface="Arial" panose="020B0604020202020204" pitchFamily="34" charset="0"/>
                  </a:rPr>
                  <a:t>μ1-μ2</a:t>
                </a:r>
                <a:r>
                  <a:rPr lang="zh-CN" altLang="zh-CN" sz="1500" dirty="0">
                    <a:latin typeface="Arial" panose="020B0604020202020204" pitchFamily="34" charset="0"/>
                    <a:cs typeface="Arial" panose="020B0604020202020204" pitchFamily="34" charset="0"/>
                  </a:rPr>
                  <a:t>在</a:t>
                </a:r>
                <a:r>
                  <a:rPr lang="en-US" altLang="zh-CN" sz="1500" dirty="0">
                    <a:latin typeface="Arial" panose="020B0604020202020204" pitchFamily="34" charset="0"/>
                    <a:cs typeface="Arial" panose="020B0604020202020204" pitchFamily="34" charset="0"/>
                  </a:rPr>
                  <a:t>1-α</a:t>
                </a:r>
                <a:r>
                  <a:rPr lang="zh-CN" altLang="zh-CN" sz="1500" dirty="0">
                    <a:latin typeface="Arial" panose="020B0604020202020204" pitchFamily="34" charset="0"/>
                    <a:cs typeface="Arial" panose="020B0604020202020204" pitchFamily="34" charset="0"/>
                  </a:rPr>
                  <a:t>置信水平下的置信区间为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indent="0" algn="just">
                  <a:lnSpc>
                    <a:spcPct val="110000"/>
                  </a:lnSpc>
                  <a:buNone/>
                </a:pPr>
                <a:r>
                  <a:rPr lang="zh-CN" altLang="zh-CN" sz="15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15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5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5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5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5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5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5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rad>
                  </m:oMath>
                </a14:m>
                <a:endParaRPr lang="zh-CN" altLang="zh-CN" sz="1500" dirty="0">
                  <a:solidFill>
                    <a:srgbClr val="000000"/>
                  </a:solidFill>
                  <a:effectLst/>
                  <a:latin typeface="NEU-BZ-S92"/>
                  <a:ea typeface="方正书宋_GBK"/>
                  <a:cs typeface="Times New Roman" panose="02020603050405020304" pitchFamily="18"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10945216" cy="4680520"/>
              </a:xfrm>
              <a:blipFill rotWithShape="1">
                <a:blip r:embed="rId1"/>
                <a:stretch>
                  <a:fillRect l="-60" t="-144" r="-53"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独立大样本</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95400" y="1556792"/>
            <a:ext cx="6192688" cy="4680520"/>
          </a:xfrm>
          <a:ln w="12700" cmpd="dbl">
            <a:solidFill>
              <a:schemeClr val="accent1"/>
            </a:solidFill>
          </a:ln>
        </p:spPr>
        <p:txBody>
          <a:bodyPr>
            <a:noAutofit/>
          </a:bodyPr>
          <a:lstStyle/>
          <a:p>
            <a:pPr marL="0" indent="0" algn="just">
              <a:lnSpc>
                <a:spcPct val="110000"/>
              </a:lnSpc>
              <a:buNone/>
            </a:pPr>
            <a:r>
              <a:rPr lang="zh-CN" altLang="zh-CN" sz="2000" b="1" dirty="0">
                <a:solidFill>
                  <a:srgbClr val="FF0000"/>
                </a:solidFill>
              </a:rPr>
              <a:t>【例</a:t>
            </a:r>
            <a:r>
              <a:rPr lang="en-US" altLang="zh-CN" sz="2000" b="1" dirty="0">
                <a:solidFill>
                  <a:srgbClr val="FF0000"/>
                </a:solidFill>
              </a:rPr>
              <a:t>7.6</a:t>
            </a:r>
            <a:r>
              <a:rPr lang="zh-CN" altLang="zh-CN" sz="2000" b="1" dirty="0">
                <a:solidFill>
                  <a:srgbClr val="FF0000"/>
                </a:solidFill>
              </a:rPr>
              <a:t>】</a:t>
            </a:r>
            <a:r>
              <a:rPr lang="zh-CN" altLang="zh-CN" sz="2000" dirty="0"/>
              <a:t>某地区教育管理部门想估计两所中学的学生高考时的英语平均分数之差</a:t>
            </a:r>
            <a:r>
              <a:rPr lang="en-US" altLang="zh-CN" sz="2000" dirty="0"/>
              <a:t>,</a:t>
            </a:r>
            <a:r>
              <a:rPr lang="zh-CN" altLang="zh-CN" sz="2000" dirty="0"/>
              <a:t>为此在两所中学独立抽取两个随机样本</a:t>
            </a:r>
            <a:r>
              <a:rPr lang="en-US" altLang="zh-CN" sz="2000" dirty="0"/>
              <a:t>,</a:t>
            </a:r>
            <a:r>
              <a:rPr lang="zh-CN" altLang="zh-CN" sz="2000" dirty="0"/>
              <a:t>有关数据如表</a:t>
            </a:r>
            <a:r>
              <a:rPr lang="en-US" altLang="zh-CN" sz="2000" dirty="0"/>
              <a:t>7-5</a:t>
            </a:r>
            <a:r>
              <a:rPr lang="zh-CN" altLang="zh-CN" sz="2000" dirty="0"/>
              <a:t>所示</a:t>
            </a:r>
            <a:r>
              <a:rPr lang="zh-CN" altLang="en-US" sz="2000" dirty="0"/>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试建立两所中学高考英语平均分数之差的</a:t>
            </a:r>
            <a:r>
              <a:rPr lang="en-US" altLang="zh-CN" sz="2000" dirty="0">
                <a:effectLst/>
                <a:latin typeface="Calibri" panose="020F0502020204030204" pitchFamily="34" charset="0"/>
                <a:ea typeface="华文细黑" panose="02010600040101010101" pitchFamily="2" charset="-122"/>
              </a:rPr>
              <a:t>95%</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的置信区间</a:t>
            </a:r>
            <a:endParaRPr lang="zh-CN" altLang="zh-CN" sz="2000" dirty="0">
              <a:solidFill>
                <a:srgbClr val="000000"/>
              </a:solidFill>
              <a:effectLst/>
              <a:latin typeface="NEU-BZ-S92"/>
              <a:ea typeface="方正书宋_GBK"/>
              <a:cs typeface="Times New Roman" panose="02020603050405020304" pitchFamily="18"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独立大样本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839416" y="3212976"/>
          <a:ext cx="5832648" cy="2880319"/>
        </p:xfrm>
        <a:graphic>
          <a:graphicData uri="http://schemas.openxmlformats.org/drawingml/2006/table">
            <a:tbl>
              <a:tblPr firstRow="1" firstCol="1" bandRow="1">
                <a:tableStyleId>{5C22544A-7EE6-4342-B048-85BDC9FD1C3A}</a:tableStyleId>
              </a:tblPr>
              <a:tblGrid>
                <a:gridCol w="3427089"/>
                <a:gridCol w="2405559"/>
              </a:tblGrid>
              <a:tr h="725163">
                <a:tc>
                  <a:txBody>
                    <a:bodyPr/>
                    <a:lstStyle/>
                    <a:p>
                      <a:pPr algn="ctr">
                        <a:lnSpc>
                          <a:spcPts val="1400"/>
                        </a:lnSpc>
                      </a:pPr>
                      <a:r>
                        <a:rPr lang="zh-CN" sz="2200" b="1" dirty="0">
                          <a:effectLst/>
                        </a:rPr>
                        <a:t>中学</a:t>
                      </a:r>
                      <a:r>
                        <a:rPr lang="en-US" sz="2200" b="1" dirty="0">
                          <a:effectLst/>
                        </a:rPr>
                        <a:t>1</a:t>
                      </a:r>
                      <a:endParaRPr lang="zh-CN" sz="22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400"/>
                        </a:lnSpc>
                      </a:pPr>
                      <a:r>
                        <a:rPr lang="zh-CN" sz="2200" b="1">
                          <a:effectLst/>
                        </a:rPr>
                        <a:t>中学</a:t>
                      </a:r>
                      <a:r>
                        <a:rPr lang="en-US" sz="2200" b="1">
                          <a:effectLst/>
                        </a:rPr>
                        <a:t>2</a:t>
                      </a:r>
                      <a:endParaRPr lang="zh-CN" sz="2200" b="1">
                        <a:solidFill>
                          <a:srgbClr val="000000"/>
                        </a:solidFill>
                        <a:effectLst/>
                        <a:latin typeface="NEU-BZ-S92"/>
                        <a:ea typeface="方正书宋_GBK"/>
                        <a:cs typeface="Times New Roman" panose="02020603050405020304" pitchFamily="18" charset="0"/>
                      </a:endParaRPr>
                    </a:p>
                  </a:txBody>
                  <a:tcPr marL="0" marR="0" marT="0" marB="0" anchor="ctr"/>
                </a:tc>
              </a:tr>
              <a:tr h="718657">
                <a:tc>
                  <a:txBody>
                    <a:bodyPr/>
                    <a:lstStyle/>
                    <a:p>
                      <a:pPr algn="ctr">
                        <a:lnSpc>
                          <a:spcPts val="1400"/>
                        </a:lnSpc>
                      </a:pPr>
                      <a:r>
                        <a:rPr lang="en-US" sz="2200" b="1">
                          <a:effectLst/>
                        </a:rPr>
                        <a:t>n</a:t>
                      </a:r>
                      <a:r>
                        <a:rPr lang="en-US" sz="2200" b="1" baseline="-25000">
                          <a:effectLst/>
                        </a:rPr>
                        <a:t>1</a:t>
                      </a:r>
                      <a:r>
                        <a:rPr lang="en-US" sz="2200" b="1">
                          <a:effectLst/>
                        </a:rPr>
                        <a:t>=46</a:t>
                      </a:r>
                      <a:endParaRPr lang="zh-CN" sz="22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400"/>
                        </a:lnSpc>
                      </a:pPr>
                      <a:r>
                        <a:rPr lang="en-US" sz="2200" b="1">
                          <a:effectLst/>
                        </a:rPr>
                        <a:t>n</a:t>
                      </a:r>
                      <a:r>
                        <a:rPr lang="en-US" sz="2200" b="1" baseline="-25000">
                          <a:effectLst/>
                        </a:rPr>
                        <a:t>2</a:t>
                      </a:r>
                      <a:r>
                        <a:rPr lang="en-US" sz="2200" b="1">
                          <a:effectLst/>
                        </a:rPr>
                        <a:t>=33</a:t>
                      </a:r>
                      <a:endParaRPr lang="zh-CN" sz="2200" b="1">
                        <a:solidFill>
                          <a:srgbClr val="000000"/>
                        </a:solidFill>
                        <a:effectLst/>
                        <a:latin typeface="NEU-BZ-S92"/>
                        <a:ea typeface="方正书宋_GBK"/>
                        <a:cs typeface="Times New Roman" panose="02020603050405020304" pitchFamily="18" charset="0"/>
                      </a:endParaRPr>
                    </a:p>
                  </a:txBody>
                  <a:tcPr marL="0" marR="0" marT="0" marB="0" anchor="ctr"/>
                </a:tc>
              </a:tr>
              <a:tr h="717842">
                <a:tc>
                  <a:txBody>
                    <a:bodyPr/>
                    <a:lstStyle/>
                    <a:p>
                      <a:endParaRPr lang="zh-CN"/>
                    </a:p>
                  </a:txBody>
                  <a:tcPr marL="0" marR="0" marT="0" marB="0" anchor="ctr">
                    <a:blipFill>
                      <a:blip r:embed="rId1"/>
                      <a:stretch>
                        <a:fillRect l="-178" t="-201695" r="-70870" b="-101695"/>
                      </a:stretch>
                    </a:blipFill>
                  </a:tcPr>
                </a:tc>
                <a:tc>
                  <a:txBody>
                    <a:bodyPr/>
                    <a:lstStyle/>
                    <a:p>
                      <a:endParaRPr lang="zh-CN"/>
                    </a:p>
                  </a:txBody>
                  <a:tcPr marL="0" marR="0" marT="0" marB="0" anchor="ctr">
                    <a:blipFill>
                      <a:blip r:embed="rId1"/>
                      <a:stretch>
                        <a:fillRect l="-142785" t="-201695" r="-1013" b="-101695"/>
                      </a:stretch>
                    </a:blipFill>
                  </a:tcPr>
                </a:tc>
              </a:tr>
              <a:tr h="718657">
                <a:tc>
                  <a:txBody>
                    <a:bodyPr/>
                    <a:lstStyle/>
                    <a:p>
                      <a:pPr algn="ctr">
                        <a:lnSpc>
                          <a:spcPts val="1400"/>
                        </a:lnSpc>
                      </a:pPr>
                      <a:r>
                        <a:rPr lang="en-US" sz="2200" b="1">
                          <a:effectLst/>
                        </a:rPr>
                        <a:t>s</a:t>
                      </a:r>
                      <a:r>
                        <a:rPr lang="en-US" sz="2200" b="1" baseline="-25000">
                          <a:effectLst/>
                        </a:rPr>
                        <a:t>1</a:t>
                      </a:r>
                      <a:r>
                        <a:rPr lang="en-US" sz="2200" b="1">
                          <a:effectLst/>
                        </a:rPr>
                        <a:t>=5.8</a:t>
                      </a:r>
                      <a:endParaRPr lang="zh-CN" sz="22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400"/>
                        </a:lnSpc>
                      </a:pPr>
                      <a:r>
                        <a:rPr lang="en-US" sz="2200" b="1" dirty="0">
                          <a:effectLst/>
                        </a:rPr>
                        <a:t>s</a:t>
                      </a:r>
                      <a:r>
                        <a:rPr lang="en-US" sz="2200" b="1" baseline="-25000" dirty="0">
                          <a:effectLst/>
                        </a:rPr>
                        <a:t>2</a:t>
                      </a:r>
                      <a:r>
                        <a:rPr lang="en-US" sz="2200" b="1" dirty="0">
                          <a:effectLst/>
                        </a:rPr>
                        <a:t>=7.2</a:t>
                      </a:r>
                      <a:endParaRPr lang="zh-CN" sz="22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mc:AlternateContent xmlns:mc="http://schemas.openxmlformats.org/markup-compatibility/2006">
        <mc:Choice xmlns:a14="http://schemas.microsoft.com/office/drawing/2010/main" Requires="a14">
          <p:sp>
            <p:nvSpPr>
              <p:cNvPr id="10" name="Content Placeholder 8"/>
              <p:cNvSpPr txBox="1"/>
              <p:nvPr/>
            </p:nvSpPr>
            <p:spPr>
              <a:xfrm>
                <a:off x="7032104" y="1579307"/>
                <a:ext cx="4464495"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20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(7.14)</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20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20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rad>
                  </m:oMath>
                </a14:m>
                <a:endPar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endParaRPr>
              </a:p>
              <a:p>
                <a:pPr marL="0" indent="0" algn="just">
                  <a:lnSpc>
                    <a:spcPct val="150000"/>
                  </a:lnSpc>
                  <a:buNone/>
                </a:pP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(86</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78)</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rad>
                      <m:radPr>
                        <m:deg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m:t>
                            </m:r>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8</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46</m:t>
                            </m:r>
                          </m:den>
                        </m:f>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m:t>
                            </m:r>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33</m:t>
                            </m:r>
                          </m:den>
                        </m:f>
                      </m:e>
                    </m:rad>
                  </m:oMath>
                </a14:m>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即</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8±2.97=(5.03,10.97),</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两所中学高考英语平均分数之差的</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5.03~10.97</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a:t>
                </a:r>
                <a:endParaRPr lang="zh-CN" altLang="zh-CN" sz="2000" dirty="0">
                  <a:solidFill>
                    <a:srgbClr val="000000"/>
                  </a:solidFill>
                  <a:effectLst/>
                  <a:latin typeface="NEU-BZ-S92"/>
                  <a:ea typeface="方正书宋_GBK"/>
                  <a:cs typeface="Times New Roman" panose="02020603050405020304" pitchFamily="18" charset="0"/>
                </a:endParaRPr>
              </a:p>
            </p:txBody>
          </p:sp>
        </mc:Choice>
        <mc:Fallback>
          <p:sp>
            <p:nvSpPr>
              <p:cNvPr id="10" name="Content Placeholder 8"/>
              <p:cNvSpPr txBox="1">
                <a:spLocks noRot="1" noChangeAspect="1" noMove="1" noResize="1" noEditPoints="1" noAdjustHandles="1" noChangeArrowheads="1" noChangeShapeType="1" noTextEdit="1"/>
              </p:cNvSpPr>
              <p:nvPr/>
            </p:nvSpPr>
            <p:spPr>
              <a:xfrm>
                <a:off x="7032104" y="1579307"/>
                <a:ext cx="4464495" cy="4680520"/>
              </a:xfrm>
              <a:prstGeom prst="rect">
                <a:avLst/>
              </a:prstGeom>
              <a:blipFill rotWithShape="1">
                <a:blip r:embed="rId2"/>
                <a:stretch>
                  <a:fillRect l="-145" t="-137" r="-130" b="-122"/>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5256584" cy="4680520"/>
              </a:xfrm>
              <a:ln w="12700" cmpd="dbl">
                <a:solidFill>
                  <a:schemeClr val="accent1"/>
                </a:solidFill>
              </a:ln>
            </p:spPr>
            <p:txBody>
              <a:bodyPr>
                <a:noAutofit/>
              </a:bodyPr>
              <a:lstStyle/>
              <a:p>
                <a:pPr marL="0" indent="0" algn="just">
                  <a:lnSpc>
                    <a:spcPct val="110000"/>
                  </a:lnSpc>
                  <a:buClr>
                    <a:srgbClr val="318AAD"/>
                  </a:buClr>
                  <a:buSzPct val="100000"/>
                  <a:buNone/>
                  <a:defRPr/>
                </a:pPr>
                <a:r>
                  <a:rPr lang="zh-CN" altLang="zh-CN" sz="1800" b="1" dirty="0">
                    <a:solidFill>
                      <a:srgbClr val="FF0000"/>
                    </a:solidFill>
                    <a:effectLst/>
                    <a:latin typeface="Arial" panose="020B0604020202020204" pitchFamily="34" charset="0"/>
                    <a:cs typeface="Arial" panose="020B0604020202020204" pitchFamily="34" charset="0"/>
                  </a:rPr>
                  <a:t>方差</a:t>
                </a:r>
                <a14:m>
                  <m:oMath xmlns:m="http://schemas.openxmlformats.org/officeDocument/2006/math">
                    <m:sSubSup>
                      <m:sSubSupPr>
                        <m:ctrlPr>
                          <a:rPr lang="zh-CN" altLang="zh-CN" sz="1050" b="1" i="1">
                            <a:solidFill>
                              <a:srgbClr val="FF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b="1" i="1">
                            <a:solidFill>
                              <a:srgbClr val="FF0000"/>
                            </a:solidFill>
                            <a:effectLst/>
                            <a:latin typeface="Cambria Math" panose="02040503050406030204" pitchFamily="18" charset="0"/>
                            <a:cs typeface="Calibri" panose="020F0502020204030204" pitchFamily="34" charset="0"/>
                          </a:rPr>
                          <m:t>𝝈</m:t>
                        </m:r>
                      </m:e>
                      <m:sub>
                        <m:r>
                          <a:rPr lang="en-US" altLang="zh-CN" sz="1800" b="1" i="1">
                            <a:solidFill>
                              <a:srgbClr val="FF0000"/>
                            </a:solidFill>
                            <a:effectLst/>
                            <a:latin typeface="Cambria Math" panose="02040503050406030204" pitchFamily="18" charset="0"/>
                            <a:cs typeface="Calibri" panose="020F0502020204030204" pitchFamily="34" charset="0"/>
                          </a:rPr>
                          <m:t>𝟏</m:t>
                        </m:r>
                      </m:sub>
                      <m:sup>
                        <m:r>
                          <a:rPr lang="en-US" altLang="zh-CN" sz="1800" b="1" i="1">
                            <a:solidFill>
                              <a:srgbClr val="FF0000"/>
                            </a:solidFill>
                            <a:effectLst/>
                            <a:latin typeface="Cambria Math" panose="02040503050406030204" pitchFamily="18" charset="0"/>
                            <a:cs typeface="Calibri" panose="020F0502020204030204" pitchFamily="34" charset="0"/>
                          </a:rPr>
                          <m:t>𝟐</m:t>
                        </m:r>
                      </m:sup>
                    </m:sSubSup>
                  </m:oMath>
                </a14:m>
                <a:r>
                  <a:rPr lang="zh-CN" altLang="zh-CN" sz="1800" b="1" dirty="0">
                    <a:solidFill>
                      <a:srgbClr val="FF0000"/>
                    </a:solidFill>
                    <a:effectLst/>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050" b="1" i="1">
                            <a:solidFill>
                              <a:srgbClr val="FF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b="1" i="1">
                            <a:solidFill>
                              <a:srgbClr val="FF0000"/>
                            </a:solidFill>
                            <a:effectLst/>
                            <a:latin typeface="Cambria Math" panose="02040503050406030204" pitchFamily="18" charset="0"/>
                            <a:cs typeface="Calibri" panose="020F0502020204030204" pitchFamily="34" charset="0"/>
                          </a:rPr>
                          <m:t>𝝈</m:t>
                        </m:r>
                      </m:e>
                      <m:sub>
                        <m:r>
                          <a:rPr lang="en-US" altLang="zh-CN" sz="1800" b="1" i="1">
                            <a:solidFill>
                              <a:srgbClr val="FF0000"/>
                            </a:solidFill>
                            <a:effectLst/>
                            <a:latin typeface="Cambria Math" panose="02040503050406030204" pitchFamily="18" charset="0"/>
                            <a:cs typeface="Calibri" panose="020F0502020204030204" pitchFamily="34" charset="0"/>
                          </a:rPr>
                          <m:t>𝟐</m:t>
                        </m:r>
                      </m:sub>
                      <m:sup>
                        <m:r>
                          <a:rPr lang="en-US" altLang="zh-CN" sz="1800" b="1" i="1">
                            <a:solidFill>
                              <a:srgbClr val="FF0000"/>
                            </a:solidFill>
                            <a:effectLst/>
                            <a:latin typeface="Cambria Math" panose="02040503050406030204" pitchFamily="18" charset="0"/>
                            <a:cs typeface="Calibri" panose="020F0502020204030204" pitchFamily="34" charset="0"/>
                          </a:rPr>
                          <m:t>𝟐</m:t>
                        </m:r>
                      </m:sup>
                    </m:sSubSup>
                  </m:oMath>
                </a14:m>
                <a:r>
                  <a:rPr lang="zh-CN" altLang="zh-CN" sz="1800" b="1" dirty="0">
                    <a:solidFill>
                      <a:srgbClr val="FF0000"/>
                    </a:solidFill>
                    <a:effectLst/>
                    <a:latin typeface="Arial" panose="020B0604020202020204" pitchFamily="34" charset="0"/>
                    <a:cs typeface="Arial" panose="020B0604020202020204" pitchFamily="34" charset="0"/>
                  </a:rPr>
                  <a:t>未知但相等</a:t>
                </a:r>
                <a:endParaRPr lang="en-US" altLang="zh-CN" sz="1500" b="1" dirty="0">
                  <a:solidFill>
                    <a:srgbClr val="FF0000"/>
                  </a:solidFill>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当两个总体的方差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未知但相等时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即</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需要用两个样本的方差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来估计</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这时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需要将两个样本的数据组合在一起</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以给出总体方差的合并估计量</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𝑝</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计算公式为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marL="0" indent="0" algn="just">
                  <a:buNone/>
                </a:pPr>
                <a:r>
                  <a:rPr lang="zh-CN" altLang="zh-CN" sz="1500" i="1" dirty="0">
                    <a:latin typeface="Arial" panose="020B0604020202020204" pitchFamily="34" charset="0"/>
                    <a:cs typeface="Arial" panose="020B0604020202020204" pitchFamily="34" charset="0"/>
                  </a:rPr>
                  <a:t>　　</a:t>
                </a:r>
                <a14:m>
                  <m:oMath xmlns:m="http://schemas.openxmlformats.org/officeDocument/2006/math">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i="1">
                            <a:latin typeface="Cambria Math" panose="02040503050406030204" pitchFamily="18" charset="0"/>
                          </a:rPr>
                          <m:t>𝑝</m:t>
                        </m:r>
                      </m:sub>
                      <m:sup>
                        <m:r>
                          <a:rPr lang="en-US" altLang="zh-CN" sz="1500">
                            <a:latin typeface="Cambria Math" panose="02040503050406030204" pitchFamily="18" charset="0"/>
                          </a:rPr>
                          <m:t>2</m:t>
                        </m:r>
                      </m:sup>
                    </m:sSubSup>
                  </m:oMath>
                </a14:m>
                <a:r>
                  <a:rPr lang="en-US" altLang="zh-CN" sz="1500" i="1" dirty="0">
                    <a:latin typeface="Arial" panose="020B0604020202020204" pitchFamily="34" charset="0"/>
                    <a:cs typeface="Arial" panose="020B0604020202020204" pitchFamily="34" charset="0"/>
                  </a:rPr>
                  <a:t>=</a:t>
                </a:r>
                <a14:m>
                  <m:oMath xmlns:m="http://schemas.openxmlformats.org/officeDocument/2006/math">
                    <m:f>
                      <m:fPr>
                        <m:ctrlPr>
                          <a:rPr lang="zh-CN" altLang="zh-CN" sz="1500" i="1">
                            <a:latin typeface="Cambria Math" panose="02040503050406030204" pitchFamily="18" charset="0"/>
                          </a:rPr>
                        </m:ctrlPr>
                      </m:fPr>
                      <m:num>
                        <m:r>
                          <m:rPr>
                            <m:nor/>
                          </m:rPr>
                          <a:rPr lang="en-US" altLang="zh-CN" sz="1500">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r>
                          <m:rPr>
                            <m:nor/>
                          </m:rPr>
                          <a:rPr lang="en-US" altLang="zh-CN" sz="1500" i="1">
                            <a:latin typeface="Arial" panose="020B0604020202020204" pitchFamily="34" charset="0"/>
                            <a:cs typeface="Arial" panose="020B0604020202020204" pitchFamily="34" charset="0"/>
                          </a:rPr>
                          <m:t>−</m:t>
                        </m:r>
                        <m:r>
                          <a:rPr lang="en-US" altLang="zh-CN" sz="1500">
                            <a:latin typeface="Cambria Math" panose="02040503050406030204" pitchFamily="18" charset="0"/>
                          </a:rPr>
                          <m:t>1</m:t>
                        </m:r>
                        <m:r>
                          <m:rPr>
                            <m:nor/>
                          </m:rPr>
                          <a:rPr lang="en-US" altLang="zh-CN" sz="1500">
                            <a:latin typeface="Arial" panose="020B0604020202020204" pitchFamily="34" charset="0"/>
                            <a:cs typeface="Arial" panose="020B0604020202020204" pitchFamily="34" charset="0"/>
                          </a:rPr>
                          <m:t>)</m:t>
                        </m:r>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1</m:t>
                            </m:r>
                          </m:sub>
                          <m:sup>
                            <m:r>
                              <a:rPr lang="en-US" altLang="zh-CN" sz="1500">
                                <a:latin typeface="Cambria Math" panose="02040503050406030204" pitchFamily="18" charset="0"/>
                              </a:rPr>
                              <m:t>2</m:t>
                            </m:r>
                          </m:sup>
                        </m:sSubSup>
                        <m:r>
                          <a:rPr lang="en-US" altLang="zh-CN" sz="1500">
                            <a:latin typeface="Cambria Math" panose="02040503050406030204" pitchFamily="18" charset="0"/>
                          </a:rPr>
                          <m:t>+</m:t>
                        </m:r>
                        <m:r>
                          <m:rPr>
                            <m:nor/>
                          </m:rPr>
                          <a:rPr lang="en-US" altLang="zh-CN" sz="1500">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r>
                          <m:rPr>
                            <m:nor/>
                          </m:rPr>
                          <a:rPr lang="en-US" altLang="zh-CN" sz="1500" i="1">
                            <a:latin typeface="Arial" panose="020B0604020202020204" pitchFamily="34" charset="0"/>
                            <a:cs typeface="Arial" panose="020B0604020202020204" pitchFamily="34" charset="0"/>
                          </a:rPr>
                          <m:t>−</m:t>
                        </m:r>
                        <m:r>
                          <a:rPr lang="en-US" altLang="zh-CN" sz="1500">
                            <a:latin typeface="Cambria Math" panose="02040503050406030204" pitchFamily="18" charset="0"/>
                          </a:rPr>
                          <m:t>1</m:t>
                        </m:r>
                        <m:r>
                          <m:rPr>
                            <m:nor/>
                          </m:rPr>
                          <a:rPr lang="en-US" altLang="zh-CN" sz="1500">
                            <a:latin typeface="Arial" panose="020B0604020202020204" pitchFamily="34" charset="0"/>
                            <a:cs typeface="Arial" panose="020B0604020202020204" pitchFamily="34" charset="0"/>
                          </a:rPr>
                          <m:t>)</m:t>
                        </m:r>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2</m:t>
                            </m:r>
                          </m:sub>
                          <m:sup>
                            <m:r>
                              <a:rPr lang="en-US" altLang="zh-CN" sz="1500">
                                <a:latin typeface="Cambria Math" panose="02040503050406030204" pitchFamily="18" charset="0"/>
                              </a:rPr>
                              <m:t>2</m:t>
                            </m:r>
                          </m:sup>
                        </m:sSub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r>
                          <a:rPr lang="en-US" altLang="zh-CN" sz="1500">
                            <a:latin typeface="Cambria Math" panose="02040503050406030204" pitchFamily="18"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r>
                          <m:rPr>
                            <m:nor/>
                          </m:rPr>
                          <a:rPr lang="en-US" altLang="zh-CN" sz="1500" i="1">
                            <a:latin typeface="Arial" panose="020B0604020202020204" pitchFamily="34" charset="0"/>
                            <a:cs typeface="Arial" panose="020B0604020202020204" pitchFamily="34" charset="0"/>
                          </a:rPr>
                          <m:t>−</m:t>
                        </m:r>
                        <m:r>
                          <a:rPr lang="en-US" altLang="zh-CN" sz="1500">
                            <a:latin typeface="Cambria Math" panose="02040503050406030204" pitchFamily="18" charset="0"/>
                          </a:rPr>
                          <m:t>2</m:t>
                        </m:r>
                      </m:den>
                    </m:f>
                  </m:oMath>
                </a14:m>
                <a:endParaRPr lang="en-US" altLang="zh-CN" sz="1500" i="1" dirty="0">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这时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两个样本均值之差经标准化后服从自由度为</a:t>
                </a:r>
                <a:r>
                  <a:rPr lang="en-US" altLang="zh-CN" sz="1500" dirty="0">
                    <a:latin typeface="Arial" panose="020B0604020202020204" pitchFamily="34" charset="0"/>
                    <a:cs typeface="Arial" panose="020B0604020202020204" pitchFamily="34" charset="0"/>
                  </a:rPr>
                  <a:t>(n1+n2-2)</a:t>
                </a:r>
                <a:r>
                  <a:rPr lang="zh-CN" altLang="zh-CN" sz="1500" dirty="0">
                    <a:latin typeface="Arial" panose="020B0604020202020204" pitchFamily="34" charset="0"/>
                    <a:cs typeface="Arial" panose="020B0604020202020204" pitchFamily="34" charset="0"/>
                  </a:rPr>
                  <a:t>的</a:t>
                </a:r>
                <a:r>
                  <a:rPr lang="en-US" altLang="zh-CN" sz="1500" dirty="0">
                    <a:latin typeface="Arial" panose="020B0604020202020204" pitchFamily="34" charset="0"/>
                    <a:cs typeface="Arial" panose="020B0604020202020204" pitchFamily="34" charset="0"/>
                  </a:rPr>
                  <a:t>t</a:t>
                </a:r>
                <a:r>
                  <a:rPr lang="zh-CN" altLang="zh-CN" sz="1500" dirty="0">
                    <a:latin typeface="Arial" panose="020B0604020202020204" pitchFamily="34" charset="0"/>
                    <a:cs typeface="Arial" panose="020B0604020202020204" pitchFamily="34" charset="0"/>
                  </a:rPr>
                  <a:t>分布</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即</a:t>
                </a:r>
                <a:endParaRPr lang="zh-CN" altLang="zh-CN" sz="1500" dirty="0">
                  <a:latin typeface="Arial" panose="020B0604020202020204" pitchFamily="34" charset="0"/>
                  <a:cs typeface="Arial" panose="020B0604020202020204" pitchFamily="34" charset="0"/>
                </a:endParaRPr>
              </a:p>
              <a:p>
                <a:pPr marL="0" indent="0" algn="just">
                  <a:buNone/>
                </a:pPr>
                <a:r>
                  <a:rPr lang="zh-CN" altLang="zh-CN" sz="1500" i="1" dirty="0">
                    <a:latin typeface="Arial" panose="020B0604020202020204" pitchFamily="34" charset="0"/>
                    <a:cs typeface="Arial" panose="020B0604020202020204" pitchFamily="34" charset="0"/>
                  </a:rPr>
                  <a:t>　　</a:t>
                </a:r>
                <a:r>
                  <a:rPr lang="en-US" altLang="zh-CN" sz="1500" i="1" dirty="0">
                    <a:latin typeface="Arial" panose="020B0604020202020204" pitchFamily="34" charset="0"/>
                    <a:cs typeface="Arial" panose="020B0604020202020204" pitchFamily="34" charset="0"/>
                  </a:rPr>
                  <a:t>t=</a:t>
                </a:r>
                <a14:m>
                  <m:oMath xmlns:m="http://schemas.openxmlformats.org/officeDocument/2006/math">
                    <m:f>
                      <m:fPr>
                        <m:ctrlPr>
                          <a:rPr lang="zh-CN" altLang="zh-CN" sz="1500" i="1">
                            <a:latin typeface="Cambria Math" panose="02040503050406030204" pitchFamily="18" charset="0"/>
                          </a:rPr>
                        </m:ctrlPr>
                      </m:fPr>
                      <m:num>
                        <m:r>
                          <m:rPr>
                            <m:nor/>
                          </m:rPr>
                          <a:rPr lang="en-US" altLang="zh-CN" sz="1500">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1</m:t>
                            </m:r>
                          </m:sub>
                        </m:sSub>
                        <m:r>
                          <m:rPr>
                            <m:nor/>
                          </m:rPr>
                          <a:rPr lang="en-US" altLang="zh-CN" sz="1500" i="1">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2</m:t>
                            </m:r>
                          </m:sub>
                        </m:sSub>
                        <m:r>
                          <m:rPr>
                            <m:nor/>
                          </m:rPr>
                          <a:rPr lang="en-US" altLang="zh-CN" sz="1500">
                            <a:latin typeface="Arial" panose="020B0604020202020204" pitchFamily="34" charset="0"/>
                            <a:cs typeface="Arial" panose="020B0604020202020204" pitchFamily="34" charset="0"/>
                          </a:rPr>
                          <m:t>)</m:t>
                        </m:r>
                        <m:r>
                          <m:rPr>
                            <m:nor/>
                          </m:rPr>
                          <a:rPr lang="en-US" altLang="zh-CN" sz="1500" i="1">
                            <a:latin typeface="Arial" panose="020B0604020202020204" pitchFamily="34" charset="0"/>
                            <a:cs typeface="Arial" panose="020B0604020202020204" pitchFamily="34" charset="0"/>
                          </a:rPr>
                          <m:t>−</m:t>
                        </m:r>
                        <m:r>
                          <m:rPr>
                            <m:nor/>
                          </m:rPr>
                          <a:rPr lang="en-US" altLang="zh-CN" sz="1500">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𝜇</m:t>
                            </m:r>
                          </m:e>
                          <m:sub>
                            <m:r>
                              <a:rPr lang="en-US" altLang="zh-CN" sz="1500">
                                <a:latin typeface="Cambria Math" panose="02040503050406030204" pitchFamily="18" charset="0"/>
                              </a:rPr>
                              <m:t>1</m:t>
                            </m:r>
                          </m:sub>
                        </m:sSub>
                        <m:r>
                          <m:rPr>
                            <m:nor/>
                          </m:rPr>
                          <a:rPr lang="en-US" altLang="zh-CN" sz="1500" i="1">
                            <a:latin typeface="Arial" panose="020B0604020202020204" pitchFamily="34" charset="0"/>
                            <a:cs typeface="Arial" panose="020B0604020202020204" pitchFamily="34"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𝜇</m:t>
                            </m:r>
                          </m:e>
                          <m:sub>
                            <m:r>
                              <a:rPr lang="en-US" altLang="zh-CN" sz="1500">
                                <a:latin typeface="Cambria Math" panose="02040503050406030204" pitchFamily="18" charset="0"/>
                              </a:rPr>
                              <m:t>2</m:t>
                            </m:r>
                          </m:sub>
                        </m:sSub>
                        <m:r>
                          <m:rPr>
                            <m:nor/>
                          </m:rPr>
                          <a:rPr lang="en-US" altLang="zh-CN" sz="1500">
                            <a:latin typeface="Arial" panose="020B0604020202020204" pitchFamily="34" charset="0"/>
                            <a:cs typeface="Arial" panose="020B0604020202020204" pitchFamily="34" charset="0"/>
                          </a:rPr>
                          <m:t>)</m:t>
                        </m:r>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𝑠</m:t>
                            </m:r>
                          </m:e>
                          <m:sub>
                            <m:r>
                              <a:rPr lang="en-US" altLang="zh-CN" sz="1500" i="1">
                                <a:latin typeface="Cambria Math" panose="02040503050406030204" pitchFamily="18" charset="0"/>
                              </a:rPr>
                              <m:t>𝑝</m:t>
                            </m:r>
                          </m:sub>
                        </m:sSub>
                        <m:rad>
                          <m:radPr>
                            <m:degHide m:val="on"/>
                            <m:ctrlPr>
                              <a:rPr lang="zh-CN" altLang="zh-CN" sz="1500" i="1">
                                <a:latin typeface="Cambria Math" panose="02040503050406030204" pitchFamily="18" charset="0"/>
                              </a:rPr>
                            </m:ctrlPr>
                          </m:radPr>
                          <m:deg/>
                          <m:e>
                            <m:f>
                              <m:fPr>
                                <m:ctrlPr>
                                  <a:rPr lang="zh-CN" altLang="zh-CN" sz="1500" i="1">
                                    <a:latin typeface="Cambria Math" panose="02040503050406030204" pitchFamily="18" charset="0"/>
                                  </a:rPr>
                                </m:ctrlPr>
                              </m:fPr>
                              <m:num>
                                <m:r>
                                  <a:rPr lang="en-US" altLang="zh-CN" sz="1500">
                                    <a:latin typeface="Cambria Math" panose="02040503050406030204" pitchFamily="18" charset="0"/>
                                  </a:rPr>
                                  <m:t>1</m:t>
                                </m:r>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den>
                            </m:f>
                            <m:r>
                              <a:rPr lang="en-US" altLang="zh-CN" sz="1500">
                                <a:latin typeface="Cambria Math" panose="02040503050406030204" pitchFamily="18" charset="0"/>
                              </a:rPr>
                              <m:t>+</m:t>
                            </m:r>
                            <m:f>
                              <m:fPr>
                                <m:ctrlPr>
                                  <a:rPr lang="zh-CN" altLang="zh-CN" sz="1500" i="1">
                                    <a:latin typeface="Cambria Math" panose="02040503050406030204" pitchFamily="18" charset="0"/>
                                  </a:rPr>
                                </m:ctrlPr>
                              </m:fPr>
                              <m:num>
                                <m:r>
                                  <a:rPr lang="en-US" altLang="zh-CN" sz="1500">
                                    <a:latin typeface="Cambria Math" panose="02040503050406030204" pitchFamily="18" charset="0"/>
                                  </a:rPr>
                                  <m:t>1</m:t>
                                </m:r>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den>
                            </m:f>
                          </m:e>
                        </m:rad>
                      </m:den>
                    </m:f>
                  </m:oMath>
                </a14:m>
                <a:r>
                  <a:rPr lang="en-US" altLang="zh-CN" sz="1500" i="1" dirty="0">
                    <a:latin typeface="Arial" panose="020B0604020202020204" pitchFamily="34" charset="0"/>
                    <a:cs typeface="Arial" panose="020B0604020202020204" pitchFamily="34" charset="0"/>
                  </a:rPr>
                  <a:t>~t</a:t>
                </a:r>
                <a:r>
                  <a:rPr lang="en-US" altLang="zh-CN" sz="1500" dirty="0">
                    <a:latin typeface="Arial" panose="020B0604020202020204" pitchFamily="34" charset="0"/>
                    <a:cs typeface="Arial" panose="020B0604020202020204" pitchFamily="34" charset="0"/>
                  </a:rPr>
                  <a:t>(</a:t>
                </a:r>
                <a:r>
                  <a:rPr lang="en-US" altLang="zh-CN" sz="1500" i="1" dirty="0">
                    <a:latin typeface="Arial" panose="020B0604020202020204" pitchFamily="34" charset="0"/>
                    <a:cs typeface="Arial" panose="020B0604020202020204" pitchFamily="34" charset="0"/>
                  </a:rPr>
                  <a:t>n</a:t>
                </a:r>
                <a:r>
                  <a:rPr lang="en-US" altLang="zh-CN" sz="1500" baseline="-25000" dirty="0">
                    <a:latin typeface="Arial" panose="020B0604020202020204" pitchFamily="34" charset="0"/>
                    <a:cs typeface="Arial" panose="020B0604020202020204" pitchFamily="34" charset="0"/>
                  </a:rPr>
                  <a:t>1</a:t>
                </a:r>
                <a:r>
                  <a:rPr lang="en-US" altLang="zh-CN" sz="1500" i="1" dirty="0">
                    <a:latin typeface="Arial" panose="020B0604020202020204" pitchFamily="34" charset="0"/>
                    <a:cs typeface="Arial" panose="020B0604020202020204" pitchFamily="34" charset="0"/>
                  </a:rPr>
                  <a:t>+n</a:t>
                </a:r>
                <a:r>
                  <a:rPr lang="en-US" altLang="zh-CN" sz="1500" baseline="-25000" dirty="0">
                    <a:latin typeface="Arial" panose="020B0604020202020204" pitchFamily="34" charset="0"/>
                    <a:cs typeface="Arial" panose="020B0604020202020204" pitchFamily="34" charset="0"/>
                  </a:rPr>
                  <a:t>2</a:t>
                </a:r>
                <a:r>
                  <a:rPr lang="en-US" altLang="zh-CN" sz="1500" i="1" dirty="0">
                    <a:latin typeface="Arial" panose="020B0604020202020204" pitchFamily="34" charset="0"/>
                    <a:cs typeface="Arial" panose="020B0604020202020204" pitchFamily="34" charset="0"/>
                  </a:rPr>
                  <a:t>-</a:t>
                </a:r>
                <a:r>
                  <a:rPr lang="en-US" altLang="zh-CN" sz="1500" dirty="0">
                    <a:latin typeface="Arial" panose="020B0604020202020204" pitchFamily="34" charset="0"/>
                    <a:cs typeface="Arial" panose="020B0604020202020204" pitchFamily="34" charset="0"/>
                  </a:rPr>
                  <a:t>2)</a:t>
                </a:r>
                <a:endParaRPr lang="en-US" altLang="zh-CN" sz="1500" dirty="0">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因此</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两个总体均值之差</a:t>
                </a:r>
                <a:r>
                  <a:rPr lang="en-US" altLang="zh-CN" sz="1500" dirty="0">
                    <a:latin typeface="Arial" panose="020B0604020202020204" pitchFamily="34" charset="0"/>
                    <a:cs typeface="Arial" panose="020B0604020202020204" pitchFamily="34" charset="0"/>
                  </a:rPr>
                  <a:t>μ1-μ2</a:t>
                </a:r>
                <a:r>
                  <a:rPr lang="zh-CN" altLang="zh-CN" sz="1500" dirty="0">
                    <a:latin typeface="Arial" panose="020B0604020202020204" pitchFamily="34" charset="0"/>
                    <a:cs typeface="Arial" panose="020B0604020202020204" pitchFamily="34" charset="0"/>
                  </a:rPr>
                  <a:t>在</a:t>
                </a:r>
                <a:r>
                  <a:rPr lang="en-US" altLang="zh-CN" sz="1500" dirty="0">
                    <a:latin typeface="Arial" panose="020B0604020202020204" pitchFamily="34" charset="0"/>
                    <a:cs typeface="Arial" panose="020B0604020202020204" pitchFamily="34" charset="0"/>
                  </a:rPr>
                  <a:t>1-α</a:t>
                </a:r>
                <a:r>
                  <a:rPr lang="zh-CN" altLang="zh-CN" sz="1500" dirty="0">
                    <a:latin typeface="Arial" panose="020B0604020202020204" pitchFamily="34" charset="0"/>
                    <a:cs typeface="Arial" panose="020B0604020202020204" pitchFamily="34" charset="0"/>
                  </a:rPr>
                  <a:t>置信水平下的置信区间为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marL="0" indent="0" algn="just">
                  <a:buNone/>
                </a:pPr>
                <a:r>
                  <a:rPr lang="zh-CN" altLang="zh-CN" sz="1500" i="1" dirty="0">
                    <a:latin typeface="Arial" panose="020B0604020202020204" pitchFamily="34" charset="0"/>
                    <a:cs typeface="Arial" panose="020B0604020202020204" pitchFamily="34" charset="0"/>
                  </a:rPr>
                  <a:t>　　</a:t>
                </a:r>
                <a:r>
                  <a:rPr lang="en-US" altLang="zh-CN" sz="1500" dirty="0">
                    <a:latin typeface="Arial" panose="020B0604020202020204" pitchFamily="34" charset="0"/>
                    <a:cs typeface="Arial" panose="020B0604020202020204" pitchFamily="34" charset="0"/>
                  </a:rPr>
                  <a:t>(</a:t>
                </a:r>
                <a14:m>
                  <m:oMath xmlns:m="http://schemas.openxmlformats.org/officeDocument/2006/math">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1</m:t>
                        </m:r>
                      </m:sub>
                    </m:sSub>
                  </m:oMath>
                </a14:m>
                <a:r>
                  <a:rPr lang="en-US" altLang="zh-CN" sz="1500" i="1" dirty="0">
                    <a:latin typeface="Arial" panose="020B0604020202020204" pitchFamily="34" charset="0"/>
                    <a:cs typeface="Arial" panose="020B0604020202020204" pitchFamily="34" charset="0"/>
                  </a:rPr>
                  <a:t>-</a:t>
                </a:r>
                <a14:m>
                  <m:oMath xmlns:m="http://schemas.openxmlformats.org/officeDocument/2006/math">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2</m:t>
                        </m:r>
                      </m:sub>
                    </m:sSub>
                  </m:oMath>
                </a14:m>
                <a:r>
                  <a:rPr lang="en-US" altLang="zh-CN" sz="1500" dirty="0">
                    <a:latin typeface="Arial" panose="020B0604020202020204" pitchFamily="34" charset="0"/>
                    <a:cs typeface="Arial" panose="020B0604020202020204" pitchFamily="34" charset="0"/>
                  </a:rPr>
                  <a:t>)</a:t>
                </a:r>
                <a:r>
                  <a:rPr lang="en-US" altLang="zh-CN" sz="1500" i="1" dirty="0">
                    <a:latin typeface="Arial" panose="020B0604020202020204" pitchFamily="34" charset="0"/>
                    <a:cs typeface="Arial" panose="020B0604020202020204" pitchFamily="34" charset="0"/>
                  </a:rPr>
                  <a:t>±t</a:t>
                </a:r>
                <a:r>
                  <a:rPr lang="en-US" altLang="zh-CN" sz="1500" i="1" baseline="-25000" dirty="0">
                    <a:latin typeface="Arial" panose="020B0604020202020204" pitchFamily="34" charset="0"/>
                    <a:cs typeface="Arial" panose="020B0604020202020204" pitchFamily="34" charset="0"/>
                  </a:rPr>
                  <a:t>α/</a:t>
                </a:r>
                <a:r>
                  <a:rPr lang="en-US" altLang="zh-CN" sz="1500" baseline="-25000" dirty="0">
                    <a:latin typeface="Arial" panose="020B0604020202020204" pitchFamily="34" charset="0"/>
                    <a:cs typeface="Arial" panose="020B0604020202020204" pitchFamily="34" charset="0"/>
                  </a:rPr>
                  <a:t>2</a:t>
                </a:r>
                <a:r>
                  <a:rPr lang="en-US" altLang="zh-CN" sz="1500" dirty="0">
                    <a:latin typeface="Arial" panose="020B0604020202020204" pitchFamily="34" charset="0"/>
                    <a:cs typeface="Arial" panose="020B0604020202020204" pitchFamily="34" charset="0"/>
                  </a:rPr>
                  <a:t>(</a:t>
                </a:r>
                <a:r>
                  <a:rPr lang="en-US" altLang="zh-CN" sz="1500" i="1" dirty="0">
                    <a:latin typeface="Arial" panose="020B0604020202020204" pitchFamily="34" charset="0"/>
                    <a:cs typeface="Arial" panose="020B0604020202020204" pitchFamily="34" charset="0"/>
                  </a:rPr>
                  <a:t>n</a:t>
                </a:r>
                <a:r>
                  <a:rPr lang="en-US" altLang="zh-CN" sz="1500" baseline="-25000" dirty="0">
                    <a:latin typeface="Arial" panose="020B0604020202020204" pitchFamily="34" charset="0"/>
                    <a:cs typeface="Arial" panose="020B0604020202020204" pitchFamily="34" charset="0"/>
                  </a:rPr>
                  <a:t>1</a:t>
                </a:r>
                <a:r>
                  <a:rPr lang="en-US" altLang="zh-CN" sz="1500" i="1" dirty="0">
                    <a:latin typeface="Arial" panose="020B0604020202020204" pitchFamily="34" charset="0"/>
                    <a:cs typeface="Arial" panose="020B0604020202020204" pitchFamily="34" charset="0"/>
                  </a:rPr>
                  <a:t>+n</a:t>
                </a:r>
                <a:r>
                  <a:rPr lang="en-US" altLang="zh-CN" sz="1500" baseline="-25000" dirty="0">
                    <a:latin typeface="Arial" panose="020B0604020202020204" pitchFamily="34" charset="0"/>
                    <a:cs typeface="Arial" panose="020B0604020202020204" pitchFamily="34" charset="0"/>
                  </a:rPr>
                  <a:t>2</a:t>
                </a:r>
                <a:r>
                  <a:rPr lang="en-US" altLang="zh-CN" sz="1500" i="1" dirty="0">
                    <a:latin typeface="Arial" panose="020B0604020202020204" pitchFamily="34" charset="0"/>
                    <a:cs typeface="Arial" panose="020B0604020202020204" pitchFamily="34" charset="0"/>
                  </a:rPr>
                  <a:t>-</a:t>
                </a:r>
                <a:r>
                  <a:rPr lang="en-US" altLang="zh-CN" sz="1500" dirty="0">
                    <a:latin typeface="Arial" panose="020B0604020202020204" pitchFamily="34" charset="0"/>
                    <a:cs typeface="Arial" panose="020B0604020202020204" pitchFamily="34" charset="0"/>
                  </a:rPr>
                  <a:t>2)</a:t>
                </a:r>
                <a14:m>
                  <m:oMath xmlns:m="http://schemas.openxmlformats.org/officeDocument/2006/math">
                    <m:rad>
                      <m:radPr>
                        <m:degHide m:val="on"/>
                        <m:ctrlPr>
                          <a:rPr lang="zh-CN" altLang="zh-CN" sz="1500" i="1">
                            <a:latin typeface="Cambria Math" panose="02040503050406030204" pitchFamily="18" charset="0"/>
                          </a:rPr>
                        </m:ctrlPr>
                      </m:radPr>
                      <m:deg/>
                      <m:e>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i="1">
                                <a:latin typeface="Cambria Math" panose="02040503050406030204" pitchFamily="18" charset="0"/>
                              </a:rPr>
                              <m:t>𝑝</m:t>
                            </m:r>
                          </m:sub>
                          <m:sup>
                            <m:r>
                              <a:rPr lang="en-US" altLang="zh-CN" sz="1500">
                                <a:latin typeface="Cambria Math" panose="02040503050406030204" pitchFamily="18" charset="0"/>
                              </a:rPr>
                              <m:t>2</m:t>
                            </m:r>
                          </m:sup>
                        </m:sSubSup>
                        <m:d>
                          <m:dPr>
                            <m:ctrlPr>
                              <a:rPr lang="zh-CN" altLang="zh-CN" sz="1500" i="1">
                                <a:latin typeface="Cambria Math" panose="02040503050406030204" pitchFamily="18" charset="0"/>
                              </a:rPr>
                            </m:ctrlPr>
                          </m:dPr>
                          <m:e>
                            <m:f>
                              <m:fPr>
                                <m:ctrlPr>
                                  <a:rPr lang="zh-CN" altLang="zh-CN" sz="1500" i="1">
                                    <a:latin typeface="Cambria Math" panose="02040503050406030204" pitchFamily="18" charset="0"/>
                                  </a:rPr>
                                </m:ctrlPr>
                              </m:fPr>
                              <m:num>
                                <m:r>
                                  <a:rPr lang="en-US" altLang="zh-CN" sz="1500">
                                    <a:latin typeface="Cambria Math" panose="02040503050406030204" pitchFamily="18" charset="0"/>
                                  </a:rPr>
                                  <m:t>1</m:t>
                                </m:r>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den>
                            </m:f>
                            <m:r>
                              <a:rPr lang="en-US" altLang="zh-CN" sz="1500">
                                <a:latin typeface="Cambria Math" panose="02040503050406030204" pitchFamily="18" charset="0"/>
                              </a:rPr>
                              <m:t>+</m:t>
                            </m:r>
                            <m:f>
                              <m:fPr>
                                <m:ctrlPr>
                                  <a:rPr lang="zh-CN" altLang="zh-CN" sz="1500" i="1">
                                    <a:latin typeface="Cambria Math" panose="02040503050406030204" pitchFamily="18" charset="0"/>
                                  </a:rPr>
                                </m:ctrlPr>
                              </m:fPr>
                              <m:num>
                                <m:r>
                                  <a:rPr lang="en-US" altLang="zh-CN" sz="1500">
                                    <a:latin typeface="Cambria Math" panose="02040503050406030204" pitchFamily="18" charset="0"/>
                                  </a:rPr>
                                  <m:t>1</m:t>
                                </m:r>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den>
                            </m:f>
                          </m:e>
                        </m:d>
                      </m:e>
                    </m:rad>
                  </m:oMath>
                </a14:m>
                <a:endParaRPr lang="zh-CN" altLang="zh-CN" sz="1500" dirty="0">
                  <a:latin typeface="Arial" panose="020B0604020202020204" pitchFamily="34" charset="0"/>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5256584" cy="4680520"/>
              </a:xfrm>
              <a:blipFill rotWithShape="1">
                <a:blip r:embed="rId1"/>
                <a:stretch>
                  <a:fillRect l="-125" t="-144" r="-116"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独立小样本</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5951984" y="1556792"/>
                <a:ext cx="5544616"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10000"/>
                  </a:lnSpc>
                  <a:buClr>
                    <a:srgbClr val="318AAD"/>
                  </a:buClr>
                  <a:buSzPct val="100000"/>
                  <a:buFont typeface="Wingdings" panose="05000000000000000000"/>
                  <a:buNone/>
                  <a:defRPr/>
                </a:pPr>
                <a:r>
                  <a:rPr lang="zh-CN" altLang="zh-CN" sz="1800" b="1" dirty="0">
                    <a:solidFill>
                      <a:srgbClr val="FF0000"/>
                    </a:solidFill>
                    <a:latin typeface="Arial" panose="020B0604020202020204" pitchFamily="34" charset="0"/>
                    <a:cs typeface="Arial" panose="020B0604020202020204" pitchFamily="34" charset="0"/>
                  </a:rPr>
                  <a:t>方差</a:t>
                </a:r>
                <a14:m>
                  <m:oMath xmlns:m="http://schemas.openxmlformats.org/officeDocument/2006/math">
                    <m:sSubSup>
                      <m:sSubSupPr>
                        <m:ctrlPr>
                          <a:rPr lang="zh-CN" altLang="zh-CN" sz="1800" b="1" i="1">
                            <a:solidFill>
                              <a:srgbClr val="FF0000"/>
                            </a:solidFill>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b="1" i="1">
                            <a:solidFill>
                              <a:srgbClr val="FF0000"/>
                            </a:solidFill>
                            <a:latin typeface="Cambria Math" panose="02040503050406030204" pitchFamily="18" charset="0"/>
                            <a:cs typeface="Calibri" panose="020F0502020204030204" pitchFamily="34" charset="0"/>
                          </a:rPr>
                          <m:t>𝝈</m:t>
                        </m:r>
                      </m:e>
                      <m:sub>
                        <m:r>
                          <a:rPr lang="en-US" altLang="zh-CN" sz="1800" b="1" i="1">
                            <a:solidFill>
                              <a:srgbClr val="FF0000"/>
                            </a:solidFill>
                            <a:latin typeface="Cambria Math" panose="02040503050406030204" pitchFamily="18" charset="0"/>
                            <a:cs typeface="Calibri" panose="020F0502020204030204" pitchFamily="34" charset="0"/>
                          </a:rPr>
                          <m:t>𝟏</m:t>
                        </m:r>
                      </m:sub>
                      <m:sup>
                        <m:r>
                          <a:rPr lang="en-US" altLang="zh-CN" sz="1800" b="1" i="1">
                            <a:solidFill>
                              <a:srgbClr val="FF0000"/>
                            </a:solidFill>
                            <a:latin typeface="Cambria Math" panose="02040503050406030204" pitchFamily="18" charset="0"/>
                            <a:cs typeface="Calibri" panose="020F0502020204030204" pitchFamily="34" charset="0"/>
                          </a:rPr>
                          <m:t>𝟐</m:t>
                        </m:r>
                      </m:sup>
                    </m:sSubSup>
                  </m:oMath>
                </a14:m>
                <a:r>
                  <a:rPr lang="zh-CN" altLang="zh-CN" sz="1800" b="1" dirty="0">
                    <a:solidFill>
                      <a:srgbClr val="FF0000"/>
                    </a:solidFill>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800" b="1" i="1">
                            <a:solidFill>
                              <a:srgbClr val="FF0000"/>
                            </a:solidFill>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800" b="1" i="1">
                            <a:solidFill>
                              <a:srgbClr val="FF0000"/>
                            </a:solidFill>
                            <a:latin typeface="Cambria Math" panose="02040503050406030204" pitchFamily="18" charset="0"/>
                            <a:cs typeface="Calibri" panose="020F0502020204030204" pitchFamily="34" charset="0"/>
                          </a:rPr>
                          <m:t>𝝈</m:t>
                        </m:r>
                      </m:e>
                      <m:sub>
                        <m:r>
                          <a:rPr lang="en-US" altLang="zh-CN" sz="1800" b="1" i="1">
                            <a:solidFill>
                              <a:srgbClr val="FF0000"/>
                            </a:solidFill>
                            <a:latin typeface="Cambria Math" panose="02040503050406030204" pitchFamily="18" charset="0"/>
                            <a:cs typeface="Calibri" panose="020F0502020204030204" pitchFamily="34" charset="0"/>
                          </a:rPr>
                          <m:t>𝟐</m:t>
                        </m:r>
                      </m:sub>
                      <m:sup>
                        <m:r>
                          <a:rPr lang="en-US" altLang="zh-CN" sz="1800" b="1" i="1">
                            <a:solidFill>
                              <a:srgbClr val="FF0000"/>
                            </a:solidFill>
                            <a:latin typeface="Cambria Math" panose="02040503050406030204" pitchFamily="18" charset="0"/>
                            <a:cs typeface="Calibri" panose="020F0502020204030204" pitchFamily="34" charset="0"/>
                          </a:rPr>
                          <m:t>𝟐</m:t>
                        </m:r>
                      </m:sup>
                    </m:sSubSup>
                  </m:oMath>
                </a14:m>
                <a:r>
                  <a:rPr lang="zh-CN" altLang="zh-CN" sz="1800" b="1" dirty="0">
                    <a:solidFill>
                      <a:srgbClr val="FF0000"/>
                    </a:solidFill>
                    <a:latin typeface="Arial" panose="020B0604020202020204" pitchFamily="34" charset="0"/>
                    <a:cs typeface="Arial" panose="020B0604020202020204" pitchFamily="34" charset="0"/>
                  </a:rPr>
                  <a:t>未知</a:t>
                </a:r>
                <a:r>
                  <a:rPr lang="zh-CN" altLang="en-US" sz="1800" b="1" dirty="0">
                    <a:solidFill>
                      <a:srgbClr val="FF0000"/>
                    </a:solidFill>
                    <a:latin typeface="Arial" panose="020B0604020202020204" pitchFamily="34" charset="0"/>
                    <a:cs typeface="Arial" panose="020B0604020202020204" pitchFamily="34" charset="0"/>
                  </a:rPr>
                  <a:t>且不</a:t>
                </a:r>
                <a:r>
                  <a:rPr lang="zh-CN" altLang="zh-CN" sz="1800" b="1" dirty="0">
                    <a:solidFill>
                      <a:srgbClr val="FF0000"/>
                    </a:solidFill>
                    <a:latin typeface="Arial" panose="020B0604020202020204" pitchFamily="34" charset="0"/>
                    <a:cs typeface="Arial" panose="020B0604020202020204" pitchFamily="34" charset="0"/>
                  </a:rPr>
                  <a:t>相等</a:t>
                </a:r>
                <a:endParaRPr lang="en-US" altLang="zh-CN" sz="1800" b="1" dirty="0">
                  <a:solidFill>
                    <a:srgbClr val="FF0000"/>
                  </a:solidFill>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当两个总体的方差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未知但相等时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即</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𝜎</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需要用两个样本的方差</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1</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和</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2</m:t>
                        </m:r>
                      </m:sub>
                      <m:sup>
                        <m:r>
                          <a:rPr lang="en-US" altLang="zh-CN" sz="1500">
                            <a:latin typeface="Cambria Math" panose="02040503050406030204" pitchFamily="18" charset="0"/>
                            <a:cs typeface="Arial" panose="020B0604020202020204" pitchFamily="34" charset="0"/>
                          </a:rPr>
                          <m:t>2</m:t>
                        </m:r>
                      </m:sup>
                    </m:sSubSup>
                  </m:oMath>
                </a14:m>
                <a:r>
                  <a:rPr lang="zh-CN" altLang="zh-CN" sz="1500" dirty="0">
                    <a:latin typeface="Arial" panose="020B0604020202020204" pitchFamily="34" charset="0"/>
                    <a:cs typeface="Arial" panose="020B0604020202020204" pitchFamily="34" charset="0"/>
                  </a:rPr>
                  <a:t>来估计</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这时</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需要将两个样本的数据组合在一起</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以给出总体方差的合并估计量</a:t>
                </a:r>
                <a14:m>
                  <m:oMath xmlns:m="http://schemas.openxmlformats.org/officeDocument/2006/math">
                    <m:sSubSup>
                      <m:sSubSupPr>
                        <m:ctrlPr>
                          <a:rPr lang="zh-CN" altLang="zh-CN" sz="1500" i="1">
                            <a:latin typeface="Cambria Math" panose="02040503050406030204" pitchFamily="18" charset="0"/>
                            <a:cs typeface="Arial" panose="020B0604020202020204" pitchFamily="34" charset="0"/>
                          </a:rPr>
                        </m:ctrlPr>
                      </m:sSubSupPr>
                      <m:e>
                        <m:r>
                          <a:rPr lang="en-US" altLang="zh-CN" sz="1500">
                            <a:latin typeface="Cambria Math" panose="02040503050406030204" pitchFamily="18" charset="0"/>
                            <a:cs typeface="Arial" panose="020B0604020202020204" pitchFamily="34" charset="0"/>
                          </a:rPr>
                          <m:t>𝑠</m:t>
                        </m:r>
                      </m:e>
                      <m:sub>
                        <m:r>
                          <a:rPr lang="en-US" altLang="zh-CN" sz="1500">
                            <a:latin typeface="Cambria Math" panose="02040503050406030204" pitchFamily="18" charset="0"/>
                            <a:cs typeface="Arial" panose="020B0604020202020204" pitchFamily="34" charset="0"/>
                          </a:rPr>
                          <m:t>𝑝</m:t>
                        </m:r>
                      </m:sub>
                      <m:sup>
                        <m:r>
                          <a:rPr lang="en-US" altLang="zh-CN" sz="1500">
                            <a:latin typeface="Cambria Math" panose="02040503050406030204" pitchFamily="18" charset="0"/>
                            <a:cs typeface="Arial" panose="020B0604020202020204" pitchFamily="34" charset="0"/>
                          </a:rPr>
                          <m:t>2</m:t>
                        </m:r>
                      </m:sup>
                    </m:sSubSup>
                  </m:oMath>
                </a14:m>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计算公式为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两个样本均值之差经标准化后近似服从自由度为</a:t>
                </a:r>
                <a:r>
                  <a:rPr lang="en-US" altLang="zh-CN" sz="1500" dirty="0">
                    <a:latin typeface="Arial" panose="020B0604020202020204" pitchFamily="34" charset="0"/>
                    <a:cs typeface="Arial" panose="020B0604020202020204" pitchFamily="34" charset="0"/>
                  </a:rPr>
                  <a:t>v</a:t>
                </a:r>
                <a:r>
                  <a:rPr lang="zh-CN" altLang="zh-CN" sz="1500" dirty="0">
                    <a:latin typeface="Arial" panose="020B0604020202020204" pitchFamily="34" charset="0"/>
                    <a:cs typeface="Arial" panose="020B0604020202020204" pitchFamily="34" charset="0"/>
                  </a:rPr>
                  <a:t>的</a:t>
                </a:r>
                <a:r>
                  <a:rPr lang="en-US" altLang="zh-CN" sz="1500" dirty="0">
                    <a:latin typeface="Arial" panose="020B0604020202020204" pitchFamily="34" charset="0"/>
                    <a:cs typeface="Arial" panose="020B0604020202020204" pitchFamily="34" charset="0"/>
                  </a:rPr>
                  <a:t>t</a:t>
                </a:r>
                <a:r>
                  <a:rPr lang="zh-CN" altLang="zh-CN" sz="1500" dirty="0">
                    <a:latin typeface="Arial" panose="020B0604020202020204" pitchFamily="34" charset="0"/>
                    <a:cs typeface="Arial" panose="020B0604020202020204" pitchFamily="34" charset="0"/>
                  </a:rPr>
                  <a:t>分布</a:t>
                </a:r>
                <a:r>
                  <a:rPr lang="en-US" altLang="zh-CN" sz="1500" dirty="0">
                    <a:latin typeface="Arial" panose="020B0604020202020204" pitchFamily="34" charset="0"/>
                    <a:cs typeface="Arial" panose="020B0604020202020204" pitchFamily="34" charset="0"/>
                  </a:rPr>
                  <a:t>,</a:t>
                </a:r>
                <a:r>
                  <a:rPr lang="zh-CN" altLang="zh-CN" sz="1500" dirty="0">
                    <a:latin typeface="Arial" panose="020B0604020202020204" pitchFamily="34" charset="0"/>
                    <a:cs typeface="Arial" panose="020B0604020202020204" pitchFamily="34" charset="0"/>
                  </a:rPr>
                  <a:t>自由度</a:t>
                </a:r>
                <a:r>
                  <a:rPr lang="en-US" altLang="zh-CN" sz="1500" dirty="0">
                    <a:latin typeface="Arial" panose="020B0604020202020204" pitchFamily="34" charset="0"/>
                    <a:cs typeface="Arial" panose="020B0604020202020204" pitchFamily="34" charset="0"/>
                  </a:rPr>
                  <a:t>v</a:t>
                </a:r>
                <a:r>
                  <a:rPr lang="zh-CN" altLang="zh-CN" sz="1500" dirty="0">
                    <a:latin typeface="Arial" panose="020B0604020202020204" pitchFamily="34" charset="0"/>
                    <a:cs typeface="Arial" panose="020B0604020202020204" pitchFamily="34" charset="0"/>
                  </a:rPr>
                  <a:t>的计算公式为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marL="0" indent="0">
                  <a:buNone/>
                </a:pPr>
                <a:r>
                  <a:rPr lang="zh-CN" altLang="zh-CN" sz="1500" i="1" dirty="0"/>
                  <a:t>　　</a:t>
                </a:r>
                <a:r>
                  <a:rPr lang="en-US" altLang="zh-CN" sz="1500" i="1" dirty="0"/>
                  <a:t>v=</a:t>
                </a:r>
                <a14:m>
                  <m:oMath xmlns:m="http://schemas.openxmlformats.org/officeDocument/2006/math">
                    <m:f>
                      <m:fPr>
                        <m:ctrlPr>
                          <a:rPr lang="zh-CN" altLang="zh-CN" sz="1500" i="1">
                            <a:latin typeface="Cambria Math" panose="02040503050406030204" pitchFamily="18" charset="0"/>
                          </a:rPr>
                        </m:ctrlPr>
                      </m:fPr>
                      <m:num>
                        <m:sSup>
                          <m:sSupPr>
                            <m:ctrlPr>
                              <a:rPr lang="zh-CN" altLang="zh-CN" sz="1500" i="1">
                                <a:latin typeface="Cambria Math" panose="02040503050406030204" pitchFamily="18" charset="0"/>
                              </a:rPr>
                            </m:ctrlPr>
                          </m:sSupPr>
                          <m:e>
                            <m:d>
                              <m:dPr>
                                <m:ctrlPr>
                                  <a:rPr lang="zh-CN" altLang="zh-CN" sz="1500" i="1">
                                    <a:latin typeface="Cambria Math" panose="02040503050406030204" pitchFamily="18" charset="0"/>
                                  </a:rPr>
                                </m:ctrlPr>
                              </m:dPr>
                              <m:e>
                                <m:f>
                                  <m:fPr>
                                    <m:ctrlPr>
                                      <a:rPr lang="zh-CN" altLang="zh-CN" sz="1500" i="1">
                                        <a:latin typeface="Cambria Math" panose="02040503050406030204" pitchFamily="18" charset="0"/>
                                      </a:rPr>
                                    </m:ctrlPr>
                                  </m:fPr>
                                  <m:num>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1</m:t>
                                        </m:r>
                                      </m:sub>
                                      <m:sup>
                                        <m:r>
                                          <a:rPr lang="en-US" altLang="zh-CN" sz="1500">
                                            <a:latin typeface="Cambria Math" panose="02040503050406030204" pitchFamily="18" charset="0"/>
                                          </a:rPr>
                                          <m:t>2</m:t>
                                        </m:r>
                                      </m:sup>
                                    </m:sSub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den>
                                </m:f>
                                <m:r>
                                  <a:rPr lang="en-US" altLang="zh-CN" sz="1500">
                                    <a:latin typeface="Cambria Math" panose="02040503050406030204" pitchFamily="18" charset="0"/>
                                  </a:rPr>
                                  <m:t>+</m:t>
                                </m:r>
                                <m:f>
                                  <m:fPr>
                                    <m:ctrlPr>
                                      <a:rPr lang="zh-CN" altLang="zh-CN" sz="1500" i="1">
                                        <a:latin typeface="Cambria Math" panose="02040503050406030204" pitchFamily="18" charset="0"/>
                                      </a:rPr>
                                    </m:ctrlPr>
                                  </m:fPr>
                                  <m:num>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2</m:t>
                                        </m:r>
                                      </m:sub>
                                      <m:sup>
                                        <m:r>
                                          <a:rPr lang="en-US" altLang="zh-CN" sz="1500">
                                            <a:latin typeface="Cambria Math" panose="02040503050406030204" pitchFamily="18" charset="0"/>
                                          </a:rPr>
                                          <m:t>2</m:t>
                                        </m:r>
                                      </m:sup>
                                    </m:sSub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den>
                                </m:f>
                              </m:e>
                            </m:d>
                          </m:e>
                          <m:sup>
                            <m:r>
                              <a:rPr lang="en-US" altLang="zh-CN" sz="1500">
                                <a:latin typeface="Cambria Math" panose="02040503050406030204" pitchFamily="18" charset="0"/>
                              </a:rPr>
                              <m:t>2</m:t>
                            </m:r>
                          </m:sup>
                        </m:sSup>
                      </m:num>
                      <m:den>
                        <m:f>
                          <m:fPr>
                            <m:ctrlPr>
                              <a:rPr lang="zh-CN" altLang="zh-CN" sz="1500" i="1">
                                <a:latin typeface="Cambria Math" panose="02040503050406030204" pitchFamily="18" charset="0"/>
                              </a:rPr>
                            </m:ctrlPr>
                          </m:fPr>
                          <m:num>
                            <m:sSup>
                              <m:sSupPr>
                                <m:ctrlPr>
                                  <a:rPr lang="zh-CN" altLang="zh-CN" sz="1500" i="1">
                                    <a:latin typeface="Cambria Math" panose="02040503050406030204" pitchFamily="18" charset="0"/>
                                  </a:rPr>
                                </m:ctrlPr>
                              </m:sSupPr>
                              <m:e>
                                <m:d>
                                  <m:dPr>
                                    <m:ctrlPr>
                                      <a:rPr lang="zh-CN" altLang="zh-CN" sz="1500" i="1">
                                        <a:latin typeface="Cambria Math" panose="02040503050406030204" pitchFamily="18" charset="0"/>
                                      </a:rPr>
                                    </m:ctrlPr>
                                  </m:dPr>
                                  <m:e>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1</m:t>
                                        </m:r>
                                      </m:sub>
                                      <m:sup>
                                        <m:r>
                                          <a:rPr lang="en-US" altLang="zh-CN" sz="1500">
                                            <a:latin typeface="Cambria Math" panose="02040503050406030204" pitchFamily="18" charset="0"/>
                                          </a:rPr>
                                          <m:t>2</m:t>
                                        </m:r>
                                      </m:sup>
                                    </m:sSubSup>
                                    <m:r>
                                      <m:rPr>
                                        <m:nor/>
                                      </m:rPr>
                                      <a:rPr lang="en-US" altLang="zh-CN" sz="1500">
                                        <a:latin typeface="Cambria Math" panose="02040503050406030204" pitchFamily="18"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e>
                                </m:d>
                              </m:e>
                              <m:sup>
                                <m:r>
                                  <a:rPr lang="en-US" altLang="zh-CN" sz="1500">
                                    <a:latin typeface="Cambria Math" panose="02040503050406030204" pitchFamily="18" charset="0"/>
                                  </a:rPr>
                                  <m:t>2</m:t>
                                </m:r>
                              </m:sup>
                            </m:s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r>
                              <m:rPr>
                                <m:nor/>
                              </m:rPr>
                              <a:rPr lang="en-US" altLang="zh-CN" sz="1500" i="1">
                                <a:latin typeface="Cambria Math" panose="02040503050406030204" pitchFamily="18" charset="0"/>
                              </a:rPr>
                              <m:t>−</m:t>
                            </m:r>
                            <m:r>
                              <a:rPr lang="en-US" altLang="zh-CN" sz="1500">
                                <a:latin typeface="Cambria Math" panose="02040503050406030204" pitchFamily="18" charset="0"/>
                              </a:rPr>
                              <m:t>1</m:t>
                            </m:r>
                          </m:den>
                        </m:f>
                        <m:r>
                          <a:rPr lang="en-US" altLang="zh-CN" sz="1500">
                            <a:latin typeface="Cambria Math" panose="02040503050406030204" pitchFamily="18" charset="0"/>
                          </a:rPr>
                          <m:t>+</m:t>
                        </m:r>
                        <m:f>
                          <m:fPr>
                            <m:ctrlPr>
                              <a:rPr lang="zh-CN" altLang="zh-CN" sz="1500" i="1">
                                <a:latin typeface="Cambria Math" panose="02040503050406030204" pitchFamily="18" charset="0"/>
                              </a:rPr>
                            </m:ctrlPr>
                          </m:fPr>
                          <m:num>
                            <m:sSup>
                              <m:sSupPr>
                                <m:ctrlPr>
                                  <a:rPr lang="zh-CN" altLang="zh-CN" sz="1500" i="1">
                                    <a:latin typeface="Cambria Math" panose="02040503050406030204" pitchFamily="18" charset="0"/>
                                  </a:rPr>
                                </m:ctrlPr>
                              </m:sSupPr>
                              <m:e>
                                <m:d>
                                  <m:dPr>
                                    <m:ctrlPr>
                                      <a:rPr lang="zh-CN" altLang="zh-CN" sz="1500" i="1">
                                        <a:latin typeface="Cambria Math" panose="02040503050406030204" pitchFamily="18" charset="0"/>
                                      </a:rPr>
                                    </m:ctrlPr>
                                  </m:dPr>
                                  <m:e>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2</m:t>
                                        </m:r>
                                      </m:sub>
                                      <m:sup>
                                        <m:r>
                                          <a:rPr lang="en-US" altLang="zh-CN" sz="1500">
                                            <a:latin typeface="Cambria Math" panose="02040503050406030204" pitchFamily="18" charset="0"/>
                                          </a:rPr>
                                          <m:t>2</m:t>
                                        </m:r>
                                      </m:sup>
                                    </m:sSubSup>
                                    <m:r>
                                      <m:rPr>
                                        <m:nor/>
                                      </m:rPr>
                                      <a:rPr lang="en-US" altLang="zh-CN" sz="1500">
                                        <a:latin typeface="Cambria Math" panose="02040503050406030204" pitchFamily="18" charset="0"/>
                                      </a:rPr>
                                      <m:t>/</m:t>
                                    </m:r>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e>
                                </m:d>
                              </m:e>
                              <m:sup>
                                <m:r>
                                  <a:rPr lang="en-US" altLang="zh-CN" sz="1500">
                                    <a:latin typeface="Cambria Math" panose="02040503050406030204" pitchFamily="18" charset="0"/>
                                  </a:rPr>
                                  <m:t>2</m:t>
                                </m:r>
                              </m:sup>
                            </m:s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r>
                              <m:rPr>
                                <m:nor/>
                              </m:rPr>
                              <a:rPr lang="en-US" altLang="zh-CN" sz="1500" i="1">
                                <a:latin typeface="Cambria Math" panose="02040503050406030204" pitchFamily="18" charset="0"/>
                              </a:rPr>
                              <m:t>−</m:t>
                            </m:r>
                            <m:r>
                              <a:rPr lang="en-US" altLang="zh-CN" sz="1500">
                                <a:latin typeface="Cambria Math" panose="02040503050406030204" pitchFamily="18" charset="0"/>
                              </a:rPr>
                              <m:t>1</m:t>
                            </m:r>
                          </m:den>
                        </m:f>
                      </m:den>
                    </m:f>
                  </m:oMath>
                </a14:m>
                <a:endParaRPr lang="en-US" altLang="zh-CN" sz="1500" i="1" dirty="0"/>
              </a:p>
              <a:p>
                <a:pPr marL="447675" indent="-447675" algn="just">
                  <a:lnSpc>
                    <a:spcPct val="110000"/>
                  </a:lnSpc>
                  <a:buClr>
                    <a:srgbClr val="318AAD"/>
                  </a:buClr>
                  <a:buSzPct val="100000"/>
                  <a:buFont typeface="Wingdings" panose="05000000000000000000" pitchFamily="2" charset="2"/>
                  <a:buChar char="l"/>
                  <a:defRPr/>
                </a:pPr>
                <a:r>
                  <a:rPr lang="zh-CN" altLang="zh-CN" sz="1500" dirty="0">
                    <a:latin typeface="Arial" panose="020B0604020202020204" pitchFamily="34" charset="0"/>
                    <a:cs typeface="Arial" panose="020B0604020202020204" pitchFamily="34" charset="0"/>
                  </a:rPr>
                  <a:t>两个总体均值之差在</a:t>
                </a:r>
                <a:r>
                  <a:rPr lang="en-US" altLang="zh-CN" sz="1500" dirty="0">
                    <a:latin typeface="Arial" panose="020B0604020202020204" pitchFamily="34" charset="0"/>
                    <a:cs typeface="Arial" panose="020B0604020202020204" pitchFamily="34" charset="0"/>
                  </a:rPr>
                  <a:t>1-α</a:t>
                </a:r>
                <a:r>
                  <a:rPr lang="zh-CN" altLang="zh-CN" sz="1500" dirty="0">
                    <a:latin typeface="Arial" panose="020B0604020202020204" pitchFamily="34" charset="0"/>
                    <a:cs typeface="Arial" panose="020B0604020202020204" pitchFamily="34" charset="0"/>
                  </a:rPr>
                  <a:t>置信水平下的置信区间为</a:t>
                </a:r>
                <a:r>
                  <a:rPr lang="en-US" altLang="zh-CN" sz="1500" dirty="0">
                    <a:latin typeface="Arial" panose="020B0604020202020204" pitchFamily="34" charset="0"/>
                    <a:cs typeface="Arial" panose="020B0604020202020204" pitchFamily="34" charset="0"/>
                  </a:rPr>
                  <a:t>:</a:t>
                </a:r>
                <a:endParaRPr lang="zh-CN" altLang="zh-CN" sz="1500" dirty="0">
                  <a:latin typeface="Arial" panose="020B0604020202020204" pitchFamily="34" charset="0"/>
                  <a:cs typeface="Arial" panose="020B0604020202020204" pitchFamily="34" charset="0"/>
                </a:endParaRPr>
              </a:p>
              <a:p>
                <a:pPr marL="0" indent="0">
                  <a:buNone/>
                </a:pPr>
                <a:r>
                  <a:rPr lang="zh-CN" altLang="zh-CN" sz="1500" i="1" dirty="0"/>
                  <a:t>　　</a:t>
                </a:r>
                <a:r>
                  <a:rPr lang="en-US" altLang="zh-CN" sz="1500" dirty="0"/>
                  <a:t>(</a:t>
                </a:r>
                <a14:m>
                  <m:oMath xmlns:m="http://schemas.openxmlformats.org/officeDocument/2006/math">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1</m:t>
                        </m:r>
                      </m:sub>
                    </m:sSub>
                  </m:oMath>
                </a14:m>
                <a:r>
                  <a:rPr lang="en-US" altLang="zh-CN" sz="1500" i="1" dirty="0"/>
                  <a:t>-</a:t>
                </a:r>
                <a14:m>
                  <m:oMath xmlns:m="http://schemas.openxmlformats.org/officeDocument/2006/math">
                    <m:sSub>
                      <m:sSubPr>
                        <m:ctrlPr>
                          <a:rPr lang="zh-CN" altLang="zh-CN" sz="1500" i="1">
                            <a:latin typeface="Cambria Math" panose="02040503050406030204" pitchFamily="18" charset="0"/>
                          </a:rPr>
                        </m:ctrlPr>
                      </m:sSubPr>
                      <m:e>
                        <m:acc>
                          <m:accPr>
                            <m:chr m:val="̅"/>
                            <m:ctrlPr>
                              <a:rPr lang="zh-CN" altLang="zh-CN" sz="1500" i="1">
                                <a:latin typeface="Cambria Math" panose="02040503050406030204" pitchFamily="18" charset="0"/>
                              </a:rPr>
                            </m:ctrlPr>
                          </m:accPr>
                          <m:e>
                            <m:r>
                              <m:rPr>
                                <m:sty m:val="p"/>
                              </m:rPr>
                              <a:rPr lang="en-US" altLang="zh-CN" sz="1500">
                                <a:latin typeface="Cambria Math" panose="02040503050406030204" pitchFamily="18" charset="0"/>
                              </a:rPr>
                              <m:t>x</m:t>
                            </m:r>
                          </m:e>
                        </m:acc>
                      </m:e>
                      <m:sub>
                        <m:r>
                          <a:rPr lang="en-US" altLang="zh-CN" sz="1500">
                            <a:latin typeface="Cambria Math" panose="02040503050406030204" pitchFamily="18" charset="0"/>
                          </a:rPr>
                          <m:t>2</m:t>
                        </m:r>
                      </m:sub>
                    </m:sSub>
                  </m:oMath>
                </a14:m>
                <a:r>
                  <a:rPr lang="en-US" altLang="zh-CN" sz="1500" dirty="0"/>
                  <a:t>)</a:t>
                </a:r>
                <a:r>
                  <a:rPr lang="en-US" altLang="zh-CN" sz="1500" i="1" dirty="0"/>
                  <a:t>±t</a:t>
                </a:r>
                <a:r>
                  <a:rPr lang="en-US" altLang="zh-CN" sz="1500" i="1" baseline="-25000" dirty="0"/>
                  <a:t>α/</a:t>
                </a:r>
                <a:r>
                  <a:rPr lang="en-US" altLang="zh-CN" sz="1500" baseline="-25000" dirty="0"/>
                  <a:t>2</a:t>
                </a:r>
                <a:r>
                  <a:rPr lang="en-US" altLang="zh-CN" sz="1500" dirty="0"/>
                  <a:t>(</a:t>
                </a:r>
                <a:r>
                  <a:rPr lang="en-US" altLang="zh-CN" sz="1500" i="1" dirty="0"/>
                  <a:t>v</a:t>
                </a:r>
                <a:r>
                  <a:rPr lang="en-US" altLang="zh-CN" sz="1500" dirty="0"/>
                  <a:t>)</a:t>
                </a:r>
                <a14:m>
                  <m:oMath xmlns:m="http://schemas.openxmlformats.org/officeDocument/2006/math">
                    <m:rad>
                      <m:radPr>
                        <m:degHide m:val="on"/>
                        <m:ctrlPr>
                          <a:rPr lang="zh-CN" altLang="zh-CN" sz="1500" i="1">
                            <a:latin typeface="Cambria Math" panose="02040503050406030204" pitchFamily="18" charset="0"/>
                          </a:rPr>
                        </m:ctrlPr>
                      </m:radPr>
                      <m:deg/>
                      <m:e>
                        <m:f>
                          <m:fPr>
                            <m:ctrlPr>
                              <a:rPr lang="zh-CN" altLang="zh-CN" sz="1500" i="1">
                                <a:latin typeface="Cambria Math" panose="02040503050406030204" pitchFamily="18" charset="0"/>
                              </a:rPr>
                            </m:ctrlPr>
                          </m:fPr>
                          <m:num>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1</m:t>
                                </m:r>
                              </m:sub>
                              <m:sup>
                                <m:r>
                                  <a:rPr lang="en-US" altLang="zh-CN" sz="1500">
                                    <a:latin typeface="Cambria Math" panose="02040503050406030204" pitchFamily="18" charset="0"/>
                                  </a:rPr>
                                  <m:t>2</m:t>
                                </m:r>
                              </m:sup>
                            </m:sSub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1</m:t>
                                </m:r>
                              </m:sub>
                            </m:sSub>
                          </m:den>
                        </m:f>
                        <m:r>
                          <a:rPr lang="en-US" altLang="zh-CN" sz="1500">
                            <a:latin typeface="Cambria Math" panose="02040503050406030204" pitchFamily="18" charset="0"/>
                          </a:rPr>
                          <m:t>+</m:t>
                        </m:r>
                        <m:f>
                          <m:fPr>
                            <m:ctrlPr>
                              <a:rPr lang="zh-CN" altLang="zh-CN" sz="1500" i="1">
                                <a:latin typeface="Cambria Math" panose="02040503050406030204" pitchFamily="18" charset="0"/>
                              </a:rPr>
                            </m:ctrlPr>
                          </m:fPr>
                          <m:num>
                            <m:sSubSup>
                              <m:sSubSupPr>
                                <m:ctrlPr>
                                  <a:rPr lang="zh-CN" altLang="zh-CN" sz="1500" i="1">
                                    <a:latin typeface="Cambria Math" panose="02040503050406030204" pitchFamily="18" charset="0"/>
                                  </a:rPr>
                                </m:ctrlPr>
                              </m:sSubSupPr>
                              <m:e>
                                <m:r>
                                  <a:rPr lang="en-US" altLang="zh-CN" sz="1500" i="1">
                                    <a:latin typeface="Cambria Math" panose="02040503050406030204" pitchFamily="18" charset="0"/>
                                  </a:rPr>
                                  <m:t>𝑠</m:t>
                                </m:r>
                              </m:e>
                              <m:sub>
                                <m:r>
                                  <a:rPr lang="en-US" altLang="zh-CN" sz="1500">
                                    <a:latin typeface="Cambria Math" panose="02040503050406030204" pitchFamily="18" charset="0"/>
                                  </a:rPr>
                                  <m:t>2</m:t>
                                </m:r>
                              </m:sub>
                              <m:sup>
                                <m:r>
                                  <a:rPr lang="en-US" altLang="zh-CN" sz="1500">
                                    <a:latin typeface="Cambria Math" panose="02040503050406030204" pitchFamily="18" charset="0"/>
                                  </a:rPr>
                                  <m:t>2</m:t>
                                </m:r>
                              </m:sup>
                            </m:sSubSup>
                          </m:num>
                          <m:den>
                            <m:sSub>
                              <m:sSubPr>
                                <m:ctrlPr>
                                  <a:rPr lang="zh-CN" altLang="zh-CN" sz="1500" i="1">
                                    <a:latin typeface="Cambria Math" panose="02040503050406030204" pitchFamily="18" charset="0"/>
                                  </a:rPr>
                                </m:ctrlPr>
                              </m:sSubPr>
                              <m:e>
                                <m:r>
                                  <a:rPr lang="en-US" altLang="zh-CN" sz="1500" i="1">
                                    <a:latin typeface="Cambria Math" panose="02040503050406030204" pitchFamily="18" charset="0"/>
                                  </a:rPr>
                                  <m:t>𝑛</m:t>
                                </m:r>
                              </m:e>
                              <m:sub>
                                <m:r>
                                  <a:rPr lang="en-US" altLang="zh-CN" sz="1500">
                                    <a:latin typeface="Cambria Math" panose="02040503050406030204" pitchFamily="18" charset="0"/>
                                  </a:rPr>
                                  <m:t>2</m:t>
                                </m:r>
                              </m:sub>
                            </m:sSub>
                          </m:den>
                        </m:f>
                      </m:e>
                    </m:rad>
                  </m:oMath>
                </a14:m>
                <a:endParaRPr lang="zh-CN" altLang="zh-CN" sz="1500" dirty="0"/>
              </a:p>
            </p:txBody>
          </p:sp>
        </mc:Choice>
        <mc:Fallback>
          <p:sp>
            <p:nvSpPr>
              <p:cNvPr id="5" name="Content Placeholder 8"/>
              <p:cNvSpPr txBox="1">
                <a:spLocks noRot="1" noChangeAspect="1" noMove="1" noResize="1" noEditPoints="1" noAdjustHandles="1" noChangeArrowheads="1" noChangeShapeType="1" noTextEdit="1"/>
              </p:cNvSpPr>
              <p:nvPr/>
            </p:nvSpPr>
            <p:spPr>
              <a:xfrm>
                <a:off x="5951984" y="1556792"/>
                <a:ext cx="5544616" cy="4680520"/>
              </a:xfrm>
              <a:prstGeom prst="rect">
                <a:avLst/>
              </a:prstGeom>
              <a:blipFill rotWithShape="1">
                <a:blip r:embed="rId2"/>
                <a:stretch>
                  <a:fillRect l="-117" t="-144" r="-104"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551384" y="1556792"/>
            <a:ext cx="4608512" cy="4680520"/>
          </a:xfrm>
          <a:ln w="12700" cmpd="dbl">
            <a:solidFill>
              <a:schemeClr val="accent1"/>
            </a:solidFill>
          </a:ln>
        </p:spPr>
        <p:txBody>
          <a:bodyPr>
            <a:noAutofit/>
          </a:bodyPr>
          <a:lstStyle/>
          <a:p>
            <a:pPr marL="0" indent="0" algn="just">
              <a:lnSpc>
                <a:spcPct val="110000"/>
              </a:lnSpc>
              <a:buClr>
                <a:srgbClr val="318AAD"/>
              </a:buClr>
              <a:buSzPct val="100000"/>
              <a:buNone/>
              <a:defRPr/>
            </a:pPr>
            <a:r>
              <a:rPr lang="zh-CN" altLang="zh-CN" sz="1800" b="1" dirty="0">
                <a:solidFill>
                  <a:srgbClr val="FF0000"/>
                </a:solidFill>
              </a:rPr>
              <a:t>【例</a:t>
            </a:r>
            <a:r>
              <a:rPr lang="en-US" altLang="zh-CN" sz="1800" b="1" dirty="0">
                <a:solidFill>
                  <a:srgbClr val="FF0000"/>
                </a:solidFill>
              </a:rPr>
              <a:t>7.7</a:t>
            </a:r>
            <a:r>
              <a:rPr lang="zh-CN" altLang="zh-CN" sz="1800" b="1" dirty="0">
                <a:solidFill>
                  <a:srgbClr val="FF0000"/>
                </a:solidFill>
              </a:rPr>
              <a:t>】</a:t>
            </a:r>
            <a:r>
              <a:rPr lang="zh-CN" altLang="zh-CN" sz="1800" dirty="0"/>
              <a:t>为估计两种方法组装产品所需时间的差异</a:t>
            </a:r>
            <a:r>
              <a:rPr lang="en-US" altLang="zh-CN" sz="1800" dirty="0"/>
              <a:t>,</a:t>
            </a:r>
            <a:r>
              <a:rPr lang="zh-CN" altLang="zh-CN" sz="1800" dirty="0"/>
              <a:t>分别为两种不同的组装方法随机安排</a:t>
            </a:r>
            <a:r>
              <a:rPr lang="en-US" altLang="zh-CN" sz="1800" dirty="0"/>
              <a:t>12</a:t>
            </a:r>
            <a:r>
              <a:rPr lang="zh-CN" altLang="zh-CN" sz="1800" dirty="0"/>
              <a:t>个工人</a:t>
            </a:r>
            <a:r>
              <a:rPr lang="en-US" altLang="zh-CN" sz="1800" dirty="0"/>
              <a:t>,</a:t>
            </a:r>
            <a:r>
              <a:rPr lang="zh-CN" altLang="zh-CN" sz="1800" dirty="0"/>
              <a:t>每个工人组装一件产品所需的时间如表</a:t>
            </a:r>
            <a:r>
              <a:rPr lang="en-US" altLang="zh-CN" sz="1800" dirty="0"/>
              <a:t>7-6</a:t>
            </a:r>
            <a:r>
              <a:rPr lang="zh-CN" altLang="zh-CN" sz="1800" dirty="0"/>
              <a:t>所示</a:t>
            </a:r>
            <a:endParaRPr lang="zh-CN" altLang="zh-CN" sz="1800" dirty="0">
              <a:latin typeface="Arial" panose="020B0604020202020204" pitchFamily="34" charset="0"/>
              <a:cs typeface="Arial" panose="020B060402020202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独立小样本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5303912" y="1556792"/>
                <a:ext cx="6192688"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根据样本数据计算得到</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方法</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32</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15</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996</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方法</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28</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8</a:t>
                </a: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19</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358</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总体方差的合并估计量为</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14:m>
                  <m:oMath xmlns:m="http://schemas.openxmlformats.org/officeDocument/2006/math">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den>
                    </m:f>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15</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996</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19</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358</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r>
                          <m:rPr>
                            <m:nor/>
                          </m:rPr>
                          <a:rPr lang="en-US" altLang="zh-CN" sz="16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den>
                    </m:f>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17</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677</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=0.05,</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自由度</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(12+12-2)=22</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查</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分布表得</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0.05/2</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(22)=2.073 9</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。两个总体均值之差</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μ</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μ</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的置信水平下的置信区间为</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±t</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d>
                          <m:d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d>
                      </m:e>
                    </m:rad>
                  </m:oMath>
                </a14:m>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	</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(32</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28</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8)</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073 9</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rad>
                      <m:radPr>
                        <m:degHide m:val="on"/>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17</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677</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
                          <m:d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den>
                            </m:f>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12</m:t>
                                </m:r>
                              </m:den>
                            </m:f>
                          </m:e>
                        </m:d>
                      </m:e>
                    </m:rad>
                  </m:oMath>
                </a14:m>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	</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56(</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分钟</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600" dirty="0">
                    <a:effectLst/>
                    <a:latin typeface="Calibri" panose="020F0502020204030204" pitchFamily="34" charset="0"/>
                    <a:ea typeface="华文细黑" panose="02010600040101010101" pitchFamily="2" charset="-122"/>
                  </a:rPr>
                  <a:t>(0.14,7.26),</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两种方法组装产品所需平均时间之差的</a:t>
                </a:r>
                <a:r>
                  <a:rPr lang="en-US" altLang="zh-CN" sz="1600" dirty="0">
                    <a:effectLst/>
                    <a:latin typeface="Calibri" panose="020F0502020204030204" pitchFamily="34" charset="0"/>
                    <a:ea typeface="华文细黑" panose="02010600040101010101" pitchFamily="2" charset="-122"/>
                  </a:rPr>
                  <a:t>95%</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600" dirty="0">
                    <a:effectLst/>
                    <a:latin typeface="Calibri" panose="020F0502020204030204" pitchFamily="34" charset="0"/>
                    <a:ea typeface="华文细黑" panose="02010600040101010101" pitchFamily="2" charset="-122"/>
                  </a:rPr>
                  <a:t>0.14~7.26</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分钟</a:t>
                </a:r>
                <a:endParaRPr lang="zh-CN" altLang="zh-CN" sz="1600" dirty="0"/>
              </a:p>
            </p:txBody>
          </p:sp>
        </mc:Choice>
        <mc:Fallback>
          <p:sp>
            <p:nvSpPr>
              <p:cNvPr id="5" name="Content Placeholder 8"/>
              <p:cNvSpPr txBox="1">
                <a:spLocks noRot="1" noChangeAspect="1" noMove="1" noResize="1" noEditPoints="1" noAdjustHandles="1" noChangeArrowheads="1" noChangeShapeType="1" noTextEdit="1"/>
              </p:cNvSpPr>
              <p:nvPr/>
            </p:nvSpPr>
            <p:spPr>
              <a:xfrm>
                <a:off x="5303912" y="1556792"/>
                <a:ext cx="6192688" cy="4680520"/>
              </a:xfrm>
              <a:prstGeom prst="rect">
                <a:avLst/>
              </a:prstGeom>
              <a:blipFill rotWithShape="1">
                <a:blip r:embed="rId1"/>
                <a:stretch>
                  <a:fillRect l="-109" t="-144" r="-93" b="-128"/>
                </a:stretch>
              </a:blipFill>
              <a:ln w="12700" cmpd="dbl">
                <a:solidFill>
                  <a:schemeClr val="accent1"/>
                </a:solidFill>
              </a:ln>
            </p:spPr>
            <p:txBody>
              <a:bodyPr/>
              <a:lstStyle/>
              <a:p>
                <a:r>
                  <a:rPr lang="zh-CN" altLang="en-US">
                    <a:noFill/>
                  </a:rPr>
                  <a:t> </a:t>
                </a:r>
              </a:p>
            </p:txBody>
          </p:sp>
        </mc:Fallback>
      </mc:AlternateContent>
      <p:graphicFrame>
        <p:nvGraphicFramePr>
          <p:cNvPr id="3" name="表格 2"/>
          <p:cNvGraphicFramePr>
            <a:graphicFrameLocks noGrp="1"/>
          </p:cNvGraphicFramePr>
          <p:nvPr/>
        </p:nvGraphicFramePr>
        <p:xfrm>
          <a:off x="596348" y="2996952"/>
          <a:ext cx="4491539" cy="3096343"/>
        </p:xfrm>
        <a:graphic>
          <a:graphicData uri="http://schemas.openxmlformats.org/drawingml/2006/table">
            <a:tbl>
              <a:tblPr firstRow="1" firstCol="1" bandRow="1">
                <a:tableStyleId>{5C22544A-7EE6-4342-B048-85BDC9FD1C3A}</a:tableStyleId>
              </a:tblPr>
              <a:tblGrid>
                <a:gridCol w="1081640"/>
                <a:gridCol w="1081640"/>
                <a:gridCol w="1081640"/>
                <a:gridCol w="1246619"/>
              </a:tblGrid>
              <a:tr h="421827">
                <a:tc>
                  <a:txBody>
                    <a:bodyPr/>
                    <a:lstStyle/>
                    <a:p>
                      <a:pPr algn="ctr">
                        <a:lnSpc>
                          <a:spcPts val="1200"/>
                        </a:lnSpc>
                      </a:pPr>
                      <a:r>
                        <a:rPr lang="zh-CN" sz="1600" b="1">
                          <a:effectLst/>
                        </a:rPr>
                        <a:t>方法</a:t>
                      </a:r>
                      <a:r>
                        <a:rPr lang="en-US" sz="1600" b="1">
                          <a:effectLst/>
                        </a:rPr>
                        <a:t>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a:effectLst/>
                        </a:rPr>
                        <a:t>方法</a:t>
                      </a:r>
                      <a:r>
                        <a:rPr lang="en-US" sz="1600" b="1">
                          <a:effectLst/>
                        </a:rPr>
                        <a:t>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a:effectLst/>
                        </a:rPr>
                        <a:t>方法</a:t>
                      </a:r>
                      <a:r>
                        <a:rPr lang="en-US" sz="1600" b="1">
                          <a:effectLst/>
                        </a:rPr>
                        <a:t>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a:effectLst/>
                        </a:rPr>
                        <a:t>方法</a:t>
                      </a:r>
                      <a:r>
                        <a:rPr lang="en-US" sz="1600" b="1">
                          <a:effectLst/>
                        </a:rPr>
                        <a:t>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146">
                <a:tc>
                  <a:txBody>
                    <a:bodyPr/>
                    <a:lstStyle/>
                    <a:p>
                      <a:pPr algn="ctr">
                        <a:lnSpc>
                          <a:spcPts val="1200"/>
                        </a:lnSpc>
                      </a:pPr>
                      <a:r>
                        <a:rPr lang="en-US" sz="1600" b="1">
                          <a:effectLst/>
                        </a:rPr>
                        <a:t>28.3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27.6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36.0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dirty="0">
                          <a:effectLst/>
                        </a:rPr>
                        <a:t>31.7</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r h="418146">
                <a:tc>
                  <a:txBody>
                    <a:bodyPr/>
                    <a:lstStyle/>
                    <a:p>
                      <a:pPr algn="ctr">
                        <a:lnSpc>
                          <a:spcPts val="1200"/>
                        </a:lnSpc>
                      </a:pPr>
                      <a:r>
                        <a:rPr lang="en-US" sz="1600" b="1">
                          <a:effectLst/>
                        </a:rPr>
                        <a:t>30.1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22.2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37.2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26.0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146">
                <a:tc>
                  <a:txBody>
                    <a:bodyPr/>
                    <a:lstStyle/>
                    <a:p>
                      <a:pPr algn="ctr">
                        <a:lnSpc>
                          <a:spcPts val="1200"/>
                        </a:lnSpc>
                      </a:pPr>
                      <a:r>
                        <a:rPr lang="en-US" sz="1600" b="1">
                          <a:effectLst/>
                        </a:rPr>
                        <a:t>29.0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31.0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38.5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32.0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146">
                <a:tc>
                  <a:txBody>
                    <a:bodyPr/>
                    <a:lstStyle/>
                    <a:p>
                      <a:pPr algn="ctr">
                        <a:lnSpc>
                          <a:spcPts val="1200"/>
                        </a:lnSpc>
                      </a:pPr>
                      <a:r>
                        <a:rPr lang="en-US" sz="1600" b="1">
                          <a:effectLst/>
                        </a:rPr>
                        <a:t>37.6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33.8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34.4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31.2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418146">
                <a:tc>
                  <a:txBody>
                    <a:bodyPr/>
                    <a:lstStyle/>
                    <a:p>
                      <a:pPr algn="ctr">
                        <a:lnSpc>
                          <a:spcPts val="1200"/>
                        </a:lnSpc>
                      </a:pPr>
                      <a:r>
                        <a:rPr lang="en-US" sz="1600" b="1">
                          <a:effectLst/>
                        </a:rPr>
                        <a:t>32.1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20.0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28.0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33.4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583786">
                <a:tc>
                  <a:txBody>
                    <a:bodyPr/>
                    <a:lstStyle/>
                    <a:p>
                      <a:pPr algn="ctr">
                        <a:lnSpc>
                          <a:spcPts val="1200"/>
                        </a:lnSpc>
                      </a:pPr>
                      <a:r>
                        <a:rPr lang="en-US" sz="1600" b="1">
                          <a:effectLst/>
                        </a:rPr>
                        <a:t>28.8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30.2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30.0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800"/>
                        </a:lnSpc>
                      </a:pPr>
                      <a:r>
                        <a:rPr lang="en-US" sz="1600" b="1" dirty="0">
                          <a:effectLst/>
                        </a:rPr>
                        <a:t>26.5</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p:spTree>
    <p:custDataLst>
      <p:tags r:id="rId2"/>
    </p:custData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95400" y="1556792"/>
            <a:ext cx="4608512" cy="4680520"/>
          </a:xfrm>
          <a:ln w="12700" cmpd="dbl">
            <a:solidFill>
              <a:schemeClr val="accent1"/>
            </a:solidFill>
          </a:ln>
        </p:spPr>
        <p:txBody>
          <a:bodyPr>
            <a:noAutofit/>
          </a:bodyPr>
          <a:lstStyle/>
          <a:p>
            <a:pPr marL="0" indent="0" algn="just">
              <a:lnSpc>
                <a:spcPct val="110000"/>
              </a:lnSpc>
              <a:buClr>
                <a:srgbClr val="318AAD"/>
              </a:buClr>
              <a:buSzPct val="100000"/>
              <a:buNone/>
              <a:defRPr/>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7.8</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effectLst/>
                <a:latin typeface="Calibri" panose="020F0502020204030204" pitchFamily="34" charset="0"/>
                <a:ea typeface="华文细黑" panose="02010600040101010101" pitchFamily="2" charset="-122"/>
              </a:rPr>
              <a:t>7.7</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的数据。假定第一种方法随机安排</a:t>
            </a:r>
            <a:r>
              <a:rPr lang="en-US" altLang="zh-CN" sz="1800" dirty="0">
                <a:effectLst/>
                <a:latin typeface="Calibri" panose="020F0502020204030204" pitchFamily="34" charset="0"/>
                <a:ea typeface="华文细黑" panose="02010600040101010101" pitchFamily="2" charset="-122"/>
              </a:rPr>
              <a:t>12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个工人</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第二种方法随机安排</a:t>
            </a:r>
            <a:r>
              <a:rPr lang="en-US" altLang="zh-CN" sz="1800" dirty="0">
                <a:effectLst/>
                <a:latin typeface="Calibri" panose="020F0502020204030204" pitchFamily="34" charset="0"/>
                <a:ea typeface="华文细黑" panose="02010600040101010101" pitchFamily="2" charset="-122"/>
              </a:rPr>
              <a:t>8</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个工人</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i="1" dirty="0">
                <a:effectLst/>
                <a:latin typeface="Calibri" panose="020F0502020204030204" pitchFamily="34" charset="0"/>
                <a:ea typeface="华文细黑" panose="02010600040101010101" pitchFamily="2" charset="-122"/>
              </a:rPr>
              <a:t>n</a:t>
            </a:r>
            <a:r>
              <a:rPr lang="en-US" altLang="zh-CN" sz="1800" baseline="-25000" dirty="0">
                <a:effectLst/>
                <a:latin typeface="Calibri" panose="020F0502020204030204" pitchFamily="34" charset="0"/>
                <a:ea typeface="华文细黑" panose="02010600040101010101" pitchFamily="2" charset="-122"/>
              </a:rPr>
              <a:t>1</a:t>
            </a:r>
            <a:r>
              <a:rPr lang="en-US" altLang="zh-CN" sz="1800" dirty="0">
                <a:effectLst/>
                <a:latin typeface="Calibri" panose="020F0502020204030204" pitchFamily="34" charset="0"/>
                <a:ea typeface="华文细黑" panose="02010600040101010101" pitchFamily="2" charset="-122"/>
              </a:rPr>
              <a:t>=12,</a:t>
            </a:r>
            <a:r>
              <a:rPr lang="en-US" altLang="zh-CN" sz="1800" i="1" dirty="0">
                <a:effectLst/>
                <a:latin typeface="Calibri" panose="020F0502020204030204" pitchFamily="34" charset="0"/>
                <a:ea typeface="华文细黑" panose="02010600040101010101" pitchFamily="2" charset="-122"/>
              </a:rPr>
              <a:t>n</a:t>
            </a:r>
            <a:r>
              <a:rPr lang="en-US" altLang="zh-CN" sz="1800" baseline="-25000" dirty="0">
                <a:effectLst/>
                <a:latin typeface="Calibri" panose="020F0502020204030204" pitchFamily="34" charset="0"/>
                <a:ea typeface="华文细黑" panose="02010600040101010101" pitchFamily="2" charset="-122"/>
              </a:rPr>
              <a:t>2</a:t>
            </a:r>
            <a:r>
              <a:rPr lang="en-US" altLang="zh-CN" sz="1800" dirty="0">
                <a:effectLst/>
                <a:latin typeface="Calibri" panose="020F0502020204030204" pitchFamily="34" charset="0"/>
                <a:ea typeface="华文细黑" panose="02010600040101010101" pitchFamily="2" charset="-122"/>
              </a:rPr>
              <a:t>=8,</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所得的有关数据如表</a:t>
            </a:r>
            <a:r>
              <a:rPr lang="en-US" altLang="zh-CN" sz="1800" dirty="0">
                <a:effectLst/>
                <a:latin typeface="Calibri" panose="020F0502020204030204" pitchFamily="34" charset="0"/>
                <a:ea typeface="华文细黑" panose="02010600040101010101" pitchFamily="2" charset="-122"/>
              </a:rPr>
              <a:t>7-7</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所示。假定两个总体的方差不相等</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试以</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的置信水平建立两种方法组装产品所需平均时间之差的置信区间</a:t>
            </a:r>
            <a:endParaRPr lang="zh-CN" altLang="zh-CN" sz="1800" dirty="0">
              <a:latin typeface="Arial" panose="020B0604020202020204" pitchFamily="34" charset="0"/>
              <a:cs typeface="Arial" panose="020B060402020202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独立小样本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5447926" y="1556792"/>
                <a:ext cx="6048674"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600" b="1" dirty="0">
                    <a:solidFill>
                      <a:srgbClr val="FF0000"/>
                    </a:solidFill>
                    <a:effectLst/>
                    <a:latin typeface="Arial" panose="020B0604020202020204" pitchFamily="34" charset="0"/>
                    <a:cs typeface="Arial" panose="020B0604020202020204" pitchFamily="34" charset="0"/>
                  </a:rPr>
                  <a:t>解</a:t>
                </a:r>
                <a:r>
                  <a:rPr lang="en-US" altLang="zh-CN" sz="1600" b="1" dirty="0">
                    <a:solidFill>
                      <a:srgbClr val="FF0000"/>
                    </a:solidFill>
                    <a:effectLst/>
                    <a:latin typeface="Arial" panose="020B0604020202020204" pitchFamily="34" charset="0"/>
                    <a:cs typeface="Arial" panose="020B0604020202020204" pitchFamily="34" charset="0"/>
                  </a:rPr>
                  <a:t>:</a:t>
                </a:r>
                <a:r>
                  <a:rPr lang="zh-CN" altLang="zh-CN" sz="1600" dirty="0">
                    <a:latin typeface="Arial" panose="020B0604020202020204" pitchFamily="34" charset="0"/>
                    <a:cs typeface="Arial" panose="020B0604020202020204" pitchFamily="34" charset="0"/>
                  </a:rPr>
                  <a:t>根据表</a:t>
                </a:r>
                <a:r>
                  <a:rPr lang="en-US" altLang="zh-CN" sz="1600" dirty="0">
                    <a:latin typeface="Arial" panose="020B0604020202020204" pitchFamily="34" charset="0"/>
                    <a:cs typeface="Arial" panose="020B0604020202020204" pitchFamily="34" charset="0"/>
                  </a:rPr>
                  <a:t>7-7</a:t>
                </a:r>
                <a:r>
                  <a:rPr lang="zh-CN" altLang="zh-CN" sz="1600" dirty="0">
                    <a:latin typeface="Arial" panose="020B0604020202020204" pitchFamily="34" charset="0"/>
                    <a:cs typeface="Arial" panose="020B0604020202020204" pitchFamily="34" charset="0"/>
                  </a:rPr>
                  <a:t>的数据计算得到</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dirty="0">
                    <a:latin typeface="Arial" panose="020B0604020202020204" pitchFamily="34" charset="0"/>
                    <a:cs typeface="Arial" panose="020B0604020202020204" pitchFamily="34" charset="0"/>
                  </a:rPr>
                  <a:t>方法</a:t>
                </a:r>
                <a:r>
                  <a:rPr lang="en-US" altLang="zh-CN" sz="1600" dirty="0">
                    <a:latin typeface="Arial" panose="020B0604020202020204" pitchFamily="34" charset="0"/>
                    <a:cs typeface="Arial" panose="020B0604020202020204" pitchFamily="34" charset="0"/>
                  </a:rPr>
                  <a:t>1:</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m:rPr>
                                <m:sty m:val="p"/>
                              </m:rPr>
                              <a:rPr lang="en-US" altLang="zh-CN" sz="1600">
                                <a:latin typeface="Cambria Math" panose="02040503050406030204" pitchFamily="18" charset="0"/>
                              </a:rPr>
                              <m:t>x</m:t>
                            </m:r>
                          </m:e>
                        </m:acc>
                      </m:e>
                      <m:sub>
                        <m:r>
                          <a:rPr lang="en-US" altLang="zh-CN" sz="1600">
                            <a:latin typeface="Cambria Math" panose="02040503050406030204" pitchFamily="18" charset="0"/>
                          </a:rPr>
                          <m:t>1</m:t>
                        </m:r>
                      </m:sub>
                    </m:sSub>
                  </m:oMath>
                </a14:m>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32</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5</a:t>
                </a:r>
                <a:r>
                  <a:rPr lang="zh-CN" altLang="zh-CN" sz="1600" i="1" dirty="0">
                    <a:latin typeface="Arial" panose="020B0604020202020204" pitchFamily="34" charset="0"/>
                    <a:cs typeface="Arial" panose="020B0604020202020204" pitchFamily="34" charset="0"/>
                  </a:rPr>
                  <a:t>　　</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oMath>
                </a14:m>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15</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996</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dirty="0">
                    <a:latin typeface="Arial" panose="020B0604020202020204" pitchFamily="34" charset="0"/>
                    <a:cs typeface="Arial" panose="020B0604020202020204" pitchFamily="34" charset="0"/>
                  </a:rPr>
                  <a:t>方法</a:t>
                </a:r>
                <a:r>
                  <a:rPr lang="en-US" altLang="zh-CN" sz="1600" dirty="0">
                    <a:latin typeface="Arial" panose="020B0604020202020204" pitchFamily="34" charset="0"/>
                    <a:cs typeface="Arial" panose="020B0604020202020204" pitchFamily="34" charset="0"/>
                  </a:rPr>
                  <a:t>2:</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m:rPr>
                                <m:sty m:val="p"/>
                              </m:rPr>
                              <a:rPr lang="en-US" altLang="zh-CN" sz="1600">
                                <a:latin typeface="Cambria Math" panose="02040503050406030204" pitchFamily="18" charset="0"/>
                              </a:rPr>
                              <m:t>x</m:t>
                            </m:r>
                          </m:e>
                        </m:acc>
                      </m:e>
                      <m:sub>
                        <m:r>
                          <a:rPr lang="en-US" altLang="zh-CN" sz="1600">
                            <a:latin typeface="Cambria Math" panose="02040503050406030204" pitchFamily="18" charset="0"/>
                          </a:rPr>
                          <m:t>2</m:t>
                        </m:r>
                      </m:sub>
                    </m:sSub>
                  </m:oMath>
                </a14:m>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27</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875</a:t>
                </a:r>
                <a:r>
                  <a:rPr lang="zh-CN" altLang="zh-CN" sz="1600" i="1" dirty="0">
                    <a:latin typeface="Arial" panose="020B0604020202020204" pitchFamily="34" charset="0"/>
                    <a:cs typeface="Arial" panose="020B0604020202020204" pitchFamily="34" charset="0"/>
                  </a:rPr>
                  <a:t>　</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oMath>
                </a14:m>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23</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014</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dirty="0">
                    <a:latin typeface="Arial" panose="020B0604020202020204" pitchFamily="34" charset="0"/>
                    <a:cs typeface="Arial" panose="020B0604020202020204" pitchFamily="34" charset="0"/>
                  </a:rPr>
                  <a:t>计算的自由度为</a:t>
                </a:r>
                <a:r>
                  <a:rPr lang="en-US" altLang="zh-CN" sz="1600" dirty="0">
                    <a:latin typeface="Arial" panose="020B0604020202020204" pitchFamily="34" charset="0"/>
                    <a:cs typeface="Arial" panose="020B0604020202020204" pitchFamily="34" charset="0"/>
                  </a:rPr>
                  <a:t>:</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i="1" dirty="0">
                    <a:latin typeface="Arial" panose="020B0604020202020204" pitchFamily="34" charset="0"/>
                    <a:cs typeface="Arial" panose="020B0604020202020204" pitchFamily="34" charset="0"/>
                  </a:rPr>
                  <a:t>　　</a:t>
                </a:r>
                <a:r>
                  <a:rPr lang="en-US" altLang="zh-CN" sz="1600" i="1" dirty="0">
                    <a:latin typeface="Arial" panose="020B0604020202020204" pitchFamily="34" charset="0"/>
                    <a:cs typeface="Arial" panose="020B0604020202020204" pitchFamily="34" charset="0"/>
                  </a:rPr>
                  <a:t>v=</a:t>
                </a:r>
                <a14:m>
                  <m:oMath xmlns:m="http://schemas.openxmlformats.org/officeDocument/2006/math">
                    <m:f>
                      <m:fPr>
                        <m:ctrlPr>
                          <a:rPr lang="zh-CN" altLang="zh-CN" sz="1600" i="1">
                            <a:latin typeface="Cambria Math" panose="02040503050406030204" pitchFamily="18" charset="0"/>
                          </a:rPr>
                        </m:ctrlPr>
                      </m:fPr>
                      <m:num>
                        <m:sSup>
                          <m:sSupPr>
                            <m:ctrlPr>
                              <a:rPr lang="zh-CN" altLang="zh-CN" sz="1600" i="1">
                                <a:latin typeface="Cambria Math" panose="02040503050406030204" pitchFamily="18" charset="0"/>
                              </a:rPr>
                            </m:ctrlPr>
                          </m:sSupPr>
                          <m:e>
                            <m:d>
                              <m:dPr>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a:latin typeface="Cambria Math" panose="02040503050406030204" pitchFamily="18" charset="0"/>
                                      </a:rPr>
                                      <m:t>15</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996</m:t>
                                    </m:r>
                                  </m:num>
                                  <m:den>
                                    <m:r>
                                      <a:rPr lang="en-US" altLang="zh-CN" sz="1600">
                                        <a:latin typeface="Cambria Math" panose="02040503050406030204" pitchFamily="18" charset="0"/>
                                      </a:rPr>
                                      <m:t>12</m:t>
                                    </m:r>
                                  </m:den>
                                </m:f>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a:latin typeface="Cambria Math" panose="02040503050406030204" pitchFamily="18" charset="0"/>
                                      </a:rPr>
                                      <m:t>23</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014</m:t>
                                    </m:r>
                                  </m:num>
                                  <m:den>
                                    <m:r>
                                      <a:rPr lang="en-US" altLang="zh-CN" sz="1600">
                                        <a:latin typeface="Cambria Math" panose="02040503050406030204" pitchFamily="18" charset="0"/>
                                      </a:rPr>
                                      <m:t>8</m:t>
                                    </m:r>
                                  </m:den>
                                </m:f>
                              </m:e>
                            </m:d>
                          </m:e>
                          <m:sup>
                            <m:r>
                              <a:rPr lang="en-US" altLang="zh-CN" sz="1600">
                                <a:latin typeface="Cambria Math" panose="02040503050406030204" pitchFamily="18" charset="0"/>
                              </a:rPr>
                              <m:t>2</m:t>
                            </m:r>
                          </m:sup>
                        </m:sSup>
                      </m:num>
                      <m:den>
                        <m:f>
                          <m:fPr>
                            <m:ctrlPr>
                              <a:rPr lang="zh-CN" altLang="zh-CN" sz="1600" i="1">
                                <a:latin typeface="Cambria Math" panose="02040503050406030204" pitchFamily="18" charset="0"/>
                              </a:rPr>
                            </m:ctrlPr>
                          </m:fPr>
                          <m:num>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15</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996</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12</m:t>
                            </m:r>
                            <m:sSup>
                              <m:sSupPr>
                                <m:ctrlPr>
                                  <a:rPr lang="zh-CN" altLang="zh-CN" sz="1600" i="1">
                                    <a:latin typeface="Cambria Math" panose="02040503050406030204" pitchFamily="18" charset="0"/>
                                  </a:rPr>
                                </m:ctrlPr>
                              </m:sSupPr>
                              <m:e>
                                <m:r>
                                  <m:rPr>
                                    <m:nor/>
                                  </m:rPr>
                                  <a:rPr lang="en-US" altLang="zh-CN" sz="1600">
                                    <a:latin typeface="Arial" panose="020B0604020202020204" pitchFamily="34" charset="0"/>
                                    <a:cs typeface="Arial" panose="020B0604020202020204" pitchFamily="34" charset="0"/>
                                  </a:rPr>
                                  <m:t>)</m:t>
                                </m:r>
                              </m:e>
                              <m:sup>
                                <m:r>
                                  <a:rPr lang="en-US" altLang="zh-CN" sz="1600">
                                    <a:latin typeface="Cambria Math" panose="02040503050406030204" pitchFamily="18" charset="0"/>
                                  </a:rPr>
                                  <m:t>2</m:t>
                                </m:r>
                              </m:sup>
                            </m:sSup>
                          </m:num>
                          <m:den>
                            <m:r>
                              <a:rPr lang="en-US" altLang="zh-CN" sz="1600">
                                <a:latin typeface="Cambria Math" panose="02040503050406030204" pitchFamily="18" charset="0"/>
                              </a:rPr>
                              <m:t>12</m:t>
                            </m:r>
                            <m:r>
                              <m:rPr>
                                <m:nor/>
                              </m:rPr>
                              <a:rPr lang="en-US" altLang="zh-CN" sz="1600" i="1">
                                <a:latin typeface="Arial" panose="020B0604020202020204" pitchFamily="34" charset="0"/>
                                <a:cs typeface="Arial" panose="020B0604020202020204" pitchFamily="34" charset="0"/>
                              </a:rPr>
                              <m:t>−</m:t>
                            </m:r>
                            <m:r>
                              <a:rPr lang="en-US" altLang="zh-CN" sz="1600">
                                <a:latin typeface="Cambria Math" panose="02040503050406030204" pitchFamily="18" charset="0"/>
                              </a:rPr>
                              <m:t>1</m:t>
                            </m:r>
                          </m:den>
                        </m:f>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23</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014</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8</m:t>
                            </m:r>
                            <m:sSup>
                              <m:sSupPr>
                                <m:ctrlPr>
                                  <a:rPr lang="zh-CN" altLang="zh-CN" sz="1600" i="1">
                                    <a:latin typeface="Cambria Math" panose="02040503050406030204" pitchFamily="18" charset="0"/>
                                  </a:rPr>
                                </m:ctrlPr>
                              </m:sSupPr>
                              <m:e>
                                <m:r>
                                  <m:rPr>
                                    <m:nor/>
                                  </m:rPr>
                                  <a:rPr lang="en-US" altLang="zh-CN" sz="1600">
                                    <a:latin typeface="Arial" panose="020B0604020202020204" pitchFamily="34" charset="0"/>
                                    <a:cs typeface="Arial" panose="020B0604020202020204" pitchFamily="34" charset="0"/>
                                  </a:rPr>
                                  <m:t>)</m:t>
                                </m:r>
                              </m:e>
                              <m:sup>
                                <m:r>
                                  <a:rPr lang="en-US" altLang="zh-CN" sz="1600">
                                    <a:latin typeface="Cambria Math" panose="02040503050406030204" pitchFamily="18" charset="0"/>
                                  </a:rPr>
                                  <m:t>2</m:t>
                                </m:r>
                              </m:sup>
                            </m:sSup>
                          </m:num>
                          <m:den>
                            <m:r>
                              <a:rPr lang="en-US" altLang="zh-CN" sz="1600">
                                <a:latin typeface="Cambria Math" panose="02040503050406030204" pitchFamily="18" charset="0"/>
                              </a:rPr>
                              <m:t>8</m:t>
                            </m:r>
                            <m:r>
                              <m:rPr>
                                <m:nor/>
                              </m:rPr>
                              <a:rPr lang="en-US" altLang="zh-CN" sz="1600" i="1">
                                <a:latin typeface="Arial" panose="020B0604020202020204" pitchFamily="34" charset="0"/>
                                <a:cs typeface="Arial" panose="020B0604020202020204" pitchFamily="34" charset="0"/>
                              </a:rPr>
                              <m:t>−</m:t>
                            </m:r>
                            <m:r>
                              <a:rPr lang="en-US" altLang="zh-CN" sz="1600">
                                <a:latin typeface="Cambria Math" panose="02040503050406030204" pitchFamily="18" charset="0"/>
                              </a:rPr>
                              <m:t>1</m:t>
                            </m:r>
                          </m:den>
                        </m:f>
                      </m:den>
                    </m:f>
                  </m:oMath>
                </a14:m>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13</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188≈13</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dirty="0">
                    <a:latin typeface="Arial" panose="020B0604020202020204" pitchFamily="34" charset="0"/>
                    <a:cs typeface="Arial" panose="020B0604020202020204" pitchFamily="34" charset="0"/>
                  </a:rPr>
                  <a:t>根据自由度</a:t>
                </a:r>
                <a:r>
                  <a:rPr lang="en-US" altLang="zh-CN" sz="1600" dirty="0">
                    <a:latin typeface="Arial" panose="020B0604020202020204" pitchFamily="34" charset="0"/>
                    <a:cs typeface="Arial" panose="020B0604020202020204" pitchFamily="34" charset="0"/>
                  </a:rPr>
                  <a:t>=13</a:t>
                </a:r>
                <a:r>
                  <a:rPr lang="zh-CN" altLang="zh-CN" sz="1600" dirty="0">
                    <a:latin typeface="Arial" panose="020B0604020202020204" pitchFamily="34" charset="0"/>
                    <a:cs typeface="Arial" panose="020B0604020202020204" pitchFamily="34" charset="0"/>
                  </a:rPr>
                  <a:t>查</a:t>
                </a:r>
                <a:r>
                  <a:rPr lang="en-US" altLang="zh-CN" sz="1600" i="1" dirty="0">
                    <a:latin typeface="Arial" panose="020B0604020202020204" pitchFamily="34" charset="0"/>
                    <a:cs typeface="Arial" panose="020B0604020202020204" pitchFamily="34" charset="0"/>
                  </a:rPr>
                  <a:t>t</a:t>
                </a:r>
                <a:r>
                  <a:rPr lang="zh-CN" altLang="zh-CN" sz="1600" dirty="0">
                    <a:latin typeface="Arial" panose="020B0604020202020204" pitchFamily="34" charset="0"/>
                    <a:cs typeface="Arial" panose="020B0604020202020204" pitchFamily="34" charset="0"/>
                  </a:rPr>
                  <a:t>分布表得</a:t>
                </a:r>
                <a:r>
                  <a:rPr lang="en-US" altLang="zh-CN" sz="1600" i="1" dirty="0">
                    <a:latin typeface="Arial" panose="020B0604020202020204" pitchFamily="34" charset="0"/>
                    <a:cs typeface="Arial" panose="020B0604020202020204" pitchFamily="34" charset="0"/>
                  </a:rPr>
                  <a:t>t</a:t>
                </a:r>
                <a:r>
                  <a:rPr lang="en-US" altLang="zh-CN" sz="1600" baseline="-25000" dirty="0">
                    <a:latin typeface="Arial" panose="020B0604020202020204" pitchFamily="34" charset="0"/>
                    <a:cs typeface="Arial" panose="020B0604020202020204" pitchFamily="34" charset="0"/>
                  </a:rPr>
                  <a:t>0.05/2</a:t>
                </a:r>
                <a:r>
                  <a:rPr lang="en-US" altLang="zh-CN" sz="1600" dirty="0">
                    <a:latin typeface="Arial" panose="020B0604020202020204" pitchFamily="34" charset="0"/>
                    <a:cs typeface="Arial" panose="020B0604020202020204" pitchFamily="34" charset="0"/>
                  </a:rPr>
                  <a:t>(13)=2.160 4</a:t>
                </a:r>
                <a:r>
                  <a:rPr lang="zh-CN" altLang="zh-CN" sz="1600" dirty="0">
                    <a:latin typeface="Arial" panose="020B0604020202020204" pitchFamily="34" charset="0"/>
                    <a:cs typeface="Arial" panose="020B0604020202020204" pitchFamily="34" charset="0"/>
                  </a:rPr>
                  <a:t>。两个总体均值之差</a:t>
                </a:r>
                <a:r>
                  <a:rPr lang="en-US" altLang="zh-CN" sz="1600" i="1" dirty="0">
                    <a:latin typeface="Arial" panose="020B0604020202020204" pitchFamily="34" charset="0"/>
                    <a:cs typeface="Arial" panose="020B0604020202020204" pitchFamily="34" charset="0"/>
                  </a:rPr>
                  <a:t>μ</a:t>
                </a:r>
                <a:r>
                  <a:rPr lang="en-US" altLang="zh-CN" sz="1600" baseline="-25000" dirty="0">
                    <a:latin typeface="Arial" panose="020B0604020202020204" pitchFamily="34" charset="0"/>
                    <a:cs typeface="Arial" panose="020B0604020202020204" pitchFamily="34" charset="0"/>
                  </a:rPr>
                  <a:t>1</a:t>
                </a:r>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μ</a:t>
                </a:r>
                <a:r>
                  <a:rPr lang="en-US" altLang="zh-CN" sz="1600" baseline="-25000" dirty="0">
                    <a:latin typeface="Arial" panose="020B0604020202020204" pitchFamily="34" charset="0"/>
                    <a:cs typeface="Arial" panose="020B0604020202020204" pitchFamily="34" charset="0"/>
                  </a:rPr>
                  <a:t>2</a:t>
                </a:r>
                <a:r>
                  <a:rPr lang="zh-CN" altLang="zh-CN" sz="1600" dirty="0">
                    <a:latin typeface="Arial" panose="020B0604020202020204" pitchFamily="34" charset="0"/>
                    <a:cs typeface="Arial" panose="020B0604020202020204" pitchFamily="34" charset="0"/>
                  </a:rPr>
                  <a:t>在</a:t>
                </a:r>
                <a:r>
                  <a:rPr lang="en-US" altLang="zh-CN" sz="1600" dirty="0">
                    <a:latin typeface="Arial" panose="020B0604020202020204" pitchFamily="34" charset="0"/>
                    <a:cs typeface="Arial" panose="020B0604020202020204" pitchFamily="34" charset="0"/>
                  </a:rPr>
                  <a:t>1-</a:t>
                </a:r>
                <a:r>
                  <a:rPr lang="en-US" altLang="zh-CN" sz="1600" i="1" dirty="0">
                    <a:latin typeface="Arial" panose="020B0604020202020204" pitchFamily="34" charset="0"/>
                    <a:cs typeface="Arial" panose="020B0604020202020204" pitchFamily="34" charset="0"/>
                  </a:rPr>
                  <a:t>α</a:t>
                </a:r>
                <a:r>
                  <a:rPr lang="zh-CN" altLang="zh-CN" sz="1600" dirty="0">
                    <a:latin typeface="Arial" panose="020B0604020202020204" pitchFamily="34" charset="0"/>
                    <a:cs typeface="Arial" panose="020B0604020202020204" pitchFamily="34" charset="0"/>
                  </a:rPr>
                  <a:t>置信水平下的置信区间为</a:t>
                </a:r>
                <a:r>
                  <a:rPr lang="en-US" altLang="zh-CN" sz="1600" dirty="0">
                    <a:latin typeface="Arial" panose="020B0604020202020204" pitchFamily="34" charset="0"/>
                    <a:cs typeface="Arial" panose="020B0604020202020204" pitchFamily="34" charset="0"/>
                  </a:rPr>
                  <a:t>:</a:t>
                </a:r>
                <a:endParaRPr lang="zh-CN" altLang="zh-CN" sz="1600" dirty="0">
                  <a:latin typeface="Arial" panose="020B0604020202020204" pitchFamily="34" charset="0"/>
                  <a:cs typeface="Arial" panose="020B0604020202020204" pitchFamily="34" charset="0"/>
                </a:endParaRPr>
              </a:p>
              <a:p>
                <a:pPr marL="0" indent="0" algn="just">
                  <a:buNone/>
                </a:pPr>
                <a:r>
                  <a:rPr lang="en-US" altLang="zh-CN" sz="1600" dirty="0">
                    <a:latin typeface="Arial" panose="020B0604020202020204" pitchFamily="34" charset="0"/>
                    <a:cs typeface="Arial" panose="020B0604020202020204" pitchFamily="34" charset="0"/>
                  </a:rPr>
                  <a:t>(</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m:rPr>
                                <m:sty m:val="p"/>
                              </m:rPr>
                              <a:rPr lang="en-US" altLang="zh-CN" sz="1600">
                                <a:latin typeface="Cambria Math" panose="02040503050406030204" pitchFamily="18" charset="0"/>
                              </a:rPr>
                              <m:t>x</m:t>
                            </m:r>
                          </m:e>
                        </m:acc>
                      </m:e>
                      <m:sub>
                        <m:r>
                          <a:rPr lang="en-US" altLang="zh-CN" sz="1600">
                            <a:latin typeface="Cambria Math" panose="02040503050406030204" pitchFamily="18" charset="0"/>
                          </a:rPr>
                          <m:t>1</m:t>
                        </m:r>
                      </m:sub>
                    </m:sSub>
                  </m:oMath>
                </a14:m>
                <a:r>
                  <a:rPr lang="en-US" altLang="zh-CN" sz="1600" i="1" dirty="0">
                    <a:latin typeface="Arial" panose="020B0604020202020204" pitchFamily="34" charset="0"/>
                    <a:cs typeface="Arial" panose="020B0604020202020204" pitchFamily="34" charset="0"/>
                  </a:rPr>
                  <a:t>-</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m:rPr>
                                <m:sty m:val="p"/>
                              </m:rPr>
                              <a:rPr lang="en-US" altLang="zh-CN" sz="1600">
                                <a:latin typeface="Cambria Math" panose="02040503050406030204" pitchFamily="18" charset="0"/>
                              </a:rPr>
                              <m:t>x</m:t>
                            </m:r>
                          </m:e>
                        </m:acc>
                      </m:e>
                      <m:sub>
                        <m:r>
                          <a:rPr lang="en-US" altLang="zh-CN" sz="1600">
                            <a:latin typeface="Cambria Math" panose="02040503050406030204" pitchFamily="18" charset="0"/>
                          </a:rPr>
                          <m:t>2</m:t>
                        </m:r>
                      </m:sub>
                    </m:sSub>
                  </m:oMath>
                </a14:m>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±t</a:t>
                </a:r>
                <a:r>
                  <a:rPr lang="en-US" altLang="zh-CN" sz="1600" i="1" baseline="-25000" dirty="0">
                    <a:latin typeface="Arial" panose="020B0604020202020204" pitchFamily="34" charset="0"/>
                    <a:cs typeface="Arial" panose="020B0604020202020204" pitchFamily="34" charset="0"/>
                  </a:rPr>
                  <a:t>α/</a:t>
                </a:r>
                <a:r>
                  <a:rPr lang="en-US" altLang="zh-CN" sz="1600" baseline="-25000" dirty="0">
                    <a:latin typeface="Arial" panose="020B0604020202020204" pitchFamily="34" charset="0"/>
                    <a:cs typeface="Arial" panose="020B0604020202020204" pitchFamily="34" charset="0"/>
                  </a:rPr>
                  <a:t>2</a:t>
                </a:r>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v</a:t>
                </a:r>
                <a:r>
                  <a:rPr lang="en-US" altLang="zh-CN" sz="1600" dirty="0">
                    <a:latin typeface="Arial" panose="020B0604020202020204" pitchFamily="34" charset="0"/>
                    <a:cs typeface="Arial" panose="020B0604020202020204" pitchFamily="34" charset="0"/>
                  </a:rPr>
                  <a:t>)</a:t>
                </a:r>
                <a14:m>
                  <m:oMath xmlns:m="http://schemas.openxmlformats.org/officeDocument/2006/math">
                    <m:rad>
                      <m:radPr>
                        <m:degHide m:val="on"/>
                        <m:ctrlPr>
                          <a:rPr lang="zh-CN" altLang="zh-CN" sz="1600" i="1">
                            <a:latin typeface="Cambria Math" panose="02040503050406030204" pitchFamily="18" charset="0"/>
                          </a:rPr>
                        </m:ctrlPr>
                      </m:radPr>
                      <m:deg/>
                      <m:e>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num>
                          <m:den>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a:latin typeface="Cambria Math" panose="02040503050406030204" pitchFamily="18" charset="0"/>
                                  </a:rPr>
                                  <m:t>1</m:t>
                                </m:r>
                              </m:sub>
                            </m:sSub>
                          </m:den>
                        </m:f>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num>
                          <m:den>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a:latin typeface="Cambria Math" panose="02040503050406030204" pitchFamily="18" charset="0"/>
                                  </a:rPr>
                                  <m:t>2</m:t>
                                </m:r>
                              </m:sub>
                            </m:sSub>
                          </m:den>
                        </m:f>
                      </m:e>
                    </m:rad>
                  </m:oMath>
                </a14:m>
                <a:r>
                  <a:rPr lang="en-US" altLang="zh-CN" sz="1600" dirty="0">
                    <a:latin typeface="Arial" panose="020B0604020202020204" pitchFamily="34" charset="0"/>
                    <a:cs typeface="Arial" panose="020B0604020202020204" pitchFamily="34" charset="0"/>
                  </a:rPr>
                  <a:t>=(32.5-27.875)±2.160 4×</a:t>
                </a:r>
                <a14:m>
                  <m:oMath xmlns:m="http://schemas.openxmlformats.org/officeDocument/2006/math">
                    <m:rad>
                      <m:radPr>
                        <m:degHide m:val="on"/>
                        <m:ctrlPr>
                          <a:rPr lang="zh-CN" altLang="zh-CN" sz="1600" i="1">
                            <a:latin typeface="Cambria Math" panose="02040503050406030204" pitchFamily="18" charset="0"/>
                          </a:rPr>
                        </m:ctrlPr>
                      </m:radPr>
                      <m:deg/>
                      <m:e>
                        <m:f>
                          <m:fPr>
                            <m:ctrlPr>
                              <a:rPr lang="zh-CN" altLang="zh-CN" sz="1600" i="1">
                                <a:latin typeface="Cambria Math" panose="02040503050406030204" pitchFamily="18" charset="0"/>
                              </a:rPr>
                            </m:ctrlPr>
                          </m:fPr>
                          <m:num>
                            <m:r>
                              <a:rPr lang="en-US" altLang="zh-CN" sz="1600">
                                <a:latin typeface="Cambria Math" panose="02040503050406030204" pitchFamily="18" charset="0"/>
                              </a:rPr>
                              <m:t>15</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996</m:t>
                            </m:r>
                          </m:num>
                          <m:den>
                            <m:r>
                              <a:rPr lang="en-US" altLang="zh-CN" sz="1600">
                                <a:latin typeface="Cambria Math" panose="02040503050406030204" pitchFamily="18" charset="0"/>
                              </a:rPr>
                              <m:t>12</m:t>
                            </m:r>
                          </m:den>
                        </m:f>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a:latin typeface="Cambria Math" panose="02040503050406030204" pitchFamily="18" charset="0"/>
                              </a:rPr>
                              <m:t>23</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014</m:t>
                            </m:r>
                          </m:num>
                          <m:den>
                            <m:r>
                              <a:rPr lang="en-US" altLang="zh-CN" sz="1600">
                                <a:latin typeface="Cambria Math" panose="02040503050406030204" pitchFamily="18" charset="0"/>
                              </a:rPr>
                              <m:t>8</m:t>
                            </m:r>
                          </m:den>
                        </m:f>
                      </m:e>
                    </m:rad>
                  </m:oMath>
                </a14:m>
                <a:endParaRPr lang="zh-CN" altLang="zh-CN" sz="1600" dirty="0">
                  <a:latin typeface="Arial" panose="020B0604020202020204" pitchFamily="34" charset="0"/>
                  <a:cs typeface="Arial" panose="020B0604020202020204" pitchFamily="34" charset="0"/>
                </a:endParaRPr>
              </a:p>
              <a:p>
                <a:pPr marL="0" indent="0" algn="just">
                  <a:buNone/>
                </a:pPr>
                <a:r>
                  <a:rPr lang="en-US" altLang="zh-CN" sz="1600" dirty="0">
                    <a:latin typeface="Arial" panose="020B0604020202020204" pitchFamily="34" charset="0"/>
                    <a:cs typeface="Arial" panose="020B0604020202020204" pitchFamily="34" charset="0"/>
                  </a:rPr>
                  <a:t>	=4.625±4.433(</a:t>
                </a:r>
                <a:r>
                  <a:rPr lang="zh-CN" altLang="zh-CN" sz="1600" dirty="0">
                    <a:latin typeface="Arial" panose="020B0604020202020204" pitchFamily="34" charset="0"/>
                    <a:cs typeface="Arial" panose="020B0604020202020204" pitchFamily="34" charset="0"/>
                  </a:rPr>
                  <a:t>分钟</a:t>
                </a:r>
                <a:r>
                  <a:rPr lang="en-US" altLang="zh-CN" sz="1600" dirty="0">
                    <a:latin typeface="Arial" panose="020B0604020202020204" pitchFamily="34" charset="0"/>
                    <a:cs typeface="Arial" panose="020B0604020202020204" pitchFamily="34" charset="0"/>
                  </a:rPr>
                  <a:t>)</a:t>
                </a:r>
                <a:endParaRPr lang="zh-CN" altLang="zh-CN" sz="1600" dirty="0">
                  <a:latin typeface="Arial" panose="020B0604020202020204" pitchFamily="34" charset="0"/>
                  <a:cs typeface="Arial" panose="020B0604020202020204" pitchFamily="34" charset="0"/>
                </a:endParaRPr>
              </a:p>
              <a:p>
                <a:pPr marL="0" indent="0" algn="just">
                  <a:buNone/>
                </a:pPr>
                <a:r>
                  <a:rPr lang="zh-CN" altLang="zh-CN" sz="1600" dirty="0">
                    <a:latin typeface="Arial" panose="020B0604020202020204" pitchFamily="34" charset="0"/>
                    <a:cs typeface="Arial" panose="020B0604020202020204" pitchFamily="34" charset="0"/>
                  </a:rPr>
                  <a:t>即</a:t>
                </a:r>
                <a:r>
                  <a:rPr lang="en-US" altLang="zh-CN" sz="1600" dirty="0">
                    <a:latin typeface="Arial" panose="020B0604020202020204" pitchFamily="34" charset="0"/>
                    <a:cs typeface="Arial" panose="020B0604020202020204" pitchFamily="34" charset="0"/>
                  </a:rPr>
                  <a:t>(0.192,9.058),</a:t>
                </a:r>
                <a:r>
                  <a:rPr lang="zh-CN" altLang="zh-CN" sz="1600" dirty="0">
                    <a:latin typeface="Arial" panose="020B0604020202020204" pitchFamily="34" charset="0"/>
                    <a:cs typeface="Arial" panose="020B0604020202020204" pitchFamily="34" charset="0"/>
                  </a:rPr>
                  <a:t>两种方法组装产品所需平均时间之差的</a:t>
                </a:r>
                <a:r>
                  <a:rPr lang="en-US" altLang="zh-CN" sz="1600" dirty="0">
                    <a:latin typeface="Arial" panose="020B0604020202020204" pitchFamily="34" charset="0"/>
                    <a:cs typeface="Arial" panose="020B0604020202020204" pitchFamily="34" charset="0"/>
                  </a:rPr>
                  <a:t>95%</a:t>
                </a:r>
                <a:r>
                  <a:rPr lang="zh-CN" altLang="zh-CN" sz="1600" dirty="0">
                    <a:latin typeface="Arial" panose="020B0604020202020204" pitchFamily="34" charset="0"/>
                    <a:cs typeface="Arial" panose="020B0604020202020204" pitchFamily="34" charset="0"/>
                  </a:rPr>
                  <a:t>的置信区间为</a:t>
                </a:r>
                <a:r>
                  <a:rPr lang="en-US" altLang="zh-CN" sz="1600" dirty="0">
                    <a:latin typeface="Arial" panose="020B0604020202020204" pitchFamily="34" charset="0"/>
                    <a:cs typeface="Arial" panose="020B0604020202020204" pitchFamily="34" charset="0"/>
                  </a:rPr>
                  <a:t>0.192~9.058</a:t>
                </a:r>
                <a:r>
                  <a:rPr lang="zh-CN" altLang="zh-CN" sz="1600" dirty="0">
                    <a:latin typeface="Arial" panose="020B0604020202020204" pitchFamily="34" charset="0"/>
                    <a:cs typeface="Arial" panose="020B0604020202020204" pitchFamily="34" charset="0"/>
                  </a:rPr>
                  <a:t>分钟</a:t>
                </a:r>
                <a:endParaRPr lang="zh-CN" altLang="zh-CN" sz="1600" dirty="0">
                  <a:latin typeface="Arial" panose="020B0604020202020204" pitchFamily="34" charset="0"/>
                  <a:cs typeface="Arial" panose="020B0604020202020204" pitchFamily="34"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5447926" y="1556792"/>
                <a:ext cx="6048674" cy="4680520"/>
              </a:xfrm>
              <a:prstGeom prst="rect">
                <a:avLst/>
              </a:prstGeom>
              <a:blipFill rotWithShape="1">
                <a:blip r:embed="rId1"/>
                <a:stretch>
                  <a:fillRect l="-109" t="-144" r="-96" b="-128"/>
                </a:stretch>
              </a:blipFill>
              <a:ln w="12700" cmpd="dbl">
                <a:solidFill>
                  <a:schemeClr val="accent1"/>
                </a:solidFill>
              </a:ln>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839414" y="3573016"/>
          <a:ext cx="4320482" cy="2592287"/>
        </p:xfrm>
        <a:graphic>
          <a:graphicData uri="http://schemas.openxmlformats.org/drawingml/2006/table">
            <a:tbl>
              <a:tblPr firstRow="1" firstCol="1" bandRow="1">
                <a:tableStyleId>{5C22544A-7EE6-4342-B048-85BDC9FD1C3A}</a:tableStyleId>
              </a:tblPr>
              <a:tblGrid>
                <a:gridCol w="1040447"/>
                <a:gridCol w="1040447"/>
                <a:gridCol w="1040447"/>
                <a:gridCol w="1199141"/>
              </a:tblGrid>
              <a:tr h="361495">
                <a:tc>
                  <a:txBody>
                    <a:bodyPr/>
                    <a:lstStyle/>
                    <a:p>
                      <a:pPr algn="ctr">
                        <a:lnSpc>
                          <a:spcPts val="1200"/>
                        </a:lnSpc>
                      </a:pPr>
                      <a:r>
                        <a:rPr lang="zh-CN" sz="1800" b="1">
                          <a:effectLst/>
                        </a:rPr>
                        <a:t>方法</a:t>
                      </a:r>
                      <a:r>
                        <a:rPr lang="en-US" sz="1800" b="1">
                          <a:effectLst/>
                        </a:rPr>
                        <a:t>1</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800" b="1">
                          <a:effectLst/>
                        </a:rPr>
                        <a:t>方法</a:t>
                      </a:r>
                      <a:r>
                        <a:rPr lang="en-US" sz="1800" b="1">
                          <a:effectLst/>
                        </a:rPr>
                        <a:t>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800" b="1">
                          <a:effectLst/>
                        </a:rPr>
                        <a:t>方法</a:t>
                      </a:r>
                      <a:r>
                        <a:rPr lang="en-US" sz="1800" b="1">
                          <a:effectLst/>
                        </a:rPr>
                        <a:t>1</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800" b="1">
                          <a:effectLst/>
                        </a:rPr>
                        <a:t>方法</a:t>
                      </a:r>
                      <a:r>
                        <a:rPr lang="en-US" sz="1800" b="1">
                          <a:effectLst/>
                        </a:rPr>
                        <a:t>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58340">
                <a:tc>
                  <a:txBody>
                    <a:bodyPr/>
                    <a:lstStyle/>
                    <a:p>
                      <a:pPr algn="ctr">
                        <a:lnSpc>
                          <a:spcPts val="1200"/>
                        </a:lnSpc>
                      </a:pPr>
                      <a:r>
                        <a:rPr lang="en-US" sz="1800" b="1">
                          <a:effectLst/>
                        </a:rPr>
                        <a:t>28.3</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27.6</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36.0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31.7</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58340">
                <a:tc>
                  <a:txBody>
                    <a:bodyPr/>
                    <a:lstStyle/>
                    <a:p>
                      <a:pPr algn="ctr">
                        <a:lnSpc>
                          <a:spcPts val="1200"/>
                        </a:lnSpc>
                      </a:pPr>
                      <a:r>
                        <a:rPr lang="en-US" sz="1800" b="1">
                          <a:effectLst/>
                        </a:rPr>
                        <a:t>30.1</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22.2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37.2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26.5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78528">
                <a:tc>
                  <a:txBody>
                    <a:bodyPr/>
                    <a:lstStyle/>
                    <a:p>
                      <a:pPr algn="ctr">
                        <a:lnSpc>
                          <a:spcPts val="1200"/>
                        </a:lnSpc>
                      </a:pPr>
                      <a:r>
                        <a:rPr lang="en-US" sz="1800" b="1">
                          <a:effectLst/>
                        </a:rPr>
                        <a:t>29.0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31.0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38.5</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 </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78528">
                <a:tc>
                  <a:txBody>
                    <a:bodyPr/>
                    <a:lstStyle/>
                    <a:p>
                      <a:pPr algn="ctr">
                        <a:lnSpc>
                          <a:spcPts val="1200"/>
                        </a:lnSpc>
                      </a:pPr>
                      <a:r>
                        <a:rPr lang="en-US" sz="1800" b="1">
                          <a:effectLst/>
                        </a:rPr>
                        <a:t>37.6</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33.8</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34.4</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 </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78528">
                <a:tc>
                  <a:txBody>
                    <a:bodyPr/>
                    <a:lstStyle/>
                    <a:p>
                      <a:pPr algn="ctr">
                        <a:lnSpc>
                          <a:spcPts val="1200"/>
                        </a:lnSpc>
                      </a:pPr>
                      <a:r>
                        <a:rPr lang="en-US" sz="1800" b="1">
                          <a:effectLst/>
                        </a:rPr>
                        <a:t>32.1</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20.0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28.0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 </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r>
              <a:tr h="378528">
                <a:tc>
                  <a:txBody>
                    <a:bodyPr/>
                    <a:lstStyle/>
                    <a:p>
                      <a:pPr algn="ctr">
                        <a:lnSpc>
                          <a:spcPts val="1200"/>
                        </a:lnSpc>
                      </a:pPr>
                      <a:r>
                        <a:rPr lang="en-US" sz="1800" b="1">
                          <a:effectLst/>
                        </a:rPr>
                        <a:t>28.8</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30.2</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a:effectLst/>
                        </a:rPr>
                        <a:t>30.0</a:t>
                      </a:r>
                      <a:endParaRPr lang="zh-CN" sz="18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800" b="1" dirty="0">
                          <a:effectLst/>
                        </a:rPr>
                        <a:t> </a:t>
                      </a:r>
                      <a:endParaRPr lang="zh-CN" sz="18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p:spTree>
    <p:custDataLst>
      <p:tags r:id="rId2"/>
    </p:custData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801200" cy="4680520"/>
              </a:xfrm>
              <a:ln w="12700" cmpd="dbl">
                <a:solidFill>
                  <a:schemeClr val="accent1"/>
                </a:solidFill>
              </a:ln>
            </p:spPr>
            <p:txBody>
              <a:bodyPr>
                <a:noAutofit/>
              </a:bodyPr>
              <a:lstStyle/>
              <a:p>
                <a:pPr marL="447675" indent="-447675" algn="just">
                  <a:lnSpc>
                    <a:spcPct val="150000"/>
                  </a:lnSpc>
                  <a:buClr>
                    <a:srgbClr val="318AAD"/>
                  </a:buClr>
                  <a:buSzPct val="100000"/>
                  <a:buFont typeface="Wingdings" panose="05000000000000000000" pitchFamily="2" charset="2"/>
                  <a:buChar char="l"/>
                  <a:defRPr/>
                </a:pPr>
                <a:r>
                  <a:rPr lang="zh-CN" altLang="en-US" sz="2000" dirty="0">
                    <a:latin typeface="Arial" panose="020B0604020202020204" pitchFamily="34" charset="0"/>
                    <a:cs typeface="Arial" panose="020B0604020202020204" pitchFamily="34" charset="0"/>
                  </a:rPr>
                  <a:t>在大样本情况下，</a:t>
                </a:r>
                <a:r>
                  <a:rPr lang="zh-CN" altLang="zh-CN" sz="2000" dirty="0">
                    <a:latin typeface="Arial" panose="020B0604020202020204" pitchFamily="34" charset="0"/>
                    <a:cs typeface="Arial" panose="020B0604020202020204" pitchFamily="34" charset="0"/>
                  </a:rPr>
                  <a:t>两个总体均值之差</a:t>
                </a:r>
                <a:r>
                  <a:rPr lang="en-US" altLang="zh-CN" sz="2000" dirty="0" err="1">
                    <a:latin typeface="Arial" panose="020B0604020202020204" pitchFamily="34" charset="0"/>
                    <a:cs typeface="Arial" panose="020B0604020202020204" pitchFamily="34" charset="0"/>
                  </a:rPr>
                  <a:t>μd</a:t>
                </a:r>
                <a:r>
                  <a:rPr lang="en-US" altLang="zh-CN" sz="2000" dirty="0">
                    <a:latin typeface="Arial" panose="020B0604020202020204" pitchFamily="34" charset="0"/>
                    <a:cs typeface="Arial" panose="020B0604020202020204" pitchFamily="34" charset="0"/>
                  </a:rPr>
                  <a:t>=μ1-μ2</a:t>
                </a:r>
                <a:r>
                  <a:rPr lang="zh-CN" altLang="zh-CN" sz="2000" dirty="0">
                    <a:latin typeface="Arial" panose="020B0604020202020204" pitchFamily="34" charset="0"/>
                    <a:cs typeface="Arial" panose="020B0604020202020204" pitchFamily="34" charset="0"/>
                  </a:rPr>
                  <a:t>在</a:t>
                </a:r>
                <a:r>
                  <a:rPr lang="en-US" altLang="zh-CN" sz="2000" dirty="0">
                    <a:latin typeface="Arial" panose="020B0604020202020204" pitchFamily="34" charset="0"/>
                    <a:cs typeface="Arial" panose="020B0604020202020204" pitchFamily="34" charset="0"/>
                  </a:rPr>
                  <a:t>1-α</a:t>
                </a:r>
                <a:r>
                  <a:rPr lang="zh-CN" altLang="zh-CN" sz="2000" dirty="0">
                    <a:latin typeface="Arial" panose="020B0604020202020204" pitchFamily="34" charset="0"/>
                    <a:cs typeface="Arial" panose="020B0604020202020204" pitchFamily="34" charset="0"/>
                  </a:rPr>
                  <a:t>置信水平下的置信区间为</a:t>
                </a:r>
                <a:r>
                  <a:rPr lang="en-US" altLang="zh-CN" sz="2000" dirty="0">
                    <a:latin typeface="Arial" panose="020B0604020202020204" pitchFamily="34" charset="0"/>
                    <a:cs typeface="Arial" panose="020B0604020202020204" pitchFamily="34" charset="0"/>
                  </a:rPr>
                  <a:t>:</a:t>
                </a:r>
                <a:endParaRPr lang="zh-CN" altLang="zh-CN" sz="2000" dirty="0">
                  <a:latin typeface="Arial" panose="020B0604020202020204" pitchFamily="34" charset="0"/>
                  <a:cs typeface="Arial" panose="020B0604020202020204" pitchFamily="34" charset="0"/>
                </a:endParaRPr>
              </a:p>
              <a:p>
                <a:pPr indent="0" algn="just">
                  <a:lnSpc>
                    <a:spcPct val="150000"/>
                  </a:lnSpc>
                  <a:buNone/>
                </a:pPr>
                <a:r>
                  <a:rPr lang="zh-CN" altLang="zh-CN" sz="2000" i="1" dirty="0">
                    <a:solidFill>
                      <a:srgbClr val="000000"/>
                    </a:solidFill>
                    <a:effectLst/>
                    <a:latin typeface="Arial" panose="020B0604020202020204" pitchFamily="34" charset="0"/>
                    <a:cs typeface="Arial" panose="020B0604020202020204" pitchFamily="34" charset="0"/>
                  </a:rPr>
                  <a:t>　　</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2000">
                            <a:solidFill>
                              <a:srgbClr val="000000"/>
                            </a:solidFill>
                            <a:effectLst/>
                            <a:latin typeface="Cambria Math" panose="02040503050406030204" pitchFamily="18" charset="0"/>
                            <a:cs typeface="Calibri" panose="020F0502020204030204" pitchFamily="34" charset="0"/>
                          </a:rPr>
                          <m:t>d</m:t>
                        </m:r>
                      </m:e>
                    </m:acc>
                  </m:oMath>
                </a14:m>
                <a:r>
                  <a:rPr lang="en-US" altLang="zh-CN" sz="2000" i="1" dirty="0">
                    <a:solidFill>
                      <a:srgbClr val="000000"/>
                    </a:solidFill>
                    <a:effectLst/>
                    <a:latin typeface="Arial" panose="020B0604020202020204" pitchFamily="34" charset="0"/>
                    <a:cs typeface="Arial" panose="020B0604020202020204" pitchFamily="34" charset="0"/>
                  </a:rPr>
                  <a:t>±z</a:t>
                </a:r>
                <a:r>
                  <a:rPr lang="en-US" altLang="zh-CN" sz="2000" i="1" baseline="-25000" dirty="0">
                    <a:solidFill>
                      <a:srgbClr val="000000"/>
                    </a:solidFill>
                    <a:effectLst/>
                    <a:latin typeface="Arial" panose="020B0604020202020204" pitchFamily="34" charset="0"/>
                    <a:cs typeface="Arial" panose="020B0604020202020204" pitchFamily="34" charset="0"/>
                  </a:rPr>
                  <a:t>α/</a:t>
                </a:r>
                <a:r>
                  <a:rPr lang="en-US" altLang="zh-CN" sz="2000" baseline="-25000" dirty="0">
                    <a:solidFill>
                      <a:srgbClr val="000000"/>
                    </a:solidFill>
                    <a:effectLst/>
                    <a:latin typeface="Arial" panose="020B0604020202020204" pitchFamily="34" charset="0"/>
                    <a:cs typeface="Arial" panose="020B0604020202020204" pitchFamily="34" charset="0"/>
                  </a:rPr>
                  <a:t>2</a:t>
                </a:r>
                <a14:m>
                  <m:oMath xmlns:m="http://schemas.openxmlformats.org/officeDocument/2006/math">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cs typeface="Calibri" panose="020F0502020204030204" pitchFamily="34" charset="0"/>
                              </a:rPr>
                              <m:t>𝜎</m:t>
                            </m:r>
                          </m:e>
                          <m:sub>
                            <m:r>
                              <a:rPr lang="en-US" altLang="zh-CN" sz="2000" i="1">
                                <a:solidFill>
                                  <a:srgbClr val="000000"/>
                                </a:solidFill>
                                <a:effectLst/>
                                <a:latin typeface="Cambria Math" panose="02040503050406030204" pitchFamily="18" charset="0"/>
                                <a:cs typeface="Calibri" panose="020F0502020204030204" pitchFamily="34" charset="0"/>
                              </a:rPr>
                              <m:t>𝑑</m:t>
                            </m:r>
                          </m:sub>
                        </m:sSub>
                      </m:num>
                      <m:den>
                        <m:rad>
                          <m:radPr>
                            <m:deg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000" i="1">
                                <a:solidFill>
                                  <a:srgbClr val="000000"/>
                                </a:solidFill>
                                <a:effectLst/>
                                <a:latin typeface="Cambria Math" panose="02040503050406030204" pitchFamily="18" charset="0"/>
                                <a:cs typeface="Calibri" panose="020F0502020204030204" pitchFamily="34" charset="0"/>
                              </a:rPr>
                              <m:t>𝑛</m:t>
                            </m:r>
                          </m:e>
                        </m:rad>
                      </m:den>
                    </m:f>
                  </m:oMath>
                </a14:m>
                <a:r>
                  <a:rPr lang="en-US" altLang="zh-CN" sz="2000" dirty="0">
                    <a:solidFill>
                      <a:srgbClr val="000000"/>
                    </a:solidFill>
                    <a:effectLst/>
                    <a:latin typeface="Arial" panose="020B0604020202020204" pitchFamily="34" charset="0"/>
                    <a:cs typeface="Arial" panose="020B0604020202020204" pitchFamily="34" charset="0"/>
                  </a:rPr>
                  <a:t>	</a:t>
                </a:r>
                <a:endParaRPr lang="zh-CN" altLang="zh-CN" sz="2000" dirty="0">
                  <a:solidFill>
                    <a:srgbClr val="000000"/>
                  </a:solidFill>
                  <a:effectLst/>
                  <a:latin typeface="Arial" panose="020B0604020202020204" pitchFamily="34" charset="0"/>
                  <a:ea typeface="方正书宋_GBK"/>
                  <a:cs typeface="Arial" panose="020B0604020202020204" pitchFamily="34" charset="0"/>
                </a:endParaRPr>
              </a:p>
              <a:p>
                <a:pPr indent="0" algn="just">
                  <a:lnSpc>
                    <a:spcPct val="150000"/>
                  </a:lnSpc>
                  <a:buNone/>
                </a:pPr>
                <a:r>
                  <a:rPr lang="zh-CN" altLang="zh-CN" sz="2000" dirty="0">
                    <a:solidFill>
                      <a:srgbClr val="000000"/>
                    </a:solidFill>
                    <a:effectLst/>
                    <a:latin typeface="Arial" panose="020B0604020202020204" pitchFamily="34" charset="0"/>
                    <a:cs typeface="Arial" panose="020B0604020202020204" pitchFamily="34" charset="0"/>
                  </a:rPr>
                  <a:t>式中</a:t>
                </a:r>
                <a:r>
                  <a:rPr lang="en-US" altLang="zh-CN" sz="2000" dirty="0">
                    <a:solidFill>
                      <a:srgbClr val="000000"/>
                    </a:solidFill>
                    <a:effectLst/>
                    <a:latin typeface="Arial" panose="020B0604020202020204" pitchFamily="34" charset="0"/>
                    <a:cs typeface="Arial" panose="020B0604020202020204" pitchFamily="34" charset="0"/>
                  </a:rPr>
                  <a:t>,</a:t>
                </a:r>
                <a:r>
                  <a:rPr lang="en-US" altLang="zh-CN" sz="2000" i="1" dirty="0">
                    <a:solidFill>
                      <a:srgbClr val="000000"/>
                    </a:solidFill>
                    <a:effectLst/>
                    <a:latin typeface="Arial" panose="020B0604020202020204" pitchFamily="34" charset="0"/>
                    <a:cs typeface="Arial" panose="020B0604020202020204" pitchFamily="34" charset="0"/>
                  </a:rPr>
                  <a:t>d</a:t>
                </a:r>
                <a:r>
                  <a:rPr lang="zh-CN" altLang="zh-CN" sz="2000" dirty="0">
                    <a:solidFill>
                      <a:srgbClr val="000000"/>
                    </a:solidFill>
                    <a:effectLst/>
                    <a:latin typeface="Arial" panose="020B0604020202020204" pitchFamily="34" charset="0"/>
                    <a:cs typeface="Arial" panose="020B0604020202020204" pitchFamily="34" charset="0"/>
                  </a:rPr>
                  <a:t>表示两个匹配样本对应数据的差值</a:t>
                </a:r>
                <a:r>
                  <a:rPr lang="en-US" altLang="zh-CN" sz="2000" dirty="0">
                    <a:solidFill>
                      <a:srgbClr val="000000"/>
                    </a:solidFill>
                    <a:effectLst/>
                    <a:latin typeface="Arial" panose="020B0604020202020204" pitchFamily="34" charset="0"/>
                    <a:cs typeface="Arial" panose="020B0604020202020204" pitchFamily="34" charset="0"/>
                  </a:rPr>
                  <a:t>;</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2000">
                            <a:solidFill>
                              <a:srgbClr val="000000"/>
                            </a:solidFill>
                            <a:effectLst/>
                            <a:latin typeface="Cambria Math" panose="02040503050406030204" pitchFamily="18" charset="0"/>
                            <a:cs typeface="Calibri" panose="020F0502020204030204" pitchFamily="34" charset="0"/>
                          </a:rPr>
                          <m:t>d</m:t>
                        </m:r>
                      </m:e>
                    </m:acc>
                  </m:oMath>
                </a14:m>
                <a:r>
                  <a:rPr lang="zh-CN" altLang="zh-CN" sz="2000" dirty="0">
                    <a:solidFill>
                      <a:srgbClr val="000000"/>
                    </a:solidFill>
                    <a:effectLst/>
                    <a:latin typeface="Arial" panose="020B0604020202020204" pitchFamily="34" charset="0"/>
                    <a:cs typeface="Arial" panose="020B0604020202020204" pitchFamily="34" charset="0"/>
                  </a:rPr>
                  <a:t>表示各差值的均值</a:t>
                </a:r>
                <a:r>
                  <a:rPr lang="en-US" altLang="zh-CN" sz="2000" dirty="0">
                    <a:solidFill>
                      <a:srgbClr val="000000"/>
                    </a:solidFill>
                    <a:effectLst/>
                    <a:latin typeface="Arial" panose="020B0604020202020204" pitchFamily="34" charset="0"/>
                    <a:cs typeface="Arial" panose="020B0604020202020204" pitchFamily="34" charset="0"/>
                  </a:rPr>
                  <a:t>;</a:t>
                </a:r>
                <a:r>
                  <a:rPr lang="en-US" altLang="zh-CN" sz="2000" i="1" dirty="0" err="1">
                    <a:solidFill>
                      <a:srgbClr val="000000"/>
                    </a:solidFill>
                    <a:effectLst/>
                    <a:latin typeface="Arial" panose="020B0604020202020204" pitchFamily="34" charset="0"/>
                    <a:cs typeface="Arial" panose="020B0604020202020204" pitchFamily="34" charset="0"/>
                  </a:rPr>
                  <a:t>σ</a:t>
                </a:r>
                <a:r>
                  <a:rPr lang="en-US" altLang="zh-CN" sz="2000" i="1" baseline="-25000" dirty="0" err="1">
                    <a:solidFill>
                      <a:srgbClr val="000000"/>
                    </a:solidFill>
                    <a:effectLst/>
                    <a:latin typeface="Arial" panose="020B0604020202020204" pitchFamily="34" charset="0"/>
                    <a:cs typeface="Arial" panose="020B0604020202020204" pitchFamily="34" charset="0"/>
                  </a:rPr>
                  <a:t>d</a:t>
                </a:r>
                <a:r>
                  <a:rPr lang="zh-CN" altLang="zh-CN" sz="2000" dirty="0">
                    <a:solidFill>
                      <a:srgbClr val="000000"/>
                    </a:solidFill>
                    <a:effectLst/>
                    <a:latin typeface="Arial" panose="020B0604020202020204" pitchFamily="34" charset="0"/>
                    <a:cs typeface="Arial" panose="020B0604020202020204" pitchFamily="34" charset="0"/>
                  </a:rPr>
                  <a:t>表示各差值的标准差。当总体的</a:t>
                </a:r>
                <a:r>
                  <a:rPr lang="en-US" altLang="zh-CN" sz="2000" i="1" dirty="0" err="1">
                    <a:solidFill>
                      <a:srgbClr val="000000"/>
                    </a:solidFill>
                    <a:effectLst/>
                    <a:latin typeface="Arial" panose="020B0604020202020204" pitchFamily="34" charset="0"/>
                    <a:cs typeface="Arial" panose="020B0604020202020204" pitchFamily="34" charset="0"/>
                  </a:rPr>
                  <a:t>σ</a:t>
                </a:r>
                <a:r>
                  <a:rPr lang="en-US" altLang="zh-CN" sz="2000" i="1" baseline="-25000" dirty="0" err="1">
                    <a:solidFill>
                      <a:srgbClr val="000000"/>
                    </a:solidFill>
                    <a:effectLst/>
                    <a:latin typeface="Arial" panose="020B0604020202020204" pitchFamily="34" charset="0"/>
                    <a:cs typeface="Arial" panose="020B0604020202020204" pitchFamily="34" charset="0"/>
                  </a:rPr>
                  <a:t>d</a:t>
                </a:r>
                <a:r>
                  <a:rPr lang="zh-CN" altLang="zh-CN" sz="2000" dirty="0">
                    <a:solidFill>
                      <a:srgbClr val="000000"/>
                    </a:solidFill>
                    <a:effectLst/>
                    <a:latin typeface="Arial" panose="020B0604020202020204" pitchFamily="34" charset="0"/>
                    <a:cs typeface="Arial" panose="020B0604020202020204" pitchFamily="34" charset="0"/>
                  </a:rPr>
                  <a:t>未知时</a:t>
                </a:r>
                <a:r>
                  <a:rPr lang="en-US" altLang="zh-CN" sz="2000" dirty="0">
                    <a:solidFill>
                      <a:srgbClr val="000000"/>
                    </a:solidFill>
                    <a:effectLst/>
                    <a:latin typeface="Arial" panose="020B0604020202020204" pitchFamily="34" charset="0"/>
                    <a:cs typeface="Arial" panose="020B0604020202020204" pitchFamily="34" charset="0"/>
                  </a:rPr>
                  <a:t>,</a:t>
                </a:r>
                <a:r>
                  <a:rPr lang="zh-CN" altLang="zh-CN" sz="2000" dirty="0">
                    <a:solidFill>
                      <a:srgbClr val="000000"/>
                    </a:solidFill>
                    <a:effectLst/>
                    <a:latin typeface="Arial" panose="020B0604020202020204" pitchFamily="34" charset="0"/>
                    <a:cs typeface="Arial" panose="020B0604020202020204" pitchFamily="34" charset="0"/>
                  </a:rPr>
                  <a:t>可用样本差值的标准差</a:t>
                </a:r>
                <a:r>
                  <a:rPr lang="en-US" altLang="zh-CN" sz="2000" i="1" dirty="0" err="1">
                    <a:solidFill>
                      <a:srgbClr val="000000"/>
                    </a:solidFill>
                    <a:effectLst/>
                    <a:latin typeface="Arial" panose="020B0604020202020204" pitchFamily="34" charset="0"/>
                    <a:cs typeface="Arial" panose="020B0604020202020204" pitchFamily="34" charset="0"/>
                  </a:rPr>
                  <a:t>s</a:t>
                </a:r>
                <a:r>
                  <a:rPr lang="en-US" altLang="zh-CN" sz="2000" i="1" baseline="-25000" dirty="0" err="1">
                    <a:solidFill>
                      <a:srgbClr val="000000"/>
                    </a:solidFill>
                    <a:effectLst/>
                    <a:latin typeface="Arial" panose="020B0604020202020204" pitchFamily="34" charset="0"/>
                    <a:cs typeface="Arial" panose="020B0604020202020204" pitchFamily="34" charset="0"/>
                  </a:rPr>
                  <a:t>d</a:t>
                </a:r>
                <a:r>
                  <a:rPr lang="zh-CN" altLang="zh-CN" sz="2000" dirty="0">
                    <a:solidFill>
                      <a:srgbClr val="000000"/>
                    </a:solidFill>
                    <a:effectLst/>
                    <a:latin typeface="Arial" panose="020B0604020202020204" pitchFamily="34" charset="0"/>
                    <a:cs typeface="Arial" panose="020B0604020202020204" pitchFamily="34" charset="0"/>
                  </a:rPr>
                  <a:t>来代替。</a:t>
                </a:r>
                <a:endParaRPr lang="zh-CN" altLang="zh-CN" sz="2000" dirty="0">
                  <a:solidFill>
                    <a:srgbClr val="000000"/>
                  </a:solidFill>
                  <a:effectLst/>
                  <a:latin typeface="Arial" panose="020B0604020202020204" pitchFamily="34" charset="0"/>
                  <a:ea typeface="方正书宋_GBK"/>
                  <a:cs typeface="Arial" panose="020B0604020202020204" pitchFamily="34" charset="0"/>
                </a:endParaRPr>
              </a:p>
              <a:p>
                <a:pPr marL="447675" indent="-447675" algn="just">
                  <a:lnSpc>
                    <a:spcPct val="150000"/>
                  </a:lnSpc>
                  <a:buClr>
                    <a:srgbClr val="318AAD"/>
                  </a:buClr>
                  <a:buSzPct val="100000"/>
                  <a:buFont typeface="Wingdings" panose="05000000000000000000" pitchFamily="2" charset="2"/>
                  <a:buChar char="l"/>
                  <a:defRPr/>
                </a:pPr>
                <a:r>
                  <a:rPr lang="zh-CN" altLang="zh-CN" sz="2000" dirty="0">
                    <a:latin typeface="Arial" panose="020B0604020202020204" pitchFamily="34" charset="0"/>
                    <a:cs typeface="Arial" panose="020B0604020202020204" pitchFamily="34" charset="0"/>
                  </a:rPr>
                  <a:t>在小样本情况下</a:t>
                </a:r>
                <a:r>
                  <a:rPr lang="en-US" altLang="zh-CN" sz="2000" dirty="0">
                    <a:latin typeface="Arial" panose="020B0604020202020204" pitchFamily="34" charset="0"/>
                    <a:cs typeface="Arial" panose="020B0604020202020204" pitchFamily="34" charset="0"/>
                  </a:rPr>
                  <a:t>,</a:t>
                </a:r>
                <a:r>
                  <a:rPr lang="zh-CN" altLang="zh-CN" sz="2000" dirty="0">
                    <a:latin typeface="Arial" panose="020B0604020202020204" pitchFamily="34" charset="0"/>
                    <a:cs typeface="Arial" panose="020B0604020202020204" pitchFamily="34" charset="0"/>
                  </a:rPr>
                  <a:t>假定两个总体各观察值的配对差服从正态分布。两个总体均值之差</a:t>
                </a:r>
                <a:r>
                  <a:rPr lang="en-US" altLang="zh-CN" sz="2000" dirty="0" err="1">
                    <a:latin typeface="Arial" panose="020B0604020202020204" pitchFamily="34" charset="0"/>
                    <a:cs typeface="Arial" panose="020B0604020202020204" pitchFamily="34" charset="0"/>
                  </a:rPr>
                  <a:t>μd</a:t>
                </a:r>
                <a:r>
                  <a:rPr lang="en-US" altLang="zh-CN" sz="2000" dirty="0">
                    <a:latin typeface="Arial" panose="020B0604020202020204" pitchFamily="34" charset="0"/>
                    <a:cs typeface="Arial" panose="020B0604020202020204" pitchFamily="34" charset="0"/>
                  </a:rPr>
                  <a:t>=μ1-μ2</a:t>
                </a:r>
                <a:r>
                  <a:rPr lang="zh-CN" altLang="zh-CN" sz="2000" dirty="0">
                    <a:latin typeface="Arial" panose="020B0604020202020204" pitchFamily="34" charset="0"/>
                    <a:cs typeface="Arial" panose="020B0604020202020204" pitchFamily="34" charset="0"/>
                  </a:rPr>
                  <a:t>在</a:t>
                </a:r>
                <a:r>
                  <a:rPr lang="en-US" altLang="zh-CN" sz="2000" dirty="0">
                    <a:latin typeface="Arial" panose="020B0604020202020204" pitchFamily="34" charset="0"/>
                    <a:cs typeface="Arial" panose="020B0604020202020204" pitchFamily="34" charset="0"/>
                  </a:rPr>
                  <a:t>1-α</a:t>
                </a:r>
                <a:r>
                  <a:rPr lang="zh-CN" altLang="zh-CN" sz="2000" dirty="0">
                    <a:latin typeface="Arial" panose="020B0604020202020204" pitchFamily="34" charset="0"/>
                    <a:cs typeface="Arial" panose="020B0604020202020204" pitchFamily="34" charset="0"/>
                  </a:rPr>
                  <a:t>置信水平下的置信区间为</a:t>
                </a:r>
                <a:r>
                  <a:rPr lang="en-US" altLang="zh-CN" sz="2000" dirty="0">
                    <a:latin typeface="Arial" panose="020B0604020202020204" pitchFamily="34" charset="0"/>
                    <a:cs typeface="Arial" panose="020B0604020202020204" pitchFamily="34" charset="0"/>
                  </a:rPr>
                  <a:t>:</a:t>
                </a:r>
                <a:endParaRPr lang="zh-CN" altLang="zh-CN" sz="2000" dirty="0">
                  <a:latin typeface="Arial" panose="020B0604020202020204" pitchFamily="34" charset="0"/>
                  <a:cs typeface="Arial" panose="020B0604020202020204" pitchFamily="34" charset="0"/>
                </a:endParaRPr>
              </a:p>
              <a:p>
                <a:pPr indent="0" algn="just">
                  <a:lnSpc>
                    <a:spcPct val="150000"/>
                  </a:lnSpc>
                  <a:buNone/>
                </a:pPr>
                <a:r>
                  <a:rPr lang="zh-CN" altLang="zh-CN" sz="2000" i="1" dirty="0">
                    <a:solidFill>
                      <a:srgbClr val="000000"/>
                    </a:solidFill>
                    <a:effectLst/>
                    <a:latin typeface="Arial" panose="020B0604020202020204" pitchFamily="34" charset="0"/>
                    <a:cs typeface="Arial" panose="020B0604020202020204" pitchFamily="34" charset="0"/>
                  </a:rPr>
                  <a:t>　　</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2000">
                            <a:solidFill>
                              <a:srgbClr val="000000"/>
                            </a:solidFill>
                            <a:effectLst/>
                            <a:latin typeface="Cambria Math" panose="02040503050406030204" pitchFamily="18" charset="0"/>
                            <a:cs typeface="Calibri" panose="020F0502020204030204" pitchFamily="34" charset="0"/>
                          </a:rPr>
                          <m:t>d</m:t>
                        </m:r>
                      </m:e>
                    </m:acc>
                  </m:oMath>
                </a14:m>
                <a:r>
                  <a:rPr lang="en-US" altLang="zh-CN" sz="2000" i="1" dirty="0">
                    <a:solidFill>
                      <a:srgbClr val="000000"/>
                    </a:solidFill>
                    <a:effectLst/>
                    <a:latin typeface="Arial" panose="020B0604020202020204" pitchFamily="34" charset="0"/>
                    <a:cs typeface="Arial" panose="020B0604020202020204" pitchFamily="34" charset="0"/>
                  </a:rPr>
                  <a:t>±t</a:t>
                </a:r>
                <a:r>
                  <a:rPr lang="en-US" altLang="zh-CN" sz="2000" i="1" baseline="-25000" dirty="0">
                    <a:solidFill>
                      <a:srgbClr val="000000"/>
                    </a:solidFill>
                    <a:effectLst/>
                    <a:latin typeface="Arial" panose="020B0604020202020204" pitchFamily="34" charset="0"/>
                    <a:cs typeface="Arial" panose="020B0604020202020204" pitchFamily="34" charset="0"/>
                  </a:rPr>
                  <a:t>α/</a:t>
                </a:r>
                <a:r>
                  <a:rPr lang="en-US" altLang="zh-CN" sz="2000" baseline="-25000" dirty="0">
                    <a:solidFill>
                      <a:srgbClr val="000000"/>
                    </a:solidFill>
                    <a:effectLst/>
                    <a:latin typeface="Arial" panose="020B0604020202020204" pitchFamily="34" charset="0"/>
                    <a:cs typeface="Arial" panose="020B0604020202020204" pitchFamily="34" charset="0"/>
                  </a:rPr>
                  <a:t>2</a:t>
                </a:r>
                <a:r>
                  <a:rPr lang="en-US" altLang="zh-CN" sz="2000" dirty="0">
                    <a:solidFill>
                      <a:srgbClr val="000000"/>
                    </a:solidFill>
                    <a:effectLst/>
                    <a:latin typeface="Arial" panose="020B0604020202020204" pitchFamily="34" charset="0"/>
                    <a:cs typeface="Arial" panose="020B0604020202020204" pitchFamily="34" charset="0"/>
                  </a:rPr>
                  <a:t>(</a:t>
                </a:r>
                <a:r>
                  <a:rPr lang="en-US" altLang="zh-CN" sz="2000" i="1" dirty="0">
                    <a:solidFill>
                      <a:srgbClr val="000000"/>
                    </a:solidFill>
                    <a:effectLst/>
                    <a:latin typeface="Arial" panose="020B0604020202020204" pitchFamily="34" charset="0"/>
                    <a:cs typeface="Arial" panose="020B0604020202020204" pitchFamily="34" charset="0"/>
                  </a:rPr>
                  <a:t>n-</a:t>
                </a:r>
                <a:r>
                  <a:rPr lang="en-US" altLang="zh-CN" sz="2000" dirty="0">
                    <a:solidFill>
                      <a:srgbClr val="000000"/>
                    </a:solidFill>
                    <a:effectLst/>
                    <a:latin typeface="Arial" panose="020B0604020202020204" pitchFamily="34" charset="0"/>
                    <a:cs typeface="Arial" panose="020B0604020202020204" pitchFamily="34" charset="0"/>
                  </a:rPr>
                  <a:t>1)</a:t>
                </a:r>
                <a14:m>
                  <m:oMath xmlns:m="http://schemas.openxmlformats.org/officeDocument/2006/math">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cs typeface="Calibri" panose="020F0502020204030204" pitchFamily="34" charset="0"/>
                              </a:rPr>
                              <m:t>𝑠</m:t>
                            </m:r>
                          </m:e>
                          <m:sub>
                            <m:r>
                              <a:rPr lang="en-US" altLang="zh-CN" sz="2000" i="1">
                                <a:solidFill>
                                  <a:srgbClr val="000000"/>
                                </a:solidFill>
                                <a:effectLst/>
                                <a:latin typeface="Cambria Math" panose="02040503050406030204" pitchFamily="18" charset="0"/>
                                <a:cs typeface="Calibri" panose="020F0502020204030204" pitchFamily="34" charset="0"/>
                              </a:rPr>
                              <m:t>𝑑</m:t>
                            </m:r>
                          </m:sub>
                        </m:sSub>
                      </m:num>
                      <m:den>
                        <m:rad>
                          <m:radPr>
                            <m:deg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2000" i="1">
                                <a:solidFill>
                                  <a:srgbClr val="000000"/>
                                </a:solidFill>
                                <a:effectLst/>
                                <a:latin typeface="Cambria Math" panose="02040503050406030204" pitchFamily="18" charset="0"/>
                                <a:cs typeface="Calibri" panose="020F0502020204030204" pitchFamily="34" charset="0"/>
                              </a:rPr>
                              <m:t>𝑛</m:t>
                            </m:r>
                          </m:e>
                        </m:rad>
                      </m:den>
                    </m:f>
                  </m:oMath>
                </a14:m>
                <a:endParaRPr lang="zh-CN" altLang="zh-CN" sz="2000" dirty="0">
                  <a:solidFill>
                    <a:srgbClr val="000000"/>
                  </a:solidFill>
                  <a:effectLst/>
                  <a:latin typeface="Arial" panose="020B0604020202020204" pitchFamily="34" charset="0"/>
                  <a:ea typeface="方正书宋_GBK"/>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801200" cy="4680520"/>
              </a:xfrm>
              <a:blipFill rotWithShape="1">
                <a:blip r:embed="rId1"/>
                <a:stretch>
                  <a:fillRect l="-59" t="-144" r="-5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匹配样本</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95400" y="1556792"/>
            <a:ext cx="4896544" cy="4680520"/>
          </a:xfrm>
          <a:ln w="12700" cmpd="dbl">
            <a:solidFill>
              <a:schemeClr val="accent1"/>
            </a:solidFill>
          </a:ln>
        </p:spPr>
        <p:txBody>
          <a:bodyPr>
            <a:noAutofit/>
          </a:bodyPr>
          <a:lstStyle/>
          <a:p>
            <a:pPr marL="0" indent="0" algn="just">
              <a:lnSpc>
                <a:spcPct val="150000"/>
              </a:lnSpc>
              <a:buClr>
                <a:srgbClr val="318AAD"/>
              </a:buClr>
              <a:buSzPct val="100000"/>
              <a:buNone/>
              <a:defRPr/>
            </a:pPr>
            <a:r>
              <a:rPr lang="en-US"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7.9</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由</a:t>
            </a:r>
            <a:r>
              <a:rPr lang="en-US" altLang="zh-CN" sz="1800" dirty="0">
                <a:effectLst/>
                <a:latin typeface="Calibri" panose="020F0502020204030204" pitchFamily="34" charset="0"/>
                <a:ea typeface="华文细黑" panose="02010600040101010101" pitchFamily="2" charset="-122"/>
              </a:rPr>
              <a:t>10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名学生组成一个随机样本</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分别采用</a:t>
            </a:r>
            <a:r>
              <a:rPr lang="en-US" altLang="zh-CN" sz="1800" dirty="0">
                <a:effectLst/>
                <a:latin typeface="Calibri" panose="020F0502020204030204" pitchFamily="34" charset="0"/>
                <a:ea typeface="华文细黑" panose="02010600040101010101" pitchFamily="2" charset="-122"/>
              </a:rPr>
              <a:t>A</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和</a:t>
            </a:r>
            <a:r>
              <a:rPr lang="en-US" altLang="zh-CN" sz="1800" dirty="0">
                <a:effectLst/>
                <a:latin typeface="Calibri" panose="020F0502020204030204" pitchFamily="34" charset="0"/>
                <a:ea typeface="华文细黑" panose="02010600040101010101" pitchFamily="2" charset="-122"/>
              </a:rPr>
              <a:t>B</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两套试卷进行测试</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结果如表</a:t>
            </a:r>
            <a:r>
              <a:rPr lang="en-US" altLang="zh-CN" sz="1800" dirty="0">
                <a:effectLst/>
                <a:latin typeface="Calibri" panose="020F0502020204030204" pitchFamily="34" charset="0"/>
                <a:ea typeface="华文细黑" panose="02010600040101010101" pitchFamily="2" charset="-122"/>
              </a:rPr>
              <a:t>7-8</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所示</a:t>
            </a:r>
            <a:r>
              <a:rPr lang="zh-CN" altLang="en-US" sz="1800" dirty="0">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假定两套试卷分数之差服从正态分布</a:t>
            </a:r>
            <a:r>
              <a:rPr lang="en-US" altLang="zh-CN" sz="1800" dirty="0">
                <a:effectLst/>
                <a:latin typeface="Calibri" panose="020F0502020204030204" pitchFamily="34" charset="0"/>
                <a:ea typeface="华文细黑" panose="02010600040101010101" pitchFamily="2" charset="-122"/>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试建立两套试卷平均分数之差</a:t>
            </a:r>
            <a:r>
              <a:rPr lang="en-US" altLang="zh-CN" sz="1800" i="1" dirty="0" err="1">
                <a:effectLst/>
                <a:latin typeface="Calibri" panose="020F0502020204030204" pitchFamily="34" charset="0"/>
                <a:ea typeface="华文细黑" panose="02010600040101010101" pitchFamily="2" charset="-122"/>
              </a:rPr>
              <a:t>μ</a:t>
            </a:r>
            <a:r>
              <a:rPr lang="en-US" altLang="zh-CN" sz="1800" i="1" baseline="-25000" dirty="0" err="1">
                <a:effectLst/>
                <a:latin typeface="Calibri" panose="020F0502020204030204" pitchFamily="34" charset="0"/>
                <a:ea typeface="华文细黑" panose="02010600040101010101" pitchFamily="2" charset="-122"/>
              </a:rPr>
              <a:t>d</a:t>
            </a:r>
            <a:r>
              <a:rPr lang="en-US" altLang="zh-CN" sz="1800" i="1" dirty="0">
                <a:effectLst/>
                <a:latin typeface="Calibri" panose="020F0502020204030204" pitchFamily="34" charset="0"/>
                <a:ea typeface="华文细黑" panose="02010600040101010101" pitchFamily="2" charset="-122"/>
              </a:rPr>
              <a:t>=μ</a:t>
            </a:r>
            <a:r>
              <a:rPr lang="en-US" altLang="zh-CN" sz="1800" baseline="-25000" dirty="0">
                <a:effectLst/>
                <a:latin typeface="Calibri" panose="020F0502020204030204" pitchFamily="34" charset="0"/>
                <a:ea typeface="华文细黑" panose="02010600040101010101" pitchFamily="2" charset="-122"/>
              </a:rPr>
              <a:t>1</a:t>
            </a:r>
            <a:r>
              <a:rPr lang="en-US" altLang="zh-CN" sz="1800" i="1" dirty="0">
                <a:effectLst/>
                <a:latin typeface="Calibri" panose="020F0502020204030204" pitchFamily="34" charset="0"/>
                <a:ea typeface="华文细黑" panose="02010600040101010101" pitchFamily="2" charset="-122"/>
              </a:rPr>
              <a:t>-μ</a:t>
            </a:r>
            <a:r>
              <a:rPr lang="en-US" altLang="zh-CN" sz="1800" baseline="-25000" dirty="0">
                <a:effectLst/>
                <a:latin typeface="Calibri" panose="020F0502020204030204" pitchFamily="34" charset="0"/>
                <a:ea typeface="华文细黑" panose="02010600040101010101" pitchFamily="2" charset="-122"/>
              </a:rPr>
              <a:t>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a:t>
            </a:r>
            <a:endParaRPr lang="zh-CN" altLang="zh-CN" sz="1800" dirty="0">
              <a:solidFill>
                <a:srgbClr val="000000"/>
              </a:solidFill>
              <a:effectLst/>
              <a:latin typeface="NEU-BZ-S92"/>
              <a:ea typeface="方正书宋_GBK"/>
              <a:cs typeface="Times New Roman" panose="02020603050405020304" pitchFamily="18"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两个总体均值之差的区间计值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匹配样本</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5807968" y="1556792"/>
                <a:ext cx="5688632"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800" b="1" dirty="0">
                    <a:solidFill>
                      <a:srgbClr val="FF0000"/>
                    </a:solidFill>
                    <a:latin typeface="Arial" panose="020B0604020202020204" pitchFamily="34" charset="0"/>
                    <a:cs typeface="Arial" panose="020B0604020202020204" pitchFamily="34" charset="0"/>
                  </a:rPr>
                  <a:t>解</a:t>
                </a:r>
                <a:r>
                  <a:rPr lang="en-US" altLang="zh-CN" sz="1800" b="1" dirty="0">
                    <a:solidFill>
                      <a:srgbClr val="FF0000"/>
                    </a:solidFill>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根据上表数据计算得</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latin typeface="Arial" panose="020B0604020202020204" pitchFamily="34" charset="0"/>
                    <a:cs typeface="Arial" panose="020B0604020202020204" pitchFamily="34" charset="0"/>
                  </a:rPr>
                  <a:t>　　</a:t>
                </a:r>
                <a14:m>
                  <m:oMath xmlns:m="http://schemas.openxmlformats.org/officeDocument/2006/math">
                    <m:acc>
                      <m:accPr>
                        <m:chr m:val="̅"/>
                        <m:ctrlPr>
                          <a:rPr lang="zh-CN" altLang="zh-CN" sz="1800" i="1">
                            <a:latin typeface="Cambria Math" panose="02040503050406030204" pitchFamily="18" charset="0"/>
                          </a:rPr>
                        </m:ctrlPr>
                      </m:accPr>
                      <m:e>
                        <m:r>
                          <m:rPr>
                            <m:sty m:val="p"/>
                          </m:rPr>
                          <a:rPr lang="en-US" altLang="zh-CN" sz="1800">
                            <a:latin typeface="Cambria Math" panose="02040503050406030204" pitchFamily="18" charset="0"/>
                          </a:rPr>
                          <m:t>d</m:t>
                        </m:r>
                      </m:e>
                    </m:acc>
                  </m:oMath>
                </a14:m>
                <a:r>
                  <a:rPr lang="en-US" altLang="zh-CN" sz="1800" i="1" dirty="0">
                    <a:latin typeface="Arial" panose="020B0604020202020204" pitchFamily="34" charset="0"/>
                    <a:cs typeface="Arial" panose="020B0604020202020204" pitchFamily="34" charset="0"/>
                  </a:rPr>
                  <a:t>=</a:t>
                </a:r>
                <a14:m>
                  <m:oMath xmlns:m="http://schemas.openxmlformats.org/officeDocument/2006/math">
                    <m:f>
                      <m:fPr>
                        <m:ctrlPr>
                          <a:rPr lang="zh-CN" altLang="zh-CN" sz="1800" i="1">
                            <a:latin typeface="Cambria Math" panose="02040503050406030204" pitchFamily="18" charset="0"/>
                          </a:rPr>
                        </m:ctrlPr>
                      </m:fPr>
                      <m:num>
                        <m:limLow>
                          <m:limLowPr>
                            <m:ctrlPr>
                              <a:rPr lang="zh-CN" altLang="zh-CN" sz="1800" i="1">
                                <a:latin typeface="Cambria Math" panose="02040503050406030204" pitchFamily="18" charset="0"/>
                              </a:rPr>
                            </m:ctrlPr>
                          </m:limLowPr>
                          <m:e>
                            <m:limUpp>
                              <m:limUppPr>
                                <m:ctrlPr>
                                  <a:rPr lang="zh-CN" altLang="zh-CN" sz="1800" i="1">
                                    <a:latin typeface="Cambria Math" panose="02040503050406030204" pitchFamily="18" charset="0"/>
                                  </a:rPr>
                                </m:ctrlPr>
                              </m:limUppPr>
                              <m:e>
                                <m:r>
                                  <m:rPr>
                                    <m:nor/>
                                  </m:rPr>
                                  <a:rPr lang="en-US" altLang="zh-CN" sz="1800">
                                    <a:latin typeface="Arial" panose="020B0604020202020204" pitchFamily="34" charset="0"/>
                                    <a:cs typeface="Arial" panose="020B0604020202020204" pitchFamily="34" charset="0"/>
                                  </a:rPr>
                                  <m:t>∑</m:t>
                                </m:r>
                              </m:e>
                              <m:lim>
                                <m:r>
                                  <a:rPr lang="en-US" altLang="zh-CN" sz="1800" i="1">
                                    <a:latin typeface="Cambria Math" panose="02040503050406030204" pitchFamily="18" charset="0"/>
                                  </a:rPr>
                                  <m:t>𝑛</m:t>
                                </m:r>
                              </m:lim>
                            </m:limUpp>
                          </m:e>
                          <m:lim>
                            <m:r>
                              <a:rPr lang="en-US" altLang="zh-CN" sz="1800" i="1">
                                <a:latin typeface="Cambria Math" panose="02040503050406030204" pitchFamily="18" charset="0"/>
                              </a:rPr>
                              <m:t>𝑖</m:t>
                            </m:r>
                            <m:r>
                              <a:rPr lang="en-US" altLang="zh-CN" sz="1800">
                                <a:latin typeface="Cambria Math" panose="02040503050406030204" pitchFamily="18" charset="0"/>
                              </a:rPr>
                              <m:t>=</m:t>
                            </m:r>
                            <m:r>
                              <a:rPr lang="en-US" altLang="zh-CN" sz="1800">
                                <a:latin typeface="Cambria Math" panose="02040503050406030204" pitchFamily="18" charset="0"/>
                              </a:rPr>
                              <m:t>1</m:t>
                            </m:r>
                          </m:lim>
                        </m:limLow>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i="1">
                                <a:latin typeface="Cambria Math" panose="02040503050406030204" pitchFamily="18" charset="0"/>
                              </a:rPr>
                              <m:t>𝑑</m:t>
                            </m:r>
                          </m:sub>
                        </m:sSub>
                      </m:den>
                    </m:f>
                  </m:oMath>
                </a14:m>
                <a:r>
                  <a:rPr lang="en-US" altLang="zh-CN" sz="1800" i="1" dirty="0">
                    <a:latin typeface="Arial" panose="020B0604020202020204" pitchFamily="34" charset="0"/>
                    <a:cs typeface="Arial" panose="020B0604020202020204" pitchFamily="34" charset="0"/>
                  </a:rPr>
                  <a:t>=</a:t>
                </a:r>
                <a14:m>
                  <m:oMath xmlns:m="http://schemas.openxmlformats.org/officeDocument/2006/math">
                    <m:f>
                      <m:fPr>
                        <m:ctrlPr>
                          <a:rPr lang="zh-CN" altLang="zh-CN" sz="1800" i="1">
                            <a:latin typeface="Cambria Math" panose="02040503050406030204" pitchFamily="18" charset="0"/>
                          </a:rPr>
                        </m:ctrlPr>
                      </m:fPr>
                      <m:num>
                        <m:r>
                          <a:rPr lang="en-US" altLang="zh-CN" sz="1800">
                            <a:latin typeface="Cambria Math" panose="02040503050406030204" pitchFamily="18" charset="0"/>
                          </a:rPr>
                          <m:t>110</m:t>
                        </m:r>
                      </m:num>
                      <m:den>
                        <m:r>
                          <a:rPr lang="en-US" altLang="zh-CN" sz="1800">
                            <a:latin typeface="Cambria Math" panose="02040503050406030204" pitchFamily="18" charset="0"/>
                          </a:rPr>
                          <m:t>10</m:t>
                        </m:r>
                      </m:den>
                    </m:f>
                  </m:oMath>
                </a14:m>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11</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latin typeface="Arial" panose="020B0604020202020204" pitchFamily="34" charset="0"/>
                    <a:cs typeface="Arial" panose="020B0604020202020204" pitchFamily="34" charset="0"/>
                  </a:rPr>
                  <a:t>　　</a:t>
                </a:r>
                <a:r>
                  <a:rPr lang="en-US" altLang="zh-CN" sz="1800" i="1" dirty="0" err="1">
                    <a:latin typeface="Arial" panose="020B0604020202020204" pitchFamily="34" charset="0"/>
                    <a:cs typeface="Arial" panose="020B0604020202020204" pitchFamily="34" charset="0"/>
                  </a:rPr>
                  <a:t>s</a:t>
                </a:r>
                <a:r>
                  <a:rPr lang="en-US" altLang="zh-CN" sz="1800" i="1" baseline="-25000" dirty="0" err="1">
                    <a:latin typeface="Arial" panose="020B0604020202020204" pitchFamily="34" charset="0"/>
                    <a:cs typeface="Arial" panose="020B0604020202020204" pitchFamily="34" charset="0"/>
                  </a:rPr>
                  <a:t>d</a:t>
                </a:r>
                <a:r>
                  <a:rPr lang="en-US" altLang="zh-CN" sz="1800" i="1" dirty="0">
                    <a:latin typeface="Arial" panose="020B0604020202020204" pitchFamily="34" charset="0"/>
                    <a:cs typeface="Arial" panose="020B0604020202020204" pitchFamily="34" charset="0"/>
                  </a:rPr>
                  <a:t>=</a:t>
                </a:r>
                <a14:m>
                  <m:oMath xmlns:m="http://schemas.openxmlformats.org/officeDocument/2006/math">
                    <m:rad>
                      <m:radPr>
                        <m:degHide m:val="on"/>
                        <m:ctrlPr>
                          <a:rPr lang="zh-CN" altLang="zh-CN" sz="1800" i="1">
                            <a:latin typeface="Cambria Math" panose="02040503050406030204" pitchFamily="18" charset="0"/>
                          </a:rPr>
                        </m:ctrlPr>
                      </m:radPr>
                      <m:deg/>
                      <m:e>
                        <m:f>
                          <m:fPr>
                            <m:ctrlPr>
                              <a:rPr lang="zh-CN" altLang="zh-CN" sz="1800" i="1">
                                <a:latin typeface="Cambria Math" panose="02040503050406030204" pitchFamily="18" charset="0"/>
                              </a:rPr>
                            </m:ctrlPr>
                          </m:fPr>
                          <m:num>
                            <m:limLow>
                              <m:limLowPr>
                                <m:ctrlPr>
                                  <a:rPr lang="zh-CN" altLang="zh-CN" sz="1800" i="1">
                                    <a:latin typeface="Cambria Math" panose="02040503050406030204" pitchFamily="18" charset="0"/>
                                  </a:rPr>
                                </m:ctrlPr>
                              </m:limLowPr>
                              <m:e>
                                <m:limUpp>
                                  <m:limUppPr>
                                    <m:ctrlPr>
                                      <a:rPr lang="zh-CN" altLang="zh-CN" sz="1800" i="1">
                                        <a:latin typeface="Cambria Math" panose="02040503050406030204" pitchFamily="18" charset="0"/>
                                      </a:rPr>
                                    </m:ctrlPr>
                                  </m:limUppPr>
                                  <m:e>
                                    <m:r>
                                      <m:rPr>
                                        <m:nor/>
                                      </m:rPr>
                                      <a:rPr lang="en-US" altLang="zh-CN" sz="1800">
                                        <a:latin typeface="Arial" panose="020B0604020202020204" pitchFamily="34" charset="0"/>
                                        <a:cs typeface="Arial" panose="020B0604020202020204" pitchFamily="34" charset="0"/>
                                      </a:rPr>
                                      <m:t>∑</m:t>
                                    </m:r>
                                  </m:e>
                                  <m:lim>
                                    <m:r>
                                      <a:rPr lang="en-US" altLang="zh-CN" sz="1800" i="1">
                                        <a:latin typeface="Cambria Math" panose="02040503050406030204" pitchFamily="18" charset="0"/>
                                      </a:rPr>
                                      <m:t>𝑛</m:t>
                                    </m:r>
                                  </m:lim>
                                </m:limUpp>
                              </m:e>
                              <m:lim>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a:rPr lang="en-US" altLang="zh-CN" sz="1800">
                                    <a:latin typeface="Cambria Math" panose="02040503050406030204" pitchFamily="18" charset="0"/>
                                  </a:rPr>
                                  <m:t>1</m:t>
                                </m:r>
                              </m:lim>
                            </m:limLow>
                            <m:r>
                              <m:rPr>
                                <m:nor/>
                              </m:rPr>
                              <a:rPr lang="en-US" altLang="zh-CN" sz="1800">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r>
                              <m:rPr>
                                <m:nor/>
                              </m:rPr>
                              <a:rPr lang="en-US" altLang="zh-CN" sz="1800" i="1">
                                <a:latin typeface="Arial" panose="020B0604020202020204" pitchFamily="34" charset="0"/>
                                <a:cs typeface="Arial" panose="020B0604020202020204" pitchFamily="34" charset="0"/>
                              </a:rPr>
                              <m:t>−</m:t>
                            </m:r>
                            <m:acc>
                              <m:accPr>
                                <m:chr m:val="̅"/>
                                <m:ctrlPr>
                                  <a:rPr lang="zh-CN" altLang="zh-CN" sz="1800" i="1">
                                    <a:latin typeface="Cambria Math" panose="02040503050406030204" pitchFamily="18" charset="0"/>
                                  </a:rPr>
                                </m:ctrlPr>
                              </m:accPr>
                              <m:e>
                                <m:r>
                                  <m:rPr>
                                    <m:sty m:val="p"/>
                                  </m:rPr>
                                  <a:rPr lang="en-US" altLang="zh-CN" sz="1800">
                                    <a:latin typeface="Cambria Math" panose="02040503050406030204" pitchFamily="18" charset="0"/>
                                  </a:rPr>
                                  <m:t>d</m:t>
                                </m:r>
                              </m:e>
                            </m:acc>
                            <m:sSup>
                              <m:sSupPr>
                                <m:ctrlPr>
                                  <a:rPr lang="zh-CN" altLang="zh-CN" sz="1800" i="1">
                                    <a:latin typeface="Cambria Math" panose="02040503050406030204" pitchFamily="18" charset="0"/>
                                  </a:rPr>
                                </m:ctrlPr>
                              </m:sSupPr>
                              <m:e>
                                <m:r>
                                  <m:rPr>
                                    <m:nor/>
                                  </m:rPr>
                                  <a:rPr lang="en-US" altLang="zh-CN" sz="1800">
                                    <a:latin typeface="Arial" panose="020B0604020202020204" pitchFamily="34" charset="0"/>
                                    <a:cs typeface="Arial" panose="020B0604020202020204" pitchFamily="34" charset="0"/>
                                  </a:rPr>
                                  <m:t>)</m:t>
                                </m:r>
                              </m:e>
                              <m:sup>
                                <m:r>
                                  <a:rPr lang="en-US" altLang="zh-CN" sz="1800">
                                    <a:latin typeface="Cambria Math" panose="02040503050406030204" pitchFamily="18" charset="0"/>
                                  </a:rPr>
                                  <m:t>2</m:t>
                                </m:r>
                              </m:sup>
                            </m:sSup>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i="1">
                                    <a:latin typeface="Cambria Math" panose="02040503050406030204" pitchFamily="18" charset="0"/>
                                  </a:rPr>
                                  <m:t>𝑑</m:t>
                                </m:r>
                              </m:sub>
                            </m:sSub>
                            <m:r>
                              <m:rPr>
                                <m:nor/>
                              </m:rPr>
                              <a:rPr lang="en-US" altLang="zh-CN" sz="1800" i="1">
                                <a:latin typeface="Arial" panose="020B0604020202020204" pitchFamily="34" charset="0"/>
                                <a:cs typeface="Arial" panose="020B0604020202020204" pitchFamily="34" charset="0"/>
                              </a:rPr>
                              <m:t>−</m:t>
                            </m:r>
                            <m:r>
                              <a:rPr lang="en-US" altLang="zh-CN" sz="1800">
                                <a:latin typeface="Cambria Math" panose="02040503050406030204" pitchFamily="18" charset="0"/>
                              </a:rPr>
                              <m:t>1</m:t>
                            </m:r>
                          </m:den>
                        </m:f>
                      </m:e>
                    </m:rad>
                  </m:oMath>
                </a14:m>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6</a:t>
                </a: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53</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dirty="0">
                    <a:latin typeface="Arial" panose="020B0604020202020204" pitchFamily="34" charset="0"/>
                    <a:cs typeface="Arial" panose="020B0604020202020204" pitchFamily="34" charset="0"/>
                  </a:rPr>
                  <a:t>根据自由度</a:t>
                </a:r>
                <a:r>
                  <a:rPr lang="en-US" altLang="zh-CN" sz="1800" dirty="0">
                    <a:latin typeface="Arial" panose="020B0604020202020204" pitchFamily="34" charset="0"/>
                    <a:cs typeface="Arial" panose="020B0604020202020204" pitchFamily="34" charset="0"/>
                  </a:rPr>
                  <a:t>=(10-1)=9</a:t>
                </a:r>
                <a:r>
                  <a:rPr lang="zh-CN" altLang="zh-CN" sz="1800" dirty="0">
                    <a:latin typeface="Arial" panose="020B0604020202020204" pitchFamily="34" charset="0"/>
                    <a:cs typeface="Arial" panose="020B0604020202020204" pitchFamily="34" charset="0"/>
                  </a:rPr>
                  <a:t>查</a:t>
                </a:r>
                <a:r>
                  <a:rPr lang="en-US" altLang="zh-CN" sz="1800" i="1" dirty="0">
                    <a:latin typeface="Arial" panose="020B0604020202020204" pitchFamily="34" charset="0"/>
                    <a:cs typeface="Arial" panose="020B0604020202020204" pitchFamily="34" charset="0"/>
                  </a:rPr>
                  <a:t>t</a:t>
                </a:r>
                <a:r>
                  <a:rPr lang="zh-CN" altLang="zh-CN" sz="1800" dirty="0">
                    <a:latin typeface="Arial" panose="020B0604020202020204" pitchFamily="34" charset="0"/>
                    <a:cs typeface="Arial" panose="020B0604020202020204" pitchFamily="34" charset="0"/>
                  </a:rPr>
                  <a:t>分布表得</a:t>
                </a:r>
                <a:r>
                  <a:rPr lang="en-US" altLang="zh-CN" sz="1800" i="1" dirty="0">
                    <a:latin typeface="Arial" panose="020B0604020202020204" pitchFamily="34" charset="0"/>
                    <a:cs typeface="Arial" panose="020B0604020202020204" pitchFamily="34" charset="0"/>
                  </a:rPr>
                  <a:t>t</a:t>
                </a:r>
                <a:r>
                  <a:rPr lang="en-US" altLang="zh-CN" sz="1800" baseline="-25000" dirty="0">
                    <a:latin typeface="Arial" panose="020B0604020202020204" pitchFamily="34" charset="0"/>
                    <a:cs typeface="Arial" panose="020B0604020202020204" pitchFamily="34" charset="0"/>
                  </a:rPr>
                  <a:t>0.05/2</a:t>
                </a:r>
                <a:r>
                  <a:rPr lang="en-US" altLang="zh-CN" sz="1800" dirty="0">
                    <a:latin typeface="Arial" panose="020B0604020202020204" pitchFamily="34" charset="0"/>
                    <a:cs typeface="Arial" panose="020B0604020202020204" pitchFamily="34" charset="0"/>
                  </a:rPr>
                  <a:t>(9)=2.262 2</a:t>
                </a:r>
                <a:r>
                  <a:rPr lang="zh-CN" altLang="zh-CN" sz="1800" dirty="0">
                    <a:latin typeface="Arial" panose="020B0604020202020204" pitchFamily="34" charset="0"/>
                    <a:cs typeface="Arial" panose="020B0604020202020204" pitchFamily="34" charset="0"/>
                  </a:rPr>
                  <a:t>。根据式</a:t>
                </a:r>
                <a:r>
                  <a:rPr lang="en-US" altLang="zh-CN" sz="1800" dirty="0">
                    <a:latin typeface="Arial" panose="020B0604020202020204" pitchFamily="34" charset="0"/>
                    <a:cs typeface="Arial" panose="020B0604020202020204" pitchFamily="34" charset="0"/>
                  </a:rPr>
                  <a:t>(7.21)</a:t>
                </a:r>
                <a:r>
                  <a:rPr lang="zh-CN" altLang="zh-CN" sz="1800" dirty="0">
                    <a:latin typeface="Arial" panose="020B0604020202020204" pitchFamily="34" charset="0"/>
                    <a:cs typeface="Arial" panose="020B0604020202020204" pitchFamily="34" charset="0"/>
                  </a:rPr>
                  <a:t>得两套试卷平均分数之差</a:t>
                </a:r>
                <a:r>
                  <a:rPr lang="en-US" altLang="zh-CN" sz="1800" i="1" dirty="0" err="1">
                    <a:latin typeface="Arial" panose="020B0604020202020204" pitchFamily="34" charset="0"/>
                    <a:cs typeface="Arial" panose="020B0604020202020204" pitchFamily="34" charset="0"/>
                  </a:rPr>
                  <a:t>μ</a:t>
                </a:r>
                <a:r>
                  <a:rPr lang="en-US" altLang="zh-CN" sz="1800" i="1" baseline="-25000" dirty="0" err="1">
                    <a:latin typeface="Arial" panose="020B0604020202020204" pitchFamily="34" charset="0"/>
                    <a:cs typeface="Arial" panose="020B0604020202020204" pitchFamily="34" charset="0"/>
                  </a:rPr>
                  <a:t>d</a:t>
                </a:r>
                <a:r>
                  <a:rPr lang="en-US" altLang="zh-CN" sz="1800" i="1" dirty="0">
                    <a:latin typeface="Arial" panose="020B0604020202020204" pitchFamily="34" charset="0"/>
                    <a:cs typeface="Arial" panose="020B0604020202020204" pitchFamily="34" charset="0"/>
                  </a:rPr>
                  <a:t>=μ</a:t>
                </a:r>
                <a:r>
                  <a:rPr lang="en-US" altLang="zh-CN" sz="1800" baseline="-25000" dirty="0">
                    <a:latin typeface="Arial" panose="020B0604020202020204" pitchFamily="34" charset="0"/>
                    <a:cs typeface="Arial" panose="020B0604020202020204" pitchFamily="34" charset="0"/>
                  </a:rPr>
                  <a:t>1</a:t>
                </a:r>
                <a:r>
                  <a:rPr lang="en-US" altLang="zh-CN" sz="1800" i="1" dirty="0">
                    <a:latin typeface="Arial" panose="020B0604020202020204" pitchFamily="34" charset="0"/>
                    <a:cs typeface="Arial" panose="020B0604020202020204" pitchFamily="34" charset="0"/>
                  </a:rPr>
                  <a:t>-μ</a:t>
                </a:r>
                <a:r>
                  <a:rPr lang="en-US" altLang="zh-CN" sz="1800" baseline="-25000" dirty="0">
                    <a:latin typeface="Arial" panose="020B0604020202020204" pitchFamily="34" charset="0"/>
                    <a:cs typeface="Arial" panose="020B0604020202020204" pitchFamily="34" charset="0"/>
                  </a:rPr>
                  <a:t>2</a:t>
                </a:r>
                <a:r>
                  <a:rPr lang="zh-CN" altLang="zh-CN" sz="1800" dirty="0">
                    <a:latin typeface="Arial" panose="020B0604020202020204" pitchFamily="34" charset="0"/>
                    <a:cs typeface="Arial" panose="020B0604020202020204" pitchFamily="34" charset="0"/>
                  </a:rPr>
                  <a:t>的</a:t>
                </a:r>
                <a:r>
                  <a:rPr lang="en-US" altLang="zh-CN" sz="1800" dirty="0">
                    <a:latin typeface="Arial" panose="020B0604020202020204" pitchFamily="34" charset="0"/>
                    <a:cs typeface="Arial" panose="020B0604020202020204" pitchFamily="34" charset="0"/>
                  </a:rPr>
                  <a:t>95%</a:t>
                </a:r>
                <a:r>
                  <a:rPr lang="zh-CN" altLang="zh-CN" sz="1800" dirty="0">
                    <a:latin typeface="Arial" panose="020B0604020202020204" pitchFamily="34" charset="0"/>
                    <a:cs typeface="Arial" panose="020B0604020202020204" pitchFamily="34" charset="0"/>
                  </a:rPr>
                  <a:t>的置信区间为</a:t>
                </a:r>
                <a:r>
                  <a:rPr lang="en-US" altLang="zh-CN" sz="1800" dirty="0">
                    <a:latin typeface="Arial" panose="020B0604020202020204" pitchFamily="34" charset="0"/>
                    <a:cs typeface="Arial" panose="020B0604020202020204" pitchFamily="34" charset="0"/>
                  </a:rPr>
                  <a:t>:</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latin typeface="Arial" panose="020B0604020202020204" pitchFamily="34" charset="0"/>
                    <a:cs typeface="Arial" panose="020B0604020202020204" pitchFamily="34" charset="0"/>
                  </a:rPr>
                  <a:t>　　</a:t>
                </a:r>
                <a14:m>
                  <m:oMath xmlns:m="http://schemas.openxmlformats.org/officeDocument/2006/math">
                    <m:acc>
                      <m:accPr>
                        <m:chr m:val="̅"/>
                        <m:ctrlPr>
                          <a:rPr lang="zh-CN" altLang="zh-CN" sz="1800" i="1">
                            <a:latin typeface="Cambria Math" panose="02040503050406030204" pitchFamily="18" charset="0"/>
                          </a:rPr>
                        </m:ctrlPr>
                      </m:accPr>
                      <m:e>
                        <m:r>
                          <m:rPr>
                            <m:sty m:val="p"/>
                          </m:rPr>
                          <a:rPr lang="en-US" altLang="zh-CN" sz="1800">
                            <a:latin typeface="Cambria Math" panose="02040503050406030204" pitchFamily="18" charset="0"/>
                          </a:rPr>
                          <m:t>d</m:t>
                        </m:r>
                      </m:e>
                    </m:acc>
                  </m:oMath>
                </a14:m>
                <a:r>
                  <a:rPr lang="en-US" altLang="zh-CN" sz="1800" i="1" dirty="0">
                    <a:latin typeface="Arial" panose="020B0604020202020204" pitchFamily="34" charset="0"/>
                    <a:cs typeface="Arial" panose="020B0604020202020204" pitchFamily="34" charset="0"/>
                  </a:rPr>
                  <a:t>±t</a:t>
                </a:r>
                <a:r>
                  <a:rPr lang="en-US" altLang="zh-CN" sz="1800" i="1" baseline="-25000" dirty="0">
                    <a:latin typeface="Arial" panose="020B0604020202020204" pitchFamily="34" charset="0"/>
                    <a:cs typeface="Arial" panose="020B0604020202020204" pitchFamily="34" charset="0"/>
                  </a:rPr>
                  <a:t>α/</a:t>
                </a:r>
                <a:r>
                  <a:rPr lang="en-US" altLang="zh-CN" sz="1800" baseline="-25000" dirty="0">
                    <a:latin typeface="Arial" panose="020B0604020202020204" pitchFamily="34" charset="0"/>
                    <a:cs typeface="Arial" panose="020B0604020202020204" pitchFamily="34" charset="0"/>
                  </a:rPr>
                  <a:t>2</a:t>
                </a:r>
                <a:r>
                  <a:rPr lang="en-US" altLang="zh-CN" sz="1800" dirty="0">
                    <a:latin typeface="Arial" panose="020B0604020202020204" pitchFamily="34" charset="0"/>
                    <a:cs typeface="Arial" panose="020B0604020202020204" pitchFamily="34" charset="0"/>
                  </a:rPr>
                  <a:t>(</a:t>
                </a:r>
                <a:r>
                  <a:rPr lang="en-US" altLang="zh-CN" sz="1800" i="1" dirty="0">
                    <a:latin typeface="Arial" panose="020B0604020202020204" pitchFamily="34" charset="0"/>
                    <a:cs typeface="Arial" panose="020B0604020202020204" pitchFamily="34" charset="0"/>
                  </a:rPr>
                  <a:t>n-</a:t>
                </a:r>
                <a:r>
                  <a:rPr lang="en-US" altLang="zh-CN" sz="1800" dirty="0">
                    <a:latin typeface="Arial" panose="020B0604020202020204" pitchFamily="34" charset="0"/>
                    <a:cs typeface="Arial" panose="020B0604020202020204" pitchFamily="34" charset="0"/>
                  </a:rPr>
                  <a:t>1)</a:t>
                </a:r>
                <a14:m>
                  <m:oMath xmlns:m="http://schemas.openxmlformats.org/officeDocument/2006/math">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𝑠</m:t>
                            </m:r>
                          </m:e>
                          <m:sub>
                            <m:r>
                              <a:rPr lang="en-US" altLang="zh-CN" sz="1800" i="1">
                                <a:latin typeface="Cambria Math" panose="02040503050406030204" pitchFamily="18" charset="0"/>
                              </a:rPr>
                              <m:t>𝑑</m:t>
                            </m:r>
                          </m:sub>
                        </m:sSub>
                      </m:num>
                      <m:den>
                        <m:rad>
                          <m:radPr>
                            <m:degHide m:val="on"/>
                            <m:ctrlPr>
                              <a:rPr lang="zh-CN" altLang="zh-CN" sz="1800" i="1">
                                <a:latin typeface="Cambria Math" panose="02040503050406030204" pitchFamily="18" charset="0"/>
                              </a:rPr>
                            </m:ctrlPr>
                          </m:radPr>
                          <m:deg/>
                          <m:e>
                            <m:r>
                              <a:rPr lang="en-US" altLang="zh-CN" sz="1800" i="1">
                                <a:latin typeface="Cambria Math" panose="02040503050406030204" pitchFamily="18" charset="0"/>
                              </a:rPr>
                              <m:t>𝑛</m:t>
                            </m:r>
                          </m:e>
                        </m:rad>
                      </m:den>
                    </m:f>
                  </m:oMath>
                </a14:m>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11</a:t>
                </a: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2</a:t>
                </a: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262 2</a:t>
                </a:r>
                <a:r>
                  <a:rPr lang="en-US" altLang="zh-CN" sz="1800" i="1" dirty="0">
                    <a:latin typeface="Arial" panose="020B0604020202020204" pitchFamily="34" charset="0"/>
                    <a:cs typeface="Arial" panose="020B0604020202020204" pitchFamily="34" charset="0"/>
                  </a:rPr>
                  <a:t>×</a:t>
                </a:r>
                <a14:m>
                  <m:oMath xmlns:m="http://schemas.openxmlformats.org/officeDocument/2006/math">
                    <m:f>
                      <m:fPr>
                        <m:ctrlPr>
                          <a:rPr lang="zh-CN" altLang="zh-CN" sz="1800" i="1">
                            <a:latin typeface="Cambria Math" panose="02040503050406030204" pitchFamily="18" charset="0"/>
                          </a:rPr>
                        </m:ctrlPr>
                      </m:fPr>
                      <m:num>
                        <m:r>
                          <a:rPr lang="en-US" altLang="zh-CN" sz="1800">
                            <a:latin typeface="Cambria Math" panose="02040503050406030204" pitchFamily="18" charset="0"/>
                          </a:rPr>
                          <m:t>6</m:t>
                        </m:r>
                        <m:r>
                          <m:rPr>
                            <m:nor/>
                          </m:rPr>
                          <a:rPr lang="en-US" altLang="zh-CN" sz="1800">
                            <a:latin typeface="Arial" panose="020B0604020202020204" pitchFamily="34" charset="0"/>
                            <a:cs typeface="Arial" panose="020B0604020202020204" pitchFamily="34" charset="0"/>
                          </a:rPr>
                          <m:t>.</m:t>
                        </m:r>
                        <m:r>
                          <a:rPr lang="en-US" altLang="zh-CN" sz="1800">
                            <a:latin typeface="Cambria Math" panose="02040503050406030204" pitchFamily="18" charset="0"/>
                          </a:rPr>
                          <m:t>53</m:t>
                        </m:r>
                      </m:num>
                      <m:den>
                        <m:rad>
                          <m:radPr>
                            <m:degHide m:val="on"/>
                            <m:ctrlPr>
                              <a:rPr lang="zh-CN" altLang="zh-CN" sz="1800" i="1">
                                <a:latin typeface="Cambria Math" panose="02040503050406030204" pitchFamily="18" charset="0"/>
                              </a:rPr>
                            </m:ctrlPr>
                          </m:radPr>
                          <m:deg/>
                          <m:e>
                            <m:r>
                              <a:rPr lang="en-US" altLang="zh-CN" sz="1800">
                                <a:latin typeface="Cambria Math" panose="02040503050406030204" pitchFamily="18" charset="0"/>
                              </a:rPr>
                              <m:t>10</m:t>
                            </m:r>
                          </m:e>
                        </m:rad>
                      </m:den>
                    </m:f>
                  </m:oMath>
                </a14:m>
                <a:endParaRPr lang="zh-CN" altLang="zh-CN" sz="1800" dirty="0">
                  <a:latin typeface="Arial" panose="020B0604020202020204" pitchFamily="34" charset="0"/>
                  <a:cs typeface="Arial" panose="020B0604020202020204" pitchFamily="34" charset="0"/>
                </a:endParaRPr>
              </a:p>
              <a:p>
                <a:pPr marL="0" indent="0" algn="just">
                  <a:buNone/>
                </a:pP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11</a:t>
                </a: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4</a:t>
                </a:r>
                <a:r>
                  <a:rPr lang="en-US" altLang="zh-CN" sz="1800" i="1" dirty="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67</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dirty="0">
                    <a:latin typeface="Arial" panose="020B0604020202020204" pitchFamily="34" charset="0"/>
                    <a:cs typeface="Arial" panose="020B0604020202020204" pitchFamily="34" charset="0"/>
                  </a:rPr>
                  <a:t>即</a:t>
                </a:r>
                <a:r>
                  <a:rPr lang="en-US" altLang="zh-CN" sz="1800" dirty="0">
                    <a:latin typeface="Arial" panose="020B0604020202020204" pitchFamily="34" charset="0"/>
                    <a:cs typeface="Arial" panose="020B0604020202020204" pitchFamily="34" charset="0"/>
                  </a:rPr>
                  <a:t>(6.3,15.7),</a:t>
                </a:r>
                <a:r>
                  <a:rPr lang="zh-CN" altLang="zh-CN" sz="1800" dirty="0">
                    <a:latin typeface="Arial" panose="020B0604020202020204" pitchFamily="34" charset="0"/>
                    <a:cs typeface="Arial" panose="020B0604020202020204" pitchFamily="34" charset="0"/>
                  </a:rPr>
                  <a:t>两套试卷平均分数之差的</a:t>
                </a:r>
                <a:r>
                  <a:rPr lang="en-US" altLang="zh-CN" sz="1800" dirty="0">
                    <a:latin typeface="Arial" panose="020B0604020202020204" pitchFamily="34" charset="0"/>
                    <a:cs typeface="Arial" panose="020B0604020202020204" pitchFamily="34" charset="0"/>
                  </a:rPr>
                  <a:t>95%</a:t>
                </a:r>
                <a:r>
                  <a:rPr lang="zh-CN" altLang="zh-CN" sz="1800" dirty="0">
                    <a:latin typeface="Arial" panose="020B0604020202020204" pitchFamily="34" charset="0"/>
                    <a:cs typeface="Arial" panose="020B0604020202020204" pitchFamily="34" charset="0"/>
                  </a:rPr>
                  <a:t>的置信区间为</a:t>
                </a:r>
                <a:r>
                  <a:rPr lang="en-US" altLang="zh-CN" sz="1800" dirty="0">
                    <a:latin typeface="Arial" panose="020B0604020202020204" pitchFamily="34" charset="0"/>
                    <a:cs typeface="Arial" panose="020B0604020202020204" pitchFamily="34" charset="0"/>
                  </a:rPr>
                  <a:t>6.3~15.7</a:t>
                </a:r>
                <a:r>
                  <a:rPr lang="zh-CN" altLang="zh-CN" sz="1800" dirty="0">
                    <a:latin typeface="Arial" panose="020B0604020202020204" pitchFamily="34" charset="0"/>
                    <a:cs typeface="Arial" panose="020B0604020202020204" pitchFamily="34" charset="0"/>
                  </a:rPr>
                  <a:t>分</a:t>
                </a:r>
                <a:endParaRPr lang="zh-CN" altLang="zh-CN" sz="1800" dirty="0">
                  <a:latin typeface="Arial" panose="020B0604020202020204" pitchFamily="34" charset="0"/>
                  <a:cs typeface="Arial" panose="020B0604020202020204" pitchFamily="34"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5807968" y="1556792"/>
                <a:ext cx="5688632" cy="4680520"/>
              </a:xfrm>
              <a:prstGeom prst="rect">
                <a:avLst/>
              </a:prstGeom>
              <a:blipFill rotWithShape="1">
                <a:blip r:embed="rId1"/>
                <a:stretch>
                  <a:fillRect l="-116" t="-144" r="-102" b="-128"/>
                </a:stretch>
              </a:blipFill>
              <a:ln w="12700" cmpd="dbl">
                <a:solidFill>
                  <a:schemeClr val="accent1"/>
                </a:solidFill>
              </a:ln>
            </p:spPr>
            <p:txBody>
              <a:bodyPr/>
              <a:lstStyle/>
              <a:p>
                <a:r>
                  <a:rPr lang="zh-CN" altLang="en-US">
                    <a:noFill/>
                  </a:rPr>
                  <a:t> </a:t>
                </a:r>
              </a:p>
            </p:txBody>
          </p:sp>
        </mc:Fallback>
      </mc:AlternateContent>
      <p:graphicFrame>
        <p:nvGraphicFramePr>
          <p:cNvPr id="6" name="表格 5"/>
          <p:cNvGraphicFramePr>
            <a:graphicFrameLocks noGrp="1"/>
          </p:cNvGraphicFramePr>
          <p:nvPr/>
        </p:nvGraphicFramePr>
        <p:xfrm>
          <a:off x="767408" y="3356992"/>
          <a:ext cx="4752528" cy="2880317"/>
        </p:xfrm>
        <a:graphic>
          <a:graphicData uri="http://schemas.openxmlformats.org/drawingml/2006/table">
            <a:tbl>
              <a:tblPr firstRow="1" firstCol="1" bandRow="1">
                <a:tableStyleId>{5C22544A-7EE6-4342-B048-85BDC9FD1C3A}</a:tableStyleId>
              </a:tblPr>
              <a:tblGrid>
                <a:gridCol w="1144491"/>
                <a:gridCol w="1144491"/>
                <a:gridCol w="1144491"/>
                <a:gridCol w="1319055"/>
              </a:tblGrid>
              <a:tr h="255077">
                <a:tc>
                  <a:txBody>
                    <a:bodyPr/>
                    <a:lstStyle/>
                    <a:p>
                      <a:pPr algn="ctr">
                        <a:lnSpc>
                          <a:spcPts val="1200"/>
                        </a:lnSpc>
                      </a:pPr>
                      <a:r>
                        <a:rPr lang="zh-CN" sz="1600" b="1">
                          <a:effectLst/>
                        </a:rPr>
                        <a:t>学生编号</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a:effectLst/>
                        </a:rPr>
                        <a:t>试卷</a:t>
                      </a:r>
                      <a:r>
                        <a:rPr lang="en-US" sz="1600" b="1">
                          <a:effectLst/>
                        </a:rPr>
                        <a:t>A</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dirty="0">
                          <a:effectLst/>
                        </a:rPr>
                        <a:t>试卷</a:t>
                      </a:r>
                      <a:r>
                        <a:rPr lang="en-US" sz="1600" b="1" dirty="0">
                          <a:effectLst/>
                        </a:rPr>
                        <a:t>B</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zh-CN" sz="1600" b="1" dirty="0">
                          <a:effectLst/>
                        </a:rPr>
                        <a:t>差值</a:t>
                      </a:r>
                      <a:r>
                        <a:rPr lang="en-US" sz="1600" b="1" dirty="0">
                          <a:effectLst/>
                        </a:rPr>
                        <a:t>d</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63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61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89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84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91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74</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49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51</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-2</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68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13</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60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16</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252521">
                <a:tc>
                  <a:txBody>
                    <a:bodyPr/>
                    <a:lstStyle/>
                    <a:p>
                      <a:pPr algn="ctr">
                        <a:lnSpc>
                          <a:spcPts val="1200"/>
                        </a:lnSpc>
                      </a:pPr>
                      <a:r>
                        <a:rPr lang="en-US" sz="1600" b="1">
                          <a:effectLst/>
                        </a:rPr>
                        <a:t>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85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77</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8</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r>
              <a:tr h="352551">
                <a:tc>
                  <a:txBody>
                    <a:bodyPr/>
                    <a:lstStyle/>
                    <a:p>
                      <a:pPr algn="ctr">
                        <a:lnSpc>
                          <a:spcPts val="1200"/>
                        </a:lnSpc>
                      </a:pPr>
                      <a:r>
                        <a:rPr lang="en-US" sz="1600" b="1">
                          <a:effectLst/>
                        </a:rPr>
                        <a:t>10</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55</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200"/>
                        </a:lnSpc>
                      </a:pPr>
                      <a:r>
                        <a:rPr lang="en-US" sz="1600" b="1">
                          <a:effectLst/>
                        </a:rPr>
                        <a:t>39</a:t>
                      </a:r>
                      <a:endParaRPr lang="zh-CN" sz="1600" b="1">
                        <a:solidFill>
                          <a:srgbClr val="000000"/>
                        </a:solidFill>
                        <a:effectLst/>
                        <a:latin typeface="NEU-BZ-S92"/>
                        <a:ea typeface="方正书宋_GBK"/>
                        <a:cs typeface="Times New Roman" panose="02020603050405020304" pitchFamily="18" charset="0"/>
                      </a:endParaRPr>
                    </a:p>
                  </a:txBody>
                  <a:tcPr marL="0" marR="0" marT="0" marB="0" anchor="ctr"/>
                </a:tc>
                <a:tc>
                  <a:txBody>
                    <a:bodyPr/>
                    <a:lstStyle/>
                    <a:p>
                      <a:pPr algn="ctr">
                        <a:lnSpc>
                          <a:spcPts val="1800"/>
                        </a:lnSpc>
                      </a:pPr>
                      <a:r>
                        <a:rPr lang="en-US" sz="1600" b="1" dirty="0">
                          <a:effectLst/>
                        </a:rPr>
                        <a:t>16</a:t>
                      </a:r>
                      <a:endParaRPr lang="zh-CN" sz="1600" b="1" dirty="0">
                        <a:solidFill>
                          <a:srgbClr val="000000"/>
                        </a:solidFill>
                        <a:effectLst/>
                        <a:latin typeface="NEU-BZ-S92"/>
                        <a:ea typeface="方正书宋_GBK"/>
                        <a:cs typeface="Times New Roman" panose="02020603050405020304" pitchFamily="18" charset="0"/>
                      </a:endParaRPr>
                    </a:p>
                  </a:txBody>
                  <a:tcPr marL="0" marR="0" marT="0" marB="0" anchor="ctr"/>
                </a:tc>
              </a:tr>
            </a:tbl>
          </a:graphicData>
        </a:graphic>
      </p:graphicFrame>
    </p:spTree>
    <p:custDataLst>
      <p:tags r:id="rId2"/>
    </p:custData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256584" cy="4680520"/>
              </a:xfrm>
              <a:ln w="12700" cmpd="dbl">
                <a:solidFill>
                  <a:schemeClr val="accent1"/>
                </a:solidFill>
              </a:ln>
            </p:spPr>
            <p:txBody>
              <a:bodyPr>
                <a:noAutofit/>
              </a:bodyPr>
              <a:lstStyle/>
              <a:p>
                <a:pPr marL="447675" indent="-447675" algn="just">
                  <a:lnSpc>
                    <a:spcPct val="150000"/>
                  </a:lnSpc>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由样本比例的抽样分布可知</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从两个二项总体中抽出两个独立的样本</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则两个样本比例之差的抽样分布服从正态分布。同样</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两个样本的比例之差经标准化后服从标准正态分布</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即</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latin typeface="Arial" panose="020B0604020202020204" pitchFamily="34" charset="0"/>
                    <a:cs typeface="Arial" panose="020B0604020202020204" pitchFamily="34" charset="0"/>
                  </a:rPr>
                  <a:t>　　</a:t>
                </a:r>
                <a:r>
                  <a:rPr lang="en-US" altLang="zh-CN" sz="1800" i="1" dirty="0">
                    <a:latin typeface="Arial" panose="020B0604020202020204" pitchFamily="34" charset="0"/>
                    <a:cs typeface="Arial" panose="020B0604020202020204" pitchFamily="34" charset="0"/>
                  </a:rPr>
                  <a:t>Z=</a:t>
                </a:r>
                <a14:m>
                  <m:oMath xmlns:m="http://schemas.openxmlformats.org/officeDocument/2006/math">
                    <m:f>
                      <m:fPr>
                        <m:ctrlPr>
                          <a:rPr lang="zh-CN" altLang="zh-CN" sz="1800" i="1">
                            <a:latin typeface="Cambria Math" panose="02040503050406030204" pitchFamily="18" charset="0"/>
                          </a:rPr>
                        </m:ctrlPr>
                      </m:fPr>
                      <m:num>
                        <m:r>
                          <m:rPr>
                            <m:nor/>
                          </m:rPr>
                          <a:rPr lang="en-US" altLang="zh-CN" sz="1800">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1</m:t>
                            </m:r>
                          </m:sub>
                        </m:sSub>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r>
                          <m:rPr>
                            <m:nor/>
                          </m:rPr>
                          <a:rPr lang="en-US" altLang="zh-CN" sz="1800" i="1">
                            <a:latin typeface="Arial" panose="020B0604020202020204" pitchFamily="34" charset="0"/>
                            <a:cs typeface="Arial" panose="020B0604020202020204" pitchFamily="34" charset="0"/>
                          </a:rPr>
                          <m:t>−</m:t>
                        </m:r>
                        <m:r>
                          <m:rPr>
                            <m:nor/>
                          </m:rPr>
                          <a:rPr lang="en-US" altLang="zh-CN" sz="1800">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1</m:t>
                            </m:r>
                          </m:sub>
                        </m:sSub>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num>
                      <m:den>
                        <m:rad>
                          <m:radPr>
                            <m:degHide m:val="on"/>
                            <m:ctrlPr>
                              <a:rPr lang="zh-CN" altLang="zh-CN" sz="1800" i="1">
                                <a:latin typeface="Cambria Math" panose="02040503050406030204" pitchFamily="18" charset="0"/>
                              </a:rPr>
                            </m:ctrlPr>
                          </m:radPr>
                          <m:deg/>
                          <m:e>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1</m:t>
                                    </m:r>
                                  </m:sub>
                                </m:sSub>
                                <m:r>
                                  <m:rPr>
                                    <m:nor/>
                                  </m:rPr>
                                  <a:rPr lang="en-US" altLang="zh-CN" sz="1800">
                                    <a:latin typeface="Arial" panose="020B0604020202020204" pitchFamily="34" charset="0"/>
                                    <a:cs typeface="Arial" panose="020B0604020202020204" pitchFamily="34" charset="0"/>
                                  </a:rPr>
                                  <m:t>(</m:t>
                                </m:r>
                                <m:r>
                                  <a:rPr lang="en-US" altLang="zh-CN" sz="1800">
                                    <a:latin typeface="Cambria Math" panose="02040503050406030204" pitchFamily="18" charset="0"/>
                                  </a:rPr>
                                  <m:t>1</m:t>
                                </m:r>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1</m:t>
                                    </m:r>
                                  </m:sub>
                                </m:sSub>
                                <m:r>
                                  <m:rPr>
                                    <m:nor/>
                                  </m:rPr>
                                  <a:rPr lang="en-US" altLang="zh-CN" sz="1800">
                                    <a:latin typeface="Arial" panose="020B0604020202020204" pitchFamily="34" charset="0"/>
                                    <a:cs typeface="Arial" panose="020B0604020202020204" pitchFamily="34" charset="0"/>
                                  </a:rPr>
                                  <m:t>)</m:t>
                                </m:r>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a:latin typeface="Cambria Math" panose="02040503050406030204" pitchFamily="18" charset="0"/>
                                      </a:rPr>
                                      <m:t>1</m:t>
                                    </m:r>
                                  </m:sub>
                                </m:sSub>
                              </m:den>
                            </m:f>
                            <m:r>
                              <a:rPr lang="en-US" altLang="zh-CN" sz="1800">
                                <a:latin typeface="Cambria Math" panose="02040503050406030204" pitchFamily="18" charset="0"/>
                              </a:rPr>
                              <m:t>+</m:t>
                            </m:r>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r>
                                  <a:rPr lang="en-US" altLang="zh-CN" sz="1800">
                                    <a:latin typeface="Cambria Math" panose="02040503050406030204" pitchFamily="18" charset="0"/>
                                  </a:rPr>
                                  <m:t>1</m:t>
                                </m:r>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𝜋</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a:latin typeface="Cambria Math" panose="02040503050406030204" pitchFamily="18" charset="0"/>
                                      </a:rPr>
                                      <m:t>2</m:t>
                                    </m:r>
                                  </m:sub>
                                </m:sSub>
                              </m:den>
                            </m:f>
                          </m:e>
                        </m:rad>
                      </m:den>
                    </m:f>
                  </m:oMath>
                </a14:m>
                <a:r>
                  <a:rPr lang="en-US" altLang="zh-CN" sz="1800" i="1" dirty="0">
                    <a:latin typeface="Arial" panose="020B0604020202020204" pitchFamily="34" charset="0"/>
                    <a:cs typeface="Arial" panose="020B0604020202020204" pitchFamily="34" charset="0"/>
                  </a:rPr>
                  <a:t>~N</a:t>
                </a:r>
                <a:r>
                  <a:rPr lang="en-US" altLang="zh-CN" sz="1800" dirty="0">
                    <a:latin typeface="Arial" panose="020B0604020202020204" pitchFamily="34" charset="0"/>
                    <a:cs typeface="Arial" panose="020B0604020202020204" pitchFamily="34" charset="0"/>
                  </a:rPr>
                  <a:t>(0,1)</a:t>
                </a:r>
                <a:endParaRPr lang="zh-CN" altLang="zh-CN" sz="1800" dirty="0">
                  <a:latin typeface="Arial" panose="020B0604020202020204" pitchFamily="34" charset="0"/>
                  <a:cs typeface="Arial" panose="020B0604020202020204" pitchFamily="34" charset="0"/>
                </a:endParaRPr>
              </a:p>
              <a:p>
                <a:pPr marL="447675" indent="-447675" algn="just">
                  <a:lnSpc>
                    <a:spcPct val="150000"/>
                  </a:lnSpc>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两个总体比例</a:t>
                </a:r>
                <a:r>
                  <a:rPr lang="en-US" altLang="zh-CN" sz="1800" dirty="0">
                    <a:latin typeface="Arial" panose="020B0604020202020204" pitchFamily="34" charset="0"/>
                    <a:cs typeface="Arial" panose="020B0604020202020204" pitchFamily="34" charset="0"/>
                  </a:rPr>
                  <a:t>π1</a:t>
                </a:r>
                <a:r>
                  <a:rPr lang="zh-CN" altLang="zh-CN" sz="1800" dirty="0">
                    <a:latin typeface="Arial" panose="020B0604020202020204" pitchFamily="34" charset="0"/>
                    <a:cs typeface="Arial" panose="020B0604020202020204" pitchFamily="34" charset="0"/>
                  </a:rPr>
                  <a:t>和</a:t>
                </a:r>
                <a:r>
                  <a:rPr lang="en-US" altLang="zh-CN" sz="1800" dirty="0">
                    <a:latin typeface="Arial" panose="020B0604020202020204" pitchFamily="34" charset="0"/>
                    <a:cs typeface="Arial" panose="020B0604020202020204" pitchFamily="34" charset="0"/>
                  </a:rPr>
                  <a:t>π2</a:t>
                </a:r>
                <a:r>
                  <a:rPr lang="zh-CN" altLang="zh-CN" sz="1800" dirty="0">
                    <a:latin typeface="Arial" panose="020B0604020202020204" pitchFamily="34" charset="0"/>
                    <a:cs typeface="Arial" panose="020B0604020202020204" pitchFamily="34" charset="0"/>
                  </a:rPr>
                  <a:t>未知时</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可用样本比例</a:t>
                </a:r>
                <a:r>
                  <a:rPr lang="en-US" altLang="zh-CN" sz="1800" dirty="0">
                    <a:latin typeface="Arial" panose="020B0604020202020204" pitchFamily="34" charset="0"/>
                    <a:cs typeface="Arial" panose="020B0604020202020204" pitchFamily="34" charset="0"/>
                  </a:rPr>
                  <a:t>p1</a:t>
                </a:r>
                <a:r>
                  <a:rPr lang="zh-CN" altLang="zh-CN" sz="1800" dirty="0">
                    <a:latin typeface="Arial" panose="020B0604020202020204" pitchFamily="34" charset="0"/>
                    <a:cs typeface="Arial" panose="020B0604020202020204" pitchFamily="34" charset="0"/>
                  </a:rPr>
                  <a:t>和</a:t>
                </a:r>
                <a:r>
                  <a:rPr lang="en-US" altLang="zh-CN" sz="1800" dirty="0">
                    <a:latin typeface="Arial" panose="020B0604020202020204" pitchFamily="34" charset="0"/>
                    <a:cs typeface="Arial" panose="020B0604020202020204" pitchFamily="34" charset="0"/>
                  </a:rPr>
                  <a:t>p2</a:t>
                </a:r>
                <a:r>
                  <a:rPr lang="zh-CN" altLang="zh-CN" sz="1800" dirty="0">
                    <a:latin typeface="Arial" panose="020B0604020202020204" pitchFamily="34" charset="0"/>
                    <a:cs typeface="Arial" panose="020B0604020202020204" pitchFamily="34" charset="0"/>
                  </a:rPr>
                  <a:t>来代替</a:t>
                </a:r>
                <a:r>
                  <a:rPr lang="zh-CN" altLang="en-US"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根据正态分布建立的两个总体比例之差</a:t>
                </a:r>
                <a:r>
                  <a:rPr lang="en-US" altLang="zh-CN" sz="1800" dirty="0">
                    <a:latin typeface="Arial" panose="020B0604020202020204" pitchFamily="34" charset="0"/>
                    <a:cs typeface="Arial" panose="020B0604020202020204" pitchFamily="34" charset="0"/>
                  </a:rPr>
                  <a:t>π1-π2</a:t>
                </a:r>
                <a:r>
                  <a:rPr lang="zh-CN" altLang="zh-CN" sz="1800" dirty="0">
                    <a:latin typeface="Arial" panose="020B0604020202020204" pitchFamily="34" charset="0"/>
                    <a:cs typeface="Arial" panose="020B0604020202020204" pitchFamily="34" charset="0"/>
                  </a:rPr>
                  <a:t>在</a:t>
                </a:r>
                <a:r>
                  <a:rPr lang="en-US" altLang="zh-CN" sz="1800" dirty="0">
                    <a:latin typeface="Arial" panose="020B0604020202020204" pitchFamily="34" charset="0"/>
                    <a:cs typeface="Arial" panose="020B0604020202020204" pitchFamily="34" charset="0"/>
                  </a:rPr>
                  <a:t>1-α</a:t>
                </a:r>
                <a:r>
                  <a:rPr lang="zh-CN" altLang="zh-CN" sz="1800" dirty="0">
                    <a:latin typeface="Arial" panose="020B0604020202020204" pitchFamily="34" charset="0"/>
                    <a:cs typeface="Arial" panose="020B0604020202020204" pitchFamily="34" charset="0"/>
                  </a:rPr>
                  <a:t>置信水平下的置信区间为</a:t>
                </a:r>
                <a:r>
                  <a:rPr lang="en-US" altLang="zh-CN" sz="1800" dirty="0">
                    <a:latin typeface="Arial" panose="020B0604020202020204" pitchFamily="34" charset="0"/>
                    <a:cs typeface="Arial" panose="020B0604020202020204" pitchFamily="34" charset="0"/>
                  </a:rPr>
                  <a:t>:</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t>
                </a:r>
                <a:r>
                  <a:rPr lang="en-US" altLang="zh-CN" sz="1800" i="1" dirty="0">
                    <a:latin typeface="Arial" panose="020B0604020202020204" pitchFamily="34" charset="0"/>
                    <a:cs typeface="Arial" panose="020B0604020202020204" pitchFamily="34" charset="0"/>
                  </a:rPr>
                  <a:t>p</a:t>
                </a:r>
                <a:r>
                  <a:rPr lang="en-US" altLang="zh-CN" sz="1800" baseline="-25000" dirty="0">
                    <a:latin typeface="Arial" panose="020B0604020202020204" pitchFamily="34" charset="0"/>
                    <a:cs typeface="Arial" panose="020B0604020202020204" pitchFamily="34" charset="0"/>
                  </a:rPr>
                  <a:t>1</a:t>
                </a:r>
                <a:r>
                  <a:rPr lang="en-US" altLang="zh-CN" sz="1800" i="1" dirty="0">
                    <a:latin typeface="Arial" panose="020B0604020202020204" pitchFamily="34" charset="0"/>
                    <a:cs typeface="Arial" panose="020B0604020202020204" pitchFamily="34" charset="0"/>
                  </a:rPr>
                  <a:t>-p</a:t>
                </a:r>
                <a:r>
                  <a:rPr lang="en-US" altLang="zh-CN" sz="1800" baseline="-25000" dirty="0">
                    <a:latin typeface="Arial" panose="020B0604020202020204" pitchFamily="34" charset="0"/>
                    <a:cs typeface="Arial" panose="020B0604020202020204" pitchFamily="34" charset="0"/>
                  </a:rPr>
                  <a:t>2</a:t>
                </a:r>
                <a:r>
                  <a:rPr lang="en-US" altLang="zh-CN" sz="1800" dirty="0">
                    <a:latin typeface="Arial" panose="020B0604020202020204" pitchFamily="34" charset="0"/>
                    <a:cs typeface="Arial" panose="020B0604020202020204" pitchFamily="34" charset="0"/>
                  </a:rPr>
                  <a:t>)</a:t>
                </a:r>
                <a:r>
                  <a:rPr lang="en-US" altLang="zh-CN" sz="1800" i="1" dirty="0">
                    <a:latin typeface="Arial" panose="020B0604020202020204" pitchFamily="34" charset="0"/>
                    <a:cs typeface="Arial" panose="020B0604020202020204" pitchFamily="34" charset="0"/>
                  </a:rPr>
                  <a:t>±z</a:t>
                </a:r>
                <a:r>
                  <a:rPr lang="en-US" altLang="zh-CN" sz="1800" i="1" baseline="-25000" dirty="0">
                    <a:latin typeface="Arial" panose="020B0604020202020204" pitchFamily="34" charset="0"/>
                    <a:cs typeface="Arial" panose="020B0604020202020204" pitchFamily="34" charset="0"/>
                  </a:rPr>
                  <a:t>α/</a:t>
                </a:r>
                <a:r>
                  <a:rPr lang="en-US" altLang="zh-CN" sz="1800" baseline="-25000" dirty="0">
                    <a:latin typeface="Arial" panose="020B0604020202020204" pitchFamily="34" charset="0"/>
                    <a:cs typeface="Arial" panose="020B0604020202020204" pitchFamily="34" charset="0"/>
                  </a:rPr>
                  <a:t>2</a:t>
                </a:r>
                <a14:m>
                  <m:oMath xmlns:m="http://schemas.openxmlformats.org/officeDocument/2006/math">
                    <m:rad>
                      <m:radPr>
                        <m:degHide m:val="on"/>
                        <m:ctrlPr>
                          <a:rPr lang="zh-CN" altLang="zh-CN" sz="1800" i="1">
                            <a:latin typeface="Cambria Math" panose="02040503050406030204" pitchFamily="18" charset="0"/>
                          </a:rPr>
                        </m:ctrlPr>
                      </m:radPr>
                      <m:deg/>
                      <m:e>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1</m:t>
                                </m:r>
                              </m:sub>
                            </m:sSub>
                            <m:r>
                              <m:rPr>
                                <m:nor/>
                              </m:rPr>
                              <a:rPr lang="en-US" altLang="zh-CN" sz="1800">
                                <a:latin typeface="Arial" panose="020B0604020202020204" pitchFamily="34" charset="0"/>
                                <a:cs typeface="Arial" panose="020B0604020202020204" pitchFamily="34" charset="0"/>
                              </a:rPr>
                              <m:t>(</m:t>
                            </m:r>
                            <m:r>
                              <a:rPr lang="en-US" altLang="zh-CN" sz="1800">
                                <a:latin typeface="Cambria Math" panose="02040503050406030204" pitchFamily="18" charset="0"/>
                              </a:rPr>
                              <m:t>1</m:t>
                            </m:r>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1</m:t>
                                </m:r>
                              </m:sub>
                            </m:sSub>
                            <m:r>
                              <m:rPr>
                                <m:nor/>
                              </m:rPr>
                              <a:rPr lang="en-US" altLang="zh-CN" sz="1800">
                                <a:latin typeface="Arial" panose="020B0604020202020204" pitchFamily="34" charset="0"/>
                                <a:cs typeface="Arial" panose="020B0604020202020204" pitchFamily="34" charset="0"/>
                              </a:rPr>
                              <m:t>)</m:t>
                            </m:r>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a:latin typeface="Cambria Math" panose="02040503050406030204" pitchFamily="18" charset="0"/>
                                  </a:rPr>
                                  <m:t>1</m:t>
                                </m:r>
                              </m:sub>
                            </m:sSub>
                          </m:den>
                        </m:f>
                        <m:r>
                          <a:rPr lang="en-US" altLang="zh-CN" sz="1800">
                            <a:latin typeface="Cambria Math" panose="02040503050406030204" pitchFamily="18" charset="0"/>
                          </a:rPr>
                          <m:t>+</m:t>
                        </m:r>
                        <m:f>
                          <m:fPr>
                            <m:ctrlPr>
                              <a:rPr lang="zh-CN" altLang="zh-CN" sz="1800" i="1">
                                <a:latin typeface="Cambria Math" panose="02040503050406030204" pitchFamily="18" charset="0"/>
                              </a:rPr>
                            </m:ctrlPr>
                          </m:fPr>
                          <m:nu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r>
                              <a:rPr lang="en-US" altLang="zh-CN" sz="1800">
                                <a:latin typeface="Cambria Math" panose="02040503050406030204" pitchFamily="18" charset="0"/>
                              </a:rPr>
                              <m:t>1</m:t>
                            </m:r>
                            <m:r>
                              <m:rPr>
                                <m:nor/>
                              </m:rPr>
                              <a:rPr lang="en-US" altLang="zh-CN" sz="1800" i="1">
                                <a:latin typeface="Arial" panose="020B0604020202020204" pitchFamily="34" charset="0"/>
                                <a:cs typeface="Arial" panose="020B0604020202020204" pitchFamily="34"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a:latin typeface="Cambria Math" panose="02040503050406030204" pitchFamily="18" charset="0"/>
                                  </a:rPr>
                                  <m:t>2</m:t>
                                </m:r>
                              </m:sub>
                            </m:sSub>
                            <m:r>
                              <m:rPr>
                                <m:nor/>
                              </m:rPr>
                              <a:rPr lang="en-US" altLang="zh-CN" sz="1800">
                                <a:latin typeface="Arial" panose="020B0604020202020204" pitchFamily="34" charset="0"/>
                                <a:cs typeface="Arial" panose="020B0604020202020204" pitchFamily="34" charset="0"/>
                              </a:rPr>
                              <m:t>)</m:t>
                            </m:r>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𝑛</m:t>
                                </m:r>
                              </m:e>
                              <m:sub>
                                <m:r>
                                  <a:rPr lang="en-US" altLang="zh-CN" sz="1800">
                                    <a:latin typeface="Cambria Math" panose="02040503050406030204" pitchFamily="18" charset="0"/>
                                  </a:rPr>
                                  <m:t>2</m:t>
                                </m:r>
                              </m:sub>
                            </m:sSub>
                          </m:den>
                        </m:f>
                      </m:e>
                    </m:rad>
                  </m:oMath>
                </a14:m>
                <a:endParaRPr lang="zh-CN" altLang="zh-CN" sz="1800" dirty="0">
                  <a:solidFill>
                    <a:srgbClr val="000000"/>
                  </a:solidFill>
                  <a:effectLst/>
                  <a:latin typeface="Arial" panose="020B0604020202020204" pitchFamily="34" charset="0"/>
                  <a:ea typeface="方正书宋_GBK"/>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256584" cy="4680520"/>
              </a:xfrm>
              <a:blipFill rotWithShape="1">
                <a:blip r:embed="rId1"/>
                <a:stretch>
                  <a:fillRect l="-122" t="-144" r="-118"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两个总体比例之差的区间计值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Content Placeholder 8"/>
              <p:cNvSpPr txBox="1"/>
              <p:nvPr/>
            </p:nvSpPr>
            <p:spPr>
              <a:xfrm>
                <a:off x="6096000" y="1556792"/>
                <a:ext cx="5400600"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8890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7.10</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在某个电视节目的收视率调查中</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从农村随机调查了</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400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有</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32%</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的人收看了该节目</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从城市随机调查了</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500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有</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的人收看了该节目。试以</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的置信水平估计城市与农村收视率之差的置信区间。</a:t>
                </a:r>
                <a:endParaRPr lang="zh-CN" altLang="zh-CN" sz="1800" dirty="0">
                  <a:solidFill>
                    <a:srgbClr val="000000"/>
                  </a:solidFill>
                  <a:effectLst/>
                  <a:latin typeface="NEU-BZ-S92"/>
                  <a:ea typeface="方正书宋_GBK"/>
                  <a:cs typeface="Times New Roman" panose="02020603050405020304" pitchFamily="18" charset="0"/>
                </a:endParaRPr>
              </a:p>
              <a:p>
                <a:pPr marL="0" indent="8890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设城市收视率</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农村收视率</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=32%</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。当</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=0.05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时</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=1.96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。因此</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置信区间为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marL="0" indent="8890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-p</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den>
                        </m:f>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𝑝</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den>
                        </m:f>
                      </m:e>
                    </m:rad>
                  </m:oMath>
                </a14:m>
                <a:endParaRPr lang="zh-CN" altLang="zh-CN" sz="1800" dirty="0">
                  <a:solidFill>
                    <a:srgbClr val="000000"/>
                  </a:solidFill>
                  <a:effectLst/>
                  <a:latin typeface="NEU-BZ-S92"/>
                  <a:ea typeface="方正书宋_GBK"/>
                  <a:cs typeface="Times New Roman" panose="02020603050405020304" pitchFamily="18" charset="0"/>
                </a:endParaRPr>
              </a:p>
              <a:p>
                <a:pPr marL="0" indent="8890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=(45%-32%)±1.96×</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45</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45</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500</m:t>
                            </m:r>
                          </m:den>
                        </m:f>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32</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32</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400</m:t>
                            </m:r>
                          </m:den>
                        </m:f>
                      </m:e>
                    </m:rad>
                  </m:oMath>
                </a14:m>
                <a:endParaRPr lang="zh-CN" altLang="zh-CN" sz="1800" dirty="0">
                  <a:solidFill>
                    <a:srgbClr val="000000"/>
                  </a:solidFill>
                  <a:effectLst/>
                  <a:latin typeface="NEU-BZ-S92"/>
                  <a:ea typeface="方正书宋_GBK"/>
                  <a:cs typeface="Times New Roman" panose="02020603050405020304" pitchFamily="18" charset="0"/>
                </a:endParaRPr>
              </a:p>
              <a:p>
                <a:pPr marL="0" indent="88900" algn="just">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=13%±6.32%</a:t>
                </a:r>
                <a:endParaRPr lang="zh-CN" altLang="zh-CN" sz="1800" dirty="0">
                  <a:solidFill>
                    <a:srgbClr val="000000"/>
                  </a:solidFill>
                  <a:effectLst/>
                  <a:latin typeface="NEU-BZ-S92"/>
                  <a:ea typeface="方正书宋_GBK"/>
                  <a:cs typeface="Times New Roman" panose="02020603050405020304" pitchFamily="18" charset="0"/>
                </a:endParaRPr>
              </a:p>
              <a:p>
                <a:pPr marL="0" indent="88900" algn="just">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800" dirty="0">
                    <a:effectLst/>
                    <a:latin typeface="Calibri" panose="020F0502020204030204" pitchFamily="34" charset="0"/>
                    <a:ea typeface="华文细黑" panose="02010600040101010101" pitchFamily="2" charset="-122"/>
                  </a:rPr>
                  <a:t>(6.68%,19.32%),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城市与农村收视率之差的</a:t>
                </a:r>
                <a:r>
                  <a:rPr lang="en-US" altLang="zh-CN" sz="1800" dirty="0">
                    <a:effectLst/>
                    <a:latin typeface="Calibri" panose="020F0502020204030204" pitchFamily="34" charset="0"/>
                    <a:ea typeface="华文细黑" panose="02010600040101010101" pitchFamily="2" charset="-122"/>
                  </a:rPr>
                  <a:t>95%</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800" dirty="0">
                    <a:effectLst/>
                    <a:latin typeface="Calibri" panose="020F0502020204030204" pitchFamily="34" charset="0"/>
                    <a:ea typeface="华文细黑" panose="02010600040101010101" pitchFamily="2" charset="-122"/>
                  </a:rPr>
                  <a:t>6.68%~19.32%</a:t>
                </a:r>
                <a:endParaRPr lang="zh-CN" altLang="zh-CN" sz="1800" dirty="0">
                  <a:solidFill>
                    <a:srgbClr val="000000"/>
                  </a:solidFill>
                  <a:latin typeface="Arial" panose="020B0604020202020204" pitchFamily="34" charset="0"/>
                  <a:ea typeface="方正书宋_GBK"/>
                  <a:cs typeface="Arial" panose="020B0604020202020204" pitchFamily="34" charset="0"/>
                </a:endParaRPr>
              </a:p>
            </p:txBody>
          </p:sp>
        </mc:Choice>
        <mc:Fallback>
          <p:sp>
            <p:nvSpPr>
              <p:cNvPr id="10" name="Content Placeholder 8"/>
              <p:cNvSpPr txBox="1">
                <a:spLocks noRot="1" noChangeAspect="1" noMove="1" noResize="1" noEditPoints="1" noAdjustHandles="1" noChangeArrowheads="1" noChangeShapeType="1" noTextEdit="1"/>
              </p:cNvSpPr>
              <p:nvPr/>
            </p:nvSpPr>
            <p:spPr>
              <a:xfrm>
                <a:off x="6096000" y="1556792"/>
                <a:ext cx="5400600" cy="4680520"/>
              </a:xfrm>
              <a:prstGeom prst="rect">
                <a:avLst/>
              </a:prstGeom>
              <a:blipFill rotWithShape="1">
                <a:blip r:embed="rId2"/>
                <a:stretch>
                  <a:fillRect l="-118" t="-144" r="-107"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两个总体参数的区间估计</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4824536" cy="4680520"/>
              </a:xfrm>
              <a:ln w="12700" cmpd="dbl">
                <a:solidFill>
                  <a:schemeClr val="accent1"/>
                </a:solidFill>
              </a:ln>
            </p:spPr>
            <p:txBody>
              <a:bodyPr>
                <a:noAutofit/>
              </a:bodyPr>
              <a:lstStyle/>
              <a:p>
                <a:pPr marL="447675" indent="-447675" algn="just">
                  <a:lnSpc>
                    <a:spcPct val="150000"/>
                  </a:lnSpc>
                  <a:buClr>
                    <a:srgbClr val="318AAD"/>
                  </a:buClr>
                  <a:buSzPct val="100000"/>
                  <a:buFont typeface="Wingdings" panose="05000000000000000000" pitchFamily="2" charset="2"/>
                  <a:buChar char="l"/>
                  <a:defRPr/>
                </a:pPr>
                <a:r>
                  <a:rPr lang="zh-CN" altLang="zh-CN" sz="1600" dirty="0">
                    <a:latin typeface="Arial" panose="020B0604020202020204" pitchFamily="34" charset="0"/>
                    <a:cs typeface="Arial" panose="020B0604020202020204" pitchFamily="34" charset="0"/>
                  </a:rPr>
                  <a:t>建立两个总体方差比的置信区间</a:t>
                </a:r>
                <a:r>
                  <a:rPr lang="en-US" altLang="zh-CN" sz="1600" dirty="0">
                    <a:latin typeface="Arial" panose="020B0604020202020204" pitchFamily="34" charset="0"/>
                    <a:cs typeface="Arial" panose="020B0604020202020204" pitchFamily="34" charset="0"/>
                  </a:rPr>
                  <a:t>,</a:t>
                </a:r>
                <a:r>
                  <a:rPr lang="zh-CN" altLang="zh-CN" sz="1600" dirty="0">
                    <a:latin typeface="Arial" panose="020B0604020202020204" pitchFamily="34" charset="0"/>
                    <a:cs typeface="Arial" panose="020B0604020202020204" pitchFamily="34" charset="0"/>
                  </a:rPr>
                  <a:t>也就是要找到一个</a:t>
                </a:r>
                <a:r>
                  <a:rPr lang="en-US" altLang="zh-CN" sz="1600" dirty="0">
                    <a:latin typeface="Arial" panose="020B0604020202020204" pitchFamily="34" charset="0"/>
                    <a:cs typeface="Arial" panose="020B0604020202020204" pitchFamily="34" charset="0"/>
                  </a:rPr>
                  <a:t>F</a:t>
                </a:r>
                <a:r>
                  <a:rPr lang="zh-CN" altLang="zh-CN" sz="1600" dirty="0">
                    <a:latin typeface="Arial" panose="020B0604020202020204" pitchFamily="34" charset="0"/>
                    <a:cs typeface="Arial" panose="020B0604020202020204" pitchFamily="34" charset="0"/>
                  </a:rPr>
                  <a:t>值</a:t>
                </a:r>
                <a:r>
                  <a:rPr lang="en-US" altLang="zh-CN" sz="1600" dirty="0">
                    <a:latin typeface="Arial" panose="020B0604020202020204" pitchFamily="34" charset="0"/>
                    <a:cs typeface="Arial" panose="020B0604020202020204" pitchFamily="34" charset="0"/>
                  </a:rPr>
                  <a:t>,</a:t>
                </a:r>
                <a:r>
                  <a:rPr lang="zh-CN" altLang="zh-CN" sz="1600" dirty="0">
                    <a:latin typeface="Arial" panose="020B0604020202020204" pitchFamily="34" charset="0"/>
                    <a:cs typeface="Arial" panose="020B0604020202020204" pitchFamily="34" charset="0"/>
                  </a:rPr>
                  <a:t>使其满足</a:t>
                </a:r>
                <a:endParaRPr lang="zh-CN" altLang="zh-CN" sz="1600" dirty="0">
                  <a:latin typeface="Arial" panose="020B0604020202020204" pitchFamily="34" charset="0"/>
                  <a:cs typeface="Arial" panose="020B0604020202020204" pitchFamily="34" charset="0"/>
                </a:endParaRPr>
              </a:p>
              <a:p>
                <a:pPr marL="0" indent="0">
                  <a:lnSpc>
                    <a:spcPct val="150000"/>
                  </a:lnSpc>
                  <a:buNone/>
                </a:pPr>
                <a:r>
                  <a:rPr lang="zh-CN" altLang="zh-CN" sz="1600" i="1" dirty="0">
                    <a:latin typeface="Arial" panose="020B0604020202020204" pitchFamily="34" charset="0"/>
                    <a:cs typeface="Arial" panose="020B0604020202020204" pitchFamily="34" charset="0"/>
                  </a:rPr>
                  <a:t>　　</a:t>
                </a:r>
                <a:r>
                  <a:rPr lang="en-US" altLang="zh-CN" sz="1600" i="1" dirty="0">
                    <a:latin typeface="Arial" panose="020B0604020202020204" pitchFamily="34" charset="0"/>
                    <a:cs typeface="Arial" panose="020B0604020202020204" pitchFamily="34" charset="0"/>
                  </a:rPr>
                  <a:t>F</a:t>
                </a:r>
                <a:r>
                  <a:rPr lang="en-US" altLang="zh-CN" sz="1600" baseline="-25000" dirty="0">
                    <a:latin typeface="Arial" panose="020B0604020202020204" pitchFamily="34" charset="0"/>
                    <a:cs typeface="Arial" panose="020B0604020202020204" pitchFamily="34" charset="0"/>
                  </a:rPr>
                  <a:t>1</a:t>
                </a:r>
                <a:r>
                  <a:rPr lang="en-US" altLang="zh-CN" sz="1600" i="1" baseline="-25000" dirty="0">
                    <a:latin typeface="Arial" panose="020B0604020202020204" pitchFamily="34" charset="0"/>
                    <a:cs typeface="Arial" panose="020B0604020202020204" pitchFamily="34" charset="0"/>
                  </a:rPr>
                  <a:t>-α/</a:t>
                </a:r>
                <a:r>
                  <a:rPr lang="en-US" altLang="zh-CN" sz="1600" baseline="-25000" dirty="0">
                    <a:latin typeface="Arial" panose="020B0604020202020204" pitchFamily="34" charset="0"/>
                    <a:cs typeface="Arial" panose="020B0604020202020204" pitchFamily="34" charset="0"/>
                  </a:rPr>
                  <a:t>2</a:t>
                </a:r>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F</a:t>
                </a:r>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F</a:t>
                </a:r>
                <a:r>
                  <a:rPr lang="en-US" altLang="zh-CN" sz="1600" i="1" baseline="-25000" dirty="0">
                    <a:latin typeface="Arial" panose="020B0604020202020204" pitchFamily="34" charset="0"/>
                    <a:cs typeface="Arial" panose="020B0604020202020204" pitchFamily="34" charset="0"/>
                  </a:rPr>
                  <a:t>α/</a:t>
                </a:r>
                <a:r>
                  <a:rPr lang="en-US" altLang="zh-CN" sz="1600" baseline="-25000" dirty="0">
                    <a:latin typeface="Arial" panose="020B0604020202020204" pitchFamily="34" charset="0"/>
                    <a:cs typeface="Arial" panose="020B0604020202020204" pitchFamily="34" charset="0"/>
                  </a:rPr>
                  <a:t>2</a:t>
                </a:r>
                <a:r>
                  <a:rPr lang="en-US" altLang="zh-CN" sz="1600" dirty="0">
                    <a:latin typeface="Arial" panose="020B0604020202020204" pitchFamily="34" charset="0"/>
                    <a:cs typeface="Arial" panose="020B0604020202020204" pitchFamily="34" charset="0"/>
                  </a:rPr>
                  <a:t>(7.24)</a:t>
                </a:r>
                <a:endParaRPr lang="zh-CN" altLang="zh-CN" sz="1600" dirty="0">
                  <a:latin typeface="Arial" panose="020B0604020202020204" pitchFamily="34" charset="0"/>
                  <a:cs typeface="Arial" panose="020B0604020202020204" pitchFamily="34" charset="0"/>
                </a:endParaRPr>
              </a:p>
              <a:p>
                <a:pPr marL="0" indent="0">
                  <a:lnSpc>
                    <a:spcPct val="150000"/>
                  </a:lnSpc>
                  <a:buNone/>
                </a:pPr>
                <a:r>
                  <a:rPr lang="zh-CN" altLang="zh-CN" sz="1600" dirty="0">
                    <a:latin typeface="Arial" panose="020B0604020202020204" pitchFamily="34" charset="0"/>
                    <a:cs typeface="Arial" panose="020B0604020202020204" pitchFamily="34" charset="0"/>
                  </a:rPr>
                  <a:t>由于</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num>
                      <m:den>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den>
                    </m:f>
                  </m:oMath>
                </a14:m>
                <a:r>
                  <a:rPr lang="en-US" altLang="zh-CN" sz="1600" dirty="0">
                    <a:latin typeface="Arial" panose="020B0604020202020204" pitchFamily="34" charset="0"/>
                    <a:cs typeface="Arial" panose="020B0604020202020204" pitchFamily="34" charset="0"/>
                  </a:rPr>
                  <a:t>·</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num>
                      <m:den>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den>
                    </m:f>
                  </m:oMath>
                </a14:m>
                <a:r>
                  <a:rPr lang="en-US" altLang="zh-CN" sz="1600" i="1" dirty="0">
                    <a:latin typeface="Arial" panose="020B0604020202020204" pitchFamily="34" charset="0"/>
                    <a:cs typeface="Arial" panose="020B0604020202020204" pitchFamily="34" charset="0"/>
                  </a:rPr>
                  <a:t>~F</a:t>
                </a:r>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n</a:t>
                </a:r>
                <a:r>
                  <a:rPr lang="en-US" altLang="zh-CN" sz="1600" baseline="-25000" dirty="0">
                    <a:latin typeface="Arial" panose="020B0604020202020204" pitchFamily="34" charset="0"/>
                    <a:cs typeface="Arial" panose="020B0604020202020204" pitchFamily="34" charset="0"/>
                  </a:rPr>
                  <a:t>1</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1,</a:t>
                </a:r>
                <a:r>
                  <a:rPr lang="en-US" altLang="zh-CN" sz="1600" i="1" dirty="0">
                    <a:latin typeface="Arial" panose="020B0604020202020204" pitchFamily="34" charset="0"/>
                    <a:cs typeface="Arial" panose="020B0604020202020204" pitchFamily="34" charset="0"/>
                  </a:rPr>
                  <a:t>n</a:t>
                </a:r>
                <a:r>
                  <a:rPr lang="en-US" altLang="zh-CN" sz="1600" baseline="-25000" dirty="0">
                    <a:latin typeface="Arial" panose="020B0604020202020204" pitchFamily="34" charset="0"/>
                    <a:cs typeface="Arial" panose="020B0604020202020204" pitchFamily="34" charset="0"/>
                  </a:rPr>
                  <a:t>2</a:t>
                </a:r>
                <a:r>
                  <a:rPr lang="en-US" altLang="zh-CN" sz="1600" i="1" dirty="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1),</a:t>
                </a:r>
                <a:r>
                  <a:rPr lang="zh-CN" altLang="zh-CN" sz="1600" dirty="0">
                    <a:latin typeface="Arial" panose="020B0604020202020204" pitchFamily="34" charset="0"/>
                    <a:cs typeface="Arial" panose="020B0604020202020204" pitchFamily="34" charset="0"/>
                  </a:rPr>
                  <a:t>故可用它来代替</a:t>
                </a:r>
                <a:r>
                  <a:rPr lang="en-US" altLang="zh-CN" sz="1600" i="1" dirty="0">
                    <a:latin typeface="Arial" panose="020B0604020202020204" pitchFamily="34" charset="0"/>
                    <a:cs typeface="Arial" panose="020B0604020202020204" pitchFamily="34" charset="0"/>
                  </a:rPr>
                  <a:t>F</a:t>
                </a:r>
                <a:r>
                  <a:rPr lang="en-US" altLang="zh-CN" sz="1600" dirty="0">
                    <a:latin typeface="Arial" panose="020B0604020202020204" pitchFamily="34" charset="0"/>
                    <a:cs typeface="Arial" panose="020B0604020202020204" pitchFamily="34" charset="0"/>
                  </a:rPr>
                  <a:t>,</a:t>
                </a:r>
                <a:r>
                  <a:rPr lang="zh-CN" altLang="zh-CN" sz="1600" dirty="0">
                    <a:latin typeface="Arial" panose="020B0604020202020204" pitchFamily="34" charset="0"/>
                    <a:cs typeface="Arial" panose="020B0604020202020204" pitchFamily="34" charset="0"/>
                  </a:rPr>
                  <a:t>于是有</a:t>
                </a:r>
                <a:endParaRPr lang="zh-CN" altLang="zh-CN" sz="1600" dirty="0">
                  <a:latin typeface="Arial" panose="020B0604020202020204" pitchFamily="34" charset="0"/>
                  <a:cs typeface="Arial" panose="020B0604020202020204" pitchFamily="34" charset="0"/>
                </a:endParaRPr>
              </a:p>
              <a:p>
                <a:pPr marL="0" indent="0">
                  <a:lnSpc>
                    <a:spcPct val="150000"/>
                  </a:lnSpc>
                  <a:buNone/>
                </a:pPr>
                <a:r>
                  <a:rPr lang="zh-CN" altLang="zh-CN" sz="1600" i="1" dirty="0">
                    <a:latin typeface="Arial" panose="020B0604020202020204" pitchFamily="34" charset="0"/>
                    <a:cs typeface="Arial" panose="020B0604020202020204" pitchFamily="34" charset="0"/>
                  </a:rPr>
                  <a:t>　　</a:t>
                </a:r>
                <a:r>
                  <a:rPr lang="en-US" altLang="zh-CN" sz="1600" i="1" dirty="0">
                    <a:latin typeface="Arial" panose="020B0604020202020204" pitchFamily="34" charset="0"/>
                    <a:cs typeface="Arial" panose="020B0604020202020204" pitchFamily="34" charset="0"/>
                  </a:rPr>
                  <a:t>F</a:t>
                </a:r>
                <a:r>
                  <a:rPr lang="en-US" altLang="zh-CN" sz="1600" baseline="-25000" dirty="0">
                    <a:latin typeface="Arial" panose="020B0604020202020204" pitchFamily="34" charset="0"/>
                    <a:cs typeface="Arial" panose="020B0604020202020204" pitchFamily="34" charset="0"/>
                  </a:rPr>
                  <a:t>1</a:t>
                </a:r>
                <a:r>
                  <a:rPr lang="en-US" altLang="zh-CN" sz="1600" i="1" baseline="-25000" dirty="0">
                    <a:latin typeface="Arial" panose="020B0604020202020204" pitchFamily="34" charset="0"/>
                    <a:cs typeface="Arial" panose="020B0604020202020204" pitchFamily="34" charset="0"/>
                  </a:rPr>
                  <a:t>-α/</a:t>
                </a:r>
                <a:r>
                  <a:rPr lang="en-US" altLang="zh-CN" sz="1600" baseline="-25000" dirty="0">
                    <a:latin typeface="Arial" panose="020B0604020202020204" pitchFamily="34" charset="0"/>
                    <a:cs typeface="Arial" panose="020B0604020202020204" pitchFamily="34" charset="0"/>
                  </a:rPr>
                  <a:t>2</a:t>
                </a:r>
                <a:r>
                  <a:rPr lang="en-US" altLang="zh-CN" sz="1600" dirty="0">
                    <a:latin typeface="Arial" panose="020B0604020202020204" pitchFamily="34" charset="0"/>
                    <a:cs typeface="Arial" panose="020B0604020202020204" pitchFamily="34" charset="0"/>
                  </a:rPr>
                  <a:t>≤</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num>
                      <m:den>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den>
                    </m:f>
                  </m:oMath>
                </a14:m>
                <a:r>
                  <a:rPr lang="en-US" altLang="zh-CN" sz="1600" dirty="0">
                    <a:latin typeface="Arial" panose="020B0604020202020204" pitchFamily="34" charset="0"/>
                    <a:cs typeface="Arial" panose="020B0604020202020204" pitchFamily="34" charset="0"/>
                  </a:rPr>
                  <a:t>·</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num>
                      <m:den>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den>
                    </m:f>
                  </m:oMath>
                </a14:m>
                <a:r>
                  <a:rPr lang="en-US" altLang="zh-CN" sz="1600" dirty="0">
                    <a:latin typeface="Arial" panose="020B0604020202020204" pitchFamily="34" charset="0"/>
                    <a:cs typeface="Arial" panose="020B0604020202020204" pitchFamily="34" charset="0"/>
                  </a:rPr>
                  <a:t>≤</a:t>
                </a:r>
                <a:r>
                  <a:rPr lang="en-US" altLang="zh-CN" sz="1600" i="1" dirty="0">
                    <a:latin typeface="Arial" panose="020B0604020202020204" pitchFamily="34" charset="0"/>
                    <a:cs typeface="Arial" panose="020B0604020202020204" pitchFamily="34" charset="0"/>
                  </a:rPr>
                  <a:t>F</a:t>
                </a:r>
                <a:r>
                  <a:rPr lang="en-US" altLang="zh-CN" sz="1600" i="1" baseline="-25000" dirty="0">
                    <a:latin typeface="Arial" panose="020B0604020202020204" pitchFamily="34" charset="0"/>
                    <a:cs typeface="Arial" panose="020B0604020202020204" pitchFamily="34" charset="0"/>
                  </a:rPr>
                  <a:t>α/</a:t>
                </a:r>
                <a:r>
                  <a:rPr lang="en-US" altLang="zh-CN" sz="1600" baseline="-25000" dirty="0">
                    <a:latin typeface="Arial" panose="020B0604020202020204" pitchFamily="34" charset="0"/>
                    <a:cs typeface="Arial" panose="020B0604020202020204" pitchFamily="34" charset="0"/>
                  </a:rPr>
                  <a:t>2</a:t>
                </a:r>
                <a:endParaRPr lang="zh-CN" altLang="zh-CN" sz="1600" dirty="0">
                  <a:latin typeface="Arial" panose="020B0604020202020204" pitchFamily="34" charset="0"/>
                  <a:cs typeface="Arial" panose="020B0604020202020204" pitchFamily="34" charset="0"/>
                </a:endParaRPr>
              </a:p>
              <a:p>
                <a:pPr marL="447675" indent="-447675" algn="just">
                  <a:lnSpc>
                    <a:spcPct val="150000"/>
                  </a:lnSpc>
                  <a:buClr>
                    <a:srgbClr val="318AAD"/>
                  </a:buClr>
                  <a:buSzPct val="100000"/>
                  <a:buFont typeface="Wingdings" panose="05000000000000000000" pitchFamily="2" charset="2"/>
                  <a:buChar char="l"/>
                  <a:defRPr/>
                </a:pPr>
                <a:r>
                  <a:rPr lang="zh-CN" altLang="en-US" sz="1600" dirty="0">
                    <a:latin typeface="Arial" panose="020B0604020202020204" pitchFamily="34" charset="0"/>
                    <a:cs typeface="Arial" panose="020B0604020202020204" pitchFamily="34" charset="0"/>
                  </a:rPr>
                  <a:t>由此</a:t>
                </a:r>
                <a:r>
                  <a:rPr lang="zh-CN" altLang="zh-CN" sz="1600" dirty="0">
                    <a:latin typeface="Arial" panose="020B0604020202020204" pitchFamily="34" charset="0"/>
                    <a:cs typeface="Arial" panose="020B0604020202020204" pitchFamily="34" charset="0"/>
                  </a:rPr>
                  <a:t>可以推导出两个总体方差比</a:t>
                </a:r>
                <a14:m>
                  <m:oMath xmlns:m="http://schemas.openxmlformats.org/officeDocument/2006/math">
                    <m:sSubSup>
                      <m:sSubSupPr>
                        <m:ctrlPr>
                          <a:rPr lang="zh-CN" altLang="zh-CN" sz="1600" i="1">
                            <a:latin typeface="Cambria Math" panose="02040503050406030204" pitchFamily="18" charset="0"/>
                            <a:cs typeface="Arial" panose="020B0604020202020204" pitchFamily="34" charset="0"/>
                          </a:rPr>
                        </m:ctrlPr>
                      </m:sSubSupPr>
                      <m:e>
                        <m:r>
                          <a:rPr lang="en-US" altLang="zh-CN" sz="1600">
                            <a:latin typeface="Cambria Math" panose="02040503050406030204" pitchFamily="18" charset="0"/>
                            <a:cs typeface="Arial" panose="020B0604020202020204" pitchFamily="34" charset="0"/>
                          </a:rPr>
                          <m:t>𝜎</m:t>
                        </m:r>
                      </m:e>
                      <m:sub>
                        <m:r>
                          <a:rPr lang="en-US" altLang="zh-CN" sz="1600">
                            <a:latin typeface="Cambria Math" panose="02040503050406030204" pitchFamily="18" charset="0"/>
                            <a:cs typeface="Arial" panose="020B0604020202020204" pitchFamily="34" charset="0"/>
                          </a:rPr>
                          <m:t>1</m:t>
                        </m:r>
                      </m:sub>
                      <m:sup>
                        <m:r>
                          <a:rPr lang="en-US" altLang="zh-CN" sz="1600">
                            <a:latin typeface="Cambria Math" panose="02040503050406030204" pitchFamily="18" charset="0"/>
                            <a:cs typeface="Arial" panose="020B0604020202020204" pitchFamily="34" charset="0"/>
                          </a:rPr>
                          <m:t>2</m:t>
                        </m:r>
                      </m:sup>
                    </m:sSubSup>
                  </m:oMath>
                </a14:m>
                <a:r>
                  <a:rPr lang="en-US" altLang="zh-CN" sz="1600" dirty="0">
                    <a:latin typeface="Arial" panose="020B0604020202020204" pitchFamily="34" charset="0"/>
                    <a:cs typeface="Arial" panose="020B0604020202020204" pitchFamily="34" charset="0"/>
                  </a:rPr>
                  <a:t>/</a:t>
                </a:r>
                <a14:m>
                  <m:oMath xmlns:m="http://schemas.openxmlformats.org/officeDocument/2006/math">
                    <m:sSubSup>
                      <m:sSubSupPr>
                        <m:ctrlPr>
                          <a:rPr lang="zh-CN" altLang="zh-CN" sz="1600" i="1">
                            <a:latin typeface="Cambria Math" panose="02040503050406030204" pitchFamily="18" charset="0"/>
                            <a:cs typeface="Arial" panose="020B0604020202020204" pitchFamily="34" charset="0"/>
                          </a:rPr>
                        </m:ctrlPr>
                      </m:sSubSupPr>
                      <m:e>
                        <m:r>
                          <a:rPr lang="en-US" altLang="zh-CN" sz="1600">
                            <a:latin typeface="Cambria Math" panose="02040503050406030204" pitchFamily="18" charset="0"/>
                            <a:cs typeface="Arial" panose="020B0604020202020204" pitchFamily="34" charset="0"/>
                          </a:rPr>
                          <m:t>𝜎</m:t>
                        </m:r>
                      </m:e>
                      <m:sub>
                        <m:r>
                          <a:rPr lang="en-US" altLang="zh-CN" sz="1600">
                            <a:latin typeface="Cambria Math" panose="02040503050406030204" pitchFamily="18" charset="0"/>
                            <a:cs typeface="Arial" panose="020B0604020202020204" pitchFamily="34" charset="0"/>
                          </a:rPr>
                          <m:t>2</m:t>
                        </m:r>
                      </m:sub>
                      <m:sup>
                        <m:r>
                          <a:rPr lang="en-US" altLang="zh-CN" sz="1600">
                            <a:latin typeface="Cambria Math" panose="02040503050406030204" pitchFamily="18" charset="0"/>
                            <a:cs typeface="Arial" panose="020B0604020202020204" pitchFamily="34" charset="0"/>
                          </a:rPr>
                          <m:t>2</m:t>
                        </m:r>
                      </m:sup>
                    </m:sSubSup>
                  </m:oMath>
                </a14:m>
                <a:r>
                  <a:rPr lang="zh-CN" altLang="zh-CN" sz="1600" dirty="0">
                    <a:latin typeface="Arial" panose="020B0604020202020204" pitchFamily="34" charset="0"/>
                    <a:cs typeface="Arial" panose="020B0604020202020204" pitchFamily="34" charset="0"/>
                  </a:rPr>
                  <a:t>在</a:t>
                </a:r>
                <a:r>
                  <a:rPr lang="en-US" altLang="zh-CN" sz="1600" dirty="0">
                    <a:latin typeface="Arial" panose="020B0604020202020204" pitchFamily="34" charset="0"/>
                    <a:cs typeface="Arial" panose="020B0604020202020204" pitchFamily="34" charset="0"/>
                  </a:rPr>
                  <a:t>1-α</a:t>
                </a:r>
                <a:r>
                  <a:rPr lang="zh-CN" altLang="zh-CN" sz="1600" dirty="0">
                    <a:latin typeface="Arial" panose="020B0604020202020204" pitchFamily="34" charset="0"/>
                    <a:cs typeface="Arial" panose="020B0604020202020204" pitchFamily="34" charset="0"/>
                  </a:rPr>
                  <a:t>置信水平下的置信区间为</a:t>
                </a:r>
                <a:r>
                  <a:rPr lang="en-US" altLang="zh-CN" sz="1600" dirty="0">
                    <a:latin typeface="Arial" panose="020B0604020202020204" pitchFamily="34" charset="0"/>
                    <a:cs typeface="Arial" panose="020B0604020202020204" pitchFamily="34" charset="0"/>
                  </a:rPr>
                  <a:t>:</a:t>
                </a:r>
                <a:endParaRPr lang="zh-CN" altLang="zh-CN" sz="1600" dirty="0">
                  <a:latin typeface="Arial" panose="020B0604020202020204" pitchFamily="34" charset="0"/>
                  <a:cs typeface="Arial" panose="020B0604020202020204" pitchFamily="34" charset="0"/>
                </a:endParaRPr>
              </a:p>
              <a:p>
                <a:pPr marL="0" indent="0">
                  <a:lnSpc>
                    <a:spcPct val="150000"/>
                  </a:lnSpc>
                  <a:buNone/>
                </a:pPr>
                <a:r>
                  <a:rPr lang="zh-CN" altLang="zh-CN" sz="1600" i="1" dirty="0">
                    <a:latin typeface="Arial" panose="020B0604020202020204" pitchFamily="34" charset="0"/>
                    <a:cs typeface="Arial" panose="020B0604020202020204" pitchFamily="34" charset="0"/>
                  </a:rPr>
                  <a:t>　　</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r>
                          <m:rPr>
                            <m:nor/>
                          </m:rPr>
                          <a:rPr lang="en-US" altLang="zh-CN" sz="1600">
                            <a:latin typeface="Arial" panose="020B0604020202020204" pitchFamily="34" charset="0"/>
                            <a:cs typeface="Arial" panose="020B0604020202020204" pitchFamily="34" charset="0"/>
                          </a:rPr>
                          <m:t>/</m:t>
                        </m:r>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num>
                      <m:den>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𝛼</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2</m:t>
                            </m:r>
                          </m:sub>
                        </m:sSub>
                      </m:den>
                    </m:f>
                  </m:oMath>
                </a14:m>
                <a:r>
                  <a:rPr lang="en-US" altLang="zh-CN" sz="1600" dirty="0">
                    <a:latin typeface="Arial" panose="020B0604020202020204" pitchFamily="34" charset="0"/>
                    <a:cs typeface="Arial" panose="020B0604020202020204" pitchFamily="34" charset="0"/>
                  </a:rPr>
                  <a:t>≤</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num>
                      <m:den>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𝜎</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den>
                    </m:f>
                  </m:oMath>
                </a14:m>
                <a:r>
                  <a:rPr lang="en-US" altLang="zh-CN" sz="1600" dirty="0">
                    <a:latin typeface="Arial" panose="020B0604020202020204" pitchFamily="34" charset="0"/>
                    <a:cs typeface="Arial" panose="020B0604020202020204" pitchFamily="34" charset="0"/>
                  </a:rPr>
                  <a:t>≤</a:t>
                </a:r>
                <a14:m>
                  <m:oMath xmlns:m="http://schemas.openxmlformats.org/officeDocument/2006/math">
                    <m:f>
                      <m:fPr>
                        <m:ctrlPr>
                          <a:rPr lang="zh-CN" altLang="zh-CN" sz="1600" i="1">
                            <a:latin typeface="Cambria Math" panose="02040503050406030204" pitchFamily="18" charset="0"/>
                          </a:rPr>
                        </m:ctrlPr>
                      </m:fPr>
                      <m:num>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1</m:t>
                            </m:r>
                          </m:sub>
                          <m:sup>
                            <m:r>
                              <a:rPr lang="en-US" altLang="zh-CN" sz="1600">
                                <a:latin typeface="Cambria Math" panose="02040503050406030204" pitchFamily="18" charset="0"/>
                              </a:rPr>
                              <m:t>2</m:t>
                            </m:r>
                          </m:sup>
                        </m:sSubSup>
                        <m:r>
                          <m:rPr>
                            <m:nor/>
                          </m:rPr>
                          <a:rPr lang="en-US" altLang="zh-CN" sz="1600">
                            <a:latin typeface="Arial" panose="020B0604020202020204" pitchFamily="34" charset="0"/>
                            <a:cs typeface="Arial" panose="020B0604020202020204" pitchFamily="34" charset="0"/>
                          </a:rPr>
                          <m:t>/</m:t>
                        </m:r>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𝑠</m:t>
                            </m:r>
                          </m:e>
                          <m:sub>
                            <m:r>
                              <a:rPr lang="en-US" altLang="zh-CN" sz="1600">
                                <a:latin typeface="Cambria Math" panose="02040503050406030204" pitchFamily="18" charset="0"/>
                              </a:rPr>
                              <m:t>2</m:t>
                            </m:r>
                          </m:sub>
                          <m:sup>
                            <m:r>
                              <a:rPr lang="en-US" altLang="zh-CN" sz="1600">
                                <a:latin typeface="Cambria Math" panose="02040503050406030204" pitchFamily="18" charset="0"/>
                              </a:rPr>
                              <m:t>2</m:t>
                            </m:r>
                          </m:sup>
                        </m:sSubSup>
                      </m:num>
                      <m:den>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a:latin typeface="Cambria Math" panose="02040503050406030204" pitchFamily="18" charset="0"/>
                              </a:rPr>
                              <m:t>1</m:t>
                            </m:r>
                            <m:r>
                              <m:rPr>
                                <m:nor/>
                              </m:rPr>
                              <a:rPr lang="en-US" altLang="zh-CN" sz="1600" i="1">
                                <a:latin typeface="Arial" panose="020B0604020202020204" pitchFamily="34" charset="0"/>
                                <a:cs typeface="Arial" panose="020B0604020202020204" pitchFamily="34" charset="0"/>
                              </a:rPr>
                              <m:t>−</m:t>
                            </m:r>
                            <m:r>
                              <a:rPr lang="en-US" altLang="zh-CN" sz="1600" i="1">
                                <a:latin typeface="Cambria Math" panose="02040503050406030204" pitchFamily="18" charset="0"/>
                              </a:rPr>
                              <m:t>𝛼</m:t>
                            </m:r>
                            <m:r>
                              <m:rPr>
                                <m:nor/>
                              </m:rPr>
                              <a:rPr lang="en-US" altLang="zh-CN" sz="1600">
                                <a:latin typeface="Arial" panose="020B0604020202020204" pitchFamily="34" charset="0"/>
                                <a:cs typeface="Arial" panose="020B0604020202020204" pitchFamily="34" charset="0"/>
                              </a:rPr>
                              <m:t>/</m:t>
                            </m:r>
                            <m:r>
                              <a:rPr lang="en-US" altLang="zh-CN" sz="1600">
                                <a:latin typeface="Cambria Math" panose="02040503050406030204" pitchFamily="18" charset="0"/>
                              </a:rPr>
                              <m:t>2</m:t>
                            </m:r>
                          </m:sub>
                        </m:sSub>
                      </m:den>
                    </m:f>
                  </m:oMath>
                </a14:m>
                <a:endParaRPr lang="en-US" altLang="zh-CN" sz="1600" dirty="0">
                  <a:latin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4824536" cy="4680520"/>
              </a:xfrm>
              <a:blipFill rotWithShape="1">
                <a:blip r:embed="rId1"/>
                <a:stretch>
                  <a:fillRect l="-133" t="-144" r="-121"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两个总体方差比的区间计值</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Content Placeholder 8"/>
              <p:cNvSpPr txBox="1"/>
              <p:nvPr/>
            </p:nvSpPr>
            <p:spPr>
              <a:xfrm>
                <a:off x="5663952" y="1556792"/>
                <a:ext cx="5832648"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7.11</a:t>
                </a: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为研究男女学生在生活费支出</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单位</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元</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上的差异</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在某大学随机抽取</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名男学生和</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名女学生</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得到下面的结果</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男学生</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520</a:t>
                </a: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260</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女学生</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acc>
                          <m:accPr>
                            <m:chr m:val="̅"/>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m:rPr>
                                <m:sty m:val="p"/>
                              </m:rP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x</m:t>
                            </m:r>
                          </m:e>
                        </m:acc>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480</a:t>
                </a: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280</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试以</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90%</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的置信水平估计男女学生生活费支出方差比的置信区间。</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6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根据自由度</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=25-1=24</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和</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=25-1=24</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查</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F</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分布表得</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F</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(24,24)</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=F</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05</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(24,24)</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98</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(7.27)</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F</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(24,24)</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=F</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a:t>
                </a:r>
                <a:r>
                  <a:rPr lang="en-US" altLang="zh-CN" sz="16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(24,24)</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98</m:t>
                        </m:r>
                      </m:den>
                    </m:f>
                  </m:oMath>
                </a14:m>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a:t>
                </a:r>
                <a:r>
                  <a:rPr lang="en-US" altLang="zh-CN" sz="16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505</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(7.26)</a:t>
                </a:r>
                <a:r>
                  <a:rPr lang="zh-CN" altLang="zh-CN" sz="16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260</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280</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98</m:t>
                        </m:r>
                      </m:den>
                    </m:f>
                  </m:oMath>
                </a14:m>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num>
                      <m:den>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bSup>
                      </m:den>
                    </m:f>
                  </m:oMath>
                </a14:m>
                <a:r>
                  <a:rPr lang="en-US" altLang="zh-CN" sz="16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6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260</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280</m:t>
                        </m:r>
                      </m:num>
                      <m:den>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6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6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505</m:t>
                        </m:r>
                      </m:den>
                    </m:f>
                  </m:oMath>
                </a14:m>
                <a:endParaRPr lang="zh-CN" altLang="zh-CN" sz="1600" dirty="0">
                  <a:solidFill>
                    <a:srgbClr val="000000"/>
                  </a:solidFill>
                  <a:effectLst/>
                  <a:latin typeface="NEU-BZ-S92"/>
                  <a:ea typeface="方正书宋_GBK"/>
                  <a:cs typeface="Times New Roman" panose="02020603050405020304" pitchFamily="18" charset="0"/>
                </a:endParaRPr>
              </a:p>
              <a:p>
                <a:pPr marL="0" indent="0" algn="just">
                  <a:buNone/>
                </a:pP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即</a:t>
                </a:r>
                <a:r>
                  <a:rPr lang="en-US" altLang="zh-CN" sz="1600" dirty="0">
                    <a:effectLst/>
                    <a:latin typeface="Calibri" panose="020F0502020204030204" pitchFamily="34" charset="0"/>
                    <a:ea typeface="华文细黑" panose="02010600040101010101" pitchFamily="2" charset="-122"/>
                  </a:rPr>
                  <a:t>0</a:t>
                </a:r>
                <a:r>
                  <a:rPr lang="en-US" altLang="zh-CN" sz="1600" i="1" dirty="0">
                    <a:effectLst/>
                    <a:latin typeface="Calibri" panose="020F0502020204030204" pitchFamily="34" charset="0"/>
                    <a:ea typeface="华文细黑" panose="02010600040101010101" pitchFamily="2" charset="-122"/>
                  </a:rPr>
                  <a:t>.</a:t>
                </a:r>
                <a:r>
                  <a:rPr lang="en-US" altLang="zh-CN" sz="1600" dirty="0">
                    <a:effectLst/>
                    <a:latin typeface="Calibri" panose="020F0502020204030204" pitchFamily="34" charset="0"/>
                    <a:ea typeface="华文细黑" panose="02010600040101010101" pitchFamily="2" charset="-122"/>
                  </a:rPr>
                  <a:t>47≤</a:t>
                </a:r>
                <a14:m>
                  <m:oMath xmlns:m="http://schemas.openxmlformats.org/officeDocument/2006/math">
                    <m:f>
                      <m:f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fPr>
                      <m:num>
                        <m:sSubSup>
                          <m:sSubSup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600">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600">
                                <a:effectLst/>
                                <a:latin typeface="Cambria Math" panose="02040503050406030204" pitchFamily="18" charset="0"/>
                                <a:ea typeface="华文细黑" panose="02010600040101010101" pitchFamily="2" charset="-122"/>
                                <a:cs typeface="Calibri" panose="020F0502020204030204" pitchFamily="34" charset="0"/>
                              </a:rPr>
                              <m:t>2</m:t>
                            </m:r>
                          </m:sup>
                        </m:sSubSup>
                      </m:num>
                      <m:den>
                        <m:sSubSup>
                          <m:sSubSupPr>
                            <m:ctrlPr>
                              <a:rPr lang="zh-CN" altLang="zh-CN" sz="1600" i="1">
                                <a:effectLst/>
                                <a:latin typeface="Cambria Math" panose="02040503050406030204" pitchFamily="18" charset="0"/>
                                <a:ea typeface="Cambria Math" panose="02040503050406030204" pitchFamily="18" charset="0"/>
                                <a:cs typeface="Calibri" panose="020F0502020204030204" pitchFamily="34" charset="0"/>
                              </a:rPr>
                            </m:ctrlPr>
                          </m:sSubSupPr>
                          <m:e>
                            <m:r>
                              <a:rPr lang="en-US" altLang="zh-CN" sz="1600" i="1">
                                <a:effectLst/>
                                <a:latin typeface="Cambria Math" panose="02040503050406030204" pitchFamily="18" charset="0"/>
                                <a:ea typeface="华文细黑" panose="02010600040101010101" pitchFamily="2" charset="-122"/>
                                <a:cs typeface="Calibri" panose="020F0502020204030204" pitchFamily="34" charset="0"/>
                              </a:rPr>
                              <m:t>𝜎</m:t>
                            </m:r>
                          </m:e>
                          <m:sub>
                            <m:r>
                              <a:rPr lang="en-US" altLang="zh-CN" sz="1600">
                                <a:effectLst/>
                                <a:latin typeface="Cambria Math" panose="02040503050406030204" pitchFamily="18" charset="0"/>
                                <a:ea typeface="华文细黑" panose="02010600040101010101" pitchFamily="2" charset="-122"/>
                                <a:cs typeface="Calibri" panose="020F0502020204030204" pitchFamily="34" charset="0"/>
                              </a:rPr>
                              <m:t>2</m:t>
                            </m:r>
                          </m:sub>
                          <m:sup>
                            <m:r>
                              <a:rPr lang="en-US" altLang="zh-CN" sz="1600">
                                <a:effectLst/>
                                <a:latin typeface="Cambria Math" panose="02040503050406030204" pitchFamily="18" charset="0"/>
                                <a:ea typeface="华文细黑" panose="02010600040101010101" pitchFamily="2" charset="-122"/>
                                <a:cs typeface="Calibri" panose="020F0502020204030204" pitchFamily="34" charset="0"/>
                              </a:rPr>
                              <m:t>2</m:t>
                            </m:r>
                          </m:sup>
                        </m:sSubSup>
                      </m:den>
                    </m:f>
                  </m:oMath>
                </a14:m>
                <a:r>
                  <a:rPr lang="en-US" altLang="zh-CN" sz="1600" dirty="0">
                    <a:effectLst/>
                    <a:latin typeface="Calibri" panose="020F0502020204030204" pitchFamily="34" charset="0"/>
                    <a:ea typeface="华文细黑" panose="02010600040101010101" pitchFamily="2" charset="-122"/>
                  </a:rPr>
                  <a:t>≤1</a:t>
                </a:r>
                <a:r>
                  <a:rPr lang="en-US" altLang="zh-CN" sz="1600" i="1" dirty="0">
                    <a:effectLst/>
                    <a:latin typeface="Calibri" panose="020F0502020204030204" pitchFamily="34" charset="0"/>
                    <a:ea typeface="华文细黑" panose="02010600040101010101" pitchFamily="2" charset="-122"/>
                  </a:rPr>
                  <a:t>.</a:t>
                </a:r>
                <a:r>
                  <a:rPr lang="en-US" altLang="zh-CN" sz="1600" dirty="0">
                    <a:effectLst/>
                    <a:latin typeface="Calibri" panose="020F0502020204030204" pitchFamily="34" charset="0"/>
                    <a:ea typeface="华文细黑" panose="02010600040101010101" pitchFamily="2" charset="-122"/>
                  </a:rPr>
                  <a:t>84,</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男女学生生活费支出方差比的</a:t>
                </a:r>
                <a:r>
                  <a:rPr lang="en-US" altLang="zh-CN" sz="1600" dirty="0">
                    <a:effectLst/>
                    <a:latin typeface="Calibri" panose="020F0502020204030204" pitchFamily="34" charset="0"/>
                    <a:ea typeface="华文细黑" panose="02010600040101010101" pitchFamily="2" charset="-122"/>
                  </a:rPr>
                  <a:t>90%</a:t>
                </a:r>
                <a:r>
                  <a:rPr lang="zh-CN" altLang="zh-CN" sz="1600" dirty="0">
                    <a:effectLst/>
                    <a:latin typeface="Calibri" panose="020F0502020204030204" pitchFamily="34" charset="0"/>
                    <a:ea typeface="华文细黑" panose="02010600040101010101" pitchFamily="2" charset="-122"/>
                    <a:cs typeface="Calibri" panose="020F0502020204030204" pitchFamily="34" charset="0"/>
                  </a:rPr>
                  <a:t>的置信区间为</a:t>
                </a:r>
                <a:r>
                  <a:rPr lang="en-US" altLang="zh-CN" sz="1600" dirty="0">
                    <a:effectLst/>
                    <a:latin typeface="Calibri" panose="020F0502020204030204" pitchFamily="34" charset="0"/>
                    <a:ea typeface="华文细黑" panose="02010600040101010101" pitchFamily="2" charset="-122"/>
                  </a:rPr>
                  <a:t>0.47~1.84</a:t>
                </a:r>
                <a:endParaRPr lang="zh-CN" altLang="zh-CN" sz="1600" dirty="0">
                  <a:solidFill>
                    <a:srgbClr val="000000"/>
                  </a:solidFill>
                  <a:latin typeface="Arial" panose="020B0604020202020204" pitchFamily="34" charset="0"/>
                  <a:ea typeface="方正书宋_GBK"/>
                  <a:cs typeface="Arial" panose="020B0604020202020204" pitchFamily="34" charset="0"/>
                </a:endParaRPr>
              </a:p>
            </p:txBody>
          </p:sp>
        </mc:Choice>
        <mc:Fallback>
          <p:sp>
            <p:nvSpPr>
              <p:cNvPr id="10" name="Content Placeholder 8"/>
              <p:cNvSpPr txBox="1">
                <a:spLocks noRot="1" noChangeAspect="1" noMove="1" noResize="1" noEditPoints="1" noAdjustHandles="1" noChangeArrowheads="1" noChangeShapeType="1" noTextEdit="1"/>
              </p:cNvSpPr>
              <p:nvPr/>
            </p:nvSpPr>
            <p:spPr>
              <a:xfrm>
                <a:off x="5663952" y="1556792"/>
                <a:ext cx="5832648" cy="4680520"/>
              </a:xfrm>
              <a:prstGeom prst="rect">
                <a:avLst/>
              </a:prstGeom>
              <a:blipFill rotWithShape="1">
                <a:blip r:embed="rId2"/>
                <a:stretch>
                  <a:fillRect l="-116" t="-144" r="-1645"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7.4</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样本量的确定</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6120680" cy="4680520"/>
              </a:xfrm>
              <a:ln w="12700" cmpd="dbl">
                <a:solidFill>
                  <a:schemeClr val="accent1"/>
                </a:solidFill>
              </a:ln>
            </p:spPr>
            <p:txBody>
              <a:bodyPr>
                <a:noAutofit/>
              </a:bodyPr>
              <a:lstStyle/>
              <a:p>
                <a:pPr marL="447675" indent="-447675" algn="just">
                  <a:lnSpc>
                    <a:spcPct val="150000"/>
                  </a:lnSpc>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令</a:t>
                </a:r>
                <a:r>
                  <a:rPr lang="en-US" altLang="zh-CN" sz="1800" dirty="0">
                    <a:latin typeface="Arial" panose="020B0604020202020204" pitchFamily="34" charset="0"/>
                    <a:cs typeface="Arial" panose="020B0604020202020204" pitchFamily="34" charset="0"/>
                  </a:rPr>
                  <a:t>E</a:t>
                </a:r>
                <a:r>
                  <a:rPr lang="zh-CN" altLang="zh-CN" sz="1800" dirty="0">
                    <a:latin typeface="Arial" panose="020B0604020202020204" pitchFamily="34" charset="0"/>
                    <a:cs typeface="Arial" panose="020B0604020202020204" pitchFamily="34" charset="0"/>
                  </a:rPr>
                  <a:t>代表所希望达到的估计误差</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即</a:t>
                </a:r>
                <a:endParaRPr lang="zh-CN" altLang="zh-CN" sz="1800" dirty="0">
                  <a:latin typeface="Arial" panose="020B0604020202020204" pitchFamily="34" charset="0"/>
                  <a:cs typeface="Arial" panose="020B0604020202020204" pitchFamily="34" charset="0"/>
                </a:endParaRPr>
              </a:p>
              <a:p>
                <a:pPr marL="0" indent="0" algn="just">
                  <a:buNone/>
                </a:pPr>
                <a:r>
                  <a:rPr lang="zh-CN" altLang="zh-CN" sz="1800" i="1" dirty="0"/>
                  <a:t>　　</a:t>
                </a:r>
                <a:r>
                  <a:rPr lang="en-US" altLang="zh-CN" sz="1800" i="1" dirty="0"/>
                  <a:t>E=z</a:t>
                </a:r>
                <a:r>
                  <a:rPr lang="en-US" altLang="zh-CN" sz="1800" i="1" baseline="-25000" dirty="0"/>
                  <a:t>α/</a:t>
                </a:r>
                <a:r>
                  <a:rPr lang="en-US" altLang="zh-CN" sz="1800" baseline="-25000" dirty="0"/>
                  <a:t>2</a:t>
                </a:r>
                <a14:m>
                  <m:oMath xmlns:m="http://schemas.openxmlformats.org/officeDocument/2006/math">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𝜎</m:t>
                        </m:r>
                      </m:num>
                      <m:den>
                        <m:rad>
                          <m:radPr>
                            <m:degHide m:val="on"/>
                            <m:ctrlPr>
                              <a:rPr lang="zh-CN" altLang="zh-CN" sz="1800" i="1">
                                <a:latin typeface="Cambria Math" panose="02040503050406030204" pitchFamily="18" charset="0"/>
                              </a:rPr>
                            </m:ctrlPr>
                          </m:radPr>
                          <m:deg/>
                          <m:e>
                            <m:r>
                              <a:rPr lang="en-US" altLang="zh-CN" sz="1800" i="1">
                                <a:latin typeface="Cambria Math" panose="02040503050406030204" pitchFamily="18" charset="0"/>
                              </a:rPr>
                              <m:t>𝑛</m:t>
                            </m:r>
                          </m:e>
                        </m:rad>
                      </m:den>
                    </m:f>
                  </m:oMath>
                </a14:m>
                <a:r>
                  <a:rPr lang="en-US" altLang="zh-CN" sz="1800" dirty="0"/>
                  <a:t> </a:t>
                </a:r>
                <a:endParaRPr lang="en-US" altLang="zh-CN" sz="1800" dirty="0"/>
              </a:p>
              <a:p>
                <a:pPr marL="0" indent="0" algn="just">
                  <a:buNone/>
                </a:pPr>
                <a:r>
                  <a:rPr lang="zh-CN" altLang="zh-CN" sz="1800" dirty="0"/>
                  <a:t>由此可以推导出确定样本量的公式</a:t>
                </a:r>
                <a:r>
                  <a:rPr lang="en-US" altLang="zh-CN" sz="1800" dirty="0"/>
                  <a:t>:</a:t>
                </a:r>
                <a:endParaRPr lang="zh-CN" altLang="zh-CN" sz="1800" dirty="0"/>
              </a:p>
              <a:p>
                <a:pPr marL="0" indent="0" algn="just">
                  <a:buNone/>
                </a:pPr>
                <a:r>
                  <a:rPr lang="zh-CN" altLang="zh-CN" sz="1800" i="1" dirty="0"/>
                  <a:t>　　</a:t>
                </a:r>
                <a:r>
                  <a:rPr lang="en-US" altLang="zh-CN" sz="1800" i="1" dirty="0"/>
                  <a:t>n=</a:t>
                </a:r>
                <a14:m>
                  <m:oMath xmlns:m="http://schemas.openxmlformats.org/officeDocument/2006/math">
                    <m:f>
                      <m:fPr>
                        <m:ctrlPr>
                          <a:rPr lang="zh-CN" altLang="zh-CN" sz="1800" i="1">
                            <a:latin typeface="Cambria Math" panose="02040503050406030204" pitchFamily="18" charset="0"/>
                          </a:rPr>
                        </m:ctrlPr>
                      </m:fPr>
                      <m:num>
                        <m:r>
                          <m:rPr>
                            <m:nor/>
                          </m:rP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𝑧</m:t>
                            </m:r>
                          </m:e>
                          <m:sub>
                            <m:r>
                              <a:rPr lang="en-US" altLang="zh-CN" sz="1800" i="1">
                                <a:latin typeface="Cambria Math" panose="02040503050406030204" pitchFamily="18" charset="0"/>
                              </a:rPr>
                              <m:t>𝛼</m:t>
                            </m:r>
                            <m:r>
                              <m:rPr>
                                <m:nor/>
                              </m:rPr>
                              <a:rPr lang="en-US" altLang="zh-CN" sz="1800">
                                <a:latin typeface="Cambria Math" panose="02040503050406030204" pitchFamily="18" charset="0"/>
                              </a:rPr>
                              <m:t>/</m:t>
                            </m:r>
                            <m:r>
                              <a:rPr lang="en-US" altLang="zh-CN" sz="1800">
                                <a:latin typeface="Cambria Math" panose="02040503050406030204" pitchFamily="18" charset="0"/>
                              </a:rPr>
                              <m:t>2</m:t>
                            </m:r>
                          </m:sub>
                        </m:sSub>
                        <m:sSup>
                          <m:sSupPr>
                            <m:ctrlPr>
                              <a:rPr lang="zh-CN" altLang="zh-CN" sz="1800" i="1">
                                <a:latin typeface="Cambria Math" panose="02040503050406030204" pitchFamily="18" charset="0"/>
                              </a:rPr>
                            </m:ctrlPr>
                          </m:sSupPr>
                          <m:e>
                            <m:r>
                              <m:rPr>
                                <m:nor/>
                              </m:rPr>
                              <a:rPr lang="en-US" altLang="zh-CN" sz="1800">
                                <a:latin typeface="Cambria Math" panose="02040503050406030204" pitchFamily="18" charset="0"/>
                              </a:rPr>
                              <m:t>)</m:t>
                            </m:r>
                          </m:e>
                          <m:sup>
                            <m:r>
                              <a:rPr lang="en-US" altLang="zh-CN" sz="1800">
                                <a:latin typeface="Cambria Math" panose="02040503050406030204" pitchFamily="18" charset="0"/>
                              </a:rPr>
                              <m:t>2</m:t>
                            </m:r>
                          </m:sup>
                        </m:sSup>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𝜎</m:t>
                            </m:r>
                          </m:e>
                          <m:sup>
                            <m:r>
                              <a:rPr lang="en-US" altLang="zh-CN" sz="1800">
                                <a:latin typeface="Cambria Math" panose="02040503050406030204" pitchFamily="18" charset="0"/>
                              </a:rPr>
                              <m:t>2</m:t>
                            </m:r>
                          </m:sup>
                        </m:sSup>
                      </m:num>
                      <m:den>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𝐸</m:t>
                            </m:r>
                          </m:e>
                          <m:sup>
                            <m:r>
                              <a:rPr lang="en-US" altLang="zh-CN" sz="1800">
                                <a:latin typeface="Cambria Math" panose="02040503050406030204" pitchFamily="18" charset="0"/>
                              </a:rPr>
                              <m:t>2</m:t>
                            </m:r>
                          </m:sup>
                        </m:sSup>
                      </m:den>
                    </m:f>
                  </m:oMath>
                </a14:m>
                <a:r>
                  <a:rPr lang="en-US" altLang="zh-CN" sz="1800" i="1" dirty="0"/>
                  <a:t> </a:t>
                </a:r>
                <a:endParaRPr lang="en-US" altLang="zh-CN" sz="1800" i="1" dirty="0"/>
              </a:p>
              <a:p>
                <a:pPr marL="0" indent="0" algn="just">
                  <a:buNone/>
                </a:pPr>
                <a:r>
                  <a:rPr lang="zh-CN" altLang="zh-CN" sz="1800" dirty="0"/>
                  <a:t>式中的</a:t>
                </a:r>
                <a:r>
                  <a:rPr lang="en-US" altLang="zh-CN" sz="1800" i="1" dirty="0"/>
                  <a:t>E</a:t>
                </a:r>
                <a:r>
                  <a:rPr lang="zh-CN" altLang="zh-CN" sz="1800" dirty="0"/>
                  <a:t>值是使用者在给定的置信水平下可以接受的估计误差</a:t>
                </a:r>
                <a:r>
                  <a:rPr lang="en-US" altLang="zh-CN" sz="1800" dirty="0"/>
                  <a:t>,</a:t>
                </a:r>
                <a:r>
                  <a:rPr lang="en-US" altLang="zh-CN" sz="1800" i="1" dirty="0"/>
                  <a:t>z</a:t>
                </a:r>
                <a:r>
                  <a:rPr lang="en-US" altLang="zh-CN" sz="1800" i="1" baseline="-25000" dirty="0"/>
                  <a:t>α/</a:t>
                </a:r>
                <a:r>
                  <a:rPr lang="en-US" altLang="zh-CN" sz="1800" baseline="-25000" dirty="0"/>
                  <a:t>2</a:t>
                </a:r>
                <a:r>
                  <a:rPr lang="zh-CN" altLang="zh-CN" sz="1800" dirty="0"/>
                  <a:t>的值可直接由区间估计中所用到的置信水平确定</a:t>
                </a:r>
                <a:endParaRPr lang="en-US" altLang="zh-CN" sz="1800" dirty="0"/>
              </a:p>
              <a:p>
                <a:pPr marL="447675" indent="-447675" algn="just">
                  <a:lnSpc>
                    <a:spcPct val="150000"/>
                  </a:lnSpc>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如果能求出</a:t>
                </a:r>
                <a:r>
                  <a:rPr lang="en-US" altLang="zh-CN" sz="1800" dirty="0">
                    <a:latin typeface="Arial" panose="020B0604020202020204" pitchFamily="34" charset="0"/>
                    <a:cs typeface="Arial" panose="020B0604020202020204" pitchFamily="34" charset="0"/>
                  </a:rPr>
                  <a:t>σ</a:t>
                </a:r>
                <a:r>
                  <a:rPr lang="zh-CN" altLang="zh-CN" sz="1800" dirty="0">
                    <a:latin typeface="Arial" panose="020B0604020202020204" pitchFamily="34" charset="0"/>
                    <a:cs typeface="Arial" panose="020B0604020202020204" pitchFamily="34" charset="0"/>
                  </a:rPr>
                  <a:t>的具体值</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就可以用上面的公式计算所需的样本量。在实际应用中</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如果</a:t>
                </a:r>
                <a:r>
                  <a:rPr lang="en-US" altLang="zh-CN" sz="1800" dirty="0">
                    <a:latin typeface="Arial" panose="020B0604020202020204" pitchFamily="34" charset="0"/>
                    <a:cs typeface="Arial" panose="020B0604020202020204" pitchFamily="34" charset="0"/>
                  </a:rPr>
                  <a:t>σ</a:t>
                </a:r>
                <a:r>
                  <a:rPr lang="zh-CN" altLang="zh-CN" sz="1800" dirty="0">
                    <a:latin typeface="Arial" panose="020B0604020202020204" pitchFamily="34" charset="0"/>
                    <a:cs typeface="Arial" panose="020B0604020202020204" pitchFamily="34" charset="0"/>
                  </a:rPr>
                  <a:t>的值不知道</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可以用以前相同或类似的样本的标准差来代替</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也可以用试验调查的办法</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选择一个初始样本</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以该样本的标准差作为</a:t>
                </a:r>
                <a:r>
                  <a:rPr lang="en-US" altLang="zh-CN" sz="1800" dirty="0">
                    <a:latin typeface="Arial" panose="020B0604020202020204" pitchFamily="34" charset="0"/>
                    <a:cs typeface="Arial" panose="020B0604020202020204" pitchFamily="34" charset="0"/>
                  </a:rPr>
                  <a:t>σ</a:t>
                </a:r>
                <a:r>
                  <a:rPr lang="zh-CN" altLang="zh-CN" sz="1800" dirty="0">
                    <a:latin typeface="Arial" panose="020B0604020202020204" pitchFamily="34" charset="0"/>
                    <a:cs typeface="Arial" panose="020B0604020202020204" pitchFamily="34" charset="0"/>
                  </a:rPr>
                  <a:t>的估计值</a:t>
                </a:r>
                <a:endParaRPr lang="zh-CN" altLang="zh-CN" sz="1800" dirty="0">
                  <a:latin typeface="Arial" panose="020B0604020202020204" pitchFamily="34" charset="0"/>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6120680" cy="4680520"/>
              </a:xfrm>
              <a:blipFill rotWithShape="1">
                <a:blip r:embed="rId1"/>
                <a:stretch>
                  <a:fillRect l="-105" t="-144" r="-94" b="-522"/>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估计总体均值时样本量的确定</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7032104" y="1524338"/>
                <a:ext cx="4472272"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20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7.12</a:t>
                </a: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拥有工商管理学士学位的大学毕业生年薪的标准差大约为</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2 000</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元</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假定想要估计年薪的</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的置信区间</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希望估计误差为</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400</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元</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应抽取多少样本</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20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σ</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=2 000,</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E</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=400,</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20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20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(7.29)</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20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14:m>
                  <m:oMath xmlns:m="http://schemas.openxmlformats.org/officeDocument/2006/math">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𝑧</m:t>
                            </m:r>
                          </m:e>
                          <m:sub>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𝜎</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𝐸</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m:rPr>
                            <m:nor/>
                          </m:rPr>
                          <a:rPr lang="en-US" altLang="zh-CN" sz="20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 </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00</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40</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e>
                          <m:sup>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en-US" altLang="zh-CN" sz="20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04≈97</a:t>
                </a:r>
                <a:endParaRPr lang="zh-CN" altLang="zh-CN" sz="20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即应抽取</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97</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人作为样本。</a:t>
                </a:r>
                <a:endParaRPr lang="zh-CN" altLang="zh-CN" sz="2000" dirty="0">
                  <a:solidFill>
                    <a:srgbClr val="000000"/>
                  </a:solidFill>
                  <a:effectLst/>
                  <a:latin typeface="NEU-BZ-S92"/>
                  <a:ea typeface="方正书宋_GBK"/>
                  <a:cs typeface="Times New Roman" panose="02020603050405020304" pitchFamily="18"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7032104" y="1524338"/>
                <a:ext cx="4472272" cy="4680520"/>
              </a:xfrm>
              <a:prstGeom prst="rect">
                <a:avLst/>
              </a:prstGeom>
              <a:blipFill rotWithShape="1">
                <a:blip r:embed="rId2"/>
                <a:stretch>
                  <a:fillRect l="-145" t="-143" r="-140" b="-130"/>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7.4</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样本量的确定</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6120680" cy="4680520"/>
              </a:xfrm>
              <a:ln w="12700" cmpd="dbl">
                <a:solidFill>
                  <a:schemeClr val="accent1"/>
                </a:solidFill>
              </a:ln>
            </p:spPr>
            <p:txBody>
              <a:bodyPr>
                <a:noAutofit/>
              </a:bodyPr>
              <a:lstStyle/>
              <a:p>
                <a:pPr marL="447675" indent="-447675" algn="just">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令</a:t>
                </a:r>
                <a:r>
                  <a:rPr lang="en-US" altLang="zh-CN" sz="1800" dirty="0">
                    <a:latin typeface="Arial" panose="020B0604020202020204" pitchFamily="34" charset="0"/>
                    <a:cs typeface="Arial" panose="020B0604020202020204" pitchFamily="34" charset="0"/>
                  </a:rPr>
                  <a:t>E</a:t>
                </a:r>
                <a:r>
                  <a:rPr lang="zh-CN" altLang="zh-CN" sz="1800" dirty="0">
                    <a:latin typeface="Arial" panose="020B0604020202020204" pitchFamily="34" charset="0"/>
                    <a:cs typeface="Arial" panose="020B0604020202020204" pitchFamily="34" charset="0"/>
                  </a:rPr>
                  <a:t>代表所希望达到的估计误差</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即</a:t>
                </a:r>
                <a:endParaRPr lang="zh-CN" altLang="zh-CN" sz="1800" dirty="0">
                  <a:latin typeface="Arial" panose="020B0604020202020204" pitchFamily="34" charset="0"/>
                  <a:cs typeface="Arial" panose="020B0604020202020204" pitchFamily="34"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E=z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14:m>
                  <m:oMath xmlns:m="http://schemas.openxmlformats.org/officeDocument/2006/math">
                    <m:rad>
                      <m:radPr>
                        <m:deg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e>
                    </m:rad>
                  </m:oMath>
                </a14:m>
                <a:endParaRPr lang="en-US"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由此可以推导出重复抽样或无限总体抽样条件下确定样本量的公式</a:t>
                </a:r>
                <a:r>
                  <a:rPr lang="en-US" altLang="zh-CN" sz="1800" dirty="0">
                    <a:latin typeface="Arial" panose="020B0604020202020204" pitchFamily="34" charset="0"/>
                    <a:cs typeface="Arial" panose="020B0604020202020204" pitchFamily="34" charset="0"/>
                  </a:rPr>
                  <a:t>:</a:t>
                </a:r>
                <a:endParaRPr lang="zh-CN" altLang="zh-CN" sz="1800" dirty="0">
                  <a:latin typeface="Arial" panose="020B0604020202020204" pitchFamily="34" charset="0"/>
                  <a:cs typeface="Arial" panose="020B0604020202020204" pitchFamily="34" charset="0"/>
                </a:endParaRPr>
              </a:p>
              <a:p>
                <a:pPr indent="0" algn="just">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𝑧</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𝐸</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endParaRPr lang="en-US"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rgbClr val="318AAD"/>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式中的估计误差</a:t>
                </a:r>
                <a:r>
                  <a:rPr lang="en-US" altLang="zh-CN" sz="1800" dirty="0">
                    <a:latin typeface="Arial" panose="020B0604020202020204" pitchFamily="34" charset="0"/>
                    <a:cs typeface="Arial" panose="020B0604020202020204" pitchFamily="34" charset="0"/>
                  </a:rPr>
                  <a:t>E</a:t>
                </a:r>
                <a:r>
                  <a:rPr lang="zh-CN" altLang="zh-CN" sz="1800" dirty="0">
                    <a:latin typeface="Arial" panose="020B0604020202020204" pitchFamily="34" charset="0"/>
                    <a:cs typeface="Arial" panose="020B0604020202020204" pitchFamily="34" charset="0"/>
                  </a:rPr>
                  <a:t>必须是使用者事先确定的</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大多数情况下</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取</a:t>
                </a:r>
                <a:r>
                  <a:rPr lang="en-US" altLang="zh-CN" sz="1800" dirty="0">
                    <a:latin typeface="Arial" panose="020B0604020202020204" pitchFamily="34" charset="0"/>
                    <a:cs typeface="Arial" panose="020B0604020202020204" pitchFamily="34" charset="0"/>
                  </a:rPr>
                  <a:t>E</a:t>
                </a:r>
                <a:r>
                  <a:rPr lang="zh-CN" altLang="zh-CN" sz="1800" dirty="0">
                    <a:latin typeface="Arial" panose="020B0604020202020204" pitchFamily="34" charset="0"/>
                    <a:cs typeface="Arial" panose="020B0604020202020204" pitchFamily="34" charset="0"/>
                  </a:rPr>
                  <a:t>的值小于</a:t>
                </a:r>
                <a:r>
                  <a:rPr lang="en-US" altLang="zh-CN" sz="1800" dirty="0">
                    <a:latin typeface="Arial" panose="020B0604020202020204" pitchFamily="34" charset="0"/>
                    <a:cs typeface="Arial" panose="020B0604020202020204" pitchFamily="34" charset="0"/>
                  </a:rPr>
                  <a:t>0.10</a:t>
                </a:r>
                <a:endParaRPr lang="en-US" altLang="zh-CN" sz="1800" dirty="0">
                  <a:latin typeface="Arial" panose="020B0604020202020204" pitchFamily="34" charset="0"/>
                  <a:cs typeface="Arial" panose="020B0604020202020204" pitchFamily="34" charset="0"/>
                </a:endParaRPr>
              </a:p>
              <a:p>
                <a:pPr marL="447675" indent="-447675" algn="just">
                  <a:buClr>
                    <a:srgbClr val="318AAD"/>
                  </a:buClr>
                  <a:buSzPct val="100000"/>
                  <a:buFont typeface="Wingdings" panose="05000000000000000000" pitchFamily="2" charset="2"/>
                  <a:buChar char="l"/>
                  <a:defRPr/>
                </a:pPr>
                <a:r>
                  <a:rPr lang="en-US" altLang="zh-CN" sz="1800" dirty="0">
                    <a:latin typeface="Arial" panose="020B0604020202020204" pitchFamily="34" charset="0"/>
                    <a:cs typeface="Arial" panose="020B0604020202020204" pitchFamily="34" charset="0"/>
                  </a:rPr>
                  <a:t>zα/2</a:t>
                </a:r>
                <a:r>
                  <a:rPr lang="zh-CN" altLang="zh-CN" sz="1800" dirty="0">
                    <a:latin typeface="Arial" panose="020B0604020202020204" pitchFamily="34" charset="0"/>
                    <a:cs typeface="Arial" panose="020B0604020202020204" pitchFamily="34" charset="0"/>
                  </a:rPr>
                  <a:t>的值可直接由区间估计中所用到的置信水平确定。如果能够求出</a:t>
                </a:r>
                <a:r>
                  <a:rPr lang="en-US" altLang="zh-CN" sz="1800" dirty="0">
                    <a:latin typeface="Arial" panose="020B0604020202020204" pitchFamily="34" charset="0"/>
                    <a:cs typeface="Arial" panose="020B0604020202020204" pitchFamily="34" charset="0"/>
                  </a:rPr>
                  <a:t>π</a:t>
                </a:r>
                <a:r>
                  <a:rPr lang="zh-CN" altLang="zh-CN" sz="1800" dirty="0">
                    <a:latin typeface="Arial" panose="020B0604020202020204" pitchFamily="34" charset="0"/>
                    <a:cs typeface="Arial" panose="020B0604020202020204" pitchFamily="34" charset="0"/>
                  </a:rPr>
                  <a:t>的具体值</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就可以用上面的公式计算所需的样本量。在实际应用中</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如果</a:t>
                </a:r>
                <a:r>
                  <a:rPr lang="en-US" altLang="zh-CN" sz="1800" dirty="0">
                    <a:latin typeface="Arial" panose="020B0604020202020204" pitchFamily="34" charset="0"/>
                    <a:cs typeface="Arial" panose="020B0604020202020204" pitchFamily="34" charset="0"/>
                  </a:rPr>
                  <a:t>π</a:t>
                </a:r>
                <a:r>
                  <a:rPr lang="zh-CN" altLang="zh-CN" sz="1800" dirty="0">
                    <a:latin typeface="Arial" panose="020B0604020202020204" pitchFamily="34" charset="0"/>
                    <a:cs typeface="Arial" panose="020B0604020202020204" pitchFamily="34" charset="0"/>
                  </a:rPr>
                  <a:t>的值不知道</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可以用类似的样本比例来代替</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也可以用试验调查的办法</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选择一个初始样本</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以该样本的比例作为</a:t>
                </a:r>
                <a:r>
                  <a:rPr lang="en-US" altLang="zh-CN" sz="1800" dirty="0">
                    <a:latin typeface="Arial" panose="020B0604020202020204" pitchFamily="34" charset="0"/>
                    <a:cs typeface="Arial" panose="020B0604020202020204" pitchFamily="34" charset="0"/>
                  </a:rPr>
                  <a:t>π</a:t>
                </a:r>
                <a:r>
                  <a:rPr lang="zh-CN" altLang="zh-CN" sz="1800" dirty="0">
                    <a:latin typeface="Arial" panose="020B0604020202020204" pitchFamily="34" charset="0"/>
                    <a:cs typeface="Arial" panose="020B0604020202020204" pitchFamily="34" charset="0"/>
                  </a:rPr>
                  <a:t>的估计值。当</a:t>
                </a:r>
                <a:r>
                  <a:rPr lang="en-US" altLang="zh-CN" sz="1800" dirty="0">
                    <a:latin typeface="Arial" panose="020B0604020202020204" pitchFamily="34" charset="0"/>
                    <a:cs typeface="Arial" panose="020B0604020202020204" pitchFamily="34" charset="0"/>
                  </a:rPr>
                  <a:t>π</a:t>
                </a:r>
                <a:r>
                  <a:rPr lang="zh-CN" altLang="zh-CN" sz="1800" dirty="0">
                    <a:latin typeface="Arial" panose="020B0604020202020204" pitchFamily="34" charset="0"/>
                    <a:cs typeface="Arial" panose="020B0604020202020204" pitchFamily="34" charset="0"/>
                  </a:rPr>
                  <a:t>的值无法知道时</a:t>
                </a:r>
                <a:r>
                  <a:rPr lang="en-US" altLang="zh-CN" sz="1800" dirty="0">
                    <a:latin typeface="Arial" panose="020B0604020202020204" pitchFamily="34" charset="0"/>
                    <a:cs typeface="Arial" panose="020B0604020202020204" pitchFamily="34" charset="0"/>
                  </a:rPr>
                  <a:t>,</a:t>
                </a:r>
                <a:r>
                  <a:rPr lang="zh-CN" altLang="zh-CN" sz="1800" dirty="0">
                    <a:latin typeface="Arial" panose="020B0604020202020204" pitchFamily="34" charset="0"/>
                    <a:cs typeface="Arial" panose="020B0604020202020204" pitchFamily="34" charset="0"/>
                  </a:rPr>
                  <a:t>通常取使</a:t>
                </a:r>
                <a:r>
                  <a:rPr lang="en-US" altLang="zh-CN" sz="1800" dirty="0">
                    <a:latin typeface="Arial" panose="020B0604020202020204" pitchFamily="34" charset="0"/>
                    <a:cs typeface="Arial" panose="020B0604020202020204" pitchFamily="34" charset="0"/>
                  </a:rPr>
                  <a:t>π(1-π)</a:t>
                </a:r>
                <a:r>
                  <a:rPr lang="zh-CN" altLang="zh-CN" sz="1800" dirty="0">
                    <a:latin typeface="Arial" panose="020B0604020202020204" pitchFamily="34" charset="0"/>
                    <a:cs typeface="Arial" panose="020B0604020202020204" pitchFamily="34" charset="0"/>
                  </a:rPr>
                  <a:t>最大时的</a:t>
                </a:r>
                <a:r>
                  <a:rPr lang="en-US" altLang="zh-CN" sz="1800" dirty="0">
                    <a:latin typeface="Arial" panose="020B0604020202020204" pitchFamily="34" charset="0"/>
                    <a:cs typeface="Arial" panose="020B0604020202020204" pitchFamily="34" charset="0"/>
                  </a:rPr>
                  <a:t>0.5</a:t>
                </a:r>
                <a:endParaRPr lang="zh-CN" altLang="zh-CN" sz="1800" dirty="0">
                  <a:latin typeface="Arial" panose="020B0604020202020204" pitchFamily="34" charset="0"/>
                  <a:cs typeface="Arial" panose="020B060402020202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6120680" cy="4680520"/>
              </a:xfrm>
              <a:blipFill rotWithShape="1">
                <a:blip r:embed="rId1"/>
                <a:stretch>
                  <a:fillRect l="-105" t="-144" r="-9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估计总体比例时样本量的确定</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7032104" y="1524338"/>
                <a:ext cx="4472272"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7.13</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根据以往的生产统计</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某种产品的合格率约为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现要求估计误差为</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的置信区间下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应抽取多少个产品作为样本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已知</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π</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=90%,</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E</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z</a:t>
                </a:r>
                <a:r>
                  <a:rPr lang="en-US" altLang="zh-CN" sz="1800" i="1"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α/</a:t>
                </a:r>
                <a:r>
                  <a:rPr lang="en-US" altLang="zh-CN" sz="1800" baseline="-25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96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(7.31)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800" dirty="0">
                  <a:solidFill>
                    <a:srgbClr val="000000"/>
                  </a:solidFill>
                  <a:effectLst/>
                  <a:latin typeface="NEU-BZ-S92"/>
                  <a:ea typeface="方正书宋_GBK"/>
                  <a:cs typeface="Times New Roman" panose="02020603050405020304" pitchFamily="18" charset="0"/>
                </a:endParaRPr>
              </a:p>
              <a:p>
                <a:pPr marL="0" indent="0" algn="just">
                  <a:lnSpc>
                    <a:spcPct val="150000"/>
                  </a:lnSpc>
                  <a:buNone/>
                </a:pPr>
                <a:r>
                  <a:rPr lang="zh-CN"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　　</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n=</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𝑧</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𝛼</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𝜋</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𝐸</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m:t>
                        </m:r>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m:rPr>
                            <m:nor/>
                          </m:rPr>
                          <a:rPr lang="en-US" altLang="zh-CN" sz="1800" i="1">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num>
                      <m:den>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m:t>
                            </m:r>
                          </m:e>
                          <m:sup>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den>
                    </m:f>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138</a:t>
                </a: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3≈139</a:t>
                </a:r>
                <a:endParaRPr lang="zh-CN" altLang="zh-CN" sz="1800" dirty="0">
                  <a:solidFill>
                    <a:srgbClr val="000000"/>
                  </a:solidFill>
                  <a:effectLst/>
                  <a:latin typeface="NEU-BZ-S92"/>
                  <a:ea typeface="方正书宋_GBK"/>
                  <a:cs typeface="Times New Roman" panose="02020603050405020304" pitchFamily="18" charset="0"/>
                </a:endParaRPr>
              </a:p>
              <a:p>
                <a:pPr marL="0" indent="0">
                  <a:lnSpc>
                    <a:spcPct val="15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即应抽取</a:t>
                </a:r>
                <a:r>
                  <a:rPr lang="en-US" altLang="zh-CN" sz="1800" dirty="0">
                    <a:effectLst/>
                    <a:latin typeface="Calibri" panose="020F0502020204030204" pitchFamily="34" charset="0"/>
                    <a:ea typeface="华文细黑" panose="02010600040101010101" pitchFamily="2" charset="-122"/>
                  </a:rPr>
                  <a:t>139</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个产品作为样本</a:t>
                </a:r>
                <a:endParaRPr lang="zh-CN" altLang="zh-CN" sz="1800" dirty="0">
                  <a:solidFill>
                    <a:srgbClr val="000000"/>
                  </a:solidFill>
                  <a:effectLst/>
                  <a:latin typeface="NEU-BZ-S92"/>
                  <a:ea typeface="方正书宋_GBK"/>
                  <a:cs typeface="Times New Roman" panose="02020603050405020304" pitchFamily="18"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7032104" y="1524338"/>
                <a:ext cx="4472272" cy="4680520"/>
              </a:xfrm>
              <a:prstGeom prst="rect">
                <a:avLst/>
              </a:prstGeom>
              <a:blipFill rotWithShape="1">
                <a:blip r:embed="rId2"/>
                <a:stretch>
                  <a:fillRect l="-145" t="-143" r="-140" b="-130"/>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tags/tag1.xml><?xml version="1.0" encoding="utf-8"?>
<p:tagLst xmlns:p="http://schemas.openxmlformats.org/presentationml/2006/main">
  <p:tag name="LOCALSLIDEID" val="17916200841066519"/>
</p:tagLst>
</file>

<file path=ppt/tags/tag2.xml><?xml version="1.0" encoding="utf-8"?>
<p:tagLst xmlns:p="http://schemas.openxmlformats.org/presentationml/2006/main">
  <p:tag name="LOCALSLIDEID" val="17916200841069149"/>
</p:tagLst>
</file>

<file path=ppt/tags/tag3.xml><?xml version="1.0" encoding="utf-8"?>
<p:tagLst xmlns:p="http://schemas.openxmlformats.org/presentationml/2006/main">
  <p:tag name="LOCALSLIDEID" val="17916200841077592"/>
</p:tagLst>
</file>

<file path=ppt/tags/tag4.xml><?xml version="1.0" encoding="utf-8"?>
<p:tagLst xmlns:p="http://schemas.openxmlformats.org/presentationml/2006/main">
  <p:tag name="LOCALSLIDEID" val="17916200841083146"/>
</p:tagLst>
</file>

<file path=ppt/tags/tag5.xml><?xml version="1.0" encoding="utf-8"?>
<p:tagLst xmlns:p="http://schemas.openxmlformats.org/presentationml/2006/main">
  <p:tag name="LOCALSLIDEID" val="17916200841081551"/>
</p:tagLst>
</file>

<file path=ppt/tags/tag6.xml><?xml version="1.0" encoding="utf-8"?>
<p:tagLst xmlns:p="http://schemas.openxmlformats.org/presentationml/2006/main">
  <p:tag name="LOCALSLIDEID" val="17916200841093169"/>
</p:tagLst>
</file>

<file path=ppt/tags/tag7.xml><?xml version="1.0" encoding="utf-8"?>
<p:tagLst xmlns:p="http://schemas.openxmlformats.org/presentationml/2006/main">
  <p:tag name="LOCALSLIDEID" val="17916200841097661"/>
</p:tagLst>
</file>

<file path=ppt/tags/tag8.xml><?xml version="1.0" encoding="utf-8"?>
<p:tagLst xmlns:p="http://schemas.openxmlformats.org/presentationml/2006/main">
  <p:tag name="LOCALSLIDEID" val="17916200841101102"/>
</p:tagLst>
</file>

<file path=ppt/tags/tag9.xml><?xml version="1.0" encoding="utf-8"?>
<p:tagLst xmlns:p="http://schemas.openxmlformats.org/presentationml/2006/main">
  <p:tag name="LOCALSLIDEID" val="17916200841102025"/>
</p:tagLst>
</file>

<file path=ppt/tags/tag10.xml><?xml version="1.0" encoding="utf-8"?>
<p:tagLst xmlns:p="http://schemas.openxmlformats.org/presentationml/2006/main">
  <p:tag name="LOCALSLIDEID" val="17916200841106823"/>
</p:tagLst>
</file>

<file path=ppt/tags/tag11.xml><?xml version="1.0" encoding="utf-8"?>
<p:tagLst xmlns:p="http://schemas.openxmlformats.org/presentationml/2006/main">
  <p:tag name="LOCALSLIDEID" val="17916200841114463"/>
</p:tagLst>
</file>

<file path=ppt/tags/tag12.xml><?xml version="1.0" encoding="utf-8"?>
<p:tagLst xmlns:p="http://schemas.openxmlformats.org/presentationml/2006/main">
  <p:tag name="LOCALSLIDEID" val="17916200841111490"/>
</p:tagLst>
</file>

<file path=ppt/tags/tag13.xml><?xml version="1.0" encoding="utf-8"?>
<p:tagLst xmlns:p="http://schemas.openxmlformats.org/presentationml/2006/main">
  <p:tag name="LOCALSLIDEID" val="17916200841127516"/>
</p:tagLst>
</file>

<file path=ppt/tags/tag14.xml><?xml version="1.0" encoding="utf-8"?>
<p:tagLst xmlns:p="http://schemas.openxmlformats.org/presentationml/2006/main">
  <p:tag name="LOCALSLIDEID" val="17916200841122526"/>
</p:tagLst>
</file>

<file path=ppt/tags/tag15.xml><?xml version="1.0" encoding="utf-8"?>
<p:tagLst xmlns:p="http://schemas.openxmlformats.org/presentationml/2006/main">
  <p:tag name="LOCALSLIDEID" val="17916200841122667"/>
</p:tagLst>
</file>

<file path=ppt/tags/tag16.xml><?xml version="1.0" encoding="utf-8"?>
<p:tagLst xmlns:p="http://schemas.openxmlformats.org/presentationml/2006/main">
  <p:tag name="LOCALSLIDEID" val="17916200841137185"/>
</p:tagLst>
</file>

<file path=ppt/tags/tag17.xml><?xml version="1.0" encoding="utf-8"?>
<p:tagLst xmlns:p="http://schemas.openxmlformats.org/presentationml/2006/main">
  <p:tag name="LOCALSLIDEID" val="17916200841137377"/>
</p:tagLst>
</file>

<file path=ppt/tags/tag18.xml><?xml version="1.0" encoding="utf-8"?>
<p:tagLst xmlns:p="http://schemas.openxmlformats.org/presentationml/2006/main">
  <p:tag name="LOCALSLIDEID" val="17916200841144148"/>
</p:tagLst>
</file>

<file path=ppt/tags/tag19.xml><?xml version="1.0" encoding="utf-8"?>
<p:tagLst xmlns:p="http://schemas.openxmlformats.org/presentationml/2006/main">
  <p:tag name="LOCALSLIDEID" val="17916200841147912"/>
</p:tagLst>
</file>

<file path=ppt/tags/tag20.xml><?xml version="1.0" encoding="utf-8"?>
<p:tagLst xmlns:p="http://schemas.openxmlformats.org/presentationml/2006/main">
  <p:tag name="LOCALSLIDEID" val="17916200841140711"/>
</p:tagLst>
</file>

<file path=ppt/tags/tag21.xml><?xml version="1.0" encoding="utf-8"?>
<p:tagLst xmlns:p="http://schemas.openxmlformats.org/presentationml/2006/main">
  <p:tag name="LOCALSLIDEID" val="17916200841158287"/>
</p:tagLst>
</file>

<file path=ppt/tags/tag22.xml><?xml version="1.0" encoding="utf-8"?>
<p:tagLst xmlns:p="http://schemas.openxmlformats.org/presentationml/2006/main">
  <p:tag name="LOCALSLIDEID" val="17916200841161662"/>
</p:tagLst>
</file>

<file path=ppt/tags/tag23.xml><?xml version="1.0" encoding="utf-8"?>
<p:tagLst xmlns:p="http://schemas.openxmlformats.org/presentationml/2006/main">
  <p:tag name="LOCALSLIDEID" val="17916200841167350"/>
</p:tagLst>
</file>

<file path=ppt/tags/tag24.xml><?xml version="1.0" encoding="utf-8"?>
<p:tagLst xmlns:p="http://schemas.openxmlformats.org/presentationml/2006/main">
  <p:tag name="LOCALSLIDEID" val="17916200841173460"/>
</p:tagLst>
</file>

<file path=ppt/tags/tag25.xml><?xml version="1.0" encoding="utf-8"?>
<p:tagLst xmlns:p="http://schemas.openxmlformats.org/presentationml/2006/main">
  <p:tag name="LOCALSLIDEID" val="17916200841177806"/>
</p:tagLst>
</file>

<file path=ppt/tags/tag26.xml><?xml version="1.0" encoding="utf-8"?>
<p:tagLst xmlns:p="http://schemas.openxmlformats.org/presentationml/2006/main">
  <p:tag name="LOCALSLIDEID" val="17916200841174231"/>
</p:tagLst>
</file>

<file path=ppt/tags/tag27.xml><?xml version="1.0" encoding="utf-8"?>
<p:tagLst xmlns:p="http://schemas.openxmlformats.org/presentationml/2006/main">
  <p:tag name="LOCALPRESID" val="17916200841006128"/>
</p:tagLst>
</file>

<file path=ppt/theme/_rels/them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AcademicPresentation1_TP10352479">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用于大学课程的学术演示文稿（纸张和铅笔设计）</Template>
  <TotalTime>0</TotalTime>
  <Words>12086</Words>
  <Application>WPS 演示</Application>
  <PresentationFormat>宽屏</PresentationFormat>
  <Paragraphs>751</Paragraphs>
  <Slides>26</Slides>
  <Notes>27</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47" baseType="lpstr">
      <vt:lpstr>Arial</vt:lpstr>
      <vt:lpstr>宋体</vt:lpstr>
      <vt:lpstr>Wingdings</vt:lpstr>
      <vt:lpstr>微软雅黑</vt:lpstr>
      <vt:lpstr>华文细黑</vt:lpstr>
      <vt:lpstr>Wingdings</vt:lpstr>
      <vt:lpstr>Wingdings 2</vt:lpstr>
      <vt:lpstr>Calibri</vt:lpstr>
      <vt:lpstr>Cambria Math</vt:lpstr>
      <vt:lpstr>Symbol</vt:lpstr>
      <vt:lpstr>NEU-BZ-S92</vt:lpstr>
      <vt:lpstr>Segoe Print</vt:lpstr>
      <vt:lpstr>方正书宋_GBK</vt:lpstr>
      <vt:lpstr>Times New Roman</vt:lpstr>
      <vt:lpstr>Calibri</vt:lpstr>
      <vt:lpstr>Tw Cen MT</vt:lpstr>
      <vt:lpstr>华文仿宋</vt:lpstr>
      <vt:lpstr>Arial Unicode MS</vt:lpstr>
      <vt:lpstr>等线</vt:lpstr>
      <vt:lpstr>AcademicPresentation1_TP10352479</vt:lpstr>
      <vt:lpstr>Visio.Drawing.15</vt:lpstr>
      <vt:lpstr>PowerPoint 演示文稿</vt:lpstr>
      <vt:lpstr>导  读</vt:lpstr>
      <vt:lpstr>7.1   参数估计的基本原理</vt:lpstr>
      <vt:lpstr>7.1   参数估计的基本原理</vt:lpstr>
      <vt:lpstr>7.1   参数估计的基本原理</vt:lpstr>
      <vt:lpstr>7.1   参数估计的基本原理</vt:lpstr>
      <vt:lpstr>7.1   参数估计的基本原理</vt:lpstr>
      <vt:lpstr>7.1   一个总体参数的区间估计</vt:lpstr>
      <vt:lpstr>7.1   一个总体参数的区间估计</vt:lpstr>
      <vt:lpstr>7.1   一个总体参数的区间估计</vt:lpstr>
      <vt:lpstr>7.1   一个总体参数的区间估计</vt:lpstr>
      <vt:lpstr>7.1   一个总体参数的区间估计</vt:lpstr>
      <vt:lpstr>7.1   一个总体参数的区间估计</vt:lpstr>
      <vt:lpstr>7.2   一个总体参数的区间估计</vt:lpstr>
      <vt:lpstr>7.2   一个总体参数的区间估计</vt:lpstr>
      <vt:lpstr>7.3   两个总体参数的区间估计</vt:lpstr>
      <vt:lpstr>7.3   两个总体参数的区间估计</vt:lpstr>
      <vt:lpstr>7.3   两个总体参数的区间估计</vt:lpstr>
      <vt:lpstr>7.3   两个总体参数的区间估计</vt:lpstr>
      <vt:lpstr>7.3   两个总体参数的区间估计</vt:lpstr>
      <vt:lpstr>7.3   两个总体参数的区间估计</vt:lpstr>
      <vt:lpstr>7.3   两个总体参数的区间估计</vt:lpstr>
      <vt:lpstr>7.3   两个总体参数的区间估计</vt:lpstr>
      <vt:lpstr>7.3   两个总体参数的区间估计</vt:lpstr>
      <vt:lpstr>7.4   样本量的确定</vt:lpstr>
      <vt:lpstr>7.4   样本量的确定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统计学 （第8版）</dc:title>
  <dc:creator>jiajp99@126.com</dc:creator>
  <cp:lastModifiedBy>毛毛与妈妈</cp:lastModifiedBy>
  <cp:revision>58</cp:revision>
  <dcterms:created xsi:type="dcterms:W3CDTF">2021-01-10T02:42:00Z</dcterms:created>
  <dcterms:modified xsi:type="dcterms:W3CDTF">2026-10-10T08:15:11Z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TC101671252052</vt:lpwstr>
  </property>
  <property fmtid="{D5CDD505-2E9C-101B-9397-08002B2CF9AE}" pid="3" name="ContentTypeId">
    <vt:lpwstr>0x0101008D8B3457135D67479991424C624CBB4704002439B9162B2E88498A324BEFF3815221</vt:lpwstr>
  </property>
  <property fmtid="{D5CDD505-2E9C-101B-9397-08002B2CF9AE}" pid="4" name="ImageGenCounter">
    <vt:i4>0</vt:i4>
  </property>
  <property fmtid="{D5CDD505-2E9C-101B-9397-08002B2CF9AE}" pid="5" name="ViolationReportStatus">
    <vt:lpwstr>None</vt:lpwstr>
  </property>
  <property fmtid="{D5CDD505-2E9C-101B-9397-08002B2CF9AE}" pid="6" name="ImageGenStatus">
    <vt:i4>0</vt:i4>
  </property>
  <property fmtid="{D5CDD505-2E9C-101B-9397-08002B2CF9AE}" pid="7" name="PolicheckStatus">
    <vt:i4>0</vt:i4>
  </property>
  <property fmtid="{D5CDD505-2E9C-101B-9397-08002B2CF9AE}" pid="8" name="Applications">
    <vt:lpwstr>67;#Template 12;#53;#PowerPoint 12;#407;#PowerPoint 14</vt:lpwstr>
  </property>
  <property fmtid="{D5CDD505-2E9C-101B-9397-08002B2CF9AE}" pid="9" name="PolicheckCounter">
    <vt:i4>0</vt:i4>
  </property>
  <property fmtid="{D5CDD505-2E9C-101B-9397-08002B2CF9AE}" pid="10" name="APTrustLevel">
    <vt:r8>1</vt:r8>
  </property>
  <property fmtid="{D5CDD505-2E9C-101B-9397-08002B2CF9AE}" pid="11" name="Order">
    <vt:r8>6900900</vt:r8>
  </property>
  <property fmtid="{D5CDD505-2E9C-101B-9397-08002B2CF9AE}" pid="12" name="KSOProductBuildVer">
    <vt:lpwstr>2052-12.1.0.21915</vt:lpwstr>
  </property>
  <property fmtid="{D5CDD505-2E9C-101B-9397-08002B2CF9AE}" pid="13" name="ICV">
    <vt:lpwstr>75F10CEA853943618E1F5D6EB2194EB9_12</vt:lpwstr>
  </property>
</Properties>
</file>