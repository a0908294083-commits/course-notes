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45"/>
  </p:handoutMasterIdLst>
  <p:sldIdLst>
    <p:sldId id="761" r:id="rId3"/>
    <p:sldId id="1539" r:id="rId4"/>
    <p:sldId id="365" r:id="rId6"/>
    <p:sldId id="1541" r:id="rId7"/>
    <p:sldId id="307" r:id="rId8"/>
    <p:sldId id="330" r:id="rId9"/>
    <p:sldId id="337" r:id="rId10"/>
    <p:sldId id="588" r:id="rId11"/>
    <p:sldId id="693" r:id="rId12"/>
    <p:sldId id="371" r:id="rId13"/>
    <p:sldId id="379" r:id="rId14"/>
    <p:sldId id="386" r:id="rId15"/>
    <p:sldId id="737" r:id="rId16"/>
    <p:sldId id="396" r:id="rId17"/>
    <p:sldId id="403" r:id="rId18"/>
    <p:sldId id="680" r:id="rId19"/>
    <p:sldId id="421" r:id="rId20"/>
    <p:sldId id="423" r:id="rId21"/>
    <p:sldId id="430" r:id="rId22"/>
    <p:sldId id="681" r:id="rId23"/>
    <p:sldId id="441" r:id="rId24"/>
    <p:sldId id="463" r:id="rId25"/>
    <p:sldId id="471" r:id="rId26"/>
    <p:sldId id="724" r:id="rId27"/>
    <p:sldId id="682" r:id="rId28"/>
    <p:sldId id="603" r:id="rId29"/>
    <p:sldId id="608" r:id="rId30"/>
    <p:sldId id="610" r:id="rId31"/>
    <p:sldId id="604" r:id="rId32"/>
    <p:sldId id="740" r:id="rId33"/>
    <p:sldId id="612" r:id="rId34"/>
    <p:sldId id="611" r:id="rId35"/>
    <p:sldId id="739" r:id="rId36"/>
    <p:sldId id="741" r:id="rId37"/>
    <p:sldId id="754" r:id="rId38"/>
    <p:sldId id="624" r:id="rId39"/>
    <p:sldId id="626" r:id="rId40"/>
    <p:sldId id="743" r:id="rId41"/>
    <p:sldId id="745" r:id="rId42"/>
    <p:sldId id="746" r:id="rId43"/>
    <p:sldId id="747" r:id="rId44"/>
  </p:sldIdLst>
  <p:sldSz cx="12192000" cy="6858000"/>
  <p:notesSz cx="6858000" cy="9144000"/>
  <p:defaultText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A40000"/>
    <a:srgbClr val="E6AF00"/>
    <a:srgbClr val="318AAD"/>
    <a:srgbClr val="3699C0"/>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3500" autoAdjust="0"/>
  </p:normalViewPr>
  <p:slideViewPr>
    <p:cSldViewPr>
      <p:cViewPr varScale="1">
        <p:scale>
          <a:sx n="64" d="100"/>
          <a:sy n="64" d="100"/>
        </p:scale>
        <p:origin x="680" y="40"/>
      </p:cViewPr>
      <p:guideLst>
        <p:guide orient="horz" pos="2160"/>
        <p:guide pos="3840"/>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p:cViewPr varScale="1">
        <p:scale>
          <a:sx n="48" d="100"/>
          <a:sy n="48" d="100"/>
        </p:scale>
        <p:origin x="2684" y="5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handoutMaster" Target="handoutMasters/handoutMaster1.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BB7DB3-30DF-43FE-8C4B-1722B4800CF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558D4-C6A0-4B92-951D-4C89C3A60AD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lstStyle>
          <a:p>
            <a:fld id="{2447E72A-D913-4DC2-9E0A-E520CE8FCC86}"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lstStyle>
          <a:p>
            <a:fld id="{A5D78FC6-CE17-4259-A63C-DDFC12E048FC}"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itchFamily="2" charset="-122"/>
                <a:cs typeface="+mn-cs"/>
              </a:rPr>
              <a:t>初级课程的详细信息</a:t>
            </a:r>
            <a:r>
              <a:rPr lang="zh-CN" altLang="en-US" sz="1200" b="0" i="0" baseline="0" dirty="0">
                <a:solidFill>
                  <a:schemeClr val="tx1"/>
                </a:solidFill>
                <a:latin typeface="Calibri" panose="020F0502020204030204"/>
                <a:ea typeface="宋体" pitchFamily="2" charset="-122"/>
                <a:cs typeface="+mn-cs"/>
              </a:rPr>
              <a:t>和</a:t>
            </a:r>
            <a:r>
              <a:rPr lang="en-US" altLang="zh-CN" sz="1200" b="0" i="0" baseline="0" dirty="0">
                <a:solidFill>
                  <a:schemeClr val="tx1"/>
                </a:solidFill>
                <a:latin typeface="Calibri" panose="020F0502020204030204"/>
                <a:ea typeface="宋体" pitchFamily="2" charset="-122"/>
                <a:cs typeface="+mn-cs"/>
              </a:rPr>
              <a:t>/</a:t>
            </a:r>
            <a:r>
              <a:rPr lang="zh-CN" altLang="en-US" sz="1200" b="0" i="0" baseline="0" dirty="0">
                <a:solidFill>
                  <a:schemeClr val="tx1"/>
                </a:solidFill>
                <a:latin typeface="Calibri" panose="020F0502020204030204"/>
                <a:ea typeface="宋体" pitchFamily="2" charset="-122"/>
                <a:cs typeface="+mn-cs"/>
              </a:rPr>
              <a:t>或课目</a:t>
            </a:r>
            <a:r>
              <a:rPr lang="en-US" altLang="zh-CN" sz="1200" b="0" i="0" baseline="0" dirty="0">
                <a:solidFill>
                  <a:schemeClr val="tx1"/>
                </a:solidFill>
                <a:latin typeface="Calibri" panose="020F0502020204030204"/>
                <a:ea typeface="宋体" pitchFamily="2" charset="-122"/>
                <a:cs typeface="+mn-cs"/>
              </a:rPr>
              <a:t>/</a:t>
            </a:r>
            <a:r>
              <a:rPr lang="zh-CN" altLang="en-US" sz="1200" b="0" i="0" baseline="0" dirty="0">
                <a:solidFill>
                  <a:schemeClr val="tx1"/>
                </a:solidFill>
                <a:latin typeface="Calibri" panose="020F0502020204030204"/>
                <a:ea typeface="宋体" pitchFamily="2" charset="-122"/>
                <a:cs typeface="+mn-cs"/>
              </a:rPr>
              <a:t>项目所需的书籍</a:t>
            </a:r>
            <a:r>
              <a:rPr lang="en-US" altLang="zh-CN" sz="1200" b="0" i="0" baseline="0" dirty="0">
                <a:solidFill>
                  <a:schemeClr val="tx1"/>
                </a:solidFill>
                <a:latin typeface="Calibri" panose="020F0502020204030204"/>
                <a:ea typeface="宋体" pitchFamily="2" charset="-122"/>
                <a:cs typeface="+mn-cs"/>
              </a:rPr>
              <a:t>/</a:t>
            </a:r>
            <a:r>
              <a:rPr lang="zh-CN" altLang="en-US" sz="1200" b="0" i="0" baseline="0" dirty="0">
                <a:solidFill>
                  <a:schemeClr val="tx1"/>
                </a:solidFill>
                <a:latin typeface="Calibri" panose="020F0502020204030204"/>
                <a:ea typeface="宋体" pitchFamily="2" charset="-122"/>
                <a:cs typeface="+mn-cs"/>
              </a:rPr>
              <a:t>资料。</a:t>
            </a:r>
            <a:endParaRPr lang="zh-CN" altLang="en-US" sz="1200" b="0" i="0" baseline="0" dirty="0">
              <a:solidFill>
                <a:schemeClr val="tx1"/>
              </a:solidFill>
              <a:latin typeface="Calibri" panose="020F0502020204030204"/>
              <a:ea typeface="宋体"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itchFamily="2" charset="-122"/>
                <a:cs typeface="+mn-cs"/>
              </a:rPr>
            </a:fld>
            <a:endParaRPr lang="zh-CN" altLang="en-US" sz="1200" b="0" i="0">
              <a:latin typeface="Calibri" panose="020F0502020204030204"/>
              <a:ea typeface="宋体"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itchFamily="2" charset="-122"/>
                <a:cs typeface="+mn-cs"/>
              </a:rPr>
              <a:t>初级课程的详细信息</a:t>
            </a:r>
            <a:r>
              <a:rPr lang="zh-CN" altLang="en-US" sz="1200" b="0" i="0" baseline="0" dirty="0">
                <a:solidFill>
                  <a:schemeClr val="tx1"/>
                </a:solidFill>
                <a:latin typeface="Calibri" panose="020F0502020204030204"/>
                <a:ea typeface="宋体" pitchFamily="2" charset="-122"/>
                <a:cs typeface="+mn-cs"/>
              </a:rPr>
              <a:t>和</a:t>
            </a:r>
            <a:r>
              <a:rPr lang="en-US" altLang="zh-CN" sz="1200" b="0" i="0" baseline="0" dirty="0">
                <a:solidFill>
                  <a:schemeClr val="tx1"/>
                </a:solidFill>
                <a:latin typeface="Calibri" panose="020F0502020204030204"/>
                <a:ea typeface="宋体" pitchFamily="2" charset="-122"/>
                <a:cs typeface="+mn-cs"/>
              </a:rPr>
              <a:t>/</a:t>
            </a:r>
            <a:r>
              <a:rPr lang="zh-CN" altLang="en-US" sz="1200" b="0" i="0" baseline="0" dirty="0">
                <a:solidFill>
                  <a:schemeClr val="tx1"/>
                </a:solidFill>
                <a:latin typeface="Calibri" panose="020F0502020204030204"/>
                <a:ea typeface="宋体" pitchFamily="2" charset="-122"/>
                <a:cs typeface="+mn-cs"/>
              </a:rPr>
              <a:t>或课目</a:t>
            </a:r>
            <a:r>
              <a:rPr lang="en-US" altLang="zh-CN" sz="1200" b="0" i="0" baseline="0" dirty="0">
                <a:solidFill>
                  <a:schemeClr val="tx1"/>
                </a:solidFill>
                <a:latin typeface="Calibri" panose="020F0502020204030204"/>
                <a:ea typeface="宋体" pitchFamily="2" charset="-122"/>
                <a:cs typeface="+mn-cs"/>
              </a:rPr>
              <a:t>/</a:t>
            </a:r>
            <a:r>
              <a:rPr lang="zh-CN" altLang="en-US" sz="1200" b="0" i="0" baseline="0" dirty="0">
                <a:solidFill>
                  <a:schemeClr val="tx1"/>
                </a:solidFill>
                <a:latin typeface="Calibri" panose="020F0502020204030204"/>
                <a:ea typeface="宋体" pitchFamily="2" charset="-122"/>
                <a:cs typeface="+mn-cs"/>
              </a:rPr>
              <a:t>项目所需的书籍</a:t>
            </a:r>
            <a:r>
              <a:rPr lang="en-US" altLang="zh-CN" sz="1200" b="0" i="0" baseline="0" dirty="0">
                <a:solidFill>
                  <a:schemeClr val="tx1"/>
                </a:solidFill>
                <a:latin typeface="Calibri" panose="020F0502020204030204"/>
                <a:ea typeface="宋体" pitchFamily="2" charset="-122"/>
                <a:cs typeface="+mn-cs"/>
              </a:rPr>
              <a:t>/</a:t>
            </a:r>
            <a:r>
              <a:rPr lang="zh-CN" altLang="en-US" sz="1200" b="0" i="0" baseline="0" dirty="0">
                <a:solidFill>
                  <a:schemeClr val="tx1"/>
                </a:solidFill>
                <a:latin typeface="Calibri" panose="020F0502020204030204"/>
                <a:ea typeface="宋体" pitchFamily="2" charset="-122"/>
                <a:cs typeface="+mn-cs"/>
              </a:rPr>
              <a:t>资料。</a:t>
            </a:r>
            <a:endParaRPr lang="zh-CN" altLang="en-US" sz="1200" b="0" i="0" baseline="0" dirty="0">
              <a:solidFill>
                <a:schemeClr val="tx1"/>
              </a:solidFill>
              <a:latin typeface="Calibri" panose="020F0502020204030204"/>
              <a:ea typeface="宋体"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itchFamily="2" charset="-122"/>
                <a:cs typeface="+mn-cs"/>
              </a:rPr>
            </a:fld>
            <a:endParaRPr lang="zh-CN" altLang="en-US" sz="1200" b="0" i="0">
              <a:latin typeface="Calibri" panose="020F0502020204030204"/>
              <a:ea typeface="宋体"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algn="l" defTabSz="914400">
              <a:buNone/>
            </a:pPr>
            <a:r>
              <a:rPr lang="zh-CN" altLang="en-US" sz="1200" b="0" i="0" dirty="0">
                <a:solidFill>
                  <a:schemeClr val="tx1"/>
                </a:solidFill>
                <a:latin typeface="Calibri" panose="020F0502020204030204"/>
                <a:ea typeface="宋体" pitchFamily="2" charset="-122"/>
                <a:cs typeface="+mn-cs"/>
              </a:rPr>
              <a:t>初级课程的详细信息</a:t>
            </a:r>
            <a:r>
              <a:rPr lang="zh-CN" altLang="en-US" sz="1200" b="0" i="0" baseline="0" dirty="0">
                <a:solidFill>
                  <a:schemeClr val="tx1"/>
                </a:solidFill>
                <a:latin typeface="Calibri" panose="020F0502020204030204"/>
                <a:ea typeface="宋体" pitchFamily="2" charset="-122"/>
                <a:cs typeface="+mn-cs"/>
              </a:rPr>
              <a:t>和</a:t>
            </a:r>
            <a:r>
              <a:rPr lang="en-US" altLang="zh-CN" sz="1200" b="0" i="0" baseline="0" dirty="0">
                <a:solidFill>
                  <a:schemeClr val="tx1"/>
                </a:solidFill>
                <a:latin typeface="Calibri" panose="020F0502020204030204"/>
                <a:ea typeface="宋体" pitchFamily="2" charset="-122"/>
                <a:cs typeface="+mn-cs"/>
              </a:rPr>
              <a:t>/</a:t>
            </a:r>
            <a:r>
              <a:rPr lang="zh-CN" altLang="en-US" sz="1200" b="0" i="0" baseline="0" dirty="0">
                <a:solidFill>
                  <a:schemeClr val="tx1"/>
                </a:solidFill>
                <a:latin typeface="Calibri" panose="020F0502020204030204"/>
                <a:ea typeface="宋体" pitchFamily="2" charset="-122"/>
                <a:cs typeface="+mn-cs"/>
              </a:rPr>
              <a:t>或课目</a:t>
            </a:r>
            <a:r>
              <a:rPr lang="en-US" altLang="zh-CN" sz="1200" b="0" i="0" baseline="0" dirty="0">
                <a:solidFill>
                  <a:schemeClr val="tx1"/>
                </a:solidFill>
                <a:latin typeface="Calibri" panose="020F0502020204030204"/>
                <a:ea typeface="宋体" pitchFamily="2" charset="-122"/>
                <a:cs typeface="+mn-cs"/>
              </a:rPr>
              <a:t>/</a:t>
            </a:r>
            <a:r>
              <a:rPr lang="zh-CN" altLang="en-US" sz="1200" b="0" i="0" baseline="0" dirty="0">
                <a:solidFill>
                  <a:schemeClr val="tx1"/>
                </a:solidFill>
                <a:latin typeface="Calibri" panose="020F0502020204030204"/>
                <a:ea typeface="宋体" pitchFamily="2" charset="-122"/>
                <a:cs typeface="+mn-cs"/>
              </a:rPr>
              <a:t>项目所需的书籍</a:t>
            </a:r>
            <a:r>
              <a:rPr lang="en-US" altLang="zh-CN" sz="1200" b="0" i="0" baseline="0" dirty="0">
                <a:solidFill>
                  <a:schemeClr val="tx1"/>
                </a:solidFill>
                <a:latin typeface="Calibri" panose="020F0502020204030204"/>
                <a:ea typeface="宋体" pitchFamily="2" charset="-122"/>
                <a:cs typeface="+mn-cs"/>
              </a:rPr>
              <a:t>/</a:t>
            </a:r>
            <a:r>
              <a:rPr lang="zh-CN" altLang="en-US" sz="1200" b="0" i="0" baseline="0" dirty="0">
                <a:solidFill>
                  <a:schemeClr val="tx1"/>
                </a:solidFill>
                <a:latin typeface="Calibri" panose="020F0502020204030204"/>
                <a:ea typeface="宋体" pitchFamily="2" charset="-122"/>
                <a:cs typeface="+mn-cs"/>
              </a:rPr>
              <a:t>资料。</a:t>
            </a:r>
            <a:endParaRPr lang="zh-CN" altLang="en-US" sz="1200" b="0" i="0" baseline="0" dirty="0">
              <a:solidFill>
                <a:schemeClr val="tx1"/>
              </a:solidFill>
              <a:latin typeface="Calibri" panose="020F0502020204030204"/>
              <a:ea typeface="宋体" pitchFamily="2" charset="-122"/>
              <a:cs typeface="+mn-cs"/>
            </a:endParaRPr>
          </a:p>
        </p:txBody>
      </p:sp>
      <p:sp>
        <p:nvSpPr>
          <p:cNvPr id="4" name="Slide Number Placeholder 3"/>
          <p:cNvSpPr>
            <a:spLocks noGrp="1"/>
          </p:cNvSpPr>
          <p:nvPr>
            <p:ph type="sldNum" sz="quarter" idx="10"/>
          </p:nvPr>
        </p:nvSpPr>
        <p:spPr/>
        <p:txBody>
          <a:bodyPr/>
          <a:lstStyle/>
          <a:p>
            <a:pPr algn="r" defTabSz="914400">
              <a:buNone/>
            </a:pPr>
            <a:fld id="{A5D78FC6-CE17-4259-A63C-DDFC12E048FC}" type="slidenum">
              <a:rPr lang="en-US" altLang="zh-CN" sz="1200" b="0" i="0" smtClean="0">
                <a:latin typeface="Calibri" panose="020F0502020204030204"/>
                <a:ea typeface="宋体" pitchFamily="2" charset="-122"/>
                <a:cs typeface="+mn-cs"/>
              </a:rPr>
            </a:fld>
            <a:endParaRPr lang="zh-CN" altLang="en-US" sz="1200" b="0" i="0">
              <a:latin typeface="Calibri" panose="020F0502020204030204"/>
              <a:ea typeface="宋体"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body" idx="1"/>
          </p:nvPr>
        </p:nvSpPr>
        <p:spPr/>
        <p:txBody>
          <a:bodyPr/>
          <a:lstStyle/>
          <a:p>
            <a:endParaRPr lang="zh-CN" altLang="zh-CN"/>
          </a:p>
        </p:txBody>
      </p:sp>
      <p:sp>
        <p:nvSpPr>
          <p:cNvPr id="109571"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body" idx="1"/>
          </p:nvPr>
        </p:nvSpPr>
        <p:spPr/>
        <p:txBody>
          <a:bodyPr/>
          <a:lstStyle/>
          <a:p>
            <a:endParaRPr lang="zh-CN" altLang="zh-CN"/>
          </a:p>
        </p:txBody>
      </p:sp>
      <p:sp>
        <p:nvSpPr>
          <p:cNvPr id="156675"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body" idx="1"/>
          </p:nvPr>
        </p:nvSpPr>
        <p:spPr/>
        <p:txBody>
          <a:bodyPr/>
          <a:lstStyle/>
          <a:p>
            <a:endParaRPr lang="zh-CN" altLang="zh-CN"/>
          </a:p>
        </p:txBody>
      </p:sp>
      <p:sp>
        <p:nvSpPr>
          <p:cNvPr id="171011"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
        <p:nvSpPr>
          <p:cNvPr id="709635" name="Rectangle 3"/>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298"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
        <p:nvSpPr>
          <p:cNvPr id="951299" name="Rectangle 3"/>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body" idx="1"/>
          </p:nvPr>
        </p:nvSpPr>
        <p:spPr/>
        <p:txBody>
          <a:bodyPr/>
          <a:lstStyle/>
          <a:p>
            <a:endParaRPr lang="zh-CN" altLang="zh-CN"/>
          </a:p>
        </p:txBody>
      </p:sp>
      <p:sp>
        <p:nvSpPr>
          <p:cNvPr id="240643"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body" idx="1"/>
          </p:nvPr>
        </p:nvSpPr>
        <p:spPr/>
        <p:txBody>
          <a:bodyPr/>
          <a:lstStyle/>
          <a:p>
            <a:endParaRPr lang="zh-CN" altLang="zh-CN"/>
          </a:p>
        </p:txBody>
      </p:sp>
      <p:sp>
        <p:nvSpPr>
          <p:cNvPr id="257027"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body" idx="1"/>
          </p:nvPr>
        </p:nvSpPr>
        <p:spPr/>
        <p:txBody>
          <a:bodyPr/>
          <a:lstStyle/>
          <a:p>
            <a:endParaRPr lang="zh-CN" altLang="zh-CN"/>
          </a:p>
        </p:txBody>
      </p:sp>
      <p:sp>
        <p:nvSpPr>
          <p:cNvPr id="271363"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9058"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
        <p:nvSpPr>
          <p:cNvPr id="1069059" name="Rectangle 3"/>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body" idx="1"/>
          </p:nvPr>
        </p:nvSpPr>
        <p:spPr/>
        <p:txBody>
          <a:bodyPr/>
          <a:lstStyle/>
          <a:p>
            <a:endParaRPr lang="zh-CN" altLang="zh-CN"/>
          </a:p>
        </p:txBody>
      </p:sp>
      <p:sp>
        <p:nvSpPr>
          <p:cNvPr id="291843"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ChangeArrowheads="1"/>
          </p:cNvSpPr>
          <p:nvPr>
            <p:ph type="body" idx="1"/>
          </p:nvPr>
        </p:nvSpPr>
        <p:spPr/>
        <p:txBody>
          <a:bodyPr/>
          <a:lstStyle/>
          <a:p>
            <a:endParaRPr lang="zh-CN" altLang="zh-CN"/>
          </a:p>
        </p:txBody>
      </p:sp>
      <p:sp>
        <p:nvSpPr>
          <p:cNvPr id="306179"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30" name="Rectangle 2"/>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8531" name="Rectangle 3"/>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body" idx="1"/>
          </p:nvPr>
        </p:nvSpPr>
        <p:spPr/>
        <p:txBody>
          <a:bodyPr/>
          <a:lstStyle/>
          <a:p>
            <a:endParaRPr lang="zh-CN" altLang="zh-CN"/>
          </a:p>
        </p:txBody>
      </p:sp>
      <p:sp>
        <p:nvSpPr>
          <p:cNvPr id="343043"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body" idx="1"/>
          </p:nvPr>
        </p:nvSpPr>
        <p:spPr/>
        <p:txBody>
          <a:bodyPr/>
          <a:lstStyle/>
          <a:p>
            <a:endParaRPr lang="zh-CN" altLang="zh-CN"/>
          </a:p>
        </p:txBody>
      </p:sp>
      <p:sp>
        <p:nvSpPr>
          <p:cNvPr id="347139"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body" idx="1"/>
          </p:nvPr>
        </p:nvSpPr>
        <p:spPr/>
        <p:txBody>
          <a:bodyPr/>
          <a:lstStyle/>
          <a:p>
            <a:endParaRPr lang="zh-CN" altLang="zh-CN"/>
          </a:p>
        </p:txBody>
      </p:sp>
      <p:sp>
        <p:nvSpPr>
          <p:cNvPr id="361475"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8" name="Rectangle 2"/>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0579" name="Rectangle 3"/>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body" idx="1"/>
          </p:nvPr>
        </p:nvSpPr>
        <p:spPr/>
        <p:txBody>
          <a:bodyPr/>
          <a:lstStyle/>
          <a:p>
            <a:endParaRPr lang="zh-CN" altLang="zh-CN"/>
          </a:p>
        </p:txBody>
      </p:sp>
      <p:sp>
        <p:nvSpPr>
          <p:cNvPr id="384003"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body" idx="1"/>
          </p:nvPr>
        </p:nvSpPr>
        <p:spPr/>
        <p:txBody>
          <a:bodyPr/>
          <a:lstStyle/>
          <a:p>
            <a:endParaRPr lang="zh-CN" altLang="zh-CN"/>
          </a:p>
        </p:txBody>
      </p:sp>
      <p:sp>
        <p:nvSpPr>
          <p:cNvPr id="429059"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body" idx="1"/>
          </p:nvPr>
        </p:nvSpPr>
        <p:spPr/>
        <p:txBody>
          <a:bodyPr/>
          <a:lstStyle/>
          <a:p>
            <a:endParaRPr lang="zh-CN" altLang="zh-CN"/>
          </a:p>
        </p:txBody>
      </p:sp>
      <p:sp>
        <p:nvSpPr>
          <p:cNvPr id="445443" name="Rectangle 3"/>
          <p:cNvSpPr>
            <a:spLocks noGrp="1" noRot="1" noChangeAspect="1" noChangeArrowheads="1" noTextEdit="1"/>
          </p:cNvSpPr>
          <p:nvPr>
            <p:ph type="sldImg"/>
          </p:nvPr>
        </p:nvSpPr>
        <p:spPr>
          <a:xfrm>
            <a:off x="1409700" y="692150"/>
            <a:ext cx="4038600" cy="2273300"/>
          </a:xfrm>
          <a:ln cap="flat"/>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362"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363"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p>
            <a:pPr algn="r">
              <a:spcBef>
                <a:spcPct val="0"/>
              </a:spcBef>
            </a:pPr>
            <a:r>
              <a:rPr lang="en-US" altLang="zh-CN" sz="1000" i="1">
                <a:effectLst/>
                <a:latin typeface="Times New Roman" panose="02020603050405020304" pitchFamily="18" charset="0"/>
              </a:rPr>
              <a:t>9</a:t>
            </a:r>
            <a:endParaRPr lang="en-US" altLang="zh-CN" sz="1000" i="1">
              <a:effectLst/>
              <a:latin typeface="Times New Roman" panose="02020603050405020304" pitchFamily="18" charset="0"/>
            </a:endParaRPr>
          </a:p>
        </p:txBody>
      </p:sp>
      <p:sp>
        <p:nvSpPr>
          <p:cNvPr id="1039364"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365"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366" name="Rectangle 6"/>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39367" name="Rectangle 7"/>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6" name="Rectangle 2"/>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627" name="Rectangle 3"/>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
        <p:nvSpPr>
          <p:cNvPr id="746499" name="Rectangle 3"/>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
        <p:nvSpPr>
          <p:cNvPr id="764931" name="Rectangle 3"/>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026"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
        <p:nvSpPr>
          <p:cNvPr id="769027" name="Rectangle 3"/>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
        <p:nvSpPr>
          <p:cNvPr id="752643" name="Rectangle 3"/>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250"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
        <p:nvSpPr>
          <p:cNvPr id="1077251" name="Rectangle 3"/>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3122"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
        <p:nvSpPr>
          <p:cNvPr id="773123" name="Rectangle 3"/>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
        <p:nvSpPr>
          <p:cNvPr id="771075" name="Rectangle 3"/>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02"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
        <p:nvSpPr>
          <p:cNvPr id="1075203" name="Rectangle 3"/>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9298" name="Rectangle 2"/>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79299" name="Rectangle 3"/>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xfrm>
            <a:off x="3884613" y="8685213"/>
            <a:ext cx="2971800" cy="457200"/>
          </a:xfrm>
          <a:prstGeom prst="rect">
            <a:avLst/>
          </a:prstGeom>
          <a:noFill/>
        </p:spPr>
        <p:txBody>
          <a:bodyPr/>
          <a:lstStyle>
            <a:lvl1pPr eaLnBrk="0" hangingPunct="0">
              <a:defRPr>
                <a:solidFill>
                  <a:schemeClr val="bg1"/>
                </a:solidFill>
                <a:latin typeface="Arial" panose="020B0604020202090204" pitchFamily="34" charset="0"/>
                <a:ea typeface="宋体" pitchFamily="2" charset="-122"/>
              </a:defRPr>
            </a:lvl1pPr>
            <a:lvl2pPr marL="742950" indent="-285750" eaLnBrk="0" hangingPunct="0">
              <a:defRPr>
                <a:solidFill>
                  <a:schemeClr val="bg1"/>
                </a:solidFill>
                <a:latin typeface="Arial" panose="020B0604020202090204" pitchFamily="34" charset="0"/>
                <a:ea typeface="宋体" pitchFamily="2" charset="-122"/>
              </a:defRPr>
            </a:lvl2pPr>
            <a:lvl3pPr marL="1143000" indent="-228600" eaLnBrk="0" hangingPunct="0">
              <a:defRPr>
                <a:solidFill>
                  <a:schemeClr val="bg1"/>
                </a:solidFill>
                <a:latin typeface="Arial" panose="020B0604020202090204" pitchFamily="34" charset="0"/>
                <a:ea typeface="宋体" pitchFamily="2" charset="-122"/>
              </a:defRPr>
            </a:lvl3pPr>
            <a:lvl4pPr marL="1600200" indent="-228600" eaLnBrk="0" hangingPunct="0">
              <a:defRPr>
                <a:solidFill>
                  <a:schemeClr val="bg1"/>
                </a:solidFill>
                <a:latin typeface="Arial" panose="020B0604020202090204" pitchFamily="34" charset="0"/>
                <a:ea typeface="宋体" pitchFamily="2" charset="-122"/>
              </a:defRPr>
            </a:lvl4pPr>
            <a:lvl5pPr marL="2057400" indent="-228600" eaLnBrk="0" hangingPunct="0">
              <a:defRPr>
                <a:solidFill>
                  <a:schemeClr val="bg1"/>
                </a:solidFill>
                <a:latin typeface="Arial" panose="020B0604020202090204" pitchFamily="34" charset="0"/>
                <a:ea typeface="宋体" pitchFamily="2" charset="-122"/>
              </a:defRPr>
            </a:lvl5pPr>
            <a:lvl6pPr marL="2514600" indent="-228600" eaLnBrk="0" fontAlgn="base" hangingPunct="0">
              <a:spcBef>
                <a:spcPct val="20000"/>
              </a:spcBef>
              <a:spcAft>
                <a:spcPct val="0"/>
              </a:spcAft>
              <a:defRPr>
                <a:solidFill>
                  <a:schemeClr val="bg1"/>
                </a:solidFill>
                <a:latin typeface="Arial" panose="020B0604020202090204" pitchFamily="34" charset="0"/>
                <a:ea typeface="宋体" pitchFamily="2" charset="-122"/>
              </a:defRPr>
            </a:lvl6pPr>
            <a:lvl7pPr marL="2971800" indent="-228600" eaLnBrk="0" fontAlgn="base" hangingPunct="0">
              <a:spcBef>
                <a:spcPct val="20000"/>
              </a:spcBef>
              <a:spcAft>
                <a:spcPct val="0"/>
              </a:spcAft>
              <a:defRPr>
                <a:solidFill>
                  <a:schemeClr val="bg1"/>
                </a:solidFill>
                <a:latin typeface="Arial" panose="020B0604020202090204" pitchFamily="34" charset="0"/>
                <a:ea typeface="宋体" pitchFamily="2" charset="-122"/>
              </a:defRPr>
            </a:lvl7pPr>
            <a:lvl8pPr marL="3429000" indent="-228600" eaLnBrk="0" fontAlgn="base" hangingPunct="0">
              <a:spcBef>
                <a:spcPct val="20000"/>
              </a:spcBef>
              <a:spcAft>
                <a:spcPct val="0"/>
              </a:spcAft>
              <a:defRPr>
                <a:solidFill>
                  <a:schemeClr val="bg1"/>
                </a:solidFill>
                <a:latin typeface="Arial" panose="020B0604020202090204" pitchFamily="34" charset="0"/>
                <a:ea typeface="宋体" pitchFamily="2" charset="-122"/>
              </a:defRPr>
            </a:lvl8pPr>
            <a:lvl9pPr marL="3886200" indent="-228600" eaLnBrk="0" fontAlgn="base" hangingPunct="0">
              <a:spcBef>
                <a:spcPct val="20000"/>
              </a:spcBef>
              <a:spcAft>
                <a:spcPct val="0"/>
              </a:spcAft>
              <a:defRPr>
                <a:solidFill>
                  <a:schemeClr val="bg1"/>
                </a:solidFill>
                <a:latin typeface="Arial" panose="020B0604020202090204" pitchFamily="34" charset="0"/>
                <a:ea typeface="宋体" pitchFamily="2" charset="-122"/>
              </a:defRPr>
            </a:lvl9pPr>
          </a:lstStyle>
          <a:p>
            <a:pPr eaLnBrk="1" hangingPunct="1"/>
            <a:fld id="{C831CB76-0291-420C-AD1F-90D77841B226}" type="slidenum">
              <a:rPr lang="en-US" altLang="zh-CN">
                <a:solidFill>
                  <a:schemeClr val="tx1"/>
                </a:solidFill>
              </a:rPr>
            </a:fld>
            <a:endParaRPr lang="en-US" altLang="zh-CN" dirty="0">
              <a:solidFill>
                <a:schemeClr val="tx1"/>
              </a:solidFill>
            </a:endParaRPr>
          </a:p>
        </p:txBody>
      </p:sp>
      <p:sp>
        <p:nvSpPr>
          <p:cNvPr id="211971" name="Rectangle 2"/>
          <p:cNvSpPr>
            <a:spLocks noGrp="1" noChangeArrowheads="1"/>
          </p:cNvSpPr>
          <p:nvPr>
            <p:ph type="body" idx="1"/>
          </p:nvPr>
        </p:nvSpPr>
        <p:spPr>
          <a:xfrm>
            <a:off x="914400" y="3276600"/>
            <a:ext cx="5029200" cy="51816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eaLnBrk="1" hangingPunct="1"/>
            <a:endParaRPr lang="zh-CN" altLang="zh-CN">
              <a:latin typeface="Arial" panose="020B0604020202090204" pitchFamily="34" charset="0"/>
            </a:endParaRPr>
          </a:p>
        </p:txBody>
      </p:sp>
      <p:sp>
        <p:nvSpPr>
          <p:cNvPr id="211972" name="Rectangle 3"/>
          <p:cNvSpPr>
            <a:spLocks noGrp="1" noRot="1" noChangeAspect="1" noChangeArrowheads="1" noTextEdit="1"/>
          </p:cNvSpPr>
          <p:nvPr>
            <p:ph type="sldImg"/>
          </p:nvPr>
        </p:nvSpPr>
        <p:spPr>
          <a:xfrm>
            <a:off x="1409700" y="692150"/>
            <a:ext cx="4038600" cy="2273300"/>
          </a:xfrm>
          <a:ln w="12700" cap="flat">
            <a:solidFill>
              <a:schemeClr val="tx1"/>
            </a:solid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6"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
        <p:nvSpPr>
          <p:cNvPr id="799747" name="Rectangle 3"/>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842"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
        <p:nvSpPr>
          <p:cNvPr id="803843" name="Rectangle 3"/>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3394" name="Rectangle 2"/>
          <p:cNvSpPr>
            <a:spLocks noGrp="1" noRot="1" noChangeAspect="1" noChangeArrowheads="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3395" name="Rectangle 3"/>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7490"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zh-CN"/>
              <a:t>F ratio is a statistic defined as the ratio of 2 independent estimates of a normally distributed population’s variance.</a:t>
            </a:r>
            <a:endParaRPr lang="en-US" altLang="zh-CN"/>
          </a:p>
          <a:p>
            <a:endParaRPr lang="en-US" altLang="zh-CN"/>
          </a:p>
          <a:p>
            <a:r>
              <a:rPr lang="en-US" altLang="zh-CN"/>
              <a:t>Note: degrees of freedom refer to </a:t>
            </a:r>
            <a:r>
              <a:rPr lang="en-US" altLang="zh-CN" b="1"/>
              <a:t>numerator</a:t>
            </a:r>
            <a:r>
              <a:rPr lang="en-US" altLang="zh-CN"/>
              <a:t> and </a:t>
            </a:r>
            <a:r>
              <a:rPr lang="en-US" altLang="zh-CN" b="1"/>
              <a:t>denominator</a:t>
            </a:r>
            <a:endParaRPr lang="en-US" altLang="zh-CN" b="1"/>
          </a:p>
        </p:txBody>
      </p:sp>
      <p:sp>
        <p:nvSpPr>
          <p:cNvPr id="1087491" name="Rectangle 3"/>
          <p:cNvSpPr>
            <a:spLocks noGrp="1" noRot="1" noChangeAspect="1" noChangeArrowheads="1" noTextEdit="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953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53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p>
            <a:pPr algn="r">
              <a:spcBef>
                <a:spcPct val="0"/>
              </a:spcBef>
            </a:pPr>
            <a:r>
              <a:rPr lang="en-US" altLang="zh-CN" sz="1000" i="1">
                <a:effectLst/>
                <a:latin typeface="Times New Roman" panose="02020603050405020304" pitchFamily="18" charset="0"/>
              </a:rPr>
              <a:t>66</a:t>
            </a:r>
            <a:endParaRPr lang="en-US" altLang="zh-CN" sz="1000" i="1">
              <a:effectLst/>
              <a:latin typeface="Times New Roman" panose="02020603050405020304" pitchFamily="18" charset="0"/>
            </a:endParaRPr>
          </a:p>
        </p:txBody>
      </p:sp>
      <p:sp>
        <p:nvSpPr>
          <p:cNvPr id="108954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54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542" name="Rectangle 6"/>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zh-CN"/>
              <a:t>The </a:t>
            </a:r>
            <a:r>
              <a:rPr lang="en-US" altLang="zh-CN" b="1"/>
              <a:t>lower</a:t>
            </a:r>
            <a:r>
              <a:rPr lang="en-US" altLang="zh-CN"/>
              <a:t> F is </a:t>
            </a:r>
            <a:r>
              <a:rPr lang="en-US" altLang="zh-CN" b="1"/>
              <a:t>not</a:t>
            </a:r>
            <a:r>
              <a:rPr lang="en-US" altLang="zh-CN"/>
              <a:t> the </a:t>
            </a:r>
            <a:r>
              <a:rPr lang="en-US" altLang="zh-CN" b="1"/>
              <a:t>reciprocal</a:t>
            </a:r>
            <a:r>
              <a:rPr lang="en-US" altLang="zh-CN"/>
              <a:t> of the </a:t>
            </a:r>
            <a:r>
              <a:rPr lang="en-US" altLang="zh-CN" b="1"/>
              <a:t>upper</a:t>
            </a:r>
            <a:r>
              <a:rPr lang="en-US" altLang="zh-CN"/>
              <a:t> F.</a:t>
            </a:r>
            <a:endParaRPr lang="en-US" altLang="zh-CN"/>
          </a:p>
          <a:p>
            <a:r>
              <a:rPr lang="en-US" altLang="zh-CN"/>
              <a:t>What do you do if </a:t>
            </a:r>
            <a:r>
              <a:rPr lang="en-US" altLang="zh-CN" b="1"/>
              <a:t>equal</a:t>
            </a:r>
            <a:r>
              <a:rPr lang="en-US" altLang="zh-CN"/>
              <a:t> </a:t>
            </a:r>
            <a:r>
              <a:rPr lang="en-US" altLang="zh-CN" b="1"/>
              <a:t>sample</a:t>
            </a:r>
            <a:r>
              <a:rPr lang="en-US" altLang="zh-CN"/>
              <a:t> </a:t>
            </a:r>
            <a:r>
              <a:rPr lang="en-US" altLang="zh-CN" b="1"/>
              <a:t>sizes</a:t>
            </a:r>
            <a:r>
              <a:rPr lang="en-US" altLang="zh-CN"/>
              <a:t>?</a:t>
            </a:r>
            <a:endParaRPr lang="en-US" altLang="zh-CN"/>
          </a:p>
          <a:p>
            <a:endParaRPr lang="en-US" altLang="zh-CN"/>
          </a:p>
          <a:p>
            <a:endParaRPr lang="en-US" altLang="zh-CN"/>
          </a:p>
        </p:txBody>
      </p:sp>
      <p:sp>
        <p:nvSpPr>
          <p:cNvPr id="1089543" name="Rectangle 7"/>
          <p:cNvSpPr>
            <a:spLocks noGrp="1" noRot="1" noChangeAspect="1" noChangeArrowheads="1" noTextEdit="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Grp="1" noChangeArrowheads="1"/>
          </p:cNvSpPr>
          <p:nvPr>
            <p:ph type="body" idx="1"/>
          </p:nvPr>
        </p:nvSpPr>
        <p:spPr bwMode="auto">
          <a:xfrm>
            <a:off x="914400" y="3276600"/>
            <a:ext cx="5029200" cy="518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zh-CN"/>
              <a:t>F ratio is a statistic defined as the ratio of 2 independent estimates of a normally distributed population’s variance.</a:t>
            </a:r>
            <a:endParaRPr lang="en-US" altLang="zh-CN"/>
          </a:p>
          <a:p>
            <a:endParaRPr lang="en-US" altLang="zh-CN"/>
          </a:p>
          <a:p>
            <a:r>
              <a:rPr lang="en-US" altLang="zh-CN"/>
              <a:t>Note: degrees of freedom refer to </a:t>
            </a:r>
            <a:r>
              <a:rPr lang="en-US" altLang="zh-CN" b="1"/>
              <a:t>numerator</a:t>
            </a:r>
            <a:r>
              <a:rPr lang="en-US" altLang="zh-CN"/>
              <a:t> and </a:t>
            </a:r>
            <a:r>
              <a:rPr lang="en-US" altLang="zh-CN" b="1"/>
              <a:t>denominator</a:t>
            </a:r>
            <a:endParaRPr lang="en-US" altLang="zh-CN" b="1"/>
          </a:p>
        </p:txBody>
      </p:sp>
      <p:sp>
        <p:nvSpPr>
          <p:cNvPr id="1091587" name="Rectangle 3"/>
          <p:cNvSpPr>
            <a:spLocks noGrp="1" noRot="1" noChangeAspect="1" noChangeArrowheads="1" noTextEdit="1"/>
          </p:cNvSpPr>
          <p:nvPr>
            <p:ph type="sldImg"/>
          </p:nvPr>
        </p:nvSpPr>
        <p:spPr bwMode="auto">
          <a:xfrm>
            <a:off x="1409700" y="692150"/>
            <a:ext cx="4038600" cy="2273300"/>
          </a:xfrm>
          <a:prstGeom prst="rect">
            <a:avLst/>
          </a:prstGeom>
          <a:noFill/>
          <a:ln w="12700" cap="flat">
            <a:solidFill>
              <a:schemeClr val="tx1"/>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lang="zh-CN" altLang="en-US"/>
              <a:t>单击此处编辑母版标题样式</a:t>
            </a:r>
            <a:endParaRPr lang="en-US" dirty="0"/>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dirty="0"/>
          </a:p>
        </p:txBody>
      </p:sp>
      <p:sp>
        <p:nvSpPr>
          <p:cNvPr id="28" name="Date Placeholder 27"/>
          <p:cNvSpPr>
            <a:spLocks noGrp="1"/>
          </p:cNvSpPr>
          <p:nvPr>
            <p:ph type="dt" sz="half" idx="10"/>
          </p:nvPr>
        </p:nvSpPr>
        <p:spPr>
          <a:xfrm>
            <a:off x="101600" y="6068699"/>
            <a:ext cx="2743200" cy="685800"/>
          </a:xfrm>
          <a:prstGeom prst="rect">
            <a:avLst/>
          </a:prstGeom>
        </p:spPr>
        <p:txBody>
          <a:bodyPr>
            <a:noAutofit/>
          </a:bodyPr>
          <a:lstStyle>
            <a:lvl1pPr algn="ctr">
              <a:defRPr sz="2000">
                <a:solidFill>
                  <a:srgbClr val="FFFFFF"/>
                </a:solidFill>
              </a:defRPr>
            </a:lvl1pPr>
          </a:lstStyle>
          <a:p>
            <a:pPr algn="ctr"/>
            <a:fld id="{A192A68D-3DBE-4DB7-A092-DC9DAB0EA4B3}" type="datetime1">
              <a:rPr lang="zh-CN" altLang="en-US" smtClean="0"/>
            </a:fld>
            <a:endParaRPr lang="en-US" sz="2000" dirty="0">
              <a:solidFill>
                <a:srgbClr val="FFFFFF"/>
              </a:solidFill>
            </a:endParaRPr>
          </a:p>
        </p:txBody>
      </p:sp>
      <p:sp>
        <p:nvSpPr>
          <p:cNvPr id="17" name="Footer Placeholder 16"/>
          <p:cNvSpPr>
            <a:spLocks noGrp="1"/>
          </p:cNvSpPr>
          <p:nvPr>
            <p:ph type="ftr" sz="quarter" idx="11"/>
          </p:nvPr>
        </p:nvSpPr>
        <p:spPr>
          <a:xfrm>
            <a:off x="2780524" y="236542"/>
            <a:ext cx="7823200" cy="365125"/>
          </a:xfrm>
          <a:prstGeom prst="rect">
            <a:avLst/>
          </a:prstGeom>
        </p:spPr>
        <p:txBody>
          <a:bodyPr/>
          <a:lstStyle>
            <a:lvl1pPr algn="r">
              <a:defRPr>
                <a:solidFill>
                  <a:schemeClr val="tx2"/>
                </a:solidFill>
              </a:defRPr>
            </a:lvl1pPr>
          </a:lstStyle>
          <a:p>
            <a:pPr algn="r"/>
            <a:endParaRPr lang="en-US" dirty="0">
              <a:solidFill>
                <a:schemeClr val="tx2"/>
              </a:solidFill>
            </a:endParaRPr>
          </a:p>
        </p:txBody>
      </p:sp>
      <p:sp>
        <p:nvSpPr>
          <p:cNvPr id="29" name="Slide Number Placeholder 28"/>
          <p:cNvSpPr>
            <a:spLocks noGrp="1"/>
          </p:cNvSpPr>
          <p:nvPr>
            <p:ph type="sldNum" sz="quarter" idx="12"/>
          </p:nvPr>
        </p:nvSpPr>
        <p:spPr>
          <a:xfrm>
            <a:off x="10668000" y="228600"/>
            <a:ext cx="1117600" cy="381000"/>
          </a:xfrm>
          <a:prstGeom prst="rect">
            <a:avLst/>
          </a:prstGeom>
        </p:spPr>
        <p:txBody>
          <a:bodyPr/>
          <a:lstStyle>
            <a:lvl1pPr>
              <a:defRPr>
                <a:solidFill>
                  <a:schemeClr val="tx2"/>
                </a:solidFill>
              </a:defRPr>
            </a:lvl1pPr>
          </a:lstStyle>
          <a:p>
            <a:fld id="{72AC53DF-4216-466D-99A7-94400E6C2A25}" type="slidenum">
              <a:rPr lang="en-US" smtClean="0"/>
            </a:fld>
            <a:endParaRPr lang="en-US" dirty="0">
              <a:solidFill>
                <a:schemeClr val="tx2"/>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16864" y="228600"/>
            <a:ext cx="10871200" cy="990600"/>
          </a:xfrm>
        </p:spPr>
        <p:txBody>
          <a:bodyPr/>
          <a:lstStyle/>
          <a:p>
            <a:r>
              <a:rPr lang="zh-CN" altLang="en-US" dirty="0"/>
              <a:t>单击此处编辑母版标题样式</a:t>
            </a:r>
            <a:endParaRPr lang="en-US" dirty="0"/>
          </a:p>
        </p:txBody>
      </p:sp>
      <p:sp>
        <p:nvSpPr>
          <p:cNvPr id="8" name="Content Placeholder 7"/>
          <p:cNvSpPr>
            <a:spLocks noGrp="1"/>
          </p:cNvSpPr>
          <p:nvPr>
            <p:ph sz="quarter" idx="1"/>
          </p:nvPr>
        </p:nvSpPr>
        <p:spPr>
          <a:xfrm>
            <a:off x="816864" y="1600200"/>
            <a:ext cx="10871200" cy="4495800"/>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0" y="2743200"/>
            <a:ext cx="9497484" cy="1673225"/>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7" name="Rectangle 6"/>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2" name="Title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lang="zh-CN" altLang="en-US"/>
              <a:t>单击此处编辑母版标题样式</a:t>
            </a:r>
            <a:endParaRPr lang="en-US" dirty="0"/>
          </a:p>
        </p:txBody>
      </p:sp>
      <p:sp>
        <p:nvSpPr>
          <p:cNvPr id="12" name="Date Placeholder 11"/>
          <p:cNvSpPr>
            <a:spLocks noGrp="1"/>
          </p:cNvSpPr>
          <p:nvPr>
            <p:ph type="dt" sz="half" idx="10"/>
          </p:nvPr>
        </p:nvSpPr>
        <p:spPr>
          <a:xfrm>
            <a:off x="8128000" y="6448252"/>
            <a:ext cx="3556000" cy="365125"/>
          </a:xfrm>
          <a:prstGeom prst="rect">
            <a:avLst/>
          </a:prstGeom>
        </p:spPr>
        <p:txBody>
          <a:bodyPr/>
          <a:lstStyle/>
          <a:p>
            <a:fld id="{913BE477-773F-45A1-9043-C5BB58DEC3E1}" type="datetime1">
              <a:rPr lang="zh-CN" altLang="en-US" smtClean="0"/>
            </a:fld>
            <a:endParaRPr lang="en-US"/>
          </a:p>
        </p:txBody>
      </p:sp>
      <p:sp>
        <p:nvSpPr>
          <p:cNvPr id="13" name="Slide Number Placeholder 12"/>
          <p:cNvSpPr>
            <a:spLocks noGrp="1"/>
          </p:cNvSpPr>
          <p:nvPr>
            <p:ph type="sldNum" sz="quarter" idx="11"/>
          </p:nvPr>
        </p:nvSpPr>
        <p:spPr>
          <a:xfrm>
            <a:off x="0" y="1752600"/>
            <a:ext cx="1727200" cy="701676"/>
          </a:xfrm>
          <a:prstGeom prst="rect">
            <a:avLst/>
          </a:prstGeom>
        </p:spPr>
        <p:txBody>
          <a:bodyPr>
            <a:noAutofit/>
          </a:bodyPr>
          <a:lstStyle>
            <a:lvl1pPr>
              <a:defRPr sz="2400">
                <a:solidFill>
                  <a:srgbClr val="FFFFFF"/>
                </a:solidFill>
              </a:defRPr>
            </a:lvl1pPr>
          </a:lstStyle>
          <a:p>
            <a:pPr algn="ctr"/>
            <a:fld id="{1AD93096-5B34-4342-9326-69289CEAE4C2}" type="slidenum">
              <a:rPr lang="en-US" smtClean="0"/>
            </a:fld>
            <a:endParaRPr lang="en-US" sz="2400" dirty="0">
              <a:solidFill>
                <a:srgbClr val="FFFFFF"/>
              </a:solidFill>
            </a:endParaRPr>
          </a:p>
        </p:txBody>
      </p:sp>
      <p:sp>
        <p:nvSpPr>
          <p:cNvPr id="14" name="Footer Placeholder 13"/>
          <p:cNvSpPr>
            <a:spLocks noGrp="1"/>
          </p:cNvSpPr>
          <p:nvPr>
            <p:ph type="ftr" sz="quarter" idx="12"/>
          </p:nvPr>
        </p:nvSpPr>
        <p:spPr>
          <a:xfrm>
            <a:off x="597171" y="6248210"/>
            <a:ext cx="7443742" cy="365125"/>
          </a:xfrm>
          <a:prstGeom prst="rect">
            <a:avLst/>
          </a:prstGeo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9" name="Content Placeholder 8"/>
          <p:cNvSpPr>
            <a:spLocks noGrp="1"/>
          </p:cNvSpPr>
          <p:nvPr>
            <p:ph sz="quarter" idx="1"/>
          </p:nvPr>
        </p:nvSpPr>
        <p:spPr>
          <a:xfrm>
            <a:off x="550533" y="1589567"/>
            <a:ext cx="5181600" cy="4572000"/>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11" name="Content Placeholder 10"/>
          <p:cNvSpPr>
            <a:spLocks noGrp="1"/>
          </p:cNvSpPr>
          <p:nvPr>
            <p:ph sz="quarter" idx="2"/>
          </p:nvPr>
        </p:nvSpPr>
        <p:spPr>
          <a:xfrm>
            <a:off x="6459868" y="1589567"/>
            <a:ext cx="5181600" cy="45720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0"/>
            <a:ext cx="10871200" cy="869950"/>
          </a:xfrm>
        </p:spPr>
        <p:txBody>
          <a:bodyPr anchor="ctr"/>
          <a:lstStyle>
            <a:lvl1pPr>
              <a:defRPr/>
            </a:lvl1pPr>
          </a:lstStyle>
          <a:p>
            <a:r>
              <a:rPr lang="zh-CN" altLang="en-US"/>
              <a:t>单击此处编辑母版标题样式</a:t>
            </a:r>
            <a:endParaRPr lang="en-US" dirty="0"/>
          </a:p>
        </p:txBody>
      </p:sp>
      <p:sp>
        <p:nvSpPr>
          <p:cNvPr id="11" name="Content Placeholder 10"/>
          <p:cNvSpPr>
            <a:spLocks noGrp="1"/>
          </p:cNvSpPr>
          <p:nvPr>
            <p:ph sz="quarter" idx="2"/>
          </p:nvPr>
        </p:nvSpPr>
        <p:spPr>
          <a:xfrm>
            <a:off x="812800" y="2438400"/>
            <a:ext cx="5181600" cy="35814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3" name="Content Placeholder 12"/>
          <p:cNvSpPr>
            <a:spLocks noGrp="1"/>
          </p:cNvSpPr>
          <p:nvPr>
            <p:ph sz="quarter" idx="4"/>
          </p:nvPr>
        </p:nvSpPr>
        <p:spPr>
          <a:xfrm>
            <a:off x="6400800" y="2438400"/>
            <a:ext cx="5181600" cy="35814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10" name="Date Placeholder 9"/>
          <p:cNvSpPr>
            <a:spLocks noGrp="1"/>
          </p:cNvSpPr>
          <p:nvPr>
            <p:ph type="dt" sz="half" idx="15"/>
          </p:nvPr>
        </p:nvSpPr>
        <p:spPr>
          <a:xfrm>
            <a:off x="8128000" y="6448252"/>
            <a:ext cx="3556000" cy="365125"/>
          </a:xfrm>
          <a:prstGeom prst="rect">
            <a:avLst/>
          </a:prstGeom>
        </p:spPr>
        <p:txBody>
          <a:bodyPr rtlCol="0"/>
          <a:lstStyle/>
          <a:p>
            <a:fld id="{B7A8C118-B4EA-4F8F-B280-BEC0017066F1}" type="datetime1">
              <a:rPr lang="zh-CN" altLang="en-US" smtClean="0"/>
            </a:fld>
            <a:endParaRPr lang="en-US"/>
          </a:p>
        </p:txBody>
      </p:sp>
      <p:sp>
        <p:nvSpPr>
          <p:cNvPr id="12" name="Slide Number Placeholder 11"/>
          <p:cNvSpPr>
            <a:spLocks noGrp="1"/>
          </p:cNvSpPr>
          <p:nvPr>
            <p:ph type="sldNum" sz="quarter" idx="16"/>
          </p:nvPr>
        </p:nvSpPr>
        <p:spPr>
          <a:xfrm>
            <a:off x="558130" y="6381328"/>
            <a:ext cx="616218" cy="357402"/>
          </a:xfrm>
          <a:prstGeom prst="rect">
            <a:avLst/>
          </a:prstGeom>
        </p:spPr>
        <p:txBody>
          <a:bodyPr rtlCol="0"/>
          <a:lstStyle/>
          <a:p>
            <a:pPr algn="ctr"/>
            <a:fld id="{1AD93096-5B34-4342-9326-69289CEAE4C2}" type="slidenum">
              <a:rPr lang="en-US" smtClean="0"/>
            </a:fld>
            <a:endParaRPr lang="en-US"/>
          </a:p>
        </p:txBody>
      </p:sp>
      <p:sp>
        <p:nvSpPr>
          <p:cNvPr id="14" name="Footer Placeholder 13"/>
          <p:cNvSpPr>
            <a:spLocks noGrp="1"/>
          </p:cNvSpPr>
          <p:nvPr>
            <p:ph type="ftr" sz="quarter" idx="17"/>
          </p:nvPr>
        </p:nvSpPr>
        <p:spPr>
          <a:xfrm>
            <a:off x="597171" y="6248210"/>
            <a:ext cx="7443742" cy="365125"/>
          </a:xfrm>
          <a:prstGeom prst="rect">
            <a:avLst/>
          </a:prstGeom>
        </p:spPr>
        <p:txBody>
          <a:bodyPr rtlCol="0"/>
          <a:lstStyle/>
          <a:p>
            <a:endParaRPr lang="en-US"/>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a:r>
              <a:rPr lang="zh-CN" altLang="en-US"/>
              <a:t>单击此处编辑母版文本样式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a:xfrm>
            <a:off x="8128000" y="6448252"/>
            <a:ext cx="3556000" cy="365125"/>
          </a:xfrm>
          <a:prstGeom prst="rect">
            <a:avLst/>
          </a:prstGeom>
        </p:spPr>
        <p:txBody>
          <a:bodyPr/>
          <a:lstStyle/>
          <a:p>
            <a:fld id="{34CCC27A-CD2D-4F14-8F78-FCFFD7611D1B}" type="datetime1">
              <a:rPr lang="zh-CN" altLang="en-US" smtClean="0"/>
            </a:fld>
            <a:endParaRPr lang="en-US"/>
          </a:p>
        </p:txBody>
      </p:sp>
      <p:sp>
        <p:nvSpPr>
          <p:cNvPr id="4" name="Footer Placeholder 3"/>
          <p:cNvSpPr>
            <a:spLocks noGrp="1"/>
          </p:cNvSpPr>
          <p:nvPr>
            <p:ph type="ftr" sz="quarter" idx="11"/>
          </p:nvPr>
        </p:nvSpPr>
        <p:spPr>
          <a:xfrm>
            <a:off x="597171" y="6248210"/>
            <a:ext cx="7443742"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558130" y="6381328"/>
            <a:ext cx="616218" cy="357402"/>
          </a:xfrm>
          <a:prstGeom prst="rect">
            <a:avLst/>
          </a:prstGeom>
        </p:spPr>
        <p:txBody>
          <a:bodyPr/>
          <a:lstStyle>
            <a:lvl1pPr>
              <a:defRPr>
                <a:solidFill>
                  <a:srgbClr val="FFFFFF"/>
                </a:solidFill>
              </a:defRPr>
            </a:lvl1pPr>
          </a:lstStyle>
          <a:p>
            <a:fld id="{1AD93096-5B34-4342-9326-69289CEAE4C2}" type="slidenum">
              <a:rPr lang="en-US" smtClean="0"/>
            </a:fld>
            <a:endParaRPr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8000" y="6448252"/>
            <a:ext cx="3556000" cy="365125"/>
          </a:xfrm>
          <a:prstGeom prst="rect">
            <a:avLst/>
          </a:prstGeom>
        </p:spPr>
        <p:txBody>
          <a:bodyPr/>
          <a:lstStyle/>
          <a:p>
            <a:fld id="{06A809B8-18EF-491B-9E98-44BF0ECCAC83}" type="datetime1">
              <a:rPr lang="zh-CN" altLang="en-US" smtClean="0"/>
            </a:fld>
            <a:endParaRPr lang="en-US"/>
          </a:p>
        </p:txBody>
      </p:sp>
      <p:sp>
        <p:nvSpPr>
          <p:cNvPr id="3" name="Footer Placeholder 2"/>
          <p:cNvSpPr>
            <a:spLocks noGrp="1"/>
          </p:cNvSpPr>
          <p:nvPr>
            <p:ph type="ftr" sz="quarter" idx="11"/>
          </p:nvPr>
        </p:nvSpPr>
        <p:spPr>
          <a:xfrm>
            <a:off x="597171" y="6248210"/>
            <a:ext cx="7443742"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0" y="6248400"/>
            <a:ext cx="711200" cy="381000"/>
          </a:xfrm>
          <a:prstGeom prst="rect">
            <a:avLst/>
          </a:prstGeom>
        </p:spPr>
        <p:txBody>
          <a:bodyPr/>
          <a:lstStyle>
            <a:lvl1pPr>
              <a:defRPr>
                <a:solidFill>
                  <a:schemeClr val="tx2"/>
                </a:solidFill>
              </a:defRPr>
            </a:lvl1pPr>
          </a:lstStyle>
          <a:p>
            <a:fld id="{1AD93096-5B34-4342-9326-69289CEAE4C2}" type="slidenum">
              <a:rPr lang="en-US" smtClean="0"/>
            </a:fld>
            <a:endParaRPr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nchor="ctr"/>
          <a:lstStyle>
            <a:lvl1pPr algn="l">
              <a:buNone/>
              <a:defRPr sz="4400" b="0"/>
            </a:lvl1pPr>
          </a:lstStyle>
          <a:p>
            <a:r>
              <a:rPr lang="zh-CN" altLang="en-US"/>
              <a:t>单击此处编辑母版标题样式</a:t>
            </a:r>
            <a:endParaRPr lang="en-US" dirty="0"/>
          </a:p>
        </p:txBody>
      </p:sp>
      <p:sp>
        <p:nvSpPr>
          <p:cNvPr id="5" name="Date Placeholder 4"/>
          <p:cNvSpPr>
            <a:spLocks noGrp="1"/>
          </p:cNvSpPr>
          <p:nvPr>
            <p:ph type="dt" sz="half" idx="10"/>
          </p:nvPr>
        </p:nvSpPr>
        <p:spPr>
          <a:xfrm>
            <a:off x="8128000" y="6448252"/>
            <a:ext cx="3556000" cy="365125"/>
          </a:xfrm>
          <a:prstGeom prst="rect">
            <a:avLst/>
          </a:prstGeom>
        </p:spPr>
        <p:txBody>
          <a:bodyPr/>
          <a:lstStyle/>
          <a:p>
            <a:fld id="{2DD03089-DCCC-45C0-A55C-324DDBBD19E4}" type="datetime1">
              <a:rPr lang="zh-CN" altLang="en-US" smtClean="0"/>
            </a:fld>
            <a:endParaRPr lang="en-US"/>
          </a:p>
        </p:txBody>
      </p:sp>
      <p:sp>
        <p:nvSpPr>
          <p:cNvPr id="6" name="Footer Placeholder 5"/>
          <p:cNvSpPr>
            <a:spLocks noGrp="1"/>
          </p:cNvSpPr>
          <p:nvPr>
            <p:ph type="ftr" sz="quarter" idx="11"/>
          </p:nvPr>
        </p:nvSpPr>
        <p:spPr>
          <a:xfrm>
            <a:off x="597171" y="6248210"/>
            <a:ext cx="7443742"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558130" y="6381328"/>
            <a:ext cx="616218" cy="357402"/>
          </a:xfrm>
          <a:prstGeom prst="rect">
            <a:avLst/>
          </a:prstGeom>
        </p:spPr>
        <p:txBody>
          <a:bodyPr/>
          <a:lstStyle>
            <a:lvl1pPr>
              <a:defRPr>
                <a:solidFill>
                  <a:srgbClr val="FFFFFF"/>
                </a:solidFill>
              </a:defRPr>
            </a:lvl1pPr>
          </a:lstStyle>
          <a:p>
            <a:fld id="{1AD93096-5B34-4342-9326-69289CEAE4C2}" type="slidenum">
              <a:rPr lang="en-US" smtClean="0"/>
            </a:fld>
            <a:endParaRPr lang="en-US" dirty="0">
              <a:solidFill>
                <a:srgbClr val="FFFFFF"/>
              </a:solidFill>
            </a:endParaRPr>
          </a:p>
        </p:txBody>
      </p:sp>
      <p:sp>
        <p:nvSpPr>
          <p:cNvPr id="9" name="Content Placeholder 8"/>
          <p:cNvSpPr>
            <a:spLocks noGrp="1"/>
          </p:cNvSpPr>
          <p:nvPr>
            <p:ph sz="quarter" idx="1"/>
          </p:nvPr>
        </p:nvSpPr>
        <p:spPr>
          <a:xfrm>
            <a:off x="3149600" y="1752600"/>
            <a:ext cx="8534400" cy="44196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pic>
        <p:nvPicPr>
          <p:cNvPr id="8" name="Picture 7" descr="sm_pencil.png"/>
          <p:cNvPicPr>
            <a:picLocks noChangeAspect="1"/>
          </p:cNvPicPr>
          <p:nvPr userDrawn="1"/>
        </p:nvPicPr>
        <p:blipFill>
          <a:blip r:embed="rId2"/>
          <a:stretch>
            <a:fillRect/>
          </a:stretch>
        </p:blipFill>
        <p:spPr>
          <a:xfrm>
            <a:off x="816864" y="1755651"/>
            <a:ext cx="2153743" cy="2145615"/>
          </a:xfrm>
          <a:prstGeom prst="rect">
            <a:avLst/>
          </a:prstGeom>
          <a:ln w="50800" cap="sq" cmpd="dbl">
            <a:solidFill>
              <a:schemeClr val="accent2"/>
            </a:solidFill>
            <a:miter lim="800000"/>
            <a:headEnd/>
            <a:tailEnd/>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endParaRPr lang="zh-CN" altLang="en-US"/>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2" name="Titl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lang="zh-CN" altLang="en-US"/>
              <a:t>单击此处编辑母版标题样式</a:t>
            </a:r>
            <a:endParaRPr lang="en-US" dirty="0"/>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p>
        </p:txBody>
      </p:sp>
      <p:sp>
        <p:nvSpPr>
          <p:cNvPr id="12" name="Date Placeholder 11"/>
          <p:cNvSpPr>
            <a:spLocks noGrp="1"/>
          </p:cNvSpPr>
          <p:nvPr>
            <p:ph type="dt" sz="half" idx="10"/>
          </p:nvPr>
        </p:nvSpPr>
        <p:spPr>
          <a:xfrm>
            <a:off x="8331200" y="6248404"/>
            <a:ext cx="3556000" cy="365125"/>
          </a:xfrm>
          <a:prstGeom prst="rect">
            <a:avLst/>
          </a:prstGeom>
        </p:spPr>
        <p:txBody>
          <a:bodyPr rtlCol="0"/>
          <a:lstStyle/>
          <a:p>
            <a:fld id="{4B5E4466-AD65-4209-B65C-5868BC503B40}" type="datetime1">
              <a:rPr lang="zh-CN" altLang="en-US" smtClean="0"/>
            </a:fld>
            <a:endParaRPr lang="en-US"/>
          </a:p>
        </p:txBody>
      </p:sp>
      <p:sp>
        <p:nvSpPr>
          <p:cNvPr id="13" name="Slide Number Placeholder 12"/>
          <p:cNvSpPr>
            <a:spLocks noGrp="1"/>
          </p:cNvSpPr>
          <p:nvPr>
            <p:ph type="sldNum" sz="quarter" idx="11"/>
          </p:nvPr>
        </p:nvSpPr>
        <p:spPr>
          <a:xfrm>
            <a:off x="0" y="4667249"/>
            <a:ext cx="1930400" cy="663578"/>
          </a:xfrm>
          <a:prstGeom prst="rect">
            <a:avLst/>
          </a:prstGeom>
        </p:spPr>
        <p:txBody>
          <a:bodyPr rtlCol="0"/>
          <a:lstStyle>
            <a:lvl1pPr>
              <a:defRPr sz="2800"/>
            </a:lvl1pPr>
          </a:lstStyle>
          <a:p>
            <a:pPr algn="ctr"/>
            <a:fld id="{1AD93096-5B34-4342-9326-69289CEAE4C2}" type="slidenum">
              <a:rPr lang="en-US" smtClean="0"/>
            </a:fld>
            <a:endParaRPr lang="en-US" sz="2800" dirty="0"/>
          </a:p>
        </p:txBody>
      </p:sp>
      <p:sp>
        <p:nvSpPr>
          <p:cNvPr id="14" name="Footer Placeholder 13"/>
          <p:cNvSpPr>
            <a:spLocks noGrp="1"/>
          </p:cNvSpPr>
          <p:nvPr>
            <p:ph type="ftr" sz="quarter" idx="12"/>
          </p:nvPr>
        </p:nvSpPr>
        <p:spPr>
          <a:xfrm>
            <a:off x="2133600" y="6248210"/>
            <a:ext cx="6096000" cy="365125"/>
          </a:xfrm>
          <a:prstGeom prst="rect">
            <a:avLst/>
          </a:prstGeom>
        </p:spPr>
        <p:txBody>
          <a:bodyPr rtlCol="0"/>
          <a:lstStyle/>
          <a:p>
            <a:endParaRPr lang="en-US" dirty="0"/>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lang="zh-CN" altLang="en-US"/>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a:xfrm>
            <a:off x="8128000" y="6448252"/>
            <a:ext cx="3556000" cy="365125"/>
          </a:xfrm>
          <a:prstGeom prst="rect">
            <a:avLst/>
          </a:prstGeom>
        </p:spPr>
        <p:txBody>
          <a:bodyPr/>
          <a:lstStyle/>
          <a:p>
            <a:fld id="{C6F0F4B9-8654-4666-B278-A56EF8AD24B9}" type="datetime1">
              <a:rPr lang="zh-CN" altLang="en-US" smtClean="0">
                <a:solidFill>
                  <a:schemeClr val="tx2"/>
                </a:solidFill>
              </a:rPr>
            </a:fld>
            <a:endParaRPr lang="en-US"/>
          </a:p>
        </p:txBody>
      </p:sp>
      <p:sp>
        <p:nvSpPr>
          <p:cNvPr id="5" name="Footer Placeholder 4"/>
          <p:cNvSpPr>
            <a:spLocks noGrp="1"/>
          </p:cNvSpPr>
          <p:nvPr>
            <p:ph type="ftr" sz="quarter" idx="11"/>
          </p:nvPr>
        </p:nvSpPr>
        <p:spPr>
          <a:xfrm>
            <a:off x="597171" y="6248210"/>
            <a:ext cx="7443742"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558130" y="6381328"/>
            <a:ext cx="616218" cy="357402"/>
          </a:xfrm>
          <a:prstGeom prst="rect">
            <a:avLst/>
          </a:prstGeom>
        </p:spPr>
        <p:txBody>
          <a:bodyPr/>
          <a:lstStyle/>
          <a:p>
            <a:fld id="{72AC53DF-4216-466D-99A7-94400E6C2A25}" type="slidenum">
              <a:rPr lang="en-US" sz="1200" smtClean="0">
                <a:solidFill>
                  <a:schemeClr val="tx2"/>
                </a:solidFill>
              </a:rPr>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609603"/>
            <a:ext cx="2743200" cy="5516563"/>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09600" y="609600"/>
            <a:ext cx="7416800" cy="551656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a:xfrm>
            <a:off x="8737600" y="6248406"/>
            <a:ext cx="2946400" cy="365125"/>
          </a:xfrm>
          <a:prstGeom prst="rect">
            <a:avLst/>
          </a:prstGeom>
        </p:spPr>
        <p:txBody>
          <a:bodyPr/>
          <a:lstStyle/>
          <a:p>
            <a:fld id="{576E0A97-5F99-4E84-B6F5-25253CC05384}" type="datetime1">
              <a:rPr lang="zh-CN" altLang="en-US" smtClean="0">
                <a:solidFill>
                  <a:schemeClr val="tx2"/>
                </a:solidFill>
              </a:rPr>
            </a:fld>
            <a:endParaRPr lang="en-US" dirty="0"/>
          </a:p>
        </p:txBody>
      </p:sp>
      <p:sp>
        <p:nvSpPr>
          <p:cNvPr id="5" name="Footer Placeholder 4"/>
          <p:cNvSpPr>
            <a:spLocks noGrp="1"/>
          </p:cNvSpPr>
          <p:nvPr>
            <p:ph type="ftr" sz="quarter" idx="11"/>
          </p:nvPr>
        </p:nvSpPr>
        <p:spPr>
          <a:xfrm>
            <a:off x="609604" y="6248211"/>
            <a:ext cx="7431311" cy="365125"/>
          </a:xfrm>
          <a:prstGeom prst="rect">
            <a:avLst/>
          </a:prstGeom>
        </p:spPr>
        <p:txBody>
          <a:bodyPr/>
          <a:lstStyle/>
          <a:p>
            <a:endParaRPr lang="en-US" dirty="0"/>
          </a:p>
        </p:txBody>
      </p:sp>
      <p:sp>
        <p:nvSpPr>
          <p:cNvPr id="7" name="Rectangle 6"/>
          <p:cNvSpPr/>
          <p:nvPr/>
        </p:nvSpPr>
        <p:spPr bwMode="white">
          <a:xfrm>
            <a:off x="8128425"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8189385"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p:nvSpPr>
        <p:spPr>
          <a:xfrm>
            <a:off x="8189385"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rot="5400000">
            <a:off x="8075085" y="103718"/>
            <a:ext cx="533400" cy="325968"/>
          </a:xfrm>
          <a:prstGeom prst="rect">
            <a:avLst/>
          </a:prstGeom>
        </p:spPr>
        <p:txBody>
          <a:bodyPr/>
          <a:lstStyle/>
          <a:p>
            <a:fld id="{72AC53DF-4216-466D-99A7-94400E6C2A25}" type="slidenum">
              <a:rPr lang="en-US" sz="1200" smtClean="0">
                <a:solidFill>
                  <a:schemeClr val="tx2"/>
                </a:solidFill>
              </a:rPr>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2540000" y="228600"/>
            <a:ext cx="90424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812800" y="1828800"/>
            <a:ext cx="51308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联机映像占位符 3"/>
          <p:cNvSpPr>
            <a:spLocks noGrp="1"/>
          </p:cNvSpPr>
          <p:nvPr>
            <p:ph type="clipArt" sz="half" idx="2"/>
          </p:nvPr>
        </p:nvSpPr>
        <p:spPr>
          <a:xfrm>
            <a:off x="6146800" y="1828800"/>
            <a:ext cx="5130800" cy="4114800"/>
          </a:xfrm>
        </p:spPr>
        <p:txBody>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540000" y="228600"/>
            <a:ext cx="90424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812800" y="1828800"/>
            <a:ext cx="51308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46800" y="1828800"/>
            <a:ext cx="51308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2107865" y="44624"/>
            <a:ext cx="9576135" cy="865294"/>
          </a:xfrm>
          <a:prstGeom prst="rect">
            <a:avLst/>
          </a:prstGeom>
        </p:spPr>
        <p:txBody>
          <a:bodyPr vert="horz" anchor="ctr">
            <a:normAutofit/>
          </a:bodyPr>
          <a:lstStyle/>
          <a:p>
            <a:r>
              <a:rPr lang="zh-CN" altLang="en-US" dirty="0"/>
              <a:t>单击此处编辑母版标题样式</a:t>
            </a:r>
            <a:endParaRPr lang="en-US" dirty="0"/>
          </a:p>
        </p:txBody>
      </p:sp>
      <p:sp>
        <p:nvSpPr>
          <p:cNvPr id="13" name="Text Placeholder 12"/>
          <p:cNvSpPr>
            <a:spLocks noGrp="1"/>
          </p:cNvSpPr>
          <p:nvPr>
            <p:ph type="body" idx="1"/>
          </p:nvPr>
        </p:nvSpPr>
        <p:spPr>
          <a:xfrm>
            <a:off x="508000" y="1520900"/>
            <a:ext cx="11180064" cy="4716412"/>
          </a:xfrm>
          <a:prstGeom prst="rect">
            <a:avLst/>
          </a:prstGeom>
        </p:spPr>
        <p:txBody>
          <a:bodyPr vert="horz">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7" name="Rectangle 6"/>
          <p:cNvSpPr/>
          <p:nvPr/>
        </p:nvSpPr>
        <p:spPr bwMode="white">
          <a:xfrm>
            <a:off x="0" y="903633"/>
            <a:ext cx="12192000" cy="437133"/>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ctr"/>
            <a:endParaRPr lang="en-US" sz="1800"/>
          </a:p>
        </p:txBody>
      </p:sp>
      <p:sp>
        <p:nvSpPr>
          <p:cNvPr id="8" name="Rectangle 7"/>
          <p:cNvSpPr/>
          <p:nvPr userDrawn="1"/>
        </p:nvSpPr>
        <p:spPr>
          <a:xfrm>
            <a:off x="0" y="903634"/>
            <a:ext cx="1959324" cy="4371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200" dirty="0">
              <a:solidFill>
                <a:schemeClr val="bg1"/>
              </a:solidFill>
            </a:endParaRPr>
          </a:p>
        </p:txBody>
      </p:sp>
      <p:sp>
        <p:nvSpPr>
          <p:cNvPr id="12" name="Rectangle 8"/>
          <p:cNvSpPr/>
          <p:nvPr userDrawn="1"/>
        </p:nvSpPr>
        <p:spPr>
          <a:xfrm>
            <a:off x="1" y="-1"/>
            <a:ext cx="1959324" cy="909919"/>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r>
              <a:rPr lang="zh-CN" altLang="en-US"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8 </a:t>
            </a:r>
            <a:r>
              <a:rPr lang="zh-CN" altLang="en-US"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a:t>
            </a:r>
            <a:endParaRPr lang="en-US"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4" name="直接连接符 3"/>
          <p:cNvCxnSpPr/>
          <p:nvPr userDrawn="1"/>
        </p:nvCxnSpPr>
        <p:spPr>
          <a:xfrm>
            <a:off x="-1" y="6381328"/>
            <a:ext cx="12200321"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Date Placeholder 13"/>
          <p:cNvSpPr txBox="1"/>
          <p:nvPr userDrawn="1"/>
        </p:nvSpPr>
        <p:spPr>
          <a:xfrm>
            <a:off x="-1" y="903632"/>
            <a:ext cx="1959324" cy="437134"/>
          </a:xfrm>
          <a:prstGeom prst="rect">
            <a:avLst/>
          </a:prstGeom>
        </p:spPr>
        <p:txBody>
          <a:bodyPr vert="horz" anchor="ctr" anchorCtr="0"/>
          <a:lstStyle>
            <a:defPPr>
              <a:defRPr lang="en-US"/>
            </a:defPPr>
            <a:lvl1pPr marL="0" algn="l" defTabSz="914400" rtl="0" latinLnBrk="0">
              <a:defRPr sz="1400" kern="1200">
                <a:solidFill>
                  <a:srgbClr val="FF0000"/>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a:lstStyle>
          <a:p>
            <a:pPr algn="ct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统计学</a:t>
            </a: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8 </a:t>
            </a:r>
            <a:r>
              <a:rPr lang="zh-CN" alt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版</a:t>
            </a:r>
            <a:r>
              <a:rPr lang="en-US" altLang="zh-CN"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sz="1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Rectangle 11"/>
          <p:cNvSpPr>
            <a:spLocks noChangeArrowheads="1"/>
          </p:cNvSpPr>
          <p:nvPr userDrawn="1"/>
        </p:nvSpPr>
        <p:spPr bwMode="auto">
          <a:xfrm>
            <a:off x="10692446" y="6433651"/>
            <a:ext cx="85566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spcBef>
                <a:spcPct val="20000"/>
              </a:spcBef>
            </a:pPr>
            <a:r>
              <a:rPr lang="en-US" altLang="zh-CN" sz="1600" b="0" dirty="0">
                <a:solidFill>
                  <a:schemeClr val="bg1">
                    <a:lumMod val="50000"/>
                  </a:schemeClr>
                </a:solidFill>
                <a:latin typeface="微软雅黑" panose="020B0503020204020204" pitchFamily="34" charset="-122"/>
                <a:ea typeface="微软雅黑" panose="020B0503020204020204" pitchFamily="34" charset="-122"/>
              </a:rPr>
              <a:t>8 - </a:t>
            </a:r>
            <a:fld id="{16EAF49E-217F-4E01-A667-C6B4D41E8F57}" type="slidenum">
              <a:rPr lang="en-US" altLang="zh-CN" sz="1600" b="0" dirty="0" smtClean="0">
                <a:solidFill>
                  <a:schemeClr val="bg1">
                    <a:lumMod val="50000"/>
                  </a:schemeClr>
                </a:solidFill>
                <a:latin typeface="微软雅黑" panose="020B0503020204020204" pitchFamily="34" charset="-122"/>
                <a:ea typeface="微软雅黑" panose="020B0503020204020204" pitchFamily="34" charset="-122"/>
              </a:rPr>
            </a:fld>
            <a:endParaRPr lang="en-US" altLang="zh-CN" sz="1600" b="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7" name="页脚占位符 4"/>
          <p:cNvSpPr txBox="1"/>
          <p:nvPr userDrawn="1"/>
        </p:nvSpPr>
        <p:spPr>
          <a:xfrm>
            <a:off x="4217505" y="6415985"/>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统计学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第 </a:t>
            </a:r>
            <a:r>
              <a:rPr lang="en-US" altLang="zh-CN" dirty="0">
                <a:latin typeface="微软雅黑" panose="020B0503020204020204" pitchFamily="34" charset="-122"/>
                <a:ea typeface="微软雅黑" panose="020B0503020204020204" pitchFamily="34" charset="-122"/>
              </a:rPr>
              <a:t>8 </a:t>
            </a:r>
            <a:r>
              <a:rPr lang="zh-CN" altLang="en-US" dirty="0">
                <a:latin typeface="微软雅黑" panose="020B0503020204020204" pitchFamily="34" charset="-122"/>
                <a:ea typeface="微软雅黑" panose="020B0503020204020204" pitchFamily="34" charset="-122"/>
              </a:rPr>
              <a:t>版</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贾俊平</a:t>
            </a:r>
            <a:endParaRPr lang="zh-CN" altLang="en-US" dirty="0">
              <a:latin typeface="微软雅黑" panose="020B0503020204020204" pitchFamily="34" charset="-122"/>
              <a:ea typeface="微软雅黑" panose="020B0503020204020204" pitchFamily="34" charset="-122"/>
            </a:endParaRPr>
          </a:p>
        </p:txBody>
      </p:sp>
      <p:sp>
        <p:nvSpPr>
          <p:cNvPr id="18" name="副标题 2"/>
          <p:cNvSpPr txBox="1"/>
          <p:nvPr userDrawn="1"/>
        </p:nvSpPr>
        <p:spPr>
          <a:xfrm>
            <a:off x="387625" y="6366290"/>
            <a:ext cx="1803251" cy="392320"/>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nSpc>
                <a:spcPct val="150000"/>
              </a:lnSpc>
            </a:pPr>
            <a:fld id="{40D7A12C-C48C-4203-A694-F2B6F5190069}" type="datetime1">
              <a:rPr lang="zh-CN" altLang="en-US" sz="1600" b="1" smtClean="0">
                <a:solidFill>
                  <a:schemeClr val="bg1">
                    <a:lumMod val="50000"/>
                  </a:schemeClr>
                </a:solidFill>
                <a:effectLst/>
                <a:latin typeface="+mn-lt"/>
                <a:ea typeface="+mn-ea"/>
                <a:cs typeface="Arial" panose="020B0604020202090204" pitchFamily="34" charset="0"/>
              </a:rPr>
            </a:fld>
            <a:endParaRPr lang="zh-CN" altLang="en-US" sz="1600" b="1" dirty="0">
              <a:solidFill>
                <a:schemeClr val="bg1">
                  <a:lumMod val="50000"/>
                </a:schemeClr>
              </a:solidFill>
              <a:effectLst/>
              <a:latin typeface="+mn-lt"/>
              <a:ea typeface="+mn-ea"/>
              <a:cs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l" rtl="0" eaLnBrk="1" latinLnBrk="0" hangingPunct="1">
        <a:spcBef>
          <a:spcPct val="0"/>
        </a:spcBef>
        <a:buNone/>
        <a:defRPr sz="3200" kern="1200">
          <a:solidFill>
            <a:schemeClr val="tx2"/>
          </a:solidFill>
          <a:latin typeface="华文细黑" panose="02010600040101010101" pitchFamily="2" charset="-122"/>
          <a:ea typeface="华文细黑" panose="02010600040101010101" pitchFamily="2" charset="-122"/>
          <a:cs typeface="+mj-cs"/>
        </a:defRPr>
      </a:lvl1pPr>
    </p:titleStyle>
    <p:body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9.w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11.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vmlDrawing" Target="../drawings/vmlDrawing2.vml"/><Relationship Id="rId4" Type="http://schemas.openxmlformats.org/officeDocument/2006/relationships/slideLayout" Target="../slideLayouts/slideLayout12.xml"/><Relationship Id="rId3" Type="http://schemas.openxmlformats.org/officeDocument/2006/relationships/oleObject" Target="../embeddings/oleObject3.bin"/><Relationship Id="rId2" Type="http://schemas.openxmlformats.org/officeDocument/2006/relationships/image" Target="../media/image16.wmf"/><Relationship Id="rId1"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23.wmf"/><Relationship Id="rId1" Type="http://schemas.openxmlformats.org/officeDocument/2006/relationships/oleObject" Target="../embeddings/oleObject4.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3.xml"/><Relationship Id="rId2" Type="http://schemas.openxmlformats.org/officeDocument/2006/relationships/image" Target="../media/image30.png"/><Relationship Id="rId1" Type="http://schemas.openxmlformats.org/officeDocument/2006/relationships/image" Target="../media/image2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7405" y="0"/>
            <a:ext cx="12271508"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副标题 2"/>
          <p:cNvSpPr txBox="1"/>
          <p:nvPr/>
        </p:nvSpPr>
        <p:spPr>
          <a:xfrm>
            <a:off x="6096000" y="4864292"/>
            <a:ext cx="2653745" cy="1760996"/>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nSpc>
                <a:spcPct val="150000"/>
              </a:lnSpc>
            </a:pPr>
            <a:r>
              <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90204" pitchFamily="34" charset="0"/>
              </a:rPr>
              <a:t>贾俊平</a:t>
            </a:r>
            <a:endParaRPr lang="en-US" altLang="zh-CN" sz="3200" b="1" dirty="0">
              <a:solidFill>
                <a:schemeClr val="bg1"/>
              </a:solidFill>
              <a:effectLst>
                <a:outerShdw blurRad="38100" dist="38100" dir="2700000" algn="tl">
                  <a:srgbClr val="000000">
                    <a:alpha val="43137"/>
                  </a:srgbClr>
                </a:outerShdw>
              </a:effectLst>
              <a:latin typeface="+mn-lt"/>
              <a:ea typeface="+mn-ea"/>
              <a:cs typeface="Arial" panose="020B0604020202090204" pitchFamily="34" charset="0"/>
            </a:endParaRPr>
          </a:p>
          <a:p>
            <a:pPr>
              <a:lnSpc>
                <a:spcPct val="150000"/>
              </a:lnSpc>
            </a:pPr>
            <a:fld id="{40D7A12C-C48C-4203-A694-F2B6F5190069}" type="datetime1">
              <a:rPr lang="zh-CN" altLang="en-US" sz="3200" b="1" smtClean="0">
                <a:solidFill>
                  <a:schemeClr val="bg1"/>
                </a:solidFill>
                <a:effectLst>
                  <a:outerShdw blurRad="38100" dist="38100" dir="2700000" algn="tl">
                    <a:srgbClr val="000000">
                      <a:alpha val="43137"/>
                    </a:srgbClr>
                  </a:outerShdw>
                </a:effectLst>
                <a:latin typeface="+mn-lt"/>
                <a:ea typeface="+mn-ea"/>
                <a:cs typeface="Arial" panose="020B0604020202090204" pitchFamily="34" charset="0"/>
              </a:rPr>
            </a:fld>
            <a:endPar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90204" pitchFamily="34" charset="0"/>
            </a:endParaRPr>
          </a:p>
        </p:txBody>
      </p:sp>
      <p:pic>
        <p:nvPicPr>
          <p:cNvPr id="5" name="图片 4"/>
          <p:cNvPicPr>
            <a:picLocks noChangeAspect="1"/>
          </p:cNvPicPr>
          <p:nvPr/>
        </p:nvPicPr>
        <p:blipFill>
          <a:blip r:embed="rId1"/>
          <a:stretch>
            <a:fillRect/>
          </a:stretch>
        </p:blipFill>
        <p:spPr>
          <a:xfrm>
            <a:off x="-57405" y="-85059"/>
            <a:ext cx="12423070" cy="6943059"/>
          </a:xfrm>
          <a:prstGeom prst="rect">
            <a:avLst/>
          </a:prstGeom>
        </p:spPr>
      </p:pic>
      <p:sp>
        <p:nvSpPr>
          <p:cNvPr id="9" name="圆角矩形 4"/>
          <p:cNvSpPr/>
          <p:nvPr/>
        </p:nvSpPr>
        <p:spPr>
          <a:xfrm>
            <a:off x="1318436" y="2232837"/>
            <a:ext cx="9803219" cy="3785191"/>
          </a:xfrm>
          <a:prstGeom prst="round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0" scaled="1"/>
            <a:tileRect/>
          </a:gradFill>
          <a:ln>
            <a:noFill/>
          </a:ln>
          <a:scene3d>
            <a:camera prst="orthographicFront"/>
            <a:lightRig rig="threePt" dir="t"/>
          </a:scene3d>
          <a:sp3d>
            <a:bevelT prst="relaxedInset"/>
          </a:sp3d>
        </p:spPr>
        <p:style>
          <a:lnRef idx="1">
            <a:schemeClr val="accent4"/>
          </a:lnRef>
          <a:fillRef idx="2">
            <a:schemeClr val="accent4"/>
          </a:fillRef>
          <a:effectRef idx="1">
            <a:schemeClr val="accent4"/>
          </a:effectRef>
          <a:fontRef idx="minor">
            <a:schemeClr val="dk1"/>
          </a:fontRef>
        </p:style>
        <p:txBody>
          <a:bodyPr rtlCol="0" anchor="ctr"/>
          <a:lstStyle/>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90204" pitchFamily="34" charset="0"/>
              </a:rPr>
              <a:t>8.1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90204" pitchFamily="34" charset="0"/>
              </a:rPr>
              <a:t>假设检验的基本问题</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90204" pitchFamily="34" charset="0"/>
            </a:endParaRP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90204" pitchFamily="34" charset="0"/>
              </a:rPr>
              <a:t>8.2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90204" pitchFamily="34" charset="0"/>
              </a:rPr>
              <a:t>一个总体参数的检验</a:t>
            </a:r>
            <a:endPar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90204" pitchFamily="34" charset="0"/>
            </a:endParaRP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90204" pitchFamily="34" charset="0"/>
              </a:rPr>
              <a:t>8.3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90204" pitchFamily="34" charset="0"/>
              </a:rPr>
              <a:t>两个总体参数的检验</a:t>
            </a:r>
            <a:endPar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90204" pitchFamily="34" charset="0"/>
            </a:endParaRP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90204" pitchFamily="34" charset="0"/>
              </a:rPr>
              <a:t>8.4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90204" pitchFamily="34" charset="0"/>
              </a:rPr>
              <a:t>检验问题的进一步说明 </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1" name="文本框 10"/>
          <p:cNvSpPr txBox="1"/>
          <p:nvPr/>
        </p:nvSpPr>
        <p:spPr>
          <a:xfrm>
            <a:off x="1456660" y="839972"/>
            <a:ext cx="9545916" cy="906915"/>
          </a:xfrm>
          <a:prstGeom prst="rect">
            <a:avLst/>
          </a:prstGeom>
          <a:noFill/>
        </p:spPr>
        <p:txBody>
          <a:bodyPr wrap="square" rtlCol="0">
            <a:spAutoFit/>
          </a:bodyPr>
          <a:lstStyle/>
          <a:p>
            <a:pPr>
              <a:lnSpc>
                <a:spcPct val="150000"/>
              </a:lnSpc>
            </a:pP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8 </a:t>
            </a: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    </a:t>
            </a:r>
            <a:r>
              <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假设检验</a:t>
            </a:r>
            <a:endPar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250">
        <p:wipe dir="r"/>
      </p:transition>
    </mc:Choice>
    <mc:Fallback>
      <p:transition>
        <p:wipe dir="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8.1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假设检验的基本问题</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9" name="Content Placeholder 8"/>
          <p:cNvSpPr>
            <a:spLocks noGrp="1"/>
          </p:cNvSpPr>
          <p:nvPr>
            <p:ph sz="quarter" idx="2"/>
          </p:nvPr>
        </p:nvSpPr>
        <p:spPr>
          <a:xfrm>
            <a:off x="551384" y="1556792"/>
            <a:ext cx="5256584" cy="4680520"/>
          </a:xfrm>
          <a:ln w="12700" cmpd="dbl">
            <a:solidFill>
              <a:schemeClr val="accent1"/>
            </a:solidFill>
          </a:ln>
        </p:spPr>
        <p:txBody>
          <a:bodyPr>
            <a:normAutofit fontScale="92500"/>
          </a:bodyPr>
          <a:lstStyle/>
          <a:p>
            <a:pPr marL="0" indent="0" algn="just">
              <a:lnSpc>
                <a:spcPct val="120000"/>
              </a:lnSpc>
              <a:buClr>
                <a:srgbClr val="318AAD"/>
              </a:buClr>
              <a:buSzPct val="100000"/>
              <a:buNone/>
              <a:defRPr/>
            </a:pPr>
            <a:r>
              <a:rPr lang="zh-CN" altLang="en-US" sz="2200" b="1" dirty="0">
                <a:solidFill>
                  <a:srgbClr val="FF0000"/>
                </a:solidFill>
                <a:latin typeface="Arial" panose="020B0604020202090204" pitchFamily="34" charset="0"/>
                <a:cs typeface="Arial" panose="020B0604020202090204" pitchFamily="34" charset="0"/>
              </a:rPr>
              <a:t>假设</a:t>
            </a:r>
            <a:endParaRPr lang="en-US" altLang="zh-CN" sz="2200" b="1" dirty="0">
              <a:solidFill>
                <a:srgbClr val="FF0000"/>
              </a:solidFill>
              <a:latin typeface="Arial" panose="020B0604020202090204" pitchFamily="34" charset="0"/>
              <a:cs typeface="Arial" panose="020B0604020202090204" pitchFamily="3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对总体参数的的数值所作的一种陈述</a:t>
            </a:r>
            <a:endParaRPr lang="zh-CN" altLang="en-US" sz="2200" dirty="0">
              <a:latin typeface="Arial" panose="020B0604020202090204" pitchFamily="34" charset="0"/>
              <a:cs typeface="Arial" panose="020B0604020202090204" pitchFamily="34" charset="0"/>
            </a:endParaRPr>
          </a:p>
          <a:p>
            <a:pPr marL="894080" lvl="1" indent="-357505" algn="just">
              <a:lnSpc>
                <a:spcPct val="110000"/>
              </a:lnSpc>
              <a:buClr>
                <a:srgbClr val="C00000"/>
              </a:buClr>
              <a:buFont typeface="Wingdings" panose="05000000000000000000"/>
              <a:buChar char="Ø"/>
              <a:defRPr/>
            </a:pPr>
            <a:r>
              <a:rPr lang="zh-CN" altLang="en-US" sz="2200" dirty="0">
                <a:latin typeface="Arial" panose="020B0604020202090204" pitchFamily="34" charset="0"/>
                <a:cs typeface="Arial" panose="020B0604020202090204" pitchFamily="34" charset="0"/>
              </a:rPr>
              <a:t>总体参数包括总体均值、比例、方差等</a:t>
            </a:r>
            <a:endParaRPr lang="zh-CN" altLang="en-US" sz="2200" dirty="0">
              <a:latin typeface="Arial" panose="020B0604020202090204" pitchFamily="34" charset="0"/>
              <a:cs typeface="Arial" panose="020B0604020202090204" pitchFamily="34" charset="0"/>
            </a:endParaRPr>
          </a:p>
          <a:p>
            <a:pPr marL="894080" lvl="1" indent="-357505" algn="just">
              <a:lnSpc>
                <a:spcPct val="110000"/>
              </a:lnSpc>
              <a:buClr>
                <a:srgbClr val="C00000"/>
              </a:buClr>
              <a:buFont typeface="Wingdings" panose="05000000000000000000"/>
              <a:buChar char="Ø"/>
              <a:defRPr/>
            </a:pPr>
            <a:r>
              <a:rPr lang="zh-CN" altLang="en-US" sz="2200" dirty="0">
                <a:latin typeface="Arial" panose="020B0604020202090204" pitchFamily="34" charset="0"/>
                <a:cs typeface="Arial" panose="020B0604020202090204" pitchFamily="34" charset="0"/>
              </a:rPr>
              <a:t>分析之前必需陈述</a:t>
            </a:r>
            <a:endParaRPr lang="en-US" altLang="zh-CN" sz="2200" dirty="0">
              <a:latin typeface="Arial" panose="020B0604020202090204" pitchFamily="34" charset="0"/>
              <a:cs typeface="Arial" panose="020B0604020202090204" pitchFamily="34" charset="0"/>
            </a:endParaRPr>
          </a:p>
          <a:p>
            <a:pPr marL="0" lvl="1" indent="0" algn="just">
              <a:lnSpc>
                <a:spcPct val="120000"/>
              </a:lnSpc>
              <a:spcBef>
                <a:spcPts val="700"/>
              </a:spcBef>
              <a:buClr>
                <a:srgbClr val="318AAD"/>
              </a:buClr>
              <a:buSzPct val="100000"/>
              <a:buNone/>
              <a:defRPr/>
            </a:pPr>
            <a:r>
              <a:rPr lang="zh-CN" altLang="en-US" sz="2200" b="1" dirty="0">
                <a:solidFill>
                  <a:srgbClr val="FF0000"/>
                </a:solidFill>
                <a:latin typeface="Arial" panose="020B0604020202090204" pitchFamily="34" charset="0"/>
                <a:cs typeface="Arial" panose="020B0604020202090204" pitchFamily="34" charset="0"/>
              </a:rPr>
              <a:t>假设检验</a:t>
            </a:r>
            <a:endParaRPr lang="en-US" altLang="zh-CN" sz="2200" b="1" dirty="0">
              <a:solidFill>
                <a:srgbClr val="FF0000"/>
              </a:solidFill>
              <a:latin typeface="Arial" panose="020B0604020202090204" pitchFamily="34" charset="0"/>
              <a:cs typeface="Arial" panose="020B0604020202090204" pitchFamily="3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事先对总体参数或分布形式作出某种假设，然后利用样本信息来判断原假设是否成立</a:t>
            </a:r>
            <a:endParaRPr lang="zh-CN" altLang="en-US" sz="2200" dirty="0">
              <a:latin typeface="Arial" panose="020B0604020202090204" pitchFamily="34" charset="0"/>
              <a:cs typeface="Arial" panose="020B0604020202090204" pitchFamily="3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有参数假设检验和</a:t>
            </a:r>
            <a:r>
              <a:rPr lang="zh-CN" altLang="en-US" sz="2200" dirty="0">
                <a:latin typeface="Arial" panose="020B0604020202090204" pitchFamily="34" charset="0"/>
                <a:cs typeface="Arial" panose="020B0604020202090204" pitchFamily="34" charset="0"/>
                <a:sym typeface="Wingdings" panose="05000000000000000000" pitchFamily="2" charset="2"/>
              </a:rPr>
              <a:t>非</a:t>
            </a:r>
            <a:r>
              <a:rPr lang="zh-CN" altLang="en-US" sz="2200" dirty="0">
                <a:latin typeface="Arial" panose="020B0604020202090204" pitchFamily="34" charset="0"/>
                <a:cs typeface="Arial" panose="020B0604020202090204" pitchFamily="34" charset="0"/>
              </a:rPr>
              <a:t>参数假设检验</a:t>
            </a:r>
            <a:endParaRPr lang="zh-CN" altLang="en-US" sz="2200" dirty="0">
              <a:latin typeface="Arial" panose="020B0604020202090204" pitchFamily="34" charset="0"/>
              <a:cs typeface="Arial" panose="020B0604020202090204" pitchFamily="3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采用逻辑上的反证法，依据统计上的小概率原理</a:t>
            </a:r>
            <a:endParaRPr lang="zh-CN" altLang="en-US" sz="2200" dirty="0">
              <a:latin typeface="Arial" panose="020B0604020202090204" pitchFamily="34" charset="0"/>
              <a:cs typeface="Arial" panose="020B0604020202090204" pitchFamily="34" charset="0"/>
            </a:endParaRPr>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假设问题的提出</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Content Placeholder 8"/>
          <p:cNvSpPr txBox="1"/>
          <p:nvPr/>
        </p:nvSpPr>
        <p:spPr>
          <a:xfrm>
            <a:off x="6023992" y="1556792"/>
            <a:ext cx="5616624" cy="4680520"/>
          </a:xfrm>
          <a:prstGeom prst="rect">
            <a:avLst/>
          </a:prstGeom>
          <a:ln w="12700" cmpd="dbl">
            <a:solidFill>
              <a:schemeClr val="accent1"/>
            </a:solidFill>
          </a:ln>
        </p:spPr>
        <p:txBody>
          <a:bodyPr vert="horz">
            <a:norm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30000"/>
              </a:lnSpc>
              <a:buClr>
                <a:srgbClr val="318AAD"/>
              </a:buClr>
              <a:buSzPct val="100000"/>
              <a:buNone/>
              <a:defRPr/>
            </a:pPr>
            <a:r>
              <a:rPr lang="zh-CN" altLang="en-US" sz="2000" b="1" dirty="0">
                <a:solidFill>
                  <a:srgbClr val="FF0000"/>
                </a:solidFill>
                <a:latin typeface="Arial" panose="020B0604020202090204" pitchFamily="34" charset="0"/>
                <a:ea typeface="华文细黑" panose="02010600040101010101" pitchFamily="2" charset="-122"/>
                <a:cs typeface="Arial" panose="020B0604020202090204" pitchFamily="34" charset="0"/>
              </a:rPr>
              <a:t>原假设？</a:t>
            </a:r>
            <a:r>
              <a:rPr lang="en-US" altLang="zh-CN" sz="2000" b="1" dirty="0">
                <a:solidFill>
                  <a:srgbClr val="FF0000"/>
                </a:solidFill>
                <a:latin typeface="Arial" panose="020B0604020202090204" pitchFamily="34" charset="0"/>
                <a:ea typeface="华文细黑" panose="02010600040101010101" pitchFamily="2" charset="-122"/>
                <a:cs typeface="Arial" panose="020B0604020202090204" pitchFamily="34" charset="0"/>
              </a:rPr>
              <a:t>null hypothesis)</a:t>
            </a:r>
            <a:endParaRPr lang="en-US" altLang="zh-CN" sz="2000" b="1" dirty="0">
              <a:solidFill>
                <a:srgbClr val="FF0000"/>
              </a:solidFill>
              <a:latin typeface="Arial" panose="020B0604020202090204" pitchFamily="34" charset="0"/>
              <a:ea typeface="华文细黑" panose="02010600040101010101" pitchFamily="2" charset="-122"/>
              <a:cs typeface="Arial" panose="020B0604020202090204" pitchFamily="3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000" dirty="0">
                <a:latin typeface="Arial" panose="020B0604020202090204" pitchFamily="34" charset="0"/>
                <a:ea typeface="华文细黑" panose="02010600040101010101" pitchFamily="2" charset="-122"/>
                <a:cs typeface="Arial" panose="020B0604020202090204" pitchFamily="34" charset="0"/>
              </a:rPr>
              <a:t>待检验的假设，又称“</a:t>
            </a:r>
            <a:r>
              <a:rPr lang="en-US" altLang="zh-CN" sz="2000" dirty="0">
                <a:latin typeface="Arial" panose="020B0604020202090204" pitchFamily="34" charset="0"/>
                <a:ea typeface="华文细黑" panose="02010600040101010101" pitchFamily="2" charset="-122"/>
                <a:cs typeface="Arial" panose="020B0604020202090204" pitchFamily="34" charset="0"/>
              </a:rPr>
              <a:t>0</a:t>
            </a:r>
            <a:r>
              <a:rPr lang="zh-CN" altLang="en-US" sz="2000" dirty="0">
                <a:latin typeface="Arial" panose="020B0604020202090204" pitchFamily="34" charset="0"/>
                <a:ea typeface="华文细黑" panose="02010600040101010101" pitchFamily="2" charset="-122"/>
                <a:cs typeface="Arial" panose="020B0604020202090204" pitchFamily="34" charset="0"/>
              </a:rPr>
              <a:t>假设”</a:t>
            </a:r>
            <a:endParaRPr lang="zh-CN" altLang="en-US" sz="2000" dirty="0">
              <a:latin typeface="Arial" panose="020B0604020202090204" pitchFamily="34" charset="0"/>
              <a:ea typeface="华文细黑" panose="02010600040101010101" pitchFamily="2" charset="-122"/>
              <a:cs typeface="Arial" panose="020B0604020202090204" pitchFamily="3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000" dirty="0">
                <a:latin typeface="Arial" panose="020B0604020202090204" pitchFamily="34" charset="0"/>
                <a:ea typeface="华文细黑" panose="02010600040101010101" pitchFamily="2" charset="-122"/>
                <a:cs typeface="Arial" panose="020B0604020202090204" pitchFamily="34" charset="0"/>
              </a:rPr>
              <a:t>研究者想收集证据予以反对的假设</a:t>
            </a:r>
            <a:endParaRPr lang="zh-CN" altLang="en-US" sz="2000" dirty="0">
              <a:latin typeface="Arial" panose="020B0604020202090204" pitchFamily="34" charset="0"/>
              <a:ea typeface="华文细黑" panose="02010600040101010101" pitchFamily="2" charset="-122"/>
              <a:cs typeface="Arial" panose="020B0604020202090204" pitchFamily="3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000" dirty="0">
                <a:latin typeface="Arial" panose="020B0604020202090204" pitchFamily="34" charset="0"/>
                <a:ea typeface="华文细黑" panose="02010600040101010101" pitchFamily="2" charset="-122"/>
                <a:cs typeface="Arial" panose="020B0604020202090204" pitchFamily="34" charset="0"/>
              </a:rPr>
              <a:t>总是有等号 </a:t>
            </a:r>
            <a:r>
              <a:rPr lang="en-US" altLang="zh-CN" sz="2000" dirty="0">
                <a:latin typeface="Arial" panose="020B0604020202090204" pitchFamily="34" charset="0"/>
                <a:ea typeface="华文细黑" panose="02010600040101010101" pitchFamily="2" charset="-122"/>
                <a:cs typeface="Arial" panose="020B0604020202090204" pitchFamily="34" charset="0"/>
              </a:rPr>
              <a:t>,  </a:t>
            </a:r>
            <a:r>
              <a:rPr lang="zh-CN" altLang="en-US" sz="2000" dirty="0">
                <a:latin typeface="Arial" panose="020B0604020202090204" pitchFamily="34" charset="0"/>
                <a:ea typeface="华文细黑" panose="02010600040101010101" pitchFamily="2" charset="-122"/>
                <a:cs typeface="Arial" panose="020B0604020202090204" pitchFamily="34" charset="0"/>
              </a:rPr>
              <a:t>或</a:t>
            </a:r>
            <a:endParaRPr lang="zh-CN" altLang="en-US" sz="2000" dirty="0">
              <a:latin typeface="Arial" panose="020B0604020202090204" pitchFamily="34" charset="0"/>
              <a:ea typeface="华文细黑" panose="02010600040101010101" pitchFamily="2" charset="-122"/>
              <a:cs typeface="Arial" panose="020B0604020202090204" pitchFamily="3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000" dirty="0">
                <a:latin typeface="Arial" panose="020B0604020202090204" pitchFamily="34" charset="0"/>
                <a:ea typeface="华文细黑" panose="02010600040101010101" pitchFamily="2" charset="-122"/>
                <a:cs typeface="Arial" panose="020B0604020202090204" pitchFamily="34" charset="0"/>
              </a:rPr>
              <a:t>表示为 </a:t>
            </a:r>
            <a:r>
              <a:rPr lang="en-US" altLang="zh-CN" sz="2000" dirty="0">
                <a:latin typeface="Arial" panose="020B0604020202090204" pitchFamily="34" charset="0"/>
                <a:ea typeface="华文细黑" panose="02010600040101010101" pitchFamily="2" charset="-122"/>
                <a:cs typeface="Arial" panose="020B0604020202090204" pitchFamily="34" charset="0"/>
              </a:rPr>
              <a:t>H0</a:t>
            </a:r>
            <a:endParaRPr lang="en-US" altLang="zh-CN" sz="2000" dirty="0">
              <a:latin typeface="Arial" panose="020B0604020202090204" pitchFamily="34" charset="0"/>
              <a:ea typeface="华文细黑" panose="02010600040101010101" pitchFamily="2" charset="-122"/>
              <a:cs typeface="Arial" panose="020B0604020202090204" pitchFamily="34" charset="0"/>
            </a:endParaRPr>
          </a:p>
          <a:p>
            <a:pPr marL="0" indent="0" algn="just">
              <a:lnSpc>
                <a:spcPct val="130000"/>
              </a:lnSpc>
              <a:buClr>
                <a:srgbClr val="318AAD"/>
              </a:buClr>
              <a:buSzPct val="100000"/>
              <a:buNone/>
              <a:defRPr/>
            </a:pPr>
            <a:r>
              <a:rPr lang="zh-CN" altLang="en-US" sz="2100" b="1" dirty="0">
                <a:solidFill>
                  <a:srgbClr val="FF0000"/>
                </a:solidFill>
                <a:latin typeface="Arial" panose="020B0604020202090204" pitchFamily="34" charset="0"/>
                <a:ea typeface="华文细黑" panose="02010600040101010101" pitchFamily="2" charset="-122"/>
                <a:cs typeface="Arial" panose="020B0604020202090204" pitchFamily="34" charset="0"/>
              </a:rPr>
              <a:t>备择假设</a:t>
            </a:r>
            <a:r>
              <a:rPr lang="en-US" altLang="zh-CN" sz="2100" b="1" dirty="0">
                <a:solidFill>
                  <a:srgbClr val="FF0000"/>
                </a:solidFill>
                <a:latin typeface="Arial" panose="020B0604020202090204" pitchFamily="34" charset="0"/>
                <a:ea typeface="华文细黑" panose="02010600040101010101" pitchFamily="2" charset="-122"/>
                <a:cs typeface="Arial" panose="020B0604020202090204" pitchFamily="34" charset="0"/>
              </a:rPr>
              <a:t>(alternative hypothesis)</a:t>
            </a:r>
            <a:endParaRPr lang="en-US" altLang="zh-CN" sz="2100" b="1" dirty="0">
              <a:solidFill>
                <a:srgbClr val="FF0000"/>
              </a:solidFill>
              <a:latin typeface="Arial" panose="020B0604020202090204" pitchFamily="34" charset="0"/>
              <a:ea typeface="华文细黑" panose="02010600040101010101" pitchFamily="2" charset="-122"/>
              <a:cs typeface="Arial" panose="020B0604020202090204" pitchFamily="3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100" dirty="0">
                <a:latin typeface="Arial" panose="020B0604020202090204" pitchFamily="34" charset="0"/>
                <a:ea typeface="华文细黑" panose="02010600040101010101" pitchFamily="2" charset="-122"/>
                <a:cs typeface="Arial" panose="020B0604020202090204" pitchFamily="34" charset="0"/>
              </a:rPr>
              <a:t>与原假设对立的假设，也称“研究假设”</a:t>
            </a:r>
            <a:endParaRPr lang="zh-CN" altLang="en-US" sz="2100" dirty="0">
              <a:latin typeface="Arial" panose="020B0604020202090204" pitchFamily="34" charset="0"/>
              <a:ea typeface="华文细黑" panose="02010600040101010101" pitchFamily="2" charset="-122"/>
              <a:cs typeface="Arial" panose="020B0604020202090204" pitchFamily="3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100" dirty="0">
                <a:latin typeface="Arial" panose="020B0604020202090204" pitchFamily="34" charset="0"/>
                <a:ea typeface="华文细黑" panose="02010600040101010101" pitchFamily="2" charset="-122"/>
                <a:cs typeface="Arial" panose="020B0604020202090204" pitchFamily="34" charset="0"/>
              </a:rPr>
              <a:t>研究者想收集证据予以支持的假设总是有不等号</a:t>
            </a:r>
            <a:r>
              <a:rPr lang="en-US" altLang="zh-CN" sz="2100" dirty="0">
                <a:latin typeface="Arial" panose="020B0604020202090204" pitchFamily="34" charset="0"/>
                <a:ea typeface="华文细黑" panose="02010600040101010101" pitchFamily="2" charset="-122"/>
                <a:cs typeface="Arial" panose="020B0604020202090204" pitchFamily="34" charset="0"/>
              </a:rPr>
              <a:t>: , </a:t>
            </a:r>
            <a:r>
              <a:rPr lang="zh-CN" altLang="en-US" sz="2100" dirty="0">
                <a:latin typeface="Arial" panose="020B0604020202090204" pitchFamily="34" charset="0"/>
                <a:ea typeface="华文细黑" panose="02010600040101010101" pitchFamily="2" charset="-122"/>
                <a:cs typeface="Arial" panose="020B0604020202090204" pitchFamily="34" charset="0"/>
              </a:rPr>
              <a:t>或 </a:t>
            </a:r>
            <a:endParaRPr lang="zh-CN" altLang="en-US" sz="2100" dirty="0">
              <a:latin typeface="Arial" panose="020B0604020202090204" pitchFamily="34" charset="0"/>
              <a:ea typeface="华文细黑" panose="02010600040101010101" pitchFamily="2" charset="-122"/>
              <a:cs typeface="Arial" panose="020B0604020202090204" pitchFamily="34" charset="0"/>
            </a:endParaRPr>
          </a:p>
          <a:p>
            <a:pPr marL="447675" indent="-447675" algn="just">
              <a:lnSpc>
                <a:spcPct val="120000"/>
              </a:lnSpc>
              <a:buClr>
                <a:srgbClr val="318AAD"/>
              </a:buClr>
              <a:buSzPct val="100000"/>
              <a:buFont typeface="Wingdings" panose="05000000000000000000" pitchFamily="2" charset="2"/>
              <a:buChar char="l"/>
              <a:defRPr/>
            </a:pPr>
            <a:r>
              <a:rPr lang="zh-CN" altLang="en-US" sz="2100" dirty="0">
                <a:latin typeface="Arial" panose="020B0604020202090204" pitchFamily="34" charset="0"/>
                <a:ea typeface="华文细黑" panose="02010600040101010101" pitchFamily="2" charset="-122"/>
                <a:cs typeface="Arial" panose="020B0604020202090204" pitchFamily="34" charset="0"/>
              </a:rPr>
              <a:t>表示为 </a:t>
            </a:r>
            <a:r>
              <a:rPr lang="en-US" altLang="zh-CN" sz="2100" dirty="0">
                <a:latin typeface="Arial" panose="020B0604020202090204" pitchFamily="34" charset="0"/>
                <a:ea typeface="华文细黑" panose="02010600040101010101" pitchFamily="2" charset="-122"/>
                <a:cs typeface="Arial" panose="020B0604020202090204" pitchFamily="34" charset="0"/>
              </a:rPr>
              <a:t>H1</a:t>
            </a:r>
            <a:endParaRPr lang="en-US" altLang="zh-CN" sz="2100" dirty="0">
              <a:latin typeface="Arial" panose="020B0604020202090204" pitchFamily="34" charset="0"/>
              <a:ea typeface="华文细黑" panose="02010600040101010101" pitchFamily="2" charset="-122"/>
              <a:cs typeface="Arial" panose="020B0604020202090204" pitchFamily="34" charset="0"/>
            </a:endParaRPr>
          </a:p>
        </p:txBody>
      </p:sp>
    </p:spTree>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8.1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假设检验的基本问题</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9" name="Content Placeholder 8"/>
          <p:cNvSpPr>
            <a:spLocks noGrp="1"/>
          </p:cNvSpPr>
          <p:nvPr>
            <p:ph sz="quarter" idx="2"/>
          </p:nvPr>
        </p:nvSpPr>
        <p:spPr>
          <a:xfrm>
            <a:off x="551384" y="1556792"/>
            <a:ext cx="5256584" cy="4680520"/>
          </a:xfrm>
          <a:ln w="12700" cmpd="dbl">
            <a:solidFill>
              <a:schemeClr val="accent1"/>
            </a:solidFill>
          </a:ln>
        </p:spPr>
        <p:txBody>
          <a:bodyPr>
            <a:normAutofit/>
          </a:bodyPr>
          <a:lstStyle/>
          <a:p>
            <a:pPr marL="0" indent="0" algn="just">
              <a:lnSpc>
                <a:spcPct val="120000"/>
              </a:lnSpc>
              <a:buClr>
                <a:srgbClr val="318AAD"/>
              </a:buClr>
              <a:buSzPct val="100000"/>
              <a:buNone/>
              <a:defRPr/>
            </a:pPr>
            <a:r>
              <a:rPr lang="zh-CN" altLang="en-US" sz="2200" b="1" dirty="0">
                <a:solidFill>
                  <a:srgbClr val="FF0000"/>
                </a:solidFill>
                <a:latin typeface="Arial" panose="020B0604020202090204" pitchFamily="34" charset="0"/>
                <a:cs typeface="Arial" panose="020B0604020202090204" pitchFamily="34" charset="0"/>
              </a:rPr>
              <a:t>第一类错误（弃真错误）</a:t>
            </a:r>
            <a:endParaRPr lang="zh-CN" altLang="en-US" sz="2200" b="1" dirty="0">
              <a:solidFill>
                <a:srgbClr val="FF0000"/>
              </a:solidFill>
              <a:latin typeface="Arial" panose="020B0604020202090204" pitchFamily="34" charset="0"/>
              <a:cs typeface="Arial" panose="020B0604020202090204" pitchFamily="34" charset="0"/>
            </a:endParaRPr>
          </a:p>
          <a:p>
            <a:pPr marL="447675" lvl="1" indent="-447675" algn="just">
              <a:lnSpc>
                <a:spcPct val="120000"/>
              </a:lnSpc>
              <a:spcBef>
                <a:spcPts val="700"/>
              </a:spcBef>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原假设为真时拒绝原假设</a:t>
            </a:r>
            <a:endParaRPr lang="zh-CN" altLang="en-US" sz="2200" dirty="0">
              <a:latin typeface="Arial" panose="020B0604020202090204" pitchFamily="34" charset="0"/>
              <a:cs typeface="Arial" panose="020B0604020202090204" pitchFamily="34" charset="0"/>
            </a:endParaRPr>
          </a:p>
          <a:p>
            <a:pPr marL="447675" lvl="1" indent="-447675" algn="just">
              <a:lnSpc>
                <a:spcPct val="120000"/>
              </a:lnSpc>
              <a:spcBef>
                <a:spcPts val="700"/>
              </a:spcBef>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会产生一系列后果</a:t>
            </a:r>
            <a:endParaRPr lang="zh-CN" altLang="en-US" sz="2200" dirty="0">
              <a:latin typeface="Arial" panose="020B0604020202090204" pitchFamily="34" charset="0"/>
              <a:cs typeface="Arial" panose="020B0604020202090204" pitchFamily="34" charset="0"/>
            </a:endParaRPr>
          </a:p>
          <a:p>
            <a:pPr marL="447675" lvl="1" indent="-447675" algn="just">
              <a:lnSpc>
                <a:spcPct val="120000"/>
              </a:lnSpc>
              <a:spcBef>
                <a:spcPts val="700"/>
              </a:spcBef>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第一类错误的概率为</a:t>
            </a:r>
            <a:endParaRPr lang="zh-CN" altLang="en-US" sz="2200" dirty="0">
              <a:latin typeface="Arial" panose="020B0604020202090204" pitchFamily="34" charset="0"/>
              <a:cs typeface="Arial" panose="020B0604020202090204" pitchFamily="34" charset="0"/>
            </a:endParaRPr>
          </a:p>
          <a:p>
            <a:pPr lvl="2"/>
            <a:r>
              <a:rPr lang="zh-CN" altLang="en-US" dirty="0"/>
              <a:t>被称为显著性水平</a:t>
            </a:r>
            <a:endParaRPr lang="zh-CN" altLang="en-US" dirty="0"/>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两类错误</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Content Placeholder 8"/>
          <p:cNvSpPr txBox="1"/>
          <p:nvPr/>
        </p:nvSpPr>
        <p:spPr>
          <a:xfrm>
            <a:off x="6079638" y="1556792"/>
            <a:ext cx="5256584" cy="4680520"/>
          </a:xfrm>
          <a:prstGeom prst="rect">
            <a:avLst/>
          </a:prstGeom>
          <a:ln w="12700" cmpd="dbl">
            <a:solidFill>
              <a:schemeClr val="accent1"/>
            </a:solidFill>
          </a:ln>
        </p:spPr>
        <p:txBody>
          <a:bodyPr vert="horz">
            <a:normAutofit/>
          </a:bodyPr>
          <a:lstStyle>
            <a:lvl1pPr marL="320040" indent="-320040" algn="l" rtl="0" eaLnBrk="1" latinLnBrk="0" hangingPunct="1">
              <a:spcBef>
                <a:spcPts val="700"/>
              </a:spcBef>
              <a:buClr>
                <a:schemeClr val="accent2"/>
              </a:buClr>
              <a:buSzPct val="60000"/>
              <a:buFont typeface="Wingdings" panose="05000000000000000000"/>
              <a:buChar char=""/>
              <a:defRPr sz="2900" kern="1200">
                <a:solidFill>
                  <a:schemeClr val="tx1"/>
                </a:solidFill>
                <a:latin typeface="华文细黑" panose="02010600040101010101" pitchFamily="2" charset="-122"/>
                <a:ea typeface="华文细黑" panose="02010600040101010101" pitchFamily="2" charset="-122"/>
                <a:cs typeface="+mn-cs"/>
              </a:defRPr>
            </a:lvl1pPr>
            <a:lvl2pPr marL="640080" indent="-274320" algn="l" rtl="0" eaLnBrk="1" latinLnBrk="0" hangingPunct="1">
              <a:spcBef>
                <a:spcPts val="550"/>
              </a:spcBef>
              <a:buClr>
                <a:schemeClr val="accent1"/>
              </a:buClr>
              <a:buSzPct val="70000"/>
              <a:buFont typeface="Wingdings 2" panose="05020102010507070707"/>
              <a:buChar char=""/>
              <a:defRPr sz="2600" kern="1200">
                <a:solidFill>
                  <a:schemeClr val="tx1"/>
                </a:solidFill>
                <a:latin typeface="华文细黑" panose="02010600040101010101" pitchFamily="2" charset="-122"/>
                <a:ea typeface="华文细黑" panose="02010600040101010101" pitchFamily="2" charset="-122"/>
                <a:cs typeface="+mn-cs"/>
              </a:defRPr>
            </a:lvl2pPr>
            <a:lvl3pPr marL="914400" indent="-228600" algn="l" rtl="0" eaLnBrk="1" latinLnBrk="0" hangingPunct="1">
              <a:spcBef>
                <a:spcPts val="500"/>
              </a:spcBef>
              <a:buClr>
                <a:schemeClr val="accent2"/>
              </a:buClr>
              <a:buSzPct val="75000"/>
              <a:buFont typeface="Wingdings" panose="05000000000000000000"/>
              <a:buChar char=""/>
              <a:defRPr sz="2300" kern="1200">
                <a:solidFill>
                  <a:schemeClr val="tx1"/>
                </a:solidFill>
                <a:latin typeface="华文细黑" panose="02010600040101010101" pitchFamily="2" charset="-122"/>
                <a:ea typeface="华文细黑" panose="02010600040101010101" pitchFamily="2" charset="-122"/>
                <a:cs typeface="+mn-cs"/>
              </a:defRPr>
            </a:lvl3pPr>
            <a:lvl4pPr marL="1371600" indent="-228600" algn="l" rtl="0" eaLnBrk="1" latinLnBrk="0" hangingPunct="1">
              <a:spcBef>
                <a:spcPts val="400"/>
              </a:spcBef>
              <a:buClr>
                <a:schemeClr val="accent3"/>
              </a:buClr>
              <a:buSzPct val="7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4pPr>
            <a:lvl5pPr marL="1828800" indent="-228600" algn="l" rtl="0" eaLnBrk="1" latinLnBrk="0" hangingPunct="1">
              <a:spcBef>
                <a:spcPts val="400"/>
              </a:spcBef>
              <a:buClr>
                <a:schemeClr val="accent4"/>
              </a:buClr>
              <a:buSzPct val="65000"/>
              <a:buFont typeface="Wingdings" panose="05000000000000000000"/>
              <a:buChar char=""/>
              <a:defRPr sz="2000" kern="1200">
                <a:solidFill>
                  <a:schemeClr val="tx1"/>
                </a:solidFill>
                <a:latin typeface="华文细黑" panose="02010600040101010101" pitchFamily="2" charset="-122"/>
                <a:ea typeface="华文细黑" panose="02010600040101010101" pitchFamily="2" charset="-122"/>
                <a:cs typeface="+mn-cs"/>
              </a:defRPr>
            </a:lvl5pPr>
            <a:lvl6pPr marL="2103120" indent="-228600" algn="l" rtl="0" eaLnBrk="1" latinLnBrk="0" hangingPunct="1">
              <a:spcBef>
                <a:spcPct val="20000"/>
              </a:spcBef>
              <a:buClr>
                <a:schemeClr val="accent1"/>
              </a:buClr>
              <a:buFont typeface="Wingdings" panose="05000000000000000000"/>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sz="1800" kern="1200" baseline="0">
                <a:solidFill>
                  <a:schemeClr val="tx1"/>
                </a:solidFill>
                <a:latin typeface="+mn-lt"/>
                <a:ea typeface="+mn-ea"/>
                <a:cs typeface="+mn-cs"/>
              </a:defRPr>
            </a:lvl9pPr>
          </a:lstStyle>
          <a:p>
            <a:pPr marL="0" indent="0" algn="just">
              <a:lnSpc>
                <a:spcPct val="120000"/>
              </a:lnSpc>
              <a:buClr>
                <a:srgbClr val="318AAD"/>
              </a:buClr>
              <a:buSzPct val="100000"/>
              <a:buFont typeface="Wingdings" panose="05000000000000000000"/>
              <a:buNone/>
              <a:defRPr/>
            </a:pPr>
            <a:r>
              <a:rPr lang="zh-CN" altLang="en-US" sz="2200" b="1" dirty="0">
                <a:solidFill>
                  <a:srgbClr val="FF0000"/>
                </a:solidFill>
                <a:latin typeface="Arial" panose="020B0604020202090204" pitchFamily="34" charset="0"/>
                <a:cs typeface="Arial" panose="020B0604020202090204" pitchFamily="34" charset="0"/>
              </a:rPr>
              <a:t>第二类错误（取伪错误）</a:t>
            </a:r>
            <a:endParaRPr lang="zh-CN" altLang="en-US" sz="2200" b="1" dirty="0">
              <a:solidFill>
                <a:srgbClr val="FF0000"/>
              </a:solidFill>
              <a:latin typeface="Arial" panose="020B0604020202090204" pitchFamily="34" charset="0"/>
              <a:cs typeface="Arial" panose="020B0604020202090204" pitchFamily="34" charset="0"/>
            </a:endParaRPr>
          </a:p>
          <a:p>
            <a:pPr marL="447675" lvl="1" indent="-447675" algn="just">
              <a:lnSpc>
                <a:spcPct val="120000"/>
              </a:lnSpc>
              <a:spcBef>
                <a:spcPts val="700"/>
              </a:spcBef>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原假设为假时接受原假设</a:t>
            </a:r>
            <a:endParaRPr lang="zh-CN" altLang="en-US" sz="2200" dirty="0">
              <a:latin typeface="Arial" panose="020B0604020202090204" pitchFamily="34" charset="0"/>
              <a:cs typeface="Arial" panose="020B0604020202090204" pitchFamily="34" charset="0"/>
            </a:endParaRPr>
          </a:p>
          <a:p>
            <a:pPr marL="447675" lvl="1" indent="-447675" algn="just">
              <a:lnSpc>
                <a:spcPct val="120000"/>
              </a:lnSpc>
              <a:spcBef>
                <a:spcPts val="700"/>
              </a:spcBef>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第二类错误的概率为</a:t>
            </a:r>
            <a:r>
              <a:rPr lang="en-US" altLang="zh-CN" sz="2200" dirty="0">
                <a:latin typeface="Arial" panose="020B0604020202090204" pitchFamily="34" charset="0"/>
                <a:cs typeface="Arial" panose="020B0604020202090204" pitchFamily="34" charset="0"/>
              </a:rPr>
              <a:t>(Beta)</a:t>
            </a:r>
            <a:endParaRPr lang="zh-CN" altLang="en-US" sz="2200" dirty="0">
              <a:latin typeface="Arial" panose="020B0604020202090204" pitchFamily="34" charset="0"/>
              <a:cs typeface="Arial" panose="020B0604020202090204" pitchFamily="34" charset="0"/>
            </a:endParaRPr>
          </a:p>
        </p:txBody>
      </p:sp>
    </p:spTree>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pPr>
              <a:spcBef>
                <a:spcPts val="0"/>
              </a:spcBef>
            </a:pPr>
            <a:r>
              <a:rPr lang="en-US" altLang="zh-CN" sz="30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8.1</a:t>
            </a:r>
            <a:r>
              <a:rPr lang="en-US" altLang="zh-CN" sz="3000" b="1" dirty="0">
                <a:solidFill>
                  <a:srgbClr val="C00000"/>
                </a:solidFill>
                <a:latin typeface="微软雅黑" panose="020B0503020204020204" pitchFamily="34" charset="-122"/>
                <a:ea typeface="微软雅黑" panose="020B0503020204020204" pitchFamily="34" charset="-122"/>
              </a:rPr>
              <a:t>   </a:t>
            </a:r>
            <a:r>
              <a:rPr lang="zh-CN" altLang="en-US" sz="3000" b="1" dirty="0">
                <a:solidFill>
                  <a:srgbClr val="4F271C"/>
                </a:solidFill>
                <a:latin typeface="微软雅黑" panose="020B0503020204020204" pitchFamily="34" charset="-122"/>
                <a:ea typeface="微软雅黑" panose="020B0503020204020204" pitchFamily="34" charset="-122"/>
              </a:rPr>
              <a:t>假设检验的基本问题</a:t>
            </a:r>
            <a:endParaRPr lang="zh-CN" altLang="en-US" sz="3000" b="1" dirty="0">
              <a:solidFill>
                <a:srgbClr val="4F271C"/>
              </a:solidFill>
              <a:latin typeface="微软雅黑" panose="020B0503020204020204" pitchFamily="34" charset="-122"/>
              <a:ea typeface="微软雅黑" panose="020B0503020204020204" pitchFamily="34" charset="-122"/>
            </a:endParaRPr>
          </a:p>
        </p:txBody>
      </p:sp>
      <p:sp>
        <p:nvSpPr>
          <p:cNvPr id="9" name="Content Placeholder 8"/>
          <p:cNvSpPr>
            <a:spLocks noGrp="1"/>
          </p:cNvSpPr>
          <p:nvPr>
            <p:ph sz="quarter" idx="2"/>
          </p:nvPr>
        </p:nvSpPr>
        <p:spPr>
          <a:xfrm>
            <a:off x="551384" y="1556792"/>
            <a:ext cx="10873208" cy="4680520"/>
          </a:xfrm>
          <a:ln w="12700" cmpd="dbl">
            <a:solidFill>
              <a:schemeClr val="accent1"/>
            </a:solidFill>
          </a:ln>
        </p:spPr>
        <p:txBody>
          <a:bodyPr>
            <a:normAutofit/>
          </a:bodyPr>
          <a:lstStyle/>
          <a:p>
            <a:pPr marL="447675" lvl="1" indent="-447675" algn="just">
              <a:lnSpc>
                <a:spcPct val="120000"/>
              </a:lnSpc>
              <a:spcBef>
                <a:spcPts val="700"/>
              </a:spcBef>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提出假设</a:t>
            </a:r>
            <a:endParaRPr lang="zh-CN" altLang="en-US" sz="2200" dirty="0">
              <a:latin typeface="Arial" panose="020B0604020202090204" pitchFamily="34" charset="0"/>
              <a:cs typeface="Arial" panose="020B0604020202090204" pitchFamily="34" charset="0"/>
            </a:endParaRPr>
          </a:p>
          <a:p>
            <a:pPr marL="447675" lvl="1" indent="-447675" algn="just">
              <a:lnSpc>
                <a:spcPct val="120000"/>
              </a:lnSpc>
              <a:spcBef>
                <a:spcPts val="700"/>
              </a:spcBef>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确定适当的检验统计量</a:t>
            </a:r>
            <a:endParaRPr lang="zh-CN" altLang="en-US" sz="2200" dirty="0">
              <a:latin typeface="Arial" panose="020B0604020202090204" pitchFamily="34" charset="0"/>
              <a:cs typeface="Arial" panose="020B0604020202090204" pitchFamily="34" charset="0"/>
            </a:endParaRPr>
          </a:p>
          <a:p>
            <a:pPr marL="447675" lvl="1" indent="-447675" algn="just">
              <a:lnSpc>
                <a:spcPct val="120000"/>
              </a:lnSpc>
              <a:spcBef>
                <a:spcPts val="700"/>
              </a:spcBef>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规定显著性水平</a:t>
            </a:r>
            <a:endParaRPr lang="zh-CN" altLang="en-US" sz="2200" dirty="0">
              <a:latin typeface="Arial" panose="020B0604020202090204" pitchFamily="34" charset="0"/>
              <a:cs typeface="Arial" panose="020B0604020202090204" pitchFamily="34" charset="0"/>
            </a:endParaRPr>
          </a:p>
          <a:p>
            <a:pPr marL="447675" lvl="1" indent="-447675" algn="just">
              <a:lnSpc>
                <a:spcPct val="120000"/>
              </a:lnSpc>
              <a:spcBef>
                <a:spcPts val="700"/>
              </a:spcBef>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计算检验统计量的值</a:t>
            </a:r>
            <a:endParaRPr lang="zh-CN" altLang="en-US" sz="2200" dirty="0">
              <a:latin typeface="Arial" panose="020B0604020202090204" pitchFamily="34" charset="0"/>
              <a:cs typeface="Arial" panose="020B0604020202090204" pitchFamily="34" charset="0"/>
            </a:endParaRPr>
          </a:p>
          <a:p>
            <a:pPr marL="447675" lvl="1" indent="-447675" algn="just">
              <a:lnSpc>
                <a:spcPct val="120000"/>
              </a:lnSpc>
              <a:spcBef>
                <a:spcPts val="700"/>
              </a:spcBef>
              <a:buClr>
                <a:srgbClr val="318AAD"/>
              </a:buClr>
              <a:buSzPct val="100000"/>
              <a:buFont typeface="Wingdings" panose="05000000000000000000" pitchFamily="2" charset="2"/>
              <a:buChar char="l"/>
              <a:defRPr/>
            </a:pPr>
            <a:r>
              <a:rPr lang="zh-CN" altLang="en-US" sz="2200" dirty="0">
                <a:latin typeface="Arial" panose="020B0604020202090204" pitchFamily="34" charset="0"/>
                <a:cs typeface="Arial" panose="020B0604020202090204" pitchFamily="34" charset="0"/>
              </a:rPr>
              <a:t>作出统计决策</a:t>
            </a:r>
            <a:endParaRPr lang="zh-CN" altLang="en-US" sz="2200" dirty="0">
              <a:latin typeface="Arial" panose="020B0604020202090204" pitchFamily="34" charset="0"/>
              <a:cs typeface="Arial" panose="020B0604020202090204" pitchFamily="34" charset="0"/>
            </a:endParaRPr>
          </a:p>
          <a:p>
            <a:pPr lvl="2"/>
            <a:endParaRPr lang="zh-CN" altLang="en-US" dirty="0"/>
          </a:p>
        </p:txBody>
      </p:sp>
      <p:sp>
        <p:nvSpPr>
          <p:cNvPr id="8" name="Rectangle 6"/>
          <p:cNvSpPr/>
          <p:nvPr/>
        </p:nvSpPr>
        <p:spPr bwMode="white">
          <a:xfrm>
            <a:off x="1991544" y="909918"/>
            <a:ext cx="10200456" cy="4308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lvl="0" algn="just"/>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假设检验的流程</a:t>
            </a:r>
            <a:endParaRPr 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noFill/>
        </p:spPr>
        <p:txBody>
          <a:bodyPr>
            <a:normAutofit fontScale="90000"/>
          </a:bodyPr>
          <a:lstStyle/>
          <a:p>
            <a:r>
              <a:rPr lang="en-US" altLang="zh-CN" sz="4000">
                <a:latin typeface="Symbol" panose="05050102010706020507" pitchFamily="18" charset="2"/>
              </a:rPr>
              <a:t></a:t>
            </a:r>
            <a:r>
              <a:rPr lang="en-US" altLang="zh-CN" sz="4000" baseline="30000">
                <a:latin typeface="Arial" panose="020B0604020202090204" pitchFamily="34" charset="0"/>
              </a:rPr>
              <a:t>2</a:t>
            </a:r>
            <a:r>
              <a:rPr lang="en-US" altLang="zh-CN" sz="4000">
                <a:latin typeface="Arial" panose="020B0604020202090204" pitchFamily="34" charset="0"/>
              </a:rPr>
              <a:t> </a:t>
            </a:r>
            <a:r>
              <a:rPr lang="zh-CN" altLang="en-US" sz="4000">
                <a:latin typeface="Arial" panose="020B0604020202090204" pitchFamily="34" charset="0"/>
              </a:rPr>
              <a:t>已知均值的检验</a:t>
            </a:r>
            <a:br>
              <a:rPr lang="zh-CN" altLang="en-US" sz="4000">
                <a:latin typeface="Arial" panose="020B0604020202090204" pitchFamily="34" charset="0"/>
              </a:rPr>
            </a:br>
            <a:r>
              <a:rPr lang="zh-CN" altLang="en-US" sz="4000">
                <a:latin typeface="Arial" panose="020B0604020202090204" pitchFamily="34" charset="0"/>
              </a:rPr>
              <a:t> </a:t>
            </a:r>
            <a:r>
              <a:rPr lang="en-US" altLang="zh-CN" sz="3600">
                <a:solidFill>
                  <a:schemeClr val="hlink"/>
                </a:solidFill>
                <a:latin typeface="Arial" panose="020B0604020202090204" pitchFamily="34" charset="0"/>
              </a:rPr>
              <a:t>(</a:t>
            </a:r>
            <a:r>
              <a:rPr lang="en-US" altLang="zh-CN" sz="3600" i="1">
                <a:solidFill>
                  <a:schemeClr val="hlink"/>
                </a:solidFill>
                <a:latin typeface="Arial" panose="020B0604020202090204" pitchFamily="34" charset="0"/>
              </a:rPr>
              <a:t>P </a:t>
            </a:r>
            <a:r>
              <a:rPr lang="zh-CN" altLang="en-US" sz="3600">
                <a:solidFill>
                  <a:schemeClr val="hlink"/>
                </a:solidFill>
                <a:latin typeface="Arial" panose="020B0604020202090204" pitchFamily="34" charset="0"/>
              </a:rPr>
              <a:t>值的计算与应用</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108547" name="Rectangle 3"/>
          <p:cNvSpPr>
            <a:spLocks noGrp="1" noChangeArrowheads="1"/>
          </p:cNvSpPr>
          <p:nvPr>
            <p:ph type="body" sz="half" idx="1"/>
          </p:nvPr>
        </p:nvSpPr>
        <p:spPr>
          <a:xfrm>
            <a:off x="2133600" y="1789114"/>
            <a:ext cx="8058150" cy="4281487"/>
          </a:xfrm>
          <a:noFill/>
        </p:spPr>
        <p:txBody>
          <a:bodyPr>
            <a:normAutofit fontScale="92500"/>
          </a:bodyPr>
          <a:lstStyle/>
          <a:p>
            <a:pPr marL="0" indent="0" algn="just"/>
            <a:r>
              <a:rPr lang="zh-CN" altLang="en-US" sz="2800" dirty="0"/>
              <a:t>第</a:t>
            </a:r>
            <a:r>
              <a:rPr lang="en-US" altLang="zh-CN" sz="2800" dirty="0"/>
              <a:t>1</a:t>
            </a:r>
            <a:r>
              <a:rPr lang="zh-CN" altLang="en-US" sz="2800" dirty="0"/>
              <a:t>步：进入</a:t>
            </a:r>
            <a:r>
              <a:rPr lang="en-US" altLang="zh-CN" sz="2800" dirty="0"/>
              <a:t>Excel</a:t>
            </a:r>
            <a:r>
              <a:rPr lang="zh-CN" altLang="en-US" sz="2800" dirty="0"/>
              <a:t>表格界面，选择“插入”下拉菜单</a:t>
            </a:r>
            <a:endParaRPr lang="zh-CN" altLang="en-US" sz="2800" dirty="0"/>
          </a:p>
          <a:p>
            <a:pPr marL="0" indent="0" algn="just"/>
            <a:r>
              <a:rPr lang="zh-CN" altLang="en-US" sz="2800" dirty="0"/>
              <a:t>第</a:t>
            </a:r>
            <a:r>
              <a:rPr lang="en-US" altLang="zh-CN" sz="2800" dirty="0"/>
              <a:t>2</a:t>
            </a:r>
            <a:r>
              <a:rPr lang="zh-CN" altLang="en-US" sz="2800" dirty="0"/>
              <a:t>步：选择“函数”点击</a:t>
            </a:r>
            <a:endParaRPr lang="zh-CN" altLang="en-US" sz="2800" dirty="0"/>
          </a:p>
          <a:p>
            <a:pPr marL="0" indent="0" algn="just"/>
            <a:r>
              <a:rPr lang="zh-CN" altLang="en-US" sz="2800" dirty="0"/>
              <a:t>第</a:t>
            </a:r>
            <a:r>
              <a:rPr lang="en-US" altLang="zh-CN" sz="2800" dirty="0"/>
              <a:t>3</a:t>
            </a:r>
            <a:r>
              <a:rPr lang="zh-CN" altLang="en-US" sz="2800" dirty="0"/>
              <a:t>步：在函数分类中点击“统计”，在函数名的菜</a:t>
            </a:r>
            <a:endParaRPr lang="zh-CN" altLang="en-US" sz="2800" dirty="0"/>
          </a:p>
          <a:p>
            <a:pPr marL="0" indent="0" algn="just"/>
            <a:r>
              <a:rPr lang="zh-CN" altLang="en-US" sz="2800" dirty="0"/>
              <a:t>             单下选择字符“</a:t>
            </a:r>
            <a:r>
              <a:rPr lang="en-US" altLang="zh-CN" sz="2800" dirty="0"/>
              <a:t>NORMSDIST”</a:t>
            </a:r>
            <a:r>
              <a:rPr lang="zh-CN" altLang="en-US" sz="2800" dirty="0"/>
              <a:t>然后确定</a:t>
            </a:r>
            <a:endParaRPr lang="zh-CN" altLang="en-US" sz="2800" dirty="0"/>
          </a:p>
          <a:p>
            <a:pPr marL="0" indent="0" algn="just"/>
            <a:r>
              <a:rPr lang="zh-CN" altLang="en-US" sz="2800" dirty="0"/>
              <a:t>第</a:t>
            </a:r>
            <a:r>
              <a:rPr lang="en-US" altLang="zh-CN" sz="2800" dirty="0"/>
              <a:t>4</a:t>
            </a:r>
            <a:r>
              <a:rPr lang="zh-CN" altLang="en-US" sz="2800" dirty="0"/>
              <a:t>步：将</a:t>
            </a:r>
            <a:r>
              <a:rPr lang="en-US" altLang="zh-CN" sz="2800" i="1" dirty="0"/>
              <a:t>Z</a:t>
            </a:r>
            <a:r>
              <a:rPr lang="zh-CN" altLang="en-US" sz="2800" dirty="0"/>
              <a:t>的绝对值</a:t>
            </a:r>
            <a:r>
              <a:rPr lang="en-US" altLang="zh-CN" sz="2800" dirty="0"/>
              <a:t>2.83</a:t>
            </a:r>
            <a:r>
              <a:rPr lang="zh-CN" altLang="en-US" sz="2800" dirty="0"/>
              <a:t>录入，得到的函数值为</a:t>
            </a:r>
            <a:endParaRPr lang="zh-CN" altLang="en-US" sz="2800" dirty="0"/>
          </a:p>
          <a:p>
            <a:pPr marL="0" indent="0" algn="just"/>
            <a:r>
              <a:rPr lang="zh-CN" altLang="en-US" sz="2800" dirty="0"/>
              <a:t>             </a:t>
            </a:r>
            <a:r>
              <a:rPr lang="en-US" altLang="zh-CN" sz="2800" dirty="0"/>
              <a:t>0.997672537</a:t>
            </a:r>
            <a:endParaRPr lang="en-US" altLang="zh-CN" sz="2800" dirty="0"/>
          </a:p>
          <a:p>
            <a:pPr marL="0" indent="0" algn="just"/>
            <a:r>
              <a:rPr lang="en-US" altLang="zh-CN" sz="2800" dirty="0"/>
              <a:t>             P</a:t>
            </a:r>
            <a:r>
              <a:rPr lang="zh-CN" altLang="en-US" sz="2800" dirty="0"/>
              <a:t>值</a:t>
            </a:r>
            <a:r>
              <a:rPr lang="en-US" altLang="zh-CN" sz="2800" dirty="0"/>
              <a:t>=2(1</a:t>
            </a:r>
            <a:r>
              <a:rPr lang="zh-CN" altLang="en-US" sz="2800" dirty="0"/>
              <a:t>－</a:t>
            </a:r>
            <a:r>
              <a:rPr lang="en-US" altLang="zh-CN" sz="2800" dirty="0"/>
              <a:t>0.997672537)=0.004654</a:t>
            </a:r>
            <a:endParaRPr lang="en-US" altLang="zh-CN" sz="2800" dirty="0"/>
          </a:p>
          <a:p>
            <a:pPr marL="0" indent="0" algn="just"/>
            <a:r>
              <a:rPr lang="en-US" altLang="zh-CN" sz="2800" dirty="0">
                <a:cs typeface="Times New Roman" panose="02020603050405020304" pitchFamily="18" charset="0"/>
              </a:rPr>
              <a:t>                      P</a:t>
            </a:r>
            <a:r>
              <a:rPr lang="zh-CN" altLang="en-US" sz="2800" dirty="0"/>
              <a:t>值远远小于</a:t>
            </a:r>
            <a:r>
              <a:rPr lang="zh-CN" altLang="en-US" sz="2800" dirty="0">
                <a:sym typeface="Symbol" panose="05050102010706020507" pitchFamily="18" charset="2"/>
              </a:rPr>
              <a:t></a:t>
            </a:r>
            <a:r>
              <a:rPr lang="zh-CN" altLang="en-US" sz="2800" dirty="0"/>
              <a:t>，故拒绝</a:t>
            </a:r>
            <a:r>
              <a:rPr lang="en-US" altLang="zh-CN" sz="2800" dirty="0"/>
              <a:t>H</a:t>
            </a:r>
            <a:r>
              <a:rPr lang="en-US" altLang="zh-CN" sz="2800" baseline="-25000" dirty="0"/>
              <a:t>0</a:t>
            </a:r>
            <a:endParaRPr lang="en-US" altLang="zh-CN" sz="2800" dirty="0"/>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3200400" y="152400"/>
            <a:ext cx="7239000" cy="1143000"/>
          </a:xfrm>
          <a:noFill/>
        </p:spPr>
        <p:txBody>
          <a:bodyPr>
            <a:normAutofit fontScale="90000"/>
          </a:bodyPr>
          <a:lstStyle/>
          <a:p>
            <a:r>
              <a:rPr lang="en-US" altLang="zh-CN" sz="4000">
                <a:latin typeface="Symbol" panose="05050102010706020507" pitchFamily="18" charset="2"/>
              </a:rPr>
              <a:t></a:t>
            </a:r>
            <a:r>
              <a:rPr lang="en-US" altLang="zh-CN" sz="4000" baseline="30000">
                <a:latin typeface="Arial" panose="020B0604020202090204" pitchFamily="34" charset="0"/>
              </a:rPr>
              <a:t>2</a:t>
            </a:r>
            <a:r>
              <a:rPr lang="en-US" altLang="zh-CN" sz="4000">
                <a:latin typeface="Arial" panose="020B0604020202090204" pitchFamily="34" charset="0"/>
              </a:rPr>
              <a:t> </a:t>
            </a:r>
            <a:r>
              <a:rPr lang="zh-CN" altLang="en-US" sz="4000">
                <a:latin typeface="Arial" panose="020B0604020202090204" pitchFamily="34" charset="0"/>
              </a:rPr>
              <a:t>已知均值的检验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小样本例题分析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155656" name="Rectangle 8"/>
          <p:cNvSpPr>
            <a:spLocks noGrp="1" noChangeArrowheads="1"/>
          </p:cNvSpPr>
          <p:nvPr>
            <p:ph type="body" sz="half" idx="1"/>
          </p:nvPr>
        </p:nvSpPr>
        <p:spPr>
          <a:xfrm>
            <a:off x="2117725" y="1857375"/>
            <a:ext cx="5105400" cy="4305300"/>
          </a:xfrm>
        </p:spPr>
        <p:txBody>
          <a:bodyPr/>
          <a:lstStyle/>
          <a:p>
            <a:pPr marL="0" indent="0" algn="just"/>
            <a:r>
              <a:rPr lang="en-US" altLang="zh-CN" b="1" dirty="0"/>
              <a:t>【</a:t>
            </a:r>
            <a:r>
              <a:rPr lang="zh-CN" altLang="en-US" b="1" dirty="0"/>
              <a:t>例</a:t>
            </a:r>
            <a:r>
              <a:rPr lang="en-US" altLang="zh-CN" b="1" dirty="0"/>
              <a:t>】</a:t>
            </a:r>
            <a:r>
              <a:rPr lang="zh-CN" altLang="en-US" sz="3000" dirty="0"/>
              <a:t>根据过去大量资料，某厂生产的灯泡的使用寿命服从正态分布</a:t>
            </a:r>
            <a:r>
              <a:rPr lang="en-US" altLang="zh-CN" sz="3000" i="1" dirty="0">
                <a:latin typeface="Times New Roman" panose="02020603050405020304" pitchFamily="18" charset="0"/>
              </a:rPr>
              <a:t>N~</a:t>
            </a:r>
            <a:r>
              <a:rPr lang="en-US" altLang="zh-CN" sz="3000" dirty="0"/>
              <a:t>(1020</a:t>
            </a:r>
            <a:r>
              <a:rPr lang="zh-CN" altLang="en-US" sz="3000" dirty="0"/>
              <a:t>，</a:t>
            </a:r>
            <a:r>
              <a:rPr lang="en-US" altLang="zh-CN" sz="3000" dirty="0"/>
              <a:t>100</a:t>
            </a:r>
            <a:r>
              <a:rPr lang="en-US" altLang="zh-CN" sz="3000" baseline="30000" dirty="0"/>
              <a:t>2</a:t>
            </a:r>
            <a:r>
              <a:rPr lang="en-US" altLang="zh-CN" sz="3000" dirty="0"/>
              <a:t>)</a:t>
            </a:r>
            <a:r>
              <a:rPr lang="zh-CN" altLang="en-US" sz="3000" dirty="0"/>
              <a:t>。现从最近生产的一批产品中随机抽取</a:t>
            </a:r>
            <a:r>
              <a:rPr lang="en-US" altLang="zh-CN" sz="3000" dirty="0"/>
              <a:t>16</a:t>
            </a:r>
            <a:r>
              <a:rPr lang="zh-CN" altLang="en-US" sz="3000" dirty="0"/>
              <a:t>只，测得样本平均寿命为</a:t>
            </a:r>
            <a:r>
              <a:rPr lang="en-US" altLang="zh-CN" sz="3000" dirty="0"/>
              <a:t>1080</a:t>
            </a:r>
            <a:r>
              <a:rPr lang="zh-CN" altLang="en-US" sz="3000" dirty="0"/>
              <a:t>小时。试在</a:t>
            </a:r>
            <a:r>
              <a:rPr lang="en-US" altLang="zh-CN" sz="3000" dirty="0"/>
              <a:t>0.05</a:t>
            </a:r>
            <a:r>
              <a:rPr lang="zh-CN" altLang="en-US" sz="3000" dirty="0"/>
              <a:t>的显著性水平下判断这批产品的使用寿命是否有显著提高？</a:t>
            </a:r>
            <a:r>
              <a:rPr lang="en-US" altLang="zh-CN" sz="3000" dirty="0"/>
              <a:t>(</a:t>
            </a:r>
            <a:r>
              <a:rPr lang="en-US" altLang="zh-CN" sz="3000" dirty="0">
                <a:sym typeface="Symbol" panose="05050102010706020507" pitchFamily="18" charset="2"/>
              </a:rPr>
              <a:t></a:t>
            </a:r>
            <a:r>
              <a:rPr lang="zh-CN" altLang="en-US" sz="3000" dirty="0"/>
              <a:t>＝</a:t>
            </a:r>
            <a:r>
              <a:rPr lang="en-US" altLang="zh-CN" sz="3000" dirty="0"/>
              <a:t>0.05)</a:t>
            </a:r>
            <a:endParaRPr lang="en-US" altLang="zh-CN" sz="3000" dirty="0"/>
          </a:p>
        </p:txBody>
      </p:sp>
      <p:sp>
        <p:nvSpPr>
          <p:cNvPr id="155663" name="Litebulb">
            <a:hlinkHover r:id="" action="ppaction://noaction" highlightClick="1"/>
          </p:cNvPr>
          <p:cNvSpPr>
            <a:spLocks noEditPoints="1" noChangeArrowheads="1"/>
          </p:cNvSpPr>
          <p:nvPr/>
        </p:nvSpPr>
        <p:spPr bwMode="auto">
          <a:xfrm>
            <a:off x="7891464" y="3309939"/>
            <a:ext cx="2028825" cy="2981325"/>
          </a:xfrm>
          <a:custGeom>
            <a:avLst/>
            <a:gdLst>
              <a:gd name="T0" fmla="*/ 10800 w 21600"/>
              <a:gd name="T1" fmla="*/ 0 h 21600"/>
              <a:gd name="T2" fmla="*/ 21600 w 21600"/>
              <a:gd name="T3" fmla="*/ 7782 h 21600"/>
              <a:gd name="T4" fmla="*/ 0 w 21600"/>
              <a:gd name="T5" fmla="*/ 7782 h 21600"/>
              <a:gd name="T6" fmla="*/ 10800 w 21600"/>
              <a:gd name="T7" fmla="*/ 21600 h 21600"/>
              <a:gd name="T8" fmla="*/ 3556 w 21600"/>
              <a:gd name="T9" fmla="*/ 2188 h 21600"/>
              <a:gd name="T10" fmla="*/ 18277 w 21600"/>
              <a:gd name="T11" fmla="*/ 9282 h 21600"/>
            </a:gdLst>
            <a:ahLst/>
            <a:cxnLst>
              <a:cxn ang="0">
                <a:pos x="T0" y="T1"/>
              </a:cxn>
              <a:cxn ang="0">
                <a:pos x="T2" y="T3"/>
              </a:cxn>
              <a:cxn ang="0">
                <a:pos x="T4" y="T5"/>
              </a:cxn>
              <a:cxn ang="0">
                <a:pos x="T6" y="T7"/>
              </a:cxn>
            </a:cxnLst>
            <a:rect l="T8" t="T9" r="T10" b="T11"/>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D9"/>
          </a:solidFill>
          <a:ln w="57150">
            <a:solidFill>
              <a:srgbClr val="000000"/>
            </a:solidFill>
            <a:miter lim="800000"/>
          </a:ln>
        </p:spPr>
        <p:txBody>
          <a:bodyPr/>
          <a:lstStyle/>
          <a:p>
            <a:endParaRPr lang="zh-CN" altLang="en-US"/>
          </a:p>
        </p:txBody>
      </p:sp>
      <p:sp>
        <p:nvSpPr>
          <p:cNvPr id="155664" name="AutoShape 16"/>
          <p:cNvSpPr>
            <a:spLocks noChangeArrowheads="1"/>
          </p:cNvSpPr>
          <p:nvPr/>
        </p:nvSpPr>
        <p:spPr bwMode="auto">
          <a:xfrm>
            <a:off x="7605714" y="2114551"/>
            <a:ext cx="2490787" cy="830263"/>
          </a:xfrm>
          <a:prstGeom prst="cloudCallout">
            <a:avLst>
              <a:gd name="adj1" fmla="val -55991"/>
              <a:gd name="adj2" fmla="val 119792"/>
            </a:avLst>
          </a:prstGeom>
          <a:noFill/>
          <a:ln w="12700">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lang="zh-CN" altLang="en-US">
                <a:solidFill>
                  <a:schemeClr val="accent2"/>
                </a:solidFill>
                <a:effectLst>
                  <a:outerShdw blurRad="38100" dist="38100" dir="2700000" algn="tl">
                    <a:srgbClr val="000000"/>
                  </a:outerShdw>
                </a:effectLst>
              </a:rPr>
              <a:t>单侧检验</a:t>
            </a:r>
            <a:endParaRPr lang="zh-CN" altLang="en-US">
              <a:solidFill>
                <a:schemeClr val="accent2"/>
              </a:solidFill>
              <a:effectLst>
                <a:outerShdw blurRad="38100" dist="38100" dir="2700000" algn="tl">
                  <a:srgbClr val="000000"/>
                </a:outerShdw>
              </a:effectLst>
            </a:endParaRP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a:noFill/>
        </p:spPr>
        <p:txBody>
          <a:bodyPr>
            <a:normAutofit fontScale="90000"/>
          </a:bodyPr>
          <a:lstStyle/>
          <a:p>
            <a:r>
              <a:rPr lang="en-US" altLang="zh-CN" sz="4000">
                <a:latin typeface="Symbol" panose="05050102010706020507" pitchFamily="18" charset="2"/>
              </a:rPr>
              <a:t></a:t>
            </a:r>
            <a:r>
              <a:rPr lang="en-US" altLang="zh-CN" sz="4000" baseline="30000">
                <a:latin typeface="Arial" panose="020B0604020202090204" pitchFamily="34" charset="0"/>
              </a:rPr>
              <a:t>2</a:t>
            </a:r>
            <a:r>
              <a:rPr lang="en-US" altLang="zh-CN" sz="4000">
                <a:latin typeface="Arial" panose="020B0604020202090204" pitchFamily="34" charset="0"/>
              </a:rPr>
              <a:t> </a:t>
            </a:r>
            <a:r>
              <a:rPr lang="zh-CN" altLang="en-US" sz="4000">
                <a:latin typeface="Arial" panose="020B0604020202090204" pitchFamily="34" charset="0"/>
              </a:rPr>
              <a:t>已知均值的检验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小样本例题分析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169987" name="Rectangle 3"/>
          <p:cNvSpPr>
            <a:spLocks noGrp="1" noChangeArrowheads="1"/>
          </p:cNvSpPr>
          <p:nvPr>
            <p:ph type="body" sz="half" idx="1"/>
          </p:nvPr>
        </p:nvSpPr>
        <p:spPr>
          <a:xfrm>
            <a:off x="2090738" y="1838325"/>
            <a:ext cx="3848100" cy="3932238"/>
          </a:xfrm>
          <a:noFill/>
        </p:spPr>
        <p:txBody>
          <a:bodyPr/>
          <a:lstStyle/>
          <a:p>
            <a:pPr marL="0" indent="0"/>
            <a:r>
              <a:rPr lang="en-US" altLang="zh-CN" sz="2800" b="1" dirty="0"/>
              <a:t>H</a:t>
            </a:r>
            <a:r>
              <a:rPr lang="en-US" altLang="zh-CN" sz="2000" b="1" dirty="0"/>
              <a:t>0</a:t>
            </a:r>
            <a:r>
              <a:rPr lang="en-US" altLang="zh-CN" sz="2800" b="1" dirty="0"/>
              <a:t>: </a:t>
            </a:r>
            <a:r>
              <a:rPr lang="en-US" altLang="zh-CN" sz="2800" b="1" dirty="0">
                <a:latin typeface="Symbol" panose="05050102010706020507" pitchFamily="18" charset="2"/>
              </a:rPr>
              <a:t></a:t>
            </a:r>
            <a:r>
              <a:rPr lang="en-US" altLang="zh-CN" sz="2800" b="1" dirty="0"/>
              <a:t> </a:t>
            </a:r>
            <a:r>
              <a:rPr lang="en-US" altLang="zh-CN" sz="2800" b="1" dirty="0">
                <a:sym typeface="Symbol" panose="05050102010706020507" pitchFamily="18" charset="2"/>
              </a:rPr>
              <a:t></a:t>
            </a:r>
            <a:r>
              <a:rPr lang="en-US" altLang="zh-CN" sz="2800" b="1" dirty="0"/>
              <a:t> 1020</a:t>
            </a:r>
            <a:endParaRPr lang="en-US" altLang="zh-CN" sz="2800" b="1" dirty="0"/>
          </a:p>
          <a:p>
            <a:pPr marL="0" indent="0"/>
            <a:r>
              <a:rPr lang="en-US" altLang="zh-CN" sz="2800" b="1" dirty="0"/>
              <a:t>H</a:t>
            </a:r>
            <a:r>
              <a:rPr lang="en-US" altLang="zh-CN" sz="2000" b="1" dirty="0"/>
              <a:t>1</a:t>
            </a:r>
            <a:r>
              <a:rPr lang="en-US" altLang="zh-CN" sz="2800" b="1" dirty="0"/>
              <a:t>: </a:t>
            </a:r>
            <a:r>
              <a:rPr lang="en-US" altLang="zh-CN" sz="2800" b="1" dirty="0">
                <a:latin typeface="Symbol" panose="05050102010706020507" pitchFamily="18" charset="2"/>
              </a:rPr>
              <a:t></a:t>
            </a:r>
            <a:r>
              <a:rPr lang="en-US" altLang="zh-CN" sz="2800" b="1" dirty="0"/>
              <a:t> &gt; 1020</a:t>
            </a:r>
            <a:endParaRPr lang="en-US" altLang="zh-CN" sz="2800" b="1" dirty="0"/>
          </a:p>
          <a:p>
            <a:pPr marL="0" indent="0"/>
            <a:r>
              <a:rPr lang="en-US" altLang="zh-CN" sz="2800" b="1" dirty="0">
                <a:latin typeface="Symbol" panose="05050102010706020507" pitchFamily="18" charset="2"/>
              </a:rPr>
              <a:t></a:t>
            </a:r>
            <a:r>
              <a:rPr lang="en-US" altLang="zh-CN" sz="2800" b="1" dirty="0"/>
              <a:t> = 0.05</a:t>
            </a:r>
            <a:endParaRPr lang="en-US" altLang="zh-CN" sz="2800" b="1" dirty="0"/>
          </a:p>
          <a:p>
            <a:pPr marL="0" indent="0"/>
            <a:r>
              <a:rPr lang="en-US" altLang="zh-CN" sz="2800" b="1" i="1" dirty="0">
                <a:latin typeface="Times New Roman" panose="02020603050405020304" pitchFamily="18" charset="0"/>
              </a:rPr>
              <a:t>n</a:t>
            </a:r>
            <a:r>
              <a:rPr lang="en-US" altLang="zh-CN" sz="2800" b="1" i="1" dirty="0"/>
              <a:t> </a:t>
            </a:r>
            <a:r>
              <a:rPr lang="en-US" altLang="zh-CN" sz="2800" b="1" dirty="0"/>
              <a:t>= 16</a:t>
            </a:r>
            <a:endParaRPr lang="en-US" altLang="zh-CN" sz="2800" b="1" dirty="0"/>
          </a:p>
          <a:p>
            <a:pPr marL="0" indent="0"/>
            <a:r>
              <a:rPr lang="zh-CN" altLang="en-US" sz="2800" b="1" dirty="0"/>
              <a:t>临界值</a:t>
            </a:r>
            <a:r>
              <a:rPr lang="en-US" altLang="zh-CN" sz="2800" b="1" dirty="0"/>
              <a:t>(s):</a:t>
            </a:r>
            <a:endParaRPr lang="en-US" altLang="zh-CN" sz="2800" b="1" dirty="0"/>
          </a:p>
        </p:txBody>
      </p:sp>
      <p:sp>
        <p:nvSpPr>
          <p:cNvPr id="169988" name="Rectangle 4"/>
          <p:cNvSpPr>
            <a:spLocks noChangeArrowheads="1"/>
          </p:cNvSpPr>
          <p:nvPr/>
        </p:nvSpPr>
        <p:spPr bwMode="auto">
          <a:xfrm>
            <a:off x="5883275" y="1854200"/>
            <a:ext cx="3810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dirty="0">
                <a:effectLst>
                  <a:outerShdw blurRad="38100" dist="38100" dir="2700000" algn="tl">
                    <a:srgbClr val="000000"/>
                  </a:outerShdw>
                </a:effectLst>
                <a:latin typeface="Arial" panose="020B0604020202090204" pitchFamily="34" charset="0"/>
              </a:rPr>
              <a:t>检验统计量</a:t>
            </a:r>
            <a:r>
              <a:rPr lang="en-US" altLang="zh-CN" sz="2800" b="1" dirty="0">
                <a:effectLst>
                  <a:outerShdw blurRad="38100" dist="38100" dir="2700000" algn="tl">
                    <a:srgbClr val="000000"/>
                  </a:outerShdw>
                </a:effectLst>
                <a:latin typeface="Arial" panose="020B0604020202090204" pitchFamily="34" charset="0"/>
              </a:rPr>
              <a:t>: </a:t>
            </a:r>
            <a:endParaRPr lang="en-US" altLang="zh-CN" sz="2800" b="1" dirty="0">
              <a:effectLst>
                <a:outerShdw blurRad="38100" dist="38100" dir="2700000" algn="tl">
                  <a:srgbClr val="000000"/>
                </a:outerShdw>
              </a:effectLst>
              <a:latin typeface="Arial" panose="020B0604020202090204" pitchFamily="34" charset="0"/>
            </a:endParaRPr>
          </a:p>
        </p:txBody>
      </p:sp>
      <p:sp>
        <p:nvSpPr>
          <p:cNvPr id="169991" name="Rectangle 7"/>
          <p:cNvSpPr>
            <a:spLocks noChangeArrowheads="1"/>
          </p:cNvSpPr>
          <p:nvPr/>
        </p:nvSpPr>
        <p:spPr bwMode="auto">
          <a:xfrm>
            <a:off x="5957888" y="4354514"/>
            <a:ext cx="4329112"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zh-CN" altLang="en-US">
                <a:effectLst>
                  <a:outerShdw blurRad="38100" dist="38100" dir="2700000" algn="tl">
                    <a:srgbClr val="000000"/>
                  </a:outerShdw>
                </a:effectLst>
              </a:rPr>
              <a:t>在 </a:t>
            </a:r>
            <a:r>
              <a:rPr lang="zh-CN" altLang="en-US">
                <a:effectLst>
                  <a:outerShdw blurRad="38100" dist="38100" dir="2700000" algn="tl">
                    <a:srgbClr val="000000"/>
                  </a:outerShdw>
                </a:effectLst>
                <a:latin typeface="Symbol" panose="05050102010706020507" pitchFamily="18" charset="2"/>
              </a:rPr>
              <a:t></a:t>
            </a:r>
            <a:r>
              <a:rPr lang="zh-CN" altLang="en-US">
                <a:effectLst>
                  <a:outerShdw blurRad="38100" dist="38100" dir="2700000" algn="tl">
                    <a:srgbClr val="000000"/>
                  </a:outerShdw>
                </a:effectLst>
              </a:rPr>
              <a:t> </a:t>
            </a:r>
            <a:r>
              <a:rPr lang="en-US" altLang="zh-CN">
                <a:effectLst>
                  <a:outerShdw blurRad="38100" dist="38100" dir="2700000" algn="tl">
                    <a:srgbClr val="000000"/>
                  </a:outerShdw>
                </a:effectLst>
              </a:rPr>
              <a:t>= 0.05</a:t>
            </a:r>
            <a:r>
              <a:rPr lang="zh-CN" altLang="en-US">
                <a:effectLst>
                  <a:outerShdw blurRad="38100" dist="38100" dir="2700000" algn="tl">
                    <a:srgbClr val="000000"/>
                  </a:outerShdw>
                </a:effectLst>
              </a:rPr>
              <a:t>的水平上拒绝</a:t>
            </a:r>
            <a:r>
              <a:rPr lang="en-US" altLang="zh-CN">
                <a:effectLst>
                  <a:outerShdw blurRad="38100" dist="38100" dir="2700000" algn="tl">
                    <a:srgbClr val="000000"/>
                  </a:outerShdw>
                </a:effectLst>
              </a:rPr>
              <a:t>H</a:t>
            </a:r>
            <a:r>
              <a:rPr lang="en-US" altLang="zh-CN" baseline="-25000">
                <a:effectLst>
                  <a:outerShdw blurRad="38100" dist="38100" dir="2700000" algn="tl">
                    <a:srgbClr val="000000"/>
                  </a:outerShdw>
                </a:effectLst>
              </a:rPr>
              <a:t>0</a:t>
            </a:r>
            <a:endParaRPr lang="en-US" altLang="zh-CN">
              <a:effectLst>
                <a:outerShdw blurRad="38100" dist="38100" dir="2700000" algn="tl">
                  <a:srgbClr val="000000"/>
                </a:outerShdw>
              </a:effectLst>
            </a:endParaRPr>
          </a:p>
        </p:txBody>
      </p:sp>
      <p:sp>
        <p:nvSpPr>
          <p:cNvPr id="169992" name="Rectangle 8"/>
          <p:cNvSpPr>
            <a:spLocks noChangeArrowheads="1"/>
          </p:cNvSpPr>
          <p:nvPr/>
        </p:nvSpPr>
        <p:spPr bwMode="auto">
          <a:xfrm>
            <a:off x="5957889" y="5461000"/>
            <a:ext cx="389572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zh-CN" altLang="en-US">
                <a:effectLst>
                  <a:outerShdw blurRad="38100" dist="38100" dir="2700000" algn="tl">
                    <a:srgbClr val="000000"/>
                  </a:outerShdw>
                </a:effectLst>
              </a:rPr>
              <a:t>有证据表明这批灯泡的使用寿命有显著提高</a:t>
            </a:r>
            <a:endParaRPr lang="zh-CN" altLang="en-US">
              <a:effectLst>
                <a:outerShdw blurRad="38100" dist="38100" dir="2700000" algn="tl">
                  <a:srgbClr val="000000"/>
                </a:outerShdw>
              </a:effectLst>
            </a:endParaRPr>
          </a:p>
        </p:txBody>
      </p:sp>
      <p:sp>
        <p:nvSpPr>
          <p:cNvPr id="169995" name="Text Box 11"/>
          <p:cNvSpPr txBox="1">
            <a:spLocks noChangeArrowheads="1"/>
          </p:cNvSpPr>
          <p:nvPr/>
        </p:nvSpPr>
        <p:spPr bwMode="auto">
          <a:xfrm>
            <a:off x="5957888" y="3744913"/>
            <a:ext cx="1066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ffectLst>
                  <a:outerShdw blurRad="38100" dist="38100" dir="2700000" algn="tl">
                    <a:srgbClr val="000000"/>
                  </a:outerShdw>
                </a:effectLst>
              </a:rPr>
              <a:t>决策</a:t>
            </a:r>
            <a:r>
              <a:rPr lang="en-US" altLang="zh-CN" sz="2800" b="1">
                <a:effectLst>
                  <a:outerShdw blurRad="38100" dist="38100" dir="2700000" algn="tl">
                    <a:srgbClr val="000000"/>
                  </a:outerShdw>
                </a:effectLst>
              </a:rPr>
              <a:t>:</a:t>
            </a:r>
            <a:endParaRPr lang="en-US" altLang="zh-CN" sz="2800" b="1">
              <a:effectLst>
                <a:outerShdw blurRad="38100" dist="38100" dir="2700000" algn="tl">
                  <a:srgbClr val="000000"/>
                </a:outerShdw>
              </a:effectLst>
            </a:endParaRPr>
          </a:p>
        </p:txBody>
      </p:sp>
      <p:sp>
        <p:nvSpPr>
          <p:cNvPr id="169996" name="Text Box 12"/>
          <p:cNvSpPr txBox="1">
            <a:spLocks noChangeArrowheads="1"/>
          </p:cNvSpPr>
          <p:nvPr/>
        </p:nvSpPr>
        <p:spPr bwMode="auto">
          <a:xfrm>
            <a:off x="5957888" y="4927601"/>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ffectLst>
                  <a:outerShdw blurRad="38100" dist="38100" dir="2700000" algn="tl">
                    <a:srgbClr val="000000"/>
                  </a:outerShdw>
                </a:effectLst>
              </a:rPr>
              <a:t>结论</a:t>
            </a:r>
            <a:r>
              <a:rPr lang="en-US" altLang="zh-CN" sz="2800" b="1">
                <a:effectLst>
                  <a:outerShdw blurRad="38100" dist="38100" dir="2700000" algn="tl">
                    <a:srgbClr val="000000"/>
                  </a:outerShdw>
                </a:effectLst>
              </a:rPr>
              <a:t>:</a:t>
            </a:r>
            <a:endParaRPr lang="en-US" altLang="zh-CN" sz="2800" b="1">
              <a:effectLst>
                <a:outerShdw blurRad="38100" dist="38100" dir="2700000" algn="tl">
                  <a:srgbClr val="000000"/>
                </a:outerShdw>
              </a:effectLst>
            </a:endParaRPr>
          </a:p>
        </p:txBody>
      </p:sp>
      <mc:AlternateContent xmlns:mc="http://schemas.openxmlformats.org/markup-compatibility/2006">
        <mc:Choice xmlns:a14="http://schemas.microsoft.com/office/drawing/2010/main" Requires="a14">
          <p:sp>
            <p:nvSpPr>
              <p:cNvPr id="169998" name="Object 14">
                <a:hlinkClick r:id="" action="ppaction://ole?verb=0"/>
              </p:cNvPr>
              <p:cNvSpPr txBox="1"/>
              <p:nvPr/>
            </p:nvSpPr>
            <p:spPr bwMode="auto">
              <a:xfrm>
                <a:off x="6089651" y="2520950"/>
                <a:ext cx="4206875" cy="1023938"/>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smtClean="0">
                          <a:solidFill>
                            <a:schemeClr val="tx1"/>
                          </a:solidFill>
                          <a:latin typeface="Cambria Math" panose="02040503050406030204" pitchFamily="18" charset="0"/>
                        </a:rPr>
                        <m:t>𝑧</m:t>
                      </m:r>
                      <m:r>
                        <a:rPr lang="zh-CN" altLang="en-US" i="1" smtClean="0">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acc>
                            <m:accPr>
                              <m:chr m:val="̄"/>
                              <m:ctrlPr>
                                <a:rPr lang="zh-CN" altLang="en-US" i="1">
                                  <a:solidFill>
                                    <a:schemeClr val="tx1"/>
                                  </a:solidFill>
                                  <a:latin typeface="Cambria Math" panose="02040503050406030204" pitchFamily="18" charset="0"/>
                                </a:rPr>
                              </m:ctrlPr>
                            </m:accPr>
                            <m:e>
                              <m:r>
                                <a:rPr lang="zh-CN" altLang="en-US" i="1">
                                  <a:solidFill>
                                    <a:schemeClr val="tx1"/>
                                  </a:solidFill>
                                  <a:latin typeface="Cambria Math" panose="02040503050406030204" pitchFamily="18" charset="0"/>
                                </a:rPr>
                                <m:t>𝑥</m:t>
                              </m:r>
                            </m:e>
                          </m:acc>
                          <m:r>
                            <a:rPr lang="zh-CN" altLang="en-US" i="1">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𝜇</m:t>
                              </m:r>
                            </m:e>
                            <m:sub>
                              <m:r>
                                <a:rPr lang="zh-CN" altLang="en-US" i="1">
                                  <a:solidFill>
                                    <a:schemeClr val="tx1"/>
                                  </a:solidFill>
                                  <a:latin typeface="Cambria Math" panose="02040503050406030204" pitchFamily="18" charset="0"/>
                                </a:rPr>
                                <m:t>0</m:t>
                              </m:r>
                            </m:sub>
                          </m:sSub>
                        </m:num>
                        <m:den>
                          <m:f>
                            <m:fPr>
                              <m:type m:val="lin"/>
                              <m:ctrlPr>
                                <a:rPr lang="zh-CN" altLang="en-US" i="1">
                                  <a:solidFill>
                                    <a:schemeClr val="tx1"/>
                                  </a:solidFill>
                                  <a:latin typeface="Cambria Math" panose="02040503050406030204" pitchFamily="18" charset="0"/>
                                </a:rPr>
                              </m:ctrlPr>
                            </m:fPr>
                            <m:num>
                              <m:r>
                                <a:rPr lang="zh-CN" altLang="en-US" i="1">
                                  <a:solidFill>
                                    <a:schemeClr val="tx1"/>
                                  </a:solidFill>
                                  <a:latin typeface="Cambria Math" panose="02040503050406030204" pitchFamily="18" charset="0"/>
                                </a:rPr>
                                <m:t>𝜎</m:t>
                              </m:r>
                            </m:num>
                            <m:den>
                              <m:rad>
                                <m:radPr>
                                  <m:degHide m:val="on"/>
                                  <m:ctrlPr>
                                    <a:rPr lang="zh-CN" altLang="en-US" i="1">
                                      <a:solidFill>
                                        <a:schemeClr val="tx1"/>
                                      </a:solidFill>
                                      <a:latin typeface="Cambria Math" panose="02040503050406030204" pitchFamily="18" charset="0"/>
                                    </a:rPr>
                                  </m:ctrlPr>
                                </m:radPr>
                                <m:deg/>
                                <m:e>
                                  <m:r>
                                    <a:rPr lang="zh-CN" altLang="en-US" i="1">
                                      <a:solidFill>
                                        <a:schemeClr val="tx1"/>
                                      </a:solidFill>
                                      <a:latin typeface="Cambria Math" panose="02040503050406030204" pitchFamily="18" charset="0"/>
                                    </a:rPr>
                                    <m:t>𝑛</m:t>
                                  </m:r>
                                </m:e>
                              </m:rad>
                            </m:den>
                          </m:f>
                        </m:den>
                      </m:f>
                      <m:r>
                        <a:rPr lang="zh-CN" altLang="en-US" i="1">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r>
                            <a:rPr lang="zh-CN" altLang="en-US" i="1">
                              <a:solidFill>
                                <a:schemeClr val="tx1"/>
                              </a:solidFill>
                              <a:latin typeface="Cambria Math" panose="02040503050406030204" pitchFamily="18" charset="0"/>
                            </a:rPr>
                            <m:t>1080</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1020</m:t>
                          </m:r>
                        </m:num>
                        <m:den>
                          <m:f>
                            <m:fPr>
                              <m:type m:val="lin"/>
                              <m:ctrlPr>
                                <a:rPr lang="zh-CN" altLang="en-US" i="1">
                                  <a:solidFill>
                                    <a:schemeClr val="tx1"/>
                                  </a:solidFill>
                                  <a:latin typeface="Cambria Math" panose="02040503050406030204" pitchFamily="18" charset="0"/>
                                </a:rPr>
                              </m:ctrlPr>
                            </m:fPr>
                            <m:num>
                              <m:r>
                                <a:rPr lang="zh-CN" altLang="en-US" i="1">
                                  <a:solidFill>
                                    <a:schemeClr val="tx1"/>
                                  </a:solidFill>
                                  <a:latin typeface="Cambria Math" panose="02040503050406030204" pitchFamily="18" charset="0"/>
                                </a:rPr>
                                <m:t>100</m:t>
                              </m:r>
                            </m:num>
                            <m:den>
                              <m:rad>
                                <m:radPr>
                                  <m:degHide m:val="on"/>
                                  <m:ctrlPr>
                                    <a:rPr lang="zh-CN" altLang="en-US" i="1">
                                      <a:solidFill>
                                        <a:schemeClr val="tx1"/>
                                      </a:solidFill>
                                      <a:latin typeface="Cambria Math" panose="02040503050406030204" pitchFamily="18" charset="0"/>
                                    </a:rPr>
                                  </m:ctrlPr>
                                </m:radPr>
                                <m:deg/>
                                <m:e>
                                  <m:r>
                                    <a:rPr lang="zh-CN" altLang="en-US" i="1">
                                      <a:solidFill>
                                        <a:schemeClr val="tx1"/>
                                      </a:solidFill>
                                      <a:latin typeface="Cambria Math" panose="02040503050406030204" pitchFamily="18" charset="0"/>
                                    </a:rPr>
                                    <m:t>16</m:t>
                                  </m:r>
                                </m:e>
                              </m:rad>
                            </m:den>
                          </m:f>
                        </m:den>
                      </m:f>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2</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4</m:t>
                      </m:r>
                    </m:oMath>
                  </m:oMathPara>
                </a14:m>
                <a:endParaRPr lang="zh-CN" altLang="en-US">
                  <a:solidFill>
                    <a:schemeClr val="tx1"/>
                  </a:solidFill>
                </a:endParaRPr>
              </a:p>
            </p:txBody>
          </p:sp>
        </mc:Choice>
        <mc:Fallback>
          <p:sp>
            <p:nvSpPr>
              <p:cNvPr id="169998" name="Object 14">
                <a:hlinkClick r:id="" action="ppaction://ole?verb=0"/>
              </p:cNvPr>
              <p:cNvSpPr txBox="1">
                <a:spLocks noRot="1" noChangeAspect="1" noMove="1" noResize="1" noEditPoints="1" noAdjustHandles="1" noChangeArrowheads="1" noChangeShapeType="1" noTextEdit="1"/>
              </p:cNvSpPr>
              <p:nvPr/>
            </p:nvSpPr>
            <p:spPr bwMode="auto">
              <a:xfrm>
                <a:off x="6089651" y="2520950"/>
                <a:ext cx="4206875" cy="1023938"/>
              </a:xfrm>
              <a:prstGeom prst="rect">
                <a:avLst/>
              </a:prstGeom>
              <a:blipFill rotWithShape="1">
                <a:blip r:embed="rId1"/>
                <a:stretch>
                  <a:fillRect r="-302" b="-1209"/>
                </a:stretch>
              </a:blipFill>
              <a:ln>
                <a:noFill/>
              </a:ln>
              <a:effectLst>
                <a:outerShdw dist="17961" dir="2700000" algn="ctr" rotWithShape="0">
                  <a:schemeClr val="bg2"/>
                </a:outerShdw>
              </a:effectLst>
            </p:spPr>
            <p:txBody>
              <a:bodyPr/>
              <a:lstStyle/>
              <a:p>
                <a:r>
                  <a:rPr lang="zh-CN" altLang="en-US">
                    <a:noFill/>
                  </a:rPr>
                  <a:t> </a:t>
                </a:r>
              </a:p>
            </p:txBody>
          </p:sp>
        </mc:Fallback>
      </mc:AlternateContent>
      <p:grpSp>
        <p:nvGrpSpPr>
          <p:cNvPr id="170045" name="Group 61"/>
          <p:cNvGrpSpPr/>
          <p:nvPr/>
        </p:nvGrpSpPr>
        <p:grpSpPr bwMode="auto">
          <a:xfrm>
            <a:off x="2198688" y="4452938"/>
            <a:ext cx="2887662" cy="1962150"/>
            <a:chOff x="425" y="2805"/>
            <a:chExt cx="1819" cy="1236"/>
          </a:xfrm>
        </p:grpSpPr>
        <p:sp>
          <p:nvSpPr>
            <p:cNvPr id="170002" name="Rectangle 18"/>
            <p:cNvSpPr>
              <a:spLocks noChangeArrowheads="1"/>
            </p:cNvSpPr>
            <p:nvPr/>
          </p:nvSpPr>
          <p:spPr bwMode="auto">
            <a:xfrm>
              <a:off x="2099" y="3789"/>
              <a:ext cx="1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600">
                  <a:effectLst>
                    <a:outerShdw blurRad="38100" dist="38100" dir="2700000" algn="tl">
                      <a:srgbClr val="000000"/>
                    </a:outerShdw>
                  </a:effectLst>
                </a:rPr>
                <a:t>Z</a:t>
              </a:r>
              <a:endParaRPr lang="en-US" altLang="zh-CN" sz="2600">
                <a:effectLst>
                  <a:outerShdw blurRad="38100" dist="38100" dir="2700000" algn="tl">
                    <a:srgbClr val="000000"/>
                  </a:outerShdw>
                </a:effectLst>
              </a:endParaRPr>
            </a:p>
          </p:txBody>
        </p:sp>
        <p:sp>
          <p:nvSpPr>
            <p:cNvPr id="170003" name="Rectangle 19"/>
            <p:cNvSpPr>
              <a:spLocks noChangeArrowheads="1"/>
            </p:cNvSpPr>
            <p:nvPr/>
          </p:nvSpPr>
          <p:spPr bwMode="auto">
            <a:xfrm>
              <a:off x="1268" y="3786"/>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600">
                  <a:effectLst>
                    <a:outerShdw blurRad="38100" dist="38100" dir="2700000" algn="tl">
                      <a:srgbClr val="000000"/>
                    </a:outerShdw>
                  </a:effectLst>
                </a:rPr>
                <a:t>0</a:t>
              </a:r>
              <a:endParaRPr lang="en-US" altLang="zh-CN" sz="2600">
                <a:effectLst>
                  <a:outerShdw blurRad="38100" dist="38100" dir="2700000" algn="tl">
                    <a:srgbClr val="000000"/>
                  </a:outerShdw>
                </a:effectLst>
              </a:endParaRPr>
            </a:p>
          </p:txBody>
        </p:sp>
        <p:sp>
          <p:nvSpPr>
            <p:cNvPr id="170004" name="Rectangle 20"/>
            <p:cNvSpPr>
              <a:spLocks noChangeArrowheads="1"/>
            </p:cNvSpPr>
            <p:nvPr/>
          </p:nvSpPr>
          <p:spPr bwMode="auto">
            <a:xfrm>
              <a:off x="1616" y="2805"/>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2000">
                  <a:effectLst>
                    <a:outerShdw blurRad="38100" dist="38100" dir="2700000" algn="tl">
                      <a:srgbClr val="000000"/>
                    </a:outerShdw>
                  </a:effectLst>
                </a:rPr>
                <a:t>拒绝域</a:t>
              </a:r>
              <a:endParaRPr lang="zh-CN" altLang="en-US" sz="2000">
                <a:effectLst>
                  <a:outerShdw blurRad="38100" dist="38100" dir="2700000" algn="tl">
                    <a:srgbClr val="000000"/>
                  </a:outerShdw>
                </a:effectLst>
              </a:endParaRPr>
            </a:p>
          </p:txBody>
        </p:sp>
        <p:sp>
          <p:nvSpPr>
            <p:cNvPr id="170005" name="Rectangle 21"/>
            <p:cNvSpPr>
              <a:spLocks noChangeArrowheads="1"/>
            </p:cNvSpPr>
            <p:nvPr/>
          </p:nvSpPr>
          <p:spPr bwMode="auto">
            <a:xfrm>
              <a:off x="1933" y="3216"/>
              <a:ext cx="31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000">
                  <a:effectLst>
                    <a:outerShdw blurRad="38100" dist="38100" dir="2700000" algn="tl">
                      <a:srgbClr val="000000"/>
                    </a:outerShdw>
                  </a:effectLst>
                  <a:sym typeface="Symbol" panose="05050102010706020507" pitchFamily="18" charset="2"/>
                </a:rPr>
                <a:t>0.05</a:t>
              </a:r>
              <a:endParaRPr lang="en-US" altLang="zh-CN" sz="2000">
                <a:effectLst>
                  <a:outerShdw blurRad="38100" dist="38100" dir="2700000" algn="tl">
                    <a:srgbClr val="000000"/>
                  </a:outerShdw>
                </a:effectLst>
              </a:endParaRPr>
            </a:p>
          </p:txBody>
        </p:sp>
        <p:sp>
          <p:nvSpPr>
            <p:cNvPr id="170006" name="Freeform 22" descr="60%"/>
            <p:cNvSpPr/>
            <p:nvPr/>
          </p:nvSpPr>
          <p:spPr bwMode="auto">
            <a:xfrm>
              <a:off x="1659" y="3284"/>
              <a:ext cx="526" cy="504"/>
            </a:xfrm>
            <a:custGeom>
              <a:avLst/>
              <a:gdLst>
                <a:gd name="T0" fmla="*/ 0 w 424"/>
                <a:gd name="T1" fmla="*/ 0 h 414"/>
                <a:gd name="T2" fmla="*/ 0 w 424"/>
                <a:gd name="T3" fmla="*/ 414 h 414"/>
                <a:gd name="T4" fmla="*/ 424 w 424"/>
                <a:gd name="T5" fmla="*/ 414 h 414"/>
                <a:gd name="T6" fmla="*/ 372 w 424"/>
                <a:gd name="T7" fmla="*/ 392 h 414"/>
                <a:gd name="T8" fmla="*/ 323 w 424"/>
                <a:gd name="T9" fmla="*/ 366 h 414"/>
                <a:gd name="T10" fmla="*/ 276 w 424"/>
                <a:gd name="T11" fmla="*/ 337 h 414"/>
                <a:gd name="T12" fmla="*/ 230 w 424"/>
                <a:gd name="T13" fmla="*/ 304 h 414"/>
                <a:gd name="T14" fmla="*/ 188 w 424"/>
                <a:gd name="T15" fmla="*/ 268 h 414"/>
                <a:gd name="T16" fmla="*/ 148 w 424"/>
                <a:gd name="T17" fmla="*/ 230 h 414"/>
                <a:gd name="T18" fmla="*/ 112 w 424"/>
                <a:gd name="T19" fmla="*/ 188 h 414"/>
                <a:gd name="T20" fmla="*/ 78 w 424"/>
                <a:gd name="T21" fmla="*/ 145 h 414"/>
                <a:gd name="T22" fmla="*/ 48 w 424"/>
                <a:gd name="T23" fmla="*/ 99 h 414"/>
                <a:gd name="T24" fmla="*/ 22 w 424"/>
                <a:gd name="T25" fmla="*/ 50 h 414"/>
                <a:gd name="T26" fmla="*/ 0 w 424"/>
                <a:gd name="T27"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4" h="414">
                  <a:moveTo>
                    <a:pt x="0" y="0"/>
                  </a:moveTo>
                  <a:lnTo>
                    <a:pt x="0" y="414"/>
                  </a:lnTo>
                  <a:lnTo>
                    <a:pt x="424" y="414"/>
                  </a:lnTo>
                  <a:lnTo>
                    <a:pt x="372" y="392"/>
                  </a:lnTo>
                  <a:lnTo>
                    <a:pt x="323" y="366"/>
                  </a:lnTo>
                  <a:lnTo>
                    <a:pt x="276" y="337"/>
                  </a:lnTo>
                  <a:lnTo>
                    <a:pt x="230" y="304"/>
                  </a:lnTo>
                  <a:lnTo>
                    <a:pt x="188" y="268"/>
                  </a:lnTo>
                  <a:lnTo>
                    <a:pt x="148" y="230"/>
                  </a:lnTo>
                  <a:lnTo>
                    <a:pt x="112" y="188"/>
                  </a:lnTo>
                  <a:lnTo>
                    <a:pt x="78" y="145"/>
                  </a:lnTo>
                  <a:lnTo>
                    <a:pt x="48" y="99"/>
                  </a:lnTo>
                  <a:lnTo>
                    <a:pt x="22" y="50"/>
                  </a:lnTo>
                  <a:lnTo>
                    <a:pt x="0"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70022" name="Group 38"/>
            <p:cNvGrpSpPr/>
            <p:nvPr/>
          </p:nvGrpSpPr>
          <p:grpSpPr bwMode="auto">
            <a:xfrm>
              <a:off x="448" y="2843"/>
              <a:ext cx="1761" cy="909"/>
              <a:chOff x="472" y="2857"/>
              <a:chExt cx="1808" cy="838"/>
            </a:xfrm>
          </p:grpSpPr>
          <p:sp>
            <p:nvSpPr>
              <p:cNvPr id="170023" name="Freeform 39"/>
              <p:cNvSpPr/>
              <p:nvPr/>
            </p:nvSpPr>
            <p:spPr bwMode="auto">
              <a:xfrm>
                <a:off x="1376" y="2857"/>
                <a:ext cx="904" cy="838"/>
              </a:xfrm>
              <a:custGeom>
                <a:avLst/>
                <a:gdLst>
                  <a:gd name="T0" fmla="*/ 904 w 904"/>
                  <a:gd name="T1" fmla="*/ 838 h 838"/>
                  <a:gd name="T2" fmla="*/ 809 w 904"/>
                  <a:gd name="T3" fmla="*/ 828 h 838"/>
                  <a:gd name="T4" fmla="*/ 762 w 904"/>
                  <a:gd name="T5" fmla="*/ 818 h 838"/>
                  <a:gd name="T6" fmla="*/ 714 w 904"/>
                  <a:gd name="T7" fmla="*/ 805 h 838"/>
                  <a:gd name="T8" fmla="*/ 667 w 904"/>
                  <a:gd name="T9" fmla="*/ 785 h 838"/>
                  <a:gd name="T10" fmla="*/ 619 w 904"/>
                  <a:gd name="T11" fmla="*/ 759 h 838"/>
                  <a:gd name="T12" fmla="*/ 572 w 904"/>
                  <a:gd name="T13" fmla="*/ 724 h 838"/>
                  <a:gd name="T14" fmla="*/ 476 w 904"/>
                  <a:gd name="T15" fmla="*/ 627 h 838"/>
                  <a:gd name="T16" fmla="*/ 381 w 904"/>
                  <a:gd name="T17" fmla="*/ 491 h 838"/>
                  <a:gd name="T18" fmla="*/ 286 w 904"/>
                  <a:gd name="T19" fmla="*/ 326 h 838"/>
                  <a:gd name="T20" fmla="*/ 239 w 904"/>
                  <a:gd name="T21" fmla="*/ 243 h 838"/>
                  <a:gd name="T22" fmla="*/ 191 w 904"/>
                  <a:gd name="T23" fmla="*/ 165 h 838"/>
                  <a:gd name="T24" fmla="*/ 144 w 904"/>
                  <a:gd name="T25" fmla="*/ 98 h 838"/>
                  <a:gd name="T26" fmla="*/ 95 w 904"/>
                  <a:gd name="T27" fmla="*/ 44 h 838"/>
                  <a:gd name="T28" fmla="*/ 48 w 904"/>
                  <a:gd name="T29" fmla="*/ 11 h 838"/>
                  <a:gd name="T30" fmla="*/ 0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904" y="838"/>
                    </a:moveTo>
                    <a:lnTo>
                      <a:pt x="809" y="828"/>
                    </a:lnTo>
                    <a:lnTo>
                      <a:pt x="762" y="818"/>
                    </a:lnTo>
                    <a:lnTo>
                      <a:pt x="714" y="805"/>
                    </a:lnTo>
                    <a:lnTo>
                      <a:pt x="667" y="785"/>
                    </a:lnTo>
                    <a:lnTo>
                      <a:pt x="619" y="759"/>
                    </a:lnTo>
                    <a:lnTo>
                      <a:pt x="572" y="724"/>
                    </a:lnTo>
                    <a:lnTo>
                      <a:pt x="476" y="627"/>
                    </a:lnTo>
                    <a:lnTo>
                      <a:pt x="381" y="491"/>
                    </a:lnTo>
                    <a:lnTo>
                      <a:pt x="286" y="326"/>
                    </a:lnTo>
                    <a:lnTo>
                      <a:pt x="239" y="243"/>
                    </a:lnTo>
                    <a:lnTo>
                      <a:pt x="191" y="165"/>
                    </a:lnTo>
                    <a:lnTo>
                      <a:pt x="144" y="98"/>
                    </a:lnTo>
                    <a:lnTo>
                      <a:pt x="95" y="44"/>
                    </a:lnTo>
                    <a:lnTo>
                      <a:pt x="48" y="11"/>
                    </a:lnTo>
                    <a:lnTo>
                      <a:pt x="0"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24" name="Freeform 40"/>
              <p:cNvSpPr/>
              <p:nvPr/>
            </p:nvSpPr>
            <p:spPr bwMode="auto">
              <a:xfrm>
                <a:off x="472" y="2857"/>
                <a:ext cx="904" cy="838"/>
              </a:xfrm>
              <a:custGeom>
                <a:avLst/>
                <a:gdLst>
                  <a:gd name="T0" fmla="*/ 0 w 904"/>
                  <a:gd name="T1" fmla="*/ 838 h 838"/>
                  <a:gd name="T2" fmla="*/ 95 w 904"/>
                  <a:gd name="T3" fmla="*/ 828 h 838"/>
                  <a:gd name="T4" fmla="*/ 144 w 904"/>
                  <a:gd name="T5" fmla="*/ 818 h 838"/>
                  <a:gd name="T6" fmla="*/ 191 w 904"/>
                  <a:gd name="T7" fmla="*/ 805 h 838"/>
                  <a:gd name="T8" fmla="*/ 238 w 904"/>
                  <a:gd name="T9" fmla="*/ 785 h 838"/>
                  <a:gd name="T10" fmla="*/ 286 w 904"/>
                  <a:gd name="T11" fmla="*/ 759 h 838"/>
                  <a:gd name="T12" fmla="*/ 333 w 904"/>
                  <a:gd name="T13" fmla="*/ 724 h 838"/>
                  <a:gd name="T14" fmla="*/ 429 w 904"/>
                  <a:gd name="T15" fmla="*/ 627 h 838"/>
                  <a:gd name="T16" fmla="*/ 523 w 904"/>
                  <a:gd name="T17" fmla="*/ 491 h 838"/>
                  <a:gd name="T18" fmla="*/ 619 w 904"/>
                  <a:gd name="T19" fmla="*/ 326 h 838"/>
                  <a:gd name="T20" fmla="*/ 667 w 904"/>
                  <a:gd name="T21" fmla="*/ 243 h 838"/>
                  <a:gd name="T22" fmla="*/ 714 w 904"/>
                  <a:gd name="T23" fmla="*/ 165 h 838"/>
                  <a:gd name="T24" fmla="*/ 762 w 904"/>
                  <a:gd name="T25" fmla="*/ 98 h 838"/>
                  <a:gd name="T26" fmla="*/ 809 w 904"/>
                  <a:gd name="T27" fmla="*/ 44 h 838"/>
                  <a:gd name="T28" fmla="*/ 857 w 904"/>
                  <a:gd name="T29" fmla="*/ 11 h 838"/>
                  <a:gd name="T30" fmla="*/ 904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0" y="838"/>
                    </a:moveTo>
                    <a:lnTo>
                      <a:pt x="95" y="828"/>
                    </a:lnTo>
                    <a:lnTo>
                      <a:pt x="144" y="818"/>
                    </a:lnTo>
                    <a:lnTo>
                      <a:pt x="191" y="805"/>
                    </a:lnTo>
                    <a:lnTo>
                      <a:pt x="238" y="785"/>
                    </a:lnTo>
                    <a:lnTo>
                      <a:pt x="286" y="759"/>
                    </a:lnTo>
                    <a:lnTo>
                      <a:pt x="333" y="724"/>
                    </a:lnTo>
                    <a:lnTo>
                      <a:pt x="429" y="627"/>
                    </a:lnTo>
                    <a:lnTo>
                      <a:pt x="523" y="491"/>
                    </a:lnTo>
                    <a:lnTo>
                      <a:pt x="619" y="326"/>
                    </a:lnTo>
                    <a:lnTo>
                      <a:pt x="667" y="243"/>
                    </a:lnTo>
                    <a:lnTo>
                      <a:pt x="714" y="165"/>
                    </a:lnTo>
                    <a:lnTo>
                      <a:pt x="762" y="98"/>
                    </a:lnTo>
                    <a:lnTo>
                      <a:pt x="809" y="44"/>
                    </a:lnTo>
                    <a:lnTo>
                      <a:pt x="857" y="11"/>
                    </a:lnTo>
                    <a:lnTo>
                      <a:pt x="904"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70025" name="Group 41"/>
            <p:cNvGrpSpPr/>
            <p:nvPr/>
          </p:nvGrpSpPr>
          <p:grpSpPr bwMode="auto">
            <a:xfrm>
              <a:off x="1642" y="3050"/>
              <a:ext cx="292" cy="727"/>
              <a:chOff x="4652" y="2072"/>
              <a:chExt cx="375" cy="874"/>
            </a:xfrm>
          </p:grpSpPr>
          <p:sp>
            <p:nvSpPr>
              <p:cNvPr id="170026" name="Line 42"/>
              <p:cNvSpPr>
                <a:spLocks noChangeShapeType="1"/>
              </p:cNvSpPr>
              <p:nvPr/>
            </p:nvSpPr>
            <p:spPr bwMode="auto">
              <a:xfrm>
                <a:off x="4652" y="2072"/>
                <a:ext cx="375" cy="2"/>
              </a:xfrm>
              <a:prstGeom prst="line">
                <a:avLst/>
              </a:prstGeom>
              <a:noFill/>
              <a:ln w="17463">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0027" name="Line 43"/>
              <p:cNvSpPr>
                <a:spLocks noChangeShapeType="1"/>
              </p:cNvSpPr>
              <p:nvPr/>
            </p:nvSpPr>
            <p:spPr bwMode="auto">
              <a:xfrm flipV="1">
                <a:off x="4655" y="2072"/>
                <a:ext cx="1" cy="874"/>
              </a:xfrm>
              <a:prstGeom prst="line">
                <a:avLst/>
              </a:prstGeom>
              <a:noFill/>
              <a:ln w="17463">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0028" name="Rectangle 44"/>
            <p:cNvSpPr>
              <a:spLocks noChangeArrowheads="1"/>
            </p:cNvSpPr>
            <p:nvPr/>
          </p:nvSpPr>
          <p:spPr bwMode="auto">
            <a:xfrm>
              <a:off x="1537" y="3816"/>
              <a:ext cx="4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000" b="1">
                  <a:effectLst>
                    <a:outerShdw blurRad="38100" dist="38100" dir="2700000" algn="tl">
                      <a:srgbClr val="000000"/>
                    </a:outerShdw>
                  </a:effectLst>
                  <a:sym typeface="Symbol" panose="05050102010706020507" pitchFamily="18" charset="2"/>
                </a:rPr>
                <a:t>1.645</a:t>
              </a:r>
              <a:endParaRPr lang="en-US" altLang="zh-CN" sz="2000" b="1">
                <a:effectLst>
                  <a:outerShdw blurRad="38100" dist="38100" dir="2700000" algn="tl">
                    <a:srgbClr val="000000"/>
                  </a:outerShdw>
                </a:effectLst>
              </a:endParaRPr>
            </a:p>
          </p:txBody>
        </p:sp>
        <p:sp>
          <p:nvSpPr>
            <p:cNvPr id="170029" name="Freeform 45"/>
            <p:cNvSpPr/>
            <p:nvPr/>
          </p:nvSpPr>
          <p:spPr bwMode="auto">
            <a:xfrm rot="3547430">
              <a:off x="1802" y="3369"/>
              <a:ext cx="132" cy="319"/>
            </a:xfrm>
            <a:custGeom>
              <a:avLst/>
              <a:gdLst>
                <a:gd name="T0" fmla="*/ 0 w 110"/>
                <a:gd name="T1" fmla="*/ 0 h 238"/>
                <a:gd name="T2" fmla="*/ 19 w 110"/>
                <a:gd name="T3" fmla="*/ 1 h 238"/>
                <a:gd name="T4" fmla="*/ 37 w 110"/>
                <a:gd name="T5" fmla="*/ 5 h 238"/>
                <a:gd name="T6" fmla="*/ 52 w 110"/>
                <a:gd name="T7" fmla="*/ 14 h 238"/>
                <a:gd name="T8" fmla="*/ 67 w 110"/>
                <a:gd name="T9" fmla="*/ 25 h 238"/>
                <a:gd name="T10" fmla="*/ 78 w 110"/>
                <a:gd name="T11" fmla="*/ 39 h 238"/>
                <a:gd name="T12" fmla="*/ 86 w 110"/>
                <a:gd name="T13" fmla="*/ 55 h 238"/>
                <a:gd name="T14" fmla="*/ 90 w 110"/>
                <a:gd name="T15" fmla="*/ 73 h 238"/>
                <a:gd name="T16" fmla="*/ 90 w 110"/>
                <a:gd name="T17" fmla="*/ 90 h 238"/>
                <a:gd name="T18" fmla="*/ 86 w 110"/>
                <a:gd name="T19" fmla="*/ 108 h 238"/>
                <a:gd name="T20" fmla="*/ 78 w 110"/>
                <a:gd name="T21" fmla="*/ 124 h 238"/>
                <a:gd name="T22" fmla="*/ 70 w 110"/>
                <a:gd name="T23" fmla="*/ 140 h 238"/>
                <a:gd name="T24" fmla="*/ 67 w 110"/>
                <a:gd name="T25" fmla="*/ 157 h 238"/>
                <a:gd name="T26" fmla="*/ 67 w 110"/>
                <a:gd name="T27" fmla="*/ 175 h 238"/>
                <a:gd name="T28" fmla="*/ 70 w 110"/>
                <a:gd name="T29" fmla="*/ 192 h 238"/>
                <a:gd name="T30" fmla="*/ 79 w 110"/>
                <a:gd name="T31" fmla="*/ 209 h 238"/>
                <a:gd name="T32" fmla="*/ 90 w 110"/>
                <a:gd name="T33" fmla="*/ 222 h 238"/>
                <a:gd name="T34" fmla="*/ 103 w 110"/>
                <a:gd name="T35" fmla="*/ 234 h 238"/>
                <a:gd name="T36" fmla="*/ 110 w 110"/>
                <a:gd name="T3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238">
                  <a:moveTo>
                    <a:pt x="0" y="0"/>
                  </a:moveTo>
                  <a:lnTo>
                    <a:pt x="19" y="1"/>
                  </a:lnTo>
                  <a:lnTo>
                    <a:pt x="37" y="5"/>
                  </a:lnTo>
                  <a:lnTo>
                    <a:pt x="52" y="14"/>
                  </a:lnTo>
                  <a:lnTo>
                    <a:pt x="67" y="25"/>
                  </a:lnTo>
                  <a:lnTo>
                    <a:pt x="78" y="39"/>
                  </a:lnTo>
                  <a:lnTo>
                    <a:pt x="86" y="55"/>
                  </a:lnTo>
                  <a:lnTo>
                    <a:pt x="90" y="73"/>
                  </a:lnTo>
                  <a:lnTo>
                    <a:pt x="90" y="90"/>
                  </a:lnTo>
                  <a:lnTo>
                    <a:pt x="86" y="108"/>
                  </a:lnTo>
                  <a:lnTo>
                    <a:pt x="78" y="124"/>
                  </a:lnTo>
                  <a:lnTo>
                    <a:pt x="70" y="140"/>
                  </a:lnTo>
                  <a:lnTo>
                    <a:pt x="67" y="157"/>
                  </a:lnTo>
                  <a:lnTo>
                    <a:pt x="67" y="175"/>
                  </a:lnTo>
                  <a:lnTo>
                    <a:pt x="70" y="192"/>
                  </a:lnTo>
                  <a:lnTo>
                    <a:pt x="79" y="209"/>
                  </a:lnTo>
                  <a:lnTo>
                    <a:pt x="90" y="222"/>
                  </a:lnTo>
                  <a:lnTo>
                    <a:pt x="103" y="234"/>
                  </a:lnTo>
                  <a:lnTo>
                    <a:pt x="110" y="238"/>
                  </a:lnTo>
                </a:path>
              </a:pathLst>
            </a:custGeom>
            <a:noFill/>
            <a:ln w="12700" cmpd="sng">
              <a:solidFill>
                <a:schemeClr val="tx1"/>
              </a:solidFill>
              <a:prstDash val="solid"/>
              <a:round/>
              <a:headEnd type="none" w="med" len="med"/>
              <a:tailEnd type="triangle" w="med" len="me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30" name="Line 46"/>
            <p:cNvSpPr>
              <a:spLocks noChangeShapeType="1"/>
            </p:cNvSpPr>
            <p:nvPr/>
          </p:nvSpPr>
          <p:spPr bwMode="auto">
            <a:xfrm>
              <a:off x="1332" y="2868"/>
              <a:ext cx="0" cy="912"/>
            </a:xfrm>
            <a:prstGeom prst="line">
              <a:avLst/>
            </a:prstGeom>
            <a:noFill/>
            <a:ln w="12700">
              <a:solidFill>
                <a:schemeClr val="tx1"/>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170031" name="Group 47"/>
            <p:cNvGrpSpPr/>
            <p:nvPr/>
          </p:nvGrpSpPr>
          <p:grpSpPr bwMode="auto">
            <a:xfrm>
              <a:off x="425" y="3041"/>
              <a:ext cx="1817" cy="756"/>
              <a:chOff x="449" y="3003"/>
              <a:chExt cx="1865" cy="697"/>
            </a:xfrm>
          </p:grpSpPr>
          <p:sp>
            <p:nvSpPr>
              <p:cNvPr id="170032" name="Freeform 48"/>
              <p:cNvSpPr/>
              <p:nvPr/>
            </p:nvSpPr>
            <p:spPr bwMode="auto">
              <a:xfrm>
                <a:off x="472" y="3003"/>
                <a:ext cx="1842" cy="689"/>
              </a:xfrm>
              <a:custGeom>
                <a:avLst/>
                <a:gdLst>
                  <a:gd name="T0" fmla="*/ 0 w 1842"/>
                  <a:gd name="T1" fmla="*/ 0 h 689"/>
                  <a:gd name="T2" fmla="*/ 0 w 1842"/>
                  <a:gd name="T3" fmla="*/ 689 h 689"/>
                  <a:gd name="T4" fmla="*/ 1842 w 1842"/>
                  <a:gd name="T5" fmla="*/ 689 h 689"/>
                </a:gdLst>
                <a:ahLst/>
                <a:cxnLst>
                  <a:cxn ang="0">
                    <a:pos x="T0" y="T1"/>
                  </a:cxn>
                  <a:cxn ang="0">
                    <a:pos x="T2" y="T3"/>
                  </a:cxn>
                  <a:cxn ang="0">
                    <a:pos x="T4" y="T5"/>
                  </a:cxn>
                </a:cxnLst>
                <a:rect l="0" t="0" r="r" b="b"/>
                <a:pathLst>
                  <a:path w="1842" h="689">
                    <a:moveTo>
                      <a:pt x="0" y="0"/>
                    </a:moveTo>
                    <a:lnTo>
                      <a:pt x="0" y="689"/>
                    </a:lnTo>
                    <a:lnTo>
                      <a:pt x="1842" y="689"/>
                    </a:lnTo>
                  </a:path>
                </a:pathLst>
              </a:custGeom>
              <a:noFill/>
              <a:ln w="38100" cmpd="sng">
                <a:solidFill>
                  <a:srgbClr val="F0F0F0"/>
                </a:solidFill>
                <a:prstDash val="solid"/>
                <a:rou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70033" name="Group 49"/>
              <p:cNvGrpSpPr/>
              <p:nvPr/>
            </p:nvGrpSpPr>
            <p:grpSpPr bwMode="auto">
              <a:xfrm>
                <a:off x="449" y="3003"/>
                <a:ext cx="209" cy="697"/>
                <a:chOff x="449" y="3003"/>
                <a:chExt cx="209" cy="697"/>
              </a:xfrm>
            </p:grpSpPr>
            <p:sp>
              <p:nvSpPr>
                <p:cNvPr id="170034" name="Line 50"/>
                <p:cNvSpPr>
                  <a:spLocks noChangeShapeType="1"/>
                </p:cNvSpPr>
                <p:nvPr/>
              </p:nvSpPr>
              <p:spPr bwMode="auto">
                <a:xfrm>
                  <a:off x="449" y="3003"/>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70035" name="Line 51"/>
                <p:cNvSpPr>
                  <a:spLocks noChangeShapeType="1"/>
                </p:cNvSpPr>
                <p:nvPr/>
              </p:nvSpPr>
              <p:spPr bwMode="auto">
                <a:xfrm>
                  <a:off x="449" y="3072"/>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70036" name="Line 52"/>
                <p:cNvSpPr>
                  <a:spLocks noChangeShapeType="1"/>
                </p:cNvSpPr>
                <p:nvPr/>
              </p:nvSpPr>
              <p:spPr bwMode="auto">
                <a:xfrm>
                  <a:off x="449" y="3142"/>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70037" name="Line 53"/>
                <p:cNvSpPr>
                  <a:spLocks noChangeShapeType="1"/>
                </p:cNvSpPr>
                <p:nvPr/>
              </p:nvSpPr>
              <p:spPr bwMode="auto">
                <a:xfrm>
                  <a:off x="449" y="3210"/>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70038" name="Line 54"/>
                <p:cNvSpPr>
                  <a:spLocks noChangeShapeType="1"/>
                </p:cNvSpPr>
                <p:nvPr/>
              </p:nvSpPr>
              <p:spPr bwMode="auto">
                <a:xfrm>
                  <a:off x="449" y="3279"/>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70039" name="Line 55"/>
                <p:cNvSpPr>
                  <a:spLocks noChangeShapeType="1"/>
                </p:cNvSpPr>
                <p:nvPr/>
              </p:nvSpPr>
              <p:spPr bwMode="auto">
                <a:xfrm>
                  <a:off x="449" y="3347"/>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70040" name="Line 56"/>
                <p:cNvSpPr>
                  <a:spLocks noChangeShapeType="1"/>
                </p:cNvSpPr>
                <p:nvPr/>
              </p:nvSpPr>
              <p:spPr bwMode="auto">
                <a:xfrm>
                  <a:off x="449" y="3417"/>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70041" name="Line 57"/>
                <p:cNvSpPr>
                  <a:spLocks noChangeShapeType="1"/>
                </p:cNvSpPr>
                <p:nvPr/>
              </p:nvSpPr>
              <p:spPr bwMode="auto">
                <a:xfrm>
                  <a:off x="449" y="3485"/>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70042" name="Line 58"/>
                <p:cNvSpPr>
                  <a:spLocks noChangeShapeType="1"/>
                </p:cNvSpPr>
                <p:nvPr/>
              </p:nvSpPr>
              <p:spPr bwMode="auto">
                <a:xfrm>
                  <a:off x="449" y="3554"/>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70043" name="Line 59"/>
                <p:cNvSpPr>
                  <a:spLocks noChangeShapeType="1"/>
                </p:cNvSpPr>
                <p:nvPr/>
              </p:nvSpPr>
              <p:spPr bwMode="auto">
                <a:xfrm>
                  <a:off x="449" y="3623"/>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70044" name="Line 60"/>
                <p:cNvSpPr>
                  <a:spLocks noChangeShapeType="1"/>
                </p:cNvSpPr>
                <p:nvPr/>
              </p:nvSpPr>
              <p:spPr bwMode="auto">
                <a:xfrm>
                  <a:off x="657" y="3692"/>
                  <a:ext cx="1" cy="8"/>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9987">
                                            <p:txEl>
                                              <p:pRg st="0" end="0"/>
                                            </p:txEl>
                                          </p:spTgt>
                                        </p:tgtEl>
                                        <p:attrNameLst>
                                          <p:attrName>style.visibility</p:attrName>
                                        </p:attrNameLst>
                                      </p:cBhvr>
                                      <p:to>
                                        <p:strVal val="visible"/>
                                      </p:to>
                                    </p:set>
                                    <p:animEffect transition="in" filter="wipe(left)">
                                      <p:cBhvr>
                                        <p:cTn id="7" dur="500"/>
                                        <p:tgtEl>
                                          <p:spTgt spid="1699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9987">
                                            <p:txEl>
                                              <p:pRg st="1" end="1"/>
                                            </p:txEl>
                                          </p:spTgt>
                                        </p:tgtEl>
                                        <p:attrNameLst>
                                          <p:attrName>style.visibility</p:attrName>
                                        </p:attrNameLst>
                                      </p:cBhvr>
                                      <p:to>
                                        <p:strVal val="visible"/>
                                      </p:to>
                                    </p:set>
                                    <p:animEffect transition="in" filter="wipe(left)">
                                      <p:cBhvr>
                                        <p:cTn id="12" dur="500"/>
                                        <p:tgtEl>
                                          <p:spTgt spid="1699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9987">
                                            <p:txEl>
                                              <p:pRg st="2" end="2"/>
                                            </p:txEl>
                                          </p:spTgt>
                                        </p:tgtEl>
                                        <p:attrNameLst>
                                          <p:attrName>style.visibility</p:attrName>
                                        </p:attrNameLst>
                                      </p:cBhvr>
                                      <p:to>
                                        <p:strVal val="visible"/>
                                      </p:to>
                                    </p:set>
                                    <p:animEffect transition="in" filter="wipe(left)">
                                      <p:cBhvr>
                                        <p:cTn id="17" dur="500"/>
                                        <p:tgtEl>
                                          <p:spTgt spid="1699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9987">
                                            <p:txEl>
                                              <p:pRg st="3" end="3"/>
                                            </p:txEl>
                                          </p:spTgt>
                                        </p:tgtEl>
                                        <p:attrNameLst>
                                          <p:attrName>style.visibility</p:attrName>
                                        </p:attrNameLst>
                                      </p:cBhvr>
                                      <p:to>
                                        <p:strVal val="visible"/>
                                      </p:to>
                                    </p:set>
                                    <p:animEffect transition="in" filter="wipe(left)">
                                      <p:cBhvr>
                                        <p:cTn id="22" dur="500"/>
                                        <p:tgtEl>
                                          <p:spTgt spid="1699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9987">
                                            <p:txEl>
                                              <p:pRg st="4" end="4"/>
                                            </p:txEl>
                                          </p:spTgt>
                                        </p:tgtEl>
                                        <p:attrNameLst>
                                          <p:attrName>style.visibility</p:attrName>
                                        </p:attrNameLst>
                                      </p:cBhvr>
                                      <p:to>
                                        <p:strVal val="visible"/>
                                      </p:to>
                                    </p:set>
                                    <p:animEffect transition="in" filter="wipe(left)">
                                      <p:cBhvr>
                                        <p:cTn id="27" dur="500"/>
                                        <p:tgtEl>
                                          <p:spTgt spid="1699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170045"/>
                                        </p:tgtEl>
                                        <p:attrNameLst>
                                          <p:attrName>style.visibility</p:attrName>
                                        </p:attrNameLst>
                                      </p:cBhvr>
                                      <p:to>
                                        <p:strVal val="visible"/>
                                      </p:to>
                                    </p:set>
                                    <p:animEffect transition="in" filter="barn(outVertical)">
                                      <p:cBhvr>
                                        <p:cTn id="32" dur="500"/>
                                        <p:tgtEl>
                                          <p:spTgt spid="17004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9988">
                                            <p:txEl>
                                              <p:pRg st="0" end="0"/>
                                            </p:txEl>
                                          </p:spTgt>
                                        </p:tgtEl>
                                        <p:attrNameLst>
                                          <p:attrName>style.visibility</p:attrName>
                                        </p:attrNameLst>
                                      </p:cBhvr>
                                      <p:to>
                                        <p:strVal val="visible"/>
                                      </p:to>
                                    </p:set>
                                    <p:animEffect transition="in" filter="wipe(left)">
                                      <p:cBhvr>
                                        <p:cTn id="37" dur="500"/>
                                        <p:tgtEl>
                                          <p:spTgt spid="16998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9995">
                                            <p:txEl>
                                              <p:pRg st="0" end="0"/>
                                            </p:txEl>
                                          </p:spTgt>
                                        </p:tgtEl>
                                        <p:attrNameLst>
                                          <p:attrName>style.visibility</p:attrName>
                                        </p:attrNameLst>
                                      </p:cBhvr>
                                      <p:to>
                                        <p:strVal val="visible"/>
                                      </p:to>
                                    </p:set>
                                    <p:animEffect transition="in" filter="wipe(left)">
                                      <p:cBhvr>
                                        <p:cTn id="42" dur="500"/>
                                        <p:tgtEl>
                                          <p:spTgt spid="16999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9991">
                                            <p:txEl>
                                              <p:pRg st="0" end="0"/>
                                            </p:txEl>
                                          </p:spTgt>
                                        </p:tgtEl>
                                        <p:attrNameLst>
                                          <p:attrName>style.visibility</p:attrName>
                                        </p:attrNameLst>
                                      </p:cBhvr>
                                      <p:to>
                                        <p:strVal val="visible"/>
                                      </p:to>
                                    </p:set>
                                    <p:animEffect transition="in" filter="wipe(left)">
                                      <p:cBhvr>
                                        <p:cTn id="47" dur="500"/>
                                        <p:tgtEl>
                                          <p:spTgt spid="169991">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9996">
                                            <p:txEl>
                                              <p:pRg st="0" end="0"/>
                                            </p:txEl>
                                          </p:spTgt>
                                        </p:tgtEl>
                                        <p:attrNameLst>
                                          <p:attrName>style.visibility</p:attrName>
                                        </p:attrNameLst>
                                      </p:cBhvr>
                                      <p:to>
                                        <p:strVal val="visible"/>
                                      </p:to>
                                    </p:set>
                                    <p:animEffect transition="in" filter="wipe(left)">
                                      <p:cBhvr>
                                        <p:cTn id="52" dur="500"/>
                                        <p:tgtEl>
                                          <p:spTgt spid="16999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9992">
                                            <p:txEl>
                                              <p:pRg st="0" end="0"/>
                                            </p:txEl>
                                          </p:spTgt>
                                        </p:tgtEl>
                                        <p:attrNameLst>
                                          <p:attrName>style.visibility</p:attrName>
                                        </p:attrNameLst>
                                      </p:cBhvr>
                                      <p:to>
                                        <p:strVal val="visible"/>
                                      </p:to>
                                    </p:set>
                                    <p:animEffect transition="in" filter="wipe(left)">
                                      <p:cBhvr>
                                        <p:cTn id="57" dur="500"/>
                                        <p:tgtEl>
                                          <p:spTgt spid="16999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autoUpdateAnimBg="0" build="p"/>
      <p:bldP spid="169988" grpId="0" autoUpdateAnimBg="0" build="p"/>
      <p:bldP spid="169991" grpId="0" autoUpdateAnimBg="0" build="p"/>
      <p:bldP spid="169992" grpId="0" autoUpdateAnimBg="0" build="p"/>
      <p:bldP spid="169995" grpId="0" autoUpdateAnimBg="0" build="p"/>
      <p:bldP spid="169996" grpId="0" autoUpdateAnimBg="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Rectangle 2"/>
          <p:cNvSpPr>
            <a:spLocks noGrp="1" noChangeArrowheads="1"/>
          </p:cNvSpPr>
          <p:nvPr>
            <p:ph type="title"/>
          </p:nvPr>
        </p:nvSpPr>
        <p:spPr>
          <a:xfrm>
            <a:off x="3200400" y="152400"/>
            <a:ext cx="7239000" cy="1200150"/>
          </a:xfrm>
          <a:noFill/>
        </p:spPr>
        <p:txBody>
          <a:bodyPr>
            <a:normAutofit fontScale="90000"/>
          </a:bodyPr>
          <a:lstStyle/>
          <a:p>
            <a:r>
              <a:rPr lang="en-US" altLang="zh-CN" sz="4000">
                <a:latin typeface="Symbol" panose="05050102010706020507" pitchFamily="18" charset="2"/>
              </a:rPr>
              <a:t></a:t>
            </a:r>
            <a:r>
              <a:rPr lang="en-US" altLang="zh-CN" sz="4000" baseline="30000">
                <a:latin typeface="Arial" panose="020B0604020202090204" pitchFamily="34" charset="0"/>
              </a:rPr>
              <a:t>2</a:t>
            </a:r>
            <a:r>
              <a:rPr lang="en-US" altLang="zh-CN" sz="4000">
                <a:latin typeface="Arial" panose="020B0604020202090204" pitchFamily="34" charset="0"/>
              </a:rPr>
              <a:t> </a:t>
            </a:r>
            <a:r>
              <a:rPr lang="zh-CN" altLang="en-US" sz="4000">
                <a:latin typeface="Arial" panose="020B0604020202090204" pitchFamily="34" charset="0"/>
              </a:rPr>
              <a:t>未知大样本均值的检验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708611" name="Rectangle 3"/>
          <p:cNvSpPr>
            <a:spLocks noGrp="1" noChangeArrowheads="1"/>
          </p:cNvSpPr>
          <p:nvPr>
            <p:ph type="body" sz="half" idx="1"/>
          </p:nvPr>
        </p:nvSpPr>
        <p:spPr>
          <a:xfrm>
            <a:off x="2057400" y="1828800"/>
            <a:ext cx="5010150" cy="4305300"/>
          </a:xfrm>
        </p:spPr>
        <p:txBody>
          <a:bodyPr/>
          <a:lstStyle/>
          <a:p>
            <a:pPr marL="0" indent="0" algn="just">
              <a:lnSpc>
                <a:spcPct val="90000"/>
              </a:lnSpc>
            </a:pPr>
            <a:r>
              <a:rPr lang="en-US" altLang="zh-CN" sz="2800" b="1" dirty="0"/>
              <a:t>【</a:t>
            </a:r>
            <a:r>
              <a:rPr lang="zh-CN" altLang="en-US" sz="2800" b="1" dirty="0"/>
              <a:t>例</a:t>
            </a:r>
            <a:r>
              <a:rPr lang="en-US" altLang="zh-CN" sz="2800" b="1" dirty="0"/>
              <a:t>】</a:t>
            </a:r>
            <a:r>
              <a:rPr lang="zh-CN" altLang="en-US" sz="2800" dirty="0"/>
              <a:t>某电子元件批量生产的质量标准为平均使用寿命</a:t>
            </a:r>
            <a:r>
              <a:rPr lang="en-US" altLang="zh-CN" sz="2800" dirty="0">
                <a:cs typeface="Times New Roman" panose="02020603050405020304" pitchFamily="18" charset="0"/>
              </a:rPr>
              <a:t>1200</a:t>
            </a:r>
            <a:r>
              <a:rPr lang="zh-CN" altLang="en-US" sz="2800" dirty="0"/>
              <a:t>小时。某厂宣称他们采用一种新工艺生产的元件质量大大超过规定标准。为了进行验证，随机抽取了</a:t>
            </a:r>
            <a:r>
              <a:rPr lang="en-US" altLang="zh-CN" sz="2800" dirty="0">
                <a:cs typeface="Times New Roman" panose="02020603050405020304" pitchFamily="18" charset="0"/>
              </a:rPr>
              <a:t>100</a:t>
            </a:r>
            <a:r>
              <a:rPr lang="zh-CN" altLang="en-US" sz="2800" dirty="0"/>
              <a:t>件作为样本，测得平均使用寿命</a:t>
            </a:r>
            <a:r>
              <a:rPr lang="en-US" altLang="zh-CN" sz="2800" dirty="0">
                <a:cs typeface="Times New Roman" panose="02020603050405020304" pitchFamily="18" charset="0"/>
              </a:rPr>
              <a:t>1245</a:t>
            </a:r>
            <a:r>
              <a:rPr lang="zh-CN" altLang="en-US" sz="2800" dirty="0"/>
              <a:t>小时，标准差</a:t>
            </a:r>
            <a:r>
              <a:rPr lang="en-US" altLang="zh-CN" sz="2800" dirty="0">
                <a:cs typeface="Times New Roman" panose="02020603050405020304" pitchFamily="18" charset="0"/>
              </a:rPr>
              <a:t>300</a:t>
            </a:r>
            <a:r>
              <a:rPr lang="zh-CN" altLang="en-US" sz="2800" dirty="0"/>
              <a:t>小时。能否说该厂生产的电子元件质量显著地高于规定标准？ </a:t>
            </a:r>
            <a:r>
              <a:rPr lang="en-US" altLang="zh-CN" sz="2800" dirty="0"/>
              <a:t>(</a:t>
            </a:r>
            <a:r>
              <a:rPr lang="en-US" altLang="zh-CN" sz="2800" dirty="0">
                <a:sym typeface="Symbol" panose="05050102010706020507" pitchFamily="18" charset="2"/>
              </a:rPr>
              <a:t></a:t>
            </a:r>
            <a:r>
              <a:rPr lang="zh-CN" altLang="en-US" sz="2800" dirty="0"/>
              <a:t>＝</a:t>
            </a:r>
            <a:r>
              <a:rPr lang="en-US" altLang="zh-CN" sz="2800" dirty="0"/>
              <a:t>0.05)</a:t>
            </a:r>
            <a:endParaRPr lang="en-US" altLang="zh-CN" sz="2800" dirty="0"/>
          </a:p>
        </p:txBody>
      </p:sp>
      <p:sp>
        <p:nvSpPr>
          <p:cNvPr id="708614" name="AutoShape 6"/>
          <p:cNvSpPr>
            <a:spLocks noChangeArrowheads="1"/>
          </p:cNvSpPr>
          <p:nvPr/>
        </p:nvSpPr>
        <p:spPr bwMode="auto">
          <a:xfrm>
            <a:off x="7605714" y="2114551"/>
            <a:ext cx="2490787" cy="830263"/>
          </a:xfrm>
          <a:prstGeom prst="cloudCallout">
            <a:avLst>
              <a:gd name="adj1" fmla="val -55991"/>
              <a:gd name="adj2" fmla="val 119792"/>
            </a:avLst>
          </a:prstGeom>
          <a:noFill/>
          <a:ln w="12700">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lang="zh-CN" altLang="en-US">
                <a:solidFill>
                  <a:schemeClr val="accent2"/>
                </a:solidFill>
                <a:effectLst>
                  <a:outerShdw blurRad="38100" dist="38100" dir="2700000" algn="tl">
                    <a:srgbClr val="000000"/>
                  </a:outerShdw>
                </a:effectLst>
              </a:rPr>
              <a:t>单侧检验</a:t>
            </a:r>
            <a:endParaRPr lang="zh-CN" altLang="en-US">
              <a:solidFill>
                <a:schemeClr val="accent2"/>
              </a:solidFill>
              <a:effectLst>
                <a:outerShdw blurRad="38100" dist="38100" dir="2700000" algn="tl">
                  <a:srgbClr val="000000"/>
                </a:outerShdw>
              </a:effectLst>
            </a:endParaRPr>
          </a:p>
        </p:txBody>
      </p:sp>
      <p:grpSp>
        <p:nvGrpSpPr>
          <p:cNvPr id="708624" name="Group 16"/>
          <p:cNvGrpSpPr/>
          <p:nvPr/>
        </p:nvGrpSpPr>
        <p:grpSpPr bwMode="auto">
          <a:xfrm>
            <a:off x="7437438" y="3598863"/>
            <a:ext cx="2616200" cy="2032000"/>
            <a:chOff x="3725" y="2267"/>
            <a:chExt cx="1648" cy="1280"/>
          </a:xfrm>
        </p:grpSpPr>
        <p:sp>
          <p:nvSpPr>
            <p:cNvPr id="708618" name="Freeform 10"/>
            <p:cNvSpPr/>
            <p:nvPr/>
          </p:nvSpPr>
          <p:spPr bwMode="auto">
            <a:xfrm rot="-669707">
              <a:off x="3725" y="2341"/>
              <a:ext cx="1196" cy="1206"/>
            </a:xfrm>
            <a:custGeom>
              <a:avLst/>
              <a:gdLst>
                <a:gd name="T0" fmla="*/ 785 w 913"/>
                <a:gd name="T1" fmla="*/ 1333 h 1333"/>
                <a:gd name="T2" fmla="*/ 913 w 913"/>
                <a:gd name="T3" fmla="*/ 44 h 1333"/>
                <a:gd name="T4" fmla="*/ 129 w 913"/>
                <a:gd name="T5" fmla="*/ 0 h 1333"/>
                <a:gd name="T6" fmla="*/ 0 w 913"/>
                <a:gd name="T7" fmla="*/ 1148 h 1333"/>
                <a:gd name="T8" fmla="*/ 785 w 913"/>
                <a:gd name="T9" fmla="*/ 1333 h 1333"/>
              </a:gdLst>
              <a:ahLst/>
              <a:cxnLst>
                <a:cxn ang="0">
                  <a:pos x="T0" y="T1"/>
                </a:cxn>
                <a:cxn ang="0">
                  <a:pos x="T2" y="T3"/>
                </a:cxn>
                <a:cxn ang="0">
                  <a:pos x="T4" y="T5"/>
                </a:cxn>
                <a:cxn ang="0">
                  <a:pos x="T6" y="T7"/>
                </a:cxn>
                <a:cxn ang="0">
                  <a:pos x="T8" y="T9"/>
                </a:cxn>
              </a:cxnLst>
              <a:rect l="0" t="0" r="r" b="b"/>
              <a:pathLst>
                <a:path w="913" h="1333">
                  <a:moveTo>
                    <a:pt x="785" y="1333"/>
                  </a:moveTo>
                  <a:lnTo>
                    <a:pt x="913" y="44"/>
                  </a:lnTo>
                  <a:lnTo>
                    <a:pt x="129" y="0"/>
                  </a:lnTo>
                  <a:lnTo>
                    <a:pt x="0" y="1148"/>
                  </a:lnTo>
                  <a:lnTo>
                    <a:pt x="785" y="1333"/>
                  </a:lnTo>
                  <a:close/>
                </a:path>
              </a:pathLst>
            </a:custGeom>
            <a:solidFill>
              <a:srgbClr val="969696"/>
            </a:solidFill>
            <a:ln w="6350">
              <a:solidFill>
                <a:srgbClr val="000000"/>
              </a:solidFill>
              <a:prstDash val="solid"/>
              <a:round/>
            </a:ln>
          </p:spPr>
          <p:txBody>
            <a:bodyPr/>
            <a:lstStyle/>
            <a:p>
              <a:endParaRPr lang="zh-CN" altLang="en-US"/>
            </a:p>
          </p:txBody>
        </p:sp>
        <p:sp>
          <p:nvSpPr>
            <p:cNvPr id="708619" name="Freeform 11"/>
            <p:cNvSpPr/>
            <p:nvPr/>
          </p:nvSpPr>
          <p:spPr bwMode="auto">
            <a:xfrm rot="-625351">
              <a:off x="3835" y="2439"/>
              <a:ext cx="930" cy="975"/>
            </a:xfrm>
            <a:custGeom>
              <a:avLst/>
              <a:gdLst>
                <a:gd name="T0" fmla="*/ 654 w 654"/>
                <a:gd name="T1" fmla="*/ 45 h 1003"/>
                <a:gd name="T2" fmla="*/ 561 w 654"/>
                <a:gd name="T3" fmla="*/ 1003 h 1003"/>
                <a:gd name="T4" fmla="*/ 0 w 654"/>
                <a:gd name="T5" fmla="*/ 890 h 1003"/>
                <a:gd name="T6" fmla="*/ 95 w 654"/>
                <a:gd name="T7" fmla="*/ 0 h 1003"/>
                <a:gd name="T8" fmla="*/ 654 w 654"/>
                <a:gd name="T9" fmla="*/ 45 h 1003"/>
              </a:gdLst>
              <a:ahLst/>
              <a:cxnLst>
                <a:cxn ang="0">
                  <a:pos x="T0" y="T1"/>
                </a:cxn>
                <a:cxn ang="0">
                  <a:pos x="T2" y="T3"/>
                </a:cxn>
                <a:cxn ang="0">
                  <a:pos x="T4" y="T5"/>
                </a:cxn>
                <a:cxn ang="0">
                  <a:pos x="T6" y="T7"/>
                </a:cxn>
                <a:cxn ang="0">
                  <a:pos x="T8" y="T9"/>
                </a:cxn>
              </a:cxnLst>
              <a:rect l="0" t="0" r="r" b="b"/>
              <a:pathLst>
                <a:path w="654" h="1003">
                  <a:moveTo>
                    <a:pt x="654" y="45"/>
                  </a:moveTo>
                  <a:lnTo>
                    <a:pt x="561" y="1003"/>
                  </a:lnTo>
                  <a:lnTo>
                    <a:pt x="0" y="890"/>
                  </a:lnTo>
                  <a:lnTo>
                    <a:pt x="95" y="0"/>
                  </a:lnTo>
                  <a:lnTo>
                    <a:pt x="654" y="45"/>
                  </a:lnTo>
                  <a:close/>
                </a:path>
              </a:pathLst>
            </a:custGeom>
            <a:solidFill>
              <a:srgbClr val="00FFFF"/>
            </a:solidFill>
            <a:ln w="6350">
              <a:solidFill>
                <a:srgbClr val="000000"/>
              </a:solidFill>
              <a:prstDash val="solid"/>
              <a:round/>
            </a:ln>
          </p:spPr>
          <p:txBody>
            <a:bodyPr/>
            <a:lstStyle/>
            <a:p>
              <a:endParaRPr lang="zh-CN" altLang="en-US"/>
            </a:p>
          </p:txBody>
        </p:sp>
        <p:sp>
          <p:nvSpPr>
            <p:cNvPr id="708620" name="AutoShape 12"/>
            <p:cNvSpPr>
              <a:spLocks noChangeArrowheads="1"/>
            </p:cNvSpPr>
            <p:nvPr/>
          </p:nvSpPr>
          <p:spPr bwMode="auto">
            <a:xfrm rot="15988652" flipV="1">
              <a:off x="4523" y="2568"/>
              <a:ext cx="1152" cy="549"/>
            </a:xfrm>
            <a:prstGeom prst="triangle">
              <a:avLst>
                <a:gd name="adj" fmla="val 72560"/>
              </a:avLst>
            </a:prstGeom>
            <a:solidFill>
              <a:srgbClr val="C0C0C0"/>
            </a:solidFill>
            <a:ln>
              <a:noFill/>
            </a:ln>
            <a:effectLst>
              <a:outerShdw dist="1796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gr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0274" name="Rectangle 2"/>
          <p:cNvSpPr>
            <a:spLocks noGrp="1" noChangeArrowheads="1"/>
          </p:cNvSpPr>
          <p:nvPr>
            <p:ph type="title"/>
          </p:nvPr>
        </p:nvSpPr>
        <p:spPr>
          <a:noFill/>
        </p:spPr>
        <p:txBody>
          <a:bodyPr>
            <a:normAutofit fontScale="90000"/>
          </a:bodyPr>
          <a:lstStyle/>
          <a:p>
            <a:r>
              <a:rPr lang="en-US" altLang="zh-CN" sz="4000">
                <a:latin typeface="Symbol" panose="05050102010706020507" pitchFamily="18" charset="2"/>
              </a:rPr>
              <a:t></a:t>
            </a:r>
            <a:r>
              <a:rPr lang="en-US" altLang="zh-CN" sz="4000" baseline="30000">
                <a:latin typeface="Arial" panose="020B0604020202090204" pitchFamily="34" charset="0"/>
              </a:rPr>
              <a:t>2</a:t>
            </a:r>
            <a:r>
              <a:rPr lang="en-US" altLang="zh-CN" sz="4000">
                <a:latin typeface="Arial" panose="020B0604020202090204" pitchFamily="34" charset="0"/>
              </a:rPr>
              <a:t> </a:t>
            </a:r>
            <a:r>
              <a:rPr lang="zh-CN" altLang="en-US" sz="4000">
                <a:latin typeface="Arial" panose="020B0604020202090204" pitchFamily="34" charset="0"/>
              </a:rPr>
              <a:t>未知大样本均值的检验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950275" name="Rectangle 3"/>
          <p:cNvSpPr>
            <a:spLocks noGrp="1" noChangeArrowheads="1"/>
          </p:cNvSpPr>
          <p:nvPr>
            <p:ph type="body" sz="half" idx="1"/>
          </p:nvPr>
        </p:nvSpPr>
        <p:spPr>
          <a:xfrm>
            <a:off x="2133600" y="1676400"/>
            <a:ext cx="3848100" cy="4114800"/>
          </a:xfrm>
          <a:noFill/>
        </p:spPr>
        <p:txBody>
          <a:bodyPr/>
          <a:lstStyle/>
          <a:p>
            <a:pPr marL="0" indent="0"/>
            <a:r>
              <a:rPr lang="en-US" altLang="zh-CN" sz="2800" b="1"/>
              <a:t>H</a:t>
            </a:r>
            <a:r>
              <a:rPr lang="en-US" altLang="zh-CN" sz="2000" b="1"/>
              <a:t>0</a:t>
            </a:r>
            <a:r>
              <a:rPr lang="en-US" altLang="zh-CN" sz="2800" b="1"/>
              <a:t>: </a:t>
            </a:r>
            <a:r>
              <a:rPr lang="en-US" altLang="zh-CN" sz="2800" b="1">
                <a:latin typeface="Symbol" panose="05050102010706020507" pitchFamily="18" charset="2"/>
              </a:rPr>
              <a:t> </a:t>
            </a:r>
            <a:r>
              <a:rPr lang="en-US" altLang="zh-CN" sz="2800" b="1">
                <a:sym typeface="Symbol" panose="05050102010706020507" pitchFamily="18" charset="2"/>
              </a:rPr>
              <a:t> </a:t>
            </a:r>
            <a:r>
              <a:rPr lang="en-US" altLang="zh-CN" sz="2800" b="1"/>
              <a:t>1200</a:t>
            </a:r>
            <a:endParaRPr lang="en-US" altLang="zh-CN" sz="2800" b="1"/>
          </a:p>
          <a:p>
            <a:pPr marL="0" indent="0"/>
            <a:r>
              <a:rPr lang="en-US" altLang="zh-CN" sz="2800" b="1"/>
              <a:t>H</a:t>
            </a:r>
            <a:r>
              <a:rPr lang="en-US" altLang="zh-CN" sz="2000" b="1"/>
              <a:t>1</a:t>
            </a:r>
            <a:r>
              <a:rPr lang="en-US" altLang="zh-CN" sz="2800" b="1"/>
              <a:t>: </a:t>
            </a:r>
            <a:r>
              <a:rPr lang="en-US" altLang="zh-CN" sz="2800" b="1">
                <a:latin typeface="Symbol" panose="05050102010706020507" pitchFamily="18" charset="2"/>
              </a:rPr>
              <a:t></a:t>
            </a:r>
            <a:r>
              <a:rPr lang="en-US" altLang="zh-CN" sz="2800" b="1"/>
              <a:t> &gt;1200</a:t>
            </a:r>
            <a:endParaRPr lang="en-US" altLang="zh-CN" sz="2800" b="1"/>
          </a:p>
          <a:p>
            <a:pPr marL="0" indent="0"/>
            <a:r>
              <a:rPr lang="en-US" altLang="zh-CN" sz="2800" b="1">
                <a:latin typeface="Symbol" panose="05050102010706020507" pitchFamily="18" charset="2"/>
              </a:rPr>
              <a:t></a:t>
            </a:r>
            <a:r>
              <a:rPr lang="en-US" altLang="zh-CN" sz="2800" b="1"/>
              <a:t> = 0.05</a:t>
            </a:r>
            <a:endParaRPr lang="en-US" altLang="zh-CN" sz="2800" b="1"/>
          </a:p>
          <a:p>
            <a:pPr marL="0" indent="0"/>
            <a:r>
              <a:rPr lang="en-US" altLang="zh-CN" sz="2800" b="1" i="1">
                <a:latin typeface="Times New Roman" panose="02020603050405020304" pitchFamily="18" charset="0"/>
              </a:rPr>
              <a:t>n </a:t>
            </a:r>
            <a:r>
              <a:rPr lang="en-US" altLang="zh-CN" sz="2800" b="1"/>
              <a:t>= 100</a:t>
            </a:r>
            <a:endParaRPr lang="en-US" altLang="zh-CN" sz="2800" b="1"/>
          </a:p>
          <a:p>
            <a:pPr marL="0" indent="0"/>
            <a:r>
              <a:rPr lang="zh-CN" altLang="en-US" sz="2800" b="1"/>
              <a:t>临界值</a:t>
            </a:r>
            <a:r>
              <a:rPr lang="en-US" altLang="zh-CN" sz="2800" b="1"/>
              <a:t>(s):</a:t>
            </a:r>
            <a:endParaRPr lang="en-US" altLang="zh-CN" sz="2800" b="1"/>
          </a:p>
        </p:txBody>
      </p:sp>
      <p:sp>
        <p:nvSpPr>
          <p:cNvPr id="950276" name="Rectangle 4"/>
          <p:cNvSpPr>
            <a:spLocks noChangeArrowheads="1"/>
          </p:cNvSpPr>
          <p:nvPr/>
        </p:nvSpPr>
        <p:spPr bwMode="auto">
          <a:xfrm>
            <a:off x="5780088" y="1793875"/>
            <a:ext cx="3810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effectLst>
                  <a:outerShdw blurRad="38100" dist="38100" dir="2700000" algn="tl">
                    <a:srgbClr val="000000"/>
                  </a:outerShdw>
                </a:effectLst>
                <a:latin typeface="Arial" panose="020B0604020202090204" pitchFamily="34" charset="0"/>
              </a:rPr>
              <a:t>检验统计量</a:t>
            </a:r>
            <a:r>
              <a:rPr lang="en-US" altLang="zh-CN" sz="2800" b="1">
                <a:effectLst>
                  <a:outerShdw blurRad="38100" dist="38100" dir="2700000" algn="tl">
                    <a:srgbClr val="000000"/>
                  </a:outerShdw>
                </a:effectLst>
                <a:latin typeface="Arial" panose="020B0604020202090204" pitchFamily="34" charset="0"/>
              </a:rPr>
              <a:t>: </a:t>
            </a:r>
            <a:endParaRPr lang="en-US" altLang="zh-CN" sz="2800" b="1">
              <a:effectLst>
                <a:outerShdw blurRad="38100" dist="38100" dir="2700000" algn="tl">
                  <a:srgbClr val="000000"/>
                </a:outerShdw>
              </a:effectLst>
              <a:latin typeface="Arial" panose="020B0604020202090204" pitchFamily="34" charset="0"/>
            </a:endParaRPr>
          </a:p>
        </p:txBody>
      </p:sp>
      <p:sp>
        <p:nvSpPr>
          <p:cNvPr id="950277" name="Rectangle 5"/>
          <p:cNvSpPr>
            <a:spLocks noChangeArrowheads="1"/>
          </p:cNvSpPr>
          <p:nvPr/>
        </p:nvSpPr>
        <p:spPr bwMode="auto">
          <a:xfrm>
            <a:off x="5781676" y="4333876"/>
            <a:ext cx="450532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zh-CN" altLang="en-US">
                <a:effectLst>
                  <a:outerShdw blurRad="38100" dist="38100" dir="2700000" algn="tl">
                    <a:srgbClr val="000000"/>
                  </a:outerShdw>
                </a:effectLst>
              </a:rPr>
              <a:t>在 </a:t>
            </a:r>
            <a:r>
              <a:rPr lang="zh-CN" altLang="en-US">
                <a:effectLst>
                  <a:outerShdw blurRad="38100" dist="38100" dir="2700000" algn="tl">
                    <a:srgbClr val="000000"/>
                  </a:outerShdw>
                </a:effectLst>
                <a:latin typeface="Symbol" panose="05050102010706020507" pitchFamily="18" charset="2"/>
              </a:rPr>
              <a:t></a:t>
            </a:r>
            <a:r>
              <a:rPr lang="zh-CN" altLang="en-US">
                <a:effectLst>
                  <a:outerShdw blurRad="38100" dist="38100" dir="2700000" algn="tl">
                    <a:srgbClr val="000000"/>
                  </a:outerShdw>
                </a:effectLst>
              </a:rPr>
              <a:t> </a:t>
            </a:r>
            <a:r>
              <a:rPr lang="en-US" altLang="zh-CN">
                <a:effectLst>
                  <a:outerShdw blurRad="38100" dist="38100" dir="2700000" algn="tl">
                    <a:srgbClr val="000000"/>
                  </a:outerShdw>
                </a:effectLst>
              </a:rPr>
              <a:t>= 0.05</a:t>
            </a:r>
            <a:r>
              <a:rPr lang="zh-CN" altLang="en-US">
                <a:effectLst>
                  <a:outerShdw blurRad="38100" dist="38100" dir="2700000" algn="tl">
                    <a:srgbClr val="000000"/>
                  </a:outerShdw>
                </a:effectLst>
              </a:rPr>
              <a:t>的水平上不拒绝</a:t>
            </a:r>
            <a:r>
              <a:rPr lang="en-US" altLang="zh-CN">
                <a:effectLst>
                  <a:outerShdw blurRad="38100" dist="38100" dir="2700000" algn="tl">
                    <a:srgbClr val="000000"/>
                  </a:outerShdw>
                </a:effectLst>
              </a:rPr>
              <a:t>H</a:t>
            </a:r>
            <a:r>
              <a:rPr lang="en-US" altLang="zh-CN" baseline="-25000">
                <a:effectLst>
                  <a:outerShdw blurRad="38100" dist="38100" dir="2700000" algn="tl">
                    <a:srgbClr val="000000"/>
                  </a:outerShdw>
                </a:effectLst>
              </a:rPr>
              <a:t>0</a:t>
            </a:r>
            <a:endParaRPr lang="en-US" altLang="zh-CN" baseline="-25000">
              <a:effectLst>
                <a:outerShdw blurRad="38100" dist="38100" dir="2700000" algn="tl">
                  <a:srgbClr val="000000"/>
                </a:outerShdw>
              </a:effectLst>
            </a:endParaRPr>
          </a:p>
        </p:txBody>
      </p:sp>
      <p:sp>
        <p:nvSpPr>
          <p:cNvPr id="950278" name="Rectangle 6"/>
          <p:cNvSpPr>
            <a:spLocks noChangeArrowheads="1"/>
          </p:cNvSpPr>
          <p:nvPr/>
        </p:nvSpPr>
        <p:spPr bwMode="auto">
          <a:xfrm>
            <a:off x="5876926" y="5400675"/>
            <a:ext cx="416242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zh-CN" altLang="en-US">
                <a:effectLst>
                  <a:outerShdw blurRad="38100" dist="38100" dir="2700000" algn="tl">
                    <a:srgbClr val="000000"/>
                  </a:outerShdw>
                </a:effectLst>
              </a:rPr>
              <a:t>不能认为该厂生产的元件寿命显著地高于</a:t>
            </a:r>
            <a:r>
              <a:rPr lang="en-US" altLang="zh-CN">
                <a:effectLst>
                  <a:outerShdw blurRad="38100" dist="38100" dir="2700000" algn="tl">
                    <a:srgbClr val="000000"/>
                  </a:outerShdw>
                </a:effectLst>
              </a:rPr>
              <a:t>1200</a:t>
            </a:r>
            <a:r>
              <a:rPr lang="zh-CN" altLang="en-US">
                <a:effectLst>
                  <a:outerShdw blurRad="38100" dist="38100" dir="2700000" algn="tl">
                    <a:srgbClr val="000000"/>
                  </a:outerShdw>
                </a:effectLst>
              </a:rPr>
              <a:t>小时</a:t>
            </a:r>
            <a:endParaRPr lang="zh-CN" altLang="en-US">
              <a:effectLst>
                <a:outerShdw blurRad="38100" dist="38100" dir="2700000" algn="tl">
                  <a:srgbClr val="000000"/>
                </a:outerShdw>
              </a:effectLst>
            </a:endParaRPr>
          </a:p>
        </p:txBody>
      </p:sp>
      <p:sp>
        <p:nvSpPr>
          <p:cNvPr id="950279" name="Text Box 7"/>
          <p:cNvSpPr txBox="1">
            <a:spLocks noChangeArrowheads="1"/>
          </p:cNvSpPr>
          <p:nvPr/>
        </p:nvSpPr>
        <p:spPr bwMode="auto">
          <a:xfrm>
            <a:off x="5876925" y="3724276"/>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ffectLst>
                  <a:outerShdw blurRad="38100" dist="38100" dir="2700000" algn="tl">
                    <a:srgbClr val="000000"/>
                  </a:outerShdw>
                </a:effectLst>
              </a:rPr>
              <a:t>决策</a:t>
            </a:r>
            <a:r>
              <a:rPr lang="en-US" altLang="zh-CN" sz="2800" b="1">
                <a:effectLst>
                  <a:outerShdw blurRad="38100" dist="38100" dir="2700000" algn="tl">
                    <a:srgbClr val="000000"/>
                  </a:outerShdw>
                </a:effectLst>
              </a:rPr>
              <a:t>:</a:t>
            </a:r>
            <a:endParaRPr lang="en-US" altLang="zh-CN" sz="2800" b="1">
              <a:effectLst>
                <a:outerShdw blurRad="38100" dist="38100" dir="2700000" algn="tl">
                  <a:srgbClr val="000000"/>
                </a:outerShdw>
              </a:effectLst>
            </a:endParaRPr>
          </a:p>
        </p:txBody>
      </p:sp>
      <p:sp>
        <p:nvSpPr>
          <p:cNvPr id="950280" name="Text Box 8"/>
          <p:cNvSpPr txBox="1">
            <a:spLocks noChangeArrowheads="1"/>
          </p:cNvSpPr>
          <p:nvPr/>
        </p:nvSpPr>
        <p:spPr bwMode="auto">
          <a:xfrm>
            <a:off x="5876925" y="4867276"/>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dirty="0">
                <a:effectLst>
                  <a:outerShdw blurRad="38100" dist="38100" dir="2700000" algn="tl">
                    <a:srgbClr val="000000"/>
                  </a:outerShdw>
                </a:effectLst>
              </a:rPr>
              <a:t>结论</a:t>
            </a:r>
            <a:r>
              <a:rPr lang="en-US" altLang="zh-CN" sz="2800" b="1" dirty="0">
                <a:solidFill>
                  <a:srgbClr val="FFFFB1"/>
                </a:solidFill>
                <a:effectLst>
                  <a:outerShdw blurRad="38100" dist="38100" dir="2700000" algn="tl">
                    <a:srgbClr val="000000"/>
                  </a:outerShdw>
                </a:effectLst>
              </a:rPr>
              <a:t>:</a:t>
            </a:r>
            <a:endParaRPr lang="en-US" altLang="zh-CN" sz="2800" b="1" dirty="0">
              <a:solidFill>
                <a:srgbClr val="FFFFB1"/>
              </a:solidFill>
              <a:effectLst>
                <a:outerShdw blurRad="38100" dist="38100" dir="2700000" algn="tl">
                  <a:srgbClr val="000000"/>
                </a:outerShdw>
              </a:effectLst>
            </a:endParaRPr>
          </a:p>
        </p:txBody>
      </p:sp>
      <mc:AlternateContent xmlns:mc="http://schemas.openxmlformats.org/markup-compatibility/2006">
        <mc:Choice xmlns:a14="http://schemas.microsoft.com/office/drawing/2010/main" Requires="a14">
          <p:sp>
            <p:nvSpPr>
              <p:cNvPr id="950286" name="Object 14">
                <a:hlinkClick r:id="" action="ppaction://ole?verb=0"/>
              </p:cNvPr>
              <p:cNvSpPr txBox="1"/>
              <p:nvPr/>
            </p:nvSpPr>
            <p:spPr bwMode="auto">
              <a:xfrm>
                <a:off x="5784850" y="2409825"/>
                <a:ext cx="4229100" cy="1123950"/>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smtClean="0">
                          <a:solidFill>
                            <a:schemeClr val="tx1"/>
                          </a:solidFill>
                          <a:latin typeface="Cambria Math" panose="02040503050406030204" pitchFamily="18" charset="0"/>
                        </a:rPr>
                        <m:t>𝑧</m:t>
                      </m:r>
                      <m:r>
                        <a:rPr lang="zh-CN" altLang="en-US" i="1" smtClean="0">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acc>
                            <m:accPr>
                              <m:chr m:val="̄"/>
                              <m:ctrlPr>
                                <a:rPr lang="zh-CN" altLang="en-US" i="1">
                                  <a:solidFill>
                                    <a:schemeClr val="tx1"/>
                                  </a:solidFill>
                                  <a:latin typeface="Cambria Math" panose="02040503050406030204" pitchFamily="18" charset="0"/>
                                </a:rPr>
                              </m:ctrlPr>
                            </m:accPr>
                            <m:e>
                              <m:r>
                                <a:rPr lang="zh-CN" altLang="en-US" i="1">
                                  <a:solidFill>
                                    <a:schemeClr val="tx1"/>
                                  </a:solidFill>
                                  <a:latin typeface="Cambria Math" panose="02040503050406030204" pitchFamily="18" charset="0"/>
                                </a:rPr>
                                <m:t>𝑥</m:t>
                              </m:r>
                            </m:e>
                          </m:acc>
                          <m:r>
                            <a:rPr lang="zh-CN" altLang="en-US" i="1">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𝜇</m:t>
                              </m:r>
                            </m:e>
                            <m:sub>
                              <m:r>
                                <a:rPr lang="zh-CN" altLang="en-US" i="1">
                                  <a:solidFill>
                                    <a:schemeClr val="tx1"/>
                                  </a:solidFill>
                                  <a:latin typeface="Cambria Math" panose="02040503050406030204" pitchFamily="18" charset="0"/>
                                </a:rPr>
                                <m:t>0</m:t>
                              </m:r>
                            </m:sub>
                          </m:sSub>
                        </m:num>
                        <m:den>
                          <m:f>
                            <m:fPr>
                              <m:type m:val="lin"/>
                              <m:ctrlPr>
                                <a:rPr lang="zh-CN" altLang="en-US" i="1">
                                  <a:solidFill>
                                    <a:schemeClr val="tx1"/>
                                  </a:solidFill>
                                  <a:latin typeface="Cambria Math" panose="02040503050406030204" pitchFamily="18" charset="0"/>
                                </a:rPr>
                              </m:ctrlPr>
                            </m:fPr>
                            <m:num>
                              <m:r>
                                <a:rPr lang="zh-CN" altLang="en-US" i="1">
                                  <a:solidFill>
                                    <a:schemeClr val="tx1"/>
                                  </a:solidFill>
                                  <a:latin typeface="Cambria Math" panose="02040503050406030204" pitchFamily="18" charset="0"/>
                                </a:rPr>
                                <m:t>𝜎</m:t>
                              </m:r>
                            </m:num>
                            <m:den>
                              <m:rad>
                                <m:radPr>
                                  <m:degHide m:val="on"/>
                                  <m:ctrlPr>
                                    <a:rPr lang="zh-CN" altLang="en-US" i="1">
                                      <a:solidFill>
                                        <a:schemeClr val="tx1"/>
                                      </a:solidFill>
                                      <a:latin typeface="Cambria Math" panose="02040503050406030204" pitchFamily="18" charset="0"/>
                                    </a:rPr>
                                  </m:ctrlPr>
                                </m:radPr>
                                <m:deg/>
                                <m:e>
                                  <m:r>
                                    <a:rPr lang="zh-CN" altLang="en-US" i="1">
                                      <a:solidFill>
                                        <a:schemeClr val="tx1"/>
                                      </a:solidFill>
                                      <a:latin typeface="Cambria Math" panose="02040503050406030204" pitchFamily="18" charset="0"/>
                                    </a:rPr>
                                    <m:t>𝑛</m:t>
                                  </m:r>
                                </m:e>
                              </m:rad>
                            </m:den>
                          </m:f>
                        </m:den>
                      </m:f>
                      <m:r>
                        <a:rPr lang="zh-CN" altLang="en-US" i="1">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r>
                            <a:rPr lang="zh-CN" altLang="en-US" i="1">
                              <a:solidFill>
                                <a:schemeClr val="tx1"/>
                              </a:solidFill>
                              <a:latin typeface="Cambria Math" panose="02040503050406030204" pitchFamily="18" charset="0"/>
                            </a:rPr>
                            <m:t>1245</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1200</m:t>
                          </m:r>
                        </m:num>
                        <m:den>
                          <m:f>
                            <m:fPr>
                              <m:type m:val="lin"/>
                              <m:ctrlPr>
                                <a:rPr lang="zh-CN" altLang="en-US" i="1">
                                  <a:solidFill>
                                    <a:schemeClr val="tx1"/>
                                  </a:solidFill>
                                  <a:latin typeface="Cambria Math" panose="02040503050406030204" pitchFamily="18" charset="0"/>
                                </a:rPr>
                              </m:ctrlPr>
                            </m:fPr>
                            <m:num>
                              <m:r>
                                <a:rPr lang="zh-CN" altLang="en-US" i="1">
                                  <a:solidFill>
                                    <a:schemeClr val="tx1"/>
                                  </a:solidFill>
                                  <a:latin typeface="Cambria Math" panose="02040503050406030204" pitchFamily="18" charset="0"/>
                                </a:rPr>
                                <m:t>300</m:t>
                              </m:r>
                            </m:num>
                            <m:den>
                              <m:rad>
                                <m:radPr>
                                  <m:degHide m:val="on"/>
                                  <m:ctrlPr>
                                    <a:rPr lang="zh-CN" altLang="en-US" i="1">
                                      <a:solidFill>
                                        <a:schemeClr val="tx1"/>
                                      </a:solidFill>
                                      <a:latin typeface="Cambria Math" panose="02040503050406030204" pitchFamily="18" charset="0"/>
                                    </a:rPr>
                                  </m:ctrlPr>
                                </m:radPr>
                                <m:deg/>
                                <m:e>
                                  <m:r>
                                    <a:rPr lang="zh-CN" altLang="en-US" i="1">
                                      <a:solidFill>
                                        <a:schemeClr val="tx1"/>
                                      </a:solidFill>
                                      <a:latin typeface="Cambria Math" panose="02040503050406030204" pitchFamily="18" charset="0"/>
                                    </a:rPr>
                                    <m:t>100</m:t>
                                  </m:r>
                                </m:e>
                              </m:rad>
                            </m:den>
                          </m:f>
                        </m:den>
                      </m:f>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1</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5</m:t>
                      </m:r>
                    </m:oMath>
                  </m:oMathPara>
                </a14:m>
                <a:endParaRPr lang="zh-CN" altLang="en-US">
                  <a:solidFill>
                    <a:schemeClr val="tx1"/>
                  </a:solidFill>
                </a:endParaRPr>
              </a:p>
            </p:txBody>
          </p:sp>
        </mc:Choice>
        <mc:Fallback>
          <p:sp>
            <p:nvSpPr>
              <p:cNvPr id="950286" name="Object 14">
                <a:hlinkClick r:id="" action="ppaction://ole?verb=0"/>
              </p:cNvPr>
              <p:cNvSpPr txBox="1">
                <a:spLocks noRot="1" noChangeAspect="1" noMove="1" noResize="1" noEditPoints="1" noAdjustHandles="1" noChangeArrowheads="1" noChangeShapeType="1" noTextEdit="1"/>
              </p:cNvSpPr>
              <p:nvPr/>
            </p:nvSpPr>
            <p:spPr bwMode="auto">
              <a:xfrm>
                <a:off x="5784850" y="2409825"/>
                <a:ext cx="4229100" cy="1123950"/>
              </a:xfrm>
              <a:prstGeom prst="rect">
                <a:avLst/>
              </a:prstGeom>
              <a:blipFill rotWithShape="1">
                <a:blip r:embed="rId1"/>
                <a:stretch>
                  <a:fillRect r="-300" b="-1130"/>
                </a:stretch>
              </a:blipFill>
              <a:ln>
                <a:noFill/>
              </a:ln>
              <a:effectLst>
                <a:outerShdw dist="17961" dir="2700000" algn="ctr" rotWithShape="0">
                  <a:schemeClr val="bg2"/>
                </a:outerShdw>
              </a:effectLst>
            </p:spPr>
            <p:txBody>
              <a:bodyPr/>
              <a:lstStyle/>
              <a:p>
                <a:r>
                  <a:rPr lang="zh-CN" altLang="en-US">
                    <a:noFill/>
                  </a:rPr>
                  <a:t> </a:t>
                </a:r>
              </a:p>
            </p:txBody>
          </p:sp>
        </mc:Fallback>
      </mc:AlternateContent>
      <p:grpSp>
        <p:nvGrpSpPr>
          <p:cNvPr id="950335" name="Group 63"/>
          <p:cNvGrpSpPr/>
          <p:nvPr/>
        </p:nvGrpSpPr>
        <p:grpSpPr bwMode="auto">
          <a:xfrm>
            <a:off x="2198688" y="4452938"/>
            <a:ext cx="2887662" cy="1962150"/>
            <a:chOff x="425" y="2805"/>
            <a:chExt cx="1819" cy="1236"/>
          </a:xfrm>
        </p:grpSpPr>
        <p:sp>
          <p:nvSpPr>
            <p:cNvPr id="950336" name="Rectangle 64"/>
            <p:cNvSpPr>
              <a:spLocks noChangeArrowheads="1"/>
            </p:cNvSpPr>
            <p:nvPr/>
          </p:nvSpPr>
          <p:spPr bwMode="auto">
            <a:xfrm>
              <a:off x="2099" y="3789"/>
              <a:ext cx="1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600">
                  <a:effectLst>
                    <a:outerShdw blurRad="38100" dist="38100" dir="2700000" algn="tl">
                      <a:srgbClr val="000000"/>
                    </a:outerShdw>
                  </a:effectLst>
                </a:rPr>
                <a:t>Z</a:t>
              </a:r>
              <a:endParaRPr lang="en-US" altLang="zh-CN" sz="2600">
                <a:effectLst>
                  <a:outerShdw blurRad="38100" dist="38100" dir="2700000" algn="tl">
                    <a:srgbClr val="000000"/>
                  </a:outerShdw>
                </a:effectLst>
              </a:endParaRPr>
            </a:p>
          </p:txBody>
        </p:sp>
        <p:sp>
          <p:nvSpPr>
            <p:cNvPr id="950337" name="Rectangle 65"/>
            <p:cNvSpPr>
              <a:spLocks noChangeArrowheads="1"/>
            </p:cNvSpPr>
            <p:nvPr/>
          </p:nvSpPr>
          <p:spPr bwMode="auto">
            <a:xfrm>
              <a:off x="1268" y="3786"/>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600">
                  <a:effectLst>
                    <a:outerShdw blurRad="38100" dist="38100" dir="2700000" algn="tl">
                      <a:srgbClr val="000000"/>
                    </a:outerShdw>
                  </a:effectLst>
                </a:rPr>
                <a:t>0</a:t>
              </a:r>
              <a:endParaRPr lang="en-US" altLang="zh-CN" sz="2600">
                <a:effectLst>
                  <a:outerShdw blurRad="38100" dist="38100" dir="2700000" algn="tl">
                    <a:srgbClr val="000000"/>
                  </a:outerShdw>
                </a:effectLst>
              </a:endParaRPr>
            </a:p>
          </p:txBody>
        </p:sp>
        <p:sp>
          <p:nvSpPr>
            <p:cNvPr id="950338" name="Rectangle 66"/>
            <p:cNvSpPr>
              <a:spLocks noChangeArrowheads="1"/>
            </p:cNvSpPr>
            <p:nvPr/>
          </p:nvSpPr>
          <p:spPr bwMode="auto">
            <a:xfrm>
              <a:off x="1616" y="2805"/>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2000">
                  <a:effectLst>
                    <a:outerShdw blurRad="38100" dist="38100" dir="2700000" algn="tl">
                      <a:srgbClr val="000000"/>
                    </a:outerShdw>
                  </a:effectLst>
                </a:rPr>
                <a:t>拒绝域</a:t>
              </a:r>
              <a:endParaRPr lang="zh-CN" altLang="en-US" sz="2000">
                <a:effectLst>
                  <a:outerShdw blurRad="38100" dist="38100" dir="2700000" algn="tl">
                    <a:srgbClr val="000000"/>
                  </a:outerShdw>
                </a:effectLst>
              </a:endParaRPr>
            </a:p>
          </p:txBody>
        </p:sp>
        <p:sp>
          <p:nvSpPr>
            <p:cNvPr id="950339" name="Rectangle 67"/>
            <p:cNvSpPr>
              <a:spLocks noChangeArrowheads="1"/>
            </p:cNvSpPr>
            <p:nvPr/>
          </p:nvSpPr>
          <p:spPr bwMode="auto">
            <a:xfrm>
              <a:off x="1933" y="3216"/>
              <a:ext cx="31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000">
                  <a:effectLst>
                    <a:outerShdw blurRad="38100" dist="38100" dir="2700000" algn="tl">
                      <a:srgbClr val="000000"/>
                    </a:outerShdw>
                  </a:effectLst>
                  <a:sym typeface="Symbol" panose="05050102010706020507" pitchFamily="18" charset="2"/>
                </a:rPr>
                <a:t>0.05</a:t>
              </a:r>
              <a:endParaRPr lang="en-US" altLang="zh-CN" sz="2000">
                <a:effectLst>
                  <a:outerShdw blurRad="38100" dist="38100" dir="2700000" algn="tl">
                    <a:srgbClr val="000000"/>
                  </a:outerShdw>
                </a:effectLst>
              </a:endParaRPr>
            </a:p>
          </p:txBody>
        </p:sp>
        <p:sp>
          <p:nvSpPr>
            <p:cNvPr id="950340" name="Freeform 68" descr="60%"/>
            <p:cNvSpPr/>
            <p:nvPr/>
          </p:nvSpPr>
          <p:spPr bwMode="auto">
            <a:xfrm>
              <a:off x="1659" y="3284"/>
              <a:ext cx="526" cy="504"/>
            </a:xfrm>
            <a:custGeom>
              <a:avLst/>
              <a:gdLst>
                <a:gd name="T0" fmla="*/ 0 w 424"/>
                <a:gd name="T1" fmla="*/ 0 h 414"/>
                <a:gd name="T2" fmla="*/ 0 w 424"/>
                <a:gd name="T3" fmla="*/ 414 h 414"/>
                <a:gd name="T4" fmla="*/ 424 w 424"/>
                <a:gd name="T5" fmla="*/ 414 h 414"/>
                <a:gd name="T6" fmla="*/ 372 w 424"/>
                <a:gd name="T7" fmla="*/ 392 h 414"/>
                <a:gd name="T8" fmla="*/ 323 w 424"/>
                <a:gd name="T9" fmla="*/ 366 h 414"/>
                <a:gd name="T10" fmla="*/ 276 w 424"/>
                <a:gd name="T11" fmla="*/ 337 h 414"/>
                <a:gd name="T12" fmla="*/ 230 w 424"/>
                <a:gd name="T13" fmla="*/ 304 h 414"/>
                <a:gd name="T14" fmla="*/ 188 w 424"/>
                <a:gd name="T15" fmla="*/ 268 h 414"/>
                <a:gd name="T16" fmla="*/ 148 w 424"/>
                <a:gd name="T17" fmla="*/ 230 h 414"/>
                <a:gd name="T18" fmla="*/ 112 w 424"/>
                <a:gd name="T19" fmla="*/ 188 h 414"/>
                <a:gd name="T20" fmla="*/ 78 w 424"/>
                <a:gd name="T21" fmla="*/ 145 h 414"/>
                <a:gd name="T22" fmla="*/ 48 w 424"/>
                <a:gd name="T23" fmla="*/ 99 h 414"/>
                <a:gd name="T24" fmla="*/ 22 w 424"/>
                <a:gd name="T25" fmla="*/ 50 h 414"/>
                <a:gd name="T26" fmla="*/ 0 w 424"/>
                <a:gd name="T27"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4" h="414">
                  <a:moveTo>
                    <a:pt x="0" y="0"/>
                  </a:moveTo>
                  <a:lnTo>
                    <a:pt x="0" y="414"/>
                  </a:lnTo>
                  <a:lnTo>
                    <a:pt x="424" y="414"/>
                  </a:lnTo>
                  <a:lnTo>
                    <a:pt x="372" y="392"/>
                  </a:lnTo>
                  <a:lnTo>
                    <a:pt x="323" y="366"/>
                  </a:lnTo>
                  <a:lnTo>
                    <a:pt x="276" y="337"/>
                  </a:lnTo>
                  <a:lnTo>
                    <a:pt x="230" y="304"/>
                  </a:lnTo>
                  <a:lnTo>
                    <a:pt x="188" y="268"/>
                  </a:lnTo>
                  <a:lnTo>
                    <a:pt x="148" y="230"/>
                  </a:lnTo>
                  <a:lnTo>
                    <a:pt x="112" y="188"/>
                  </a:lnTo>
                  <a:lnTo>
                    <a:pt x="78" y="145"/>
                  </a:lnTo>
                  <a:lnTo>
                    <a:pt x="48" y="99"/>
                  </a:lnTo>
                  <a:lnTo>
                    <a:pt x="22" y="50"/>
                  </a:lnTo>
                  <a:lnTo>
                    <a:pt x="0"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950341" name="Group 69"/>
            <p:cNvGrpSpPr/>
            <p:nvPr/>
          </p:nvGrpSpPr>
          <p:grpSpPr bwMode="auto">
            <a:xfrm>
              <a:off x="448" y="2843"/>
              <a:ext cx="1761" cy="909"/>
              <a:chOff x="472" y="2857"/>
              <a:chExt cx="1808" cy="838"/>
            </a:xfrm>
          </p:grpSpPr>
          <p:sp>
            <p:nvSpPr>
              <p:cNvPr id="950342" name="Freeform 70"/>
              <p:cNvSpPr/>
              <p:nvPr/>
            </p:nvSpPr>
            <p:spPr bwMode="auto">
              <a:xfrm>
                <a:off x="1376" y="2857"/>
                <a:ext cx="904" cy="838"/>
              </a:xfrm>
              <a:custGeom>
                <a:avLst/>
                <a:gdLst>
                  <a:gd name="T0" fmla="*/ 904 w 904"/>
                  <a:gd name="T1" fmla="*/ 838 h 838"/>
                  <a:gd name="T2" fmla="*/ 809 w 904"/>
                  <a:gd name="T3" fmla="*/ 828 h 838"/>
                  <a:gd name="T4" fmla="*/ 762 w 904"/>
                  <a:gd name="T5" fmla="*/ 818 h 838"/>
                  <a:gd name="T6" fmla="*/ 714 w 904"/>
                  <a:gd name="T7" fmla="*/ 805 h 838"/>
                  <a:gd name="T8" fmla="*/ 667 w 904"/>
                  <a:gd name="T9" fmla="*/ 785 h 838"/>
                  <a:gd name="T10" fmla="*/ 619 w 904"/>
                  <a:gd name="T11" fmla="*/ 759 h 838"/>
                  <a:gd name="T12" fmla="*/ 572 w 904"/>
                  <a:gd name="T13" fmla="*/ 724 h 838"/>
                  <a:gd name="T14" fmla="*/ 476 w 904"/>
                  <a:gd name="T15" fmla="*/ 627 h 838"/>
                  <a:gd name="T16" fmla="*/ 381 w 904"/>
                  <a:gd name="T17" fmla="*/ 491 h 838"/>
                  <a:gd name="T18" fmla="*/ 286 w 904"/>
                  <a:gd name="T19" fmla="*/ 326 h 838"/>
                  <a:gd name="T20" fmla="*/ 239 w 904"/>
                  <a:gd name="T21" fmla="*/ 243 h 838"/>
                  <a:gd name="T22" fmla="*/ 191 w 904"/>
                  <a:gd name="T23" fmla="*/ 165 h 838"/>
                  <a:gd name="T24" fmla="*/ 144 w 904"/>
                  <a:gd name="T25" fmla="*/ 98 h 838"/>
                  <a:gd name="T26" fmla="*/ 95 w 904"/>
                  <a:gd name="T27" fmla="*/ 44 h 838"/>
                  <a:gd name="T28" fmla="*/ 48 w 904"/>
                  <a:gd name="T29" fmla="*/ 11 h 838"/>
                  <a:gd name="T30" fmla="*/ 0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904" y="838"/>
                    </a:moveTo>
                    <a:lnTo>
                      <a:pt x="809" y="828"/>
                    </a:lnTo>
                    <a:lnTo>
                      <a:pt x="762" y="818"/>
                    </a:lnTo>
                    <a:lnTo>
                      <a:pt x="714" y="805"/>
                    </a:lnTo>
                    <a:lnTo>
                      <a:pt x="667" y="785"/>
                    </a:lnTo>
                    <a:lnTo>
                      <a:pt x="619" y="759"/>
                    </a:lnTo>
                    <a:lnTo>
                      <a:pt x="572" y="724"/>
                    </a:lnTo>
                    <a:lnTo>
                      <a:pt x="476" y="627"/>
                    </a:lnTo>
                    <a:lnTo>
                      <a:pt x="381" y="491"/>
                    </a:lnTo>
                    <a:lnTo>
                      <a:pt x="286" y="326"/>
                    </a:lnTo>
                    <a:lnTo>
                      <a:pt x="239" y="243"/>
                    </a:lnTo>
                    <a:lnTo>
                      <a:pt x="191" y="165"/>
                    </a:lnTo>
                    <a:lnTo>
                      <a:pt x="144" y="98"/>
                    </a:lnTo>
                    <a:lnTo>
                      <a:pt x="95" y="44"/>
                    </a:lnTo>
                    <a:lnTo>
                      <a:pt x="48" y="11"/>
                    </a:lnTo>
                    <a:lnTo>
                      <a:pt x="0"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0343" name="Freeform 71"/>
              <p:cNvSpPr/>
              <p:nvPr/>
            </p:nvSpPr>
            <p:spPr bwMode="auto">
              <a:xfrm>
                <a:off x="472" y="2857"/>
                <a:ext cx="904" cy="838"/>
              </a:xfrm>
              <a:custGeom>
                <a:avLst/>
                <a:gdLst>
                  <a:gd name="T0" fmla="*/ 0 w 904"/>
                  <a:gd name="T1" fmla="*/ 838 h 838"/>
                  <a:gd name="T2" fmla="*/ 95 w 904"/>
                  <a:gd name="T3" fmla="*/ 828 h 838"/>
                  <a:gd name="T4" fmla="*/ 144 w 904"/>
                  <a:gd name="T5" fmla="*/ 818 h 838"/>
                  <a:gd name="T6" fmla="*/ 191 w 904"/>
                  <a:gd name="T7" fmla="*/ 805 h 838"/>
                  <a:gd name="T8" fmla="*/ 238 w 904"/>
                  <a:gd name="T9" fmla="*/ 785 h 838"/>
                  <a:gd name="T10" fmla="*/ 286 w 904"/>
                  <a:gd name="T11" fmla="*/ 759 h 838"/>
                  <a:gd name="T12" fmla="*/ 333 w 904"/>
                  <a:gd name="T13" fmla="*/ 724 h 838"/>
                  <a:gd name="T14" fmla="*/ 429 w 904"/>
                  <a:gd name="T15" fmla="*/ 627 h 838"/>
                  <a:gd name="T16" fmla="*/ 523 w 904"/>
                  <a:gd name="T17" fmla="*/ 491 h 838"/>
                  <a:gd name="T18" fmla="*/ 619 w 904"/>
                  <a:gd name="T19" fmla="*/ 326 h 838"/>
                  <a:gd name="T20" fmla="*/ 667 w 904"/>
                  <a:gd name="T21" fmla="*/ 243 h 838"/>
                  <a:gd name="T22" fmla="*/ 714 w 904"/>
                  <a:gd name="T23" fmla="*/ 165 h 838"/>
                  <a:gd name="T24" fmla="*/ 762 w 904"/>
                  <a:gd name="T25" fmla="*/ 98 h 838"/>
                  <a:gd name="T26" fmla="*/ 809 w 904"/>
                  <a:gd name="T27" fmla="*/ 44 h 838"/>
                  <a:gd name="T28" fmla="*/ 857 w 904"/>
                  <a:gd name="T29" fmla="*/ 11 h 838"/>
                  <a:gd name="T30" fmla="*/ 904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0" y="838"/>
                    </a:moveTo>
                    <a:lnTo>
                      <a:pt x="95" y="828"/>
                    </a:lnTo>
                    <a:lnTo>
                      <a:pt x="144" y="818"/>
                    </a:lnTo>
                    <a:lnTo>
                      <a:pt x="191" y="805"/>
                    </a:lnTo>
                    <a:lnTo>
                      <a:pt x="238" y="785"/>
                    </a:lnTo>
                    <a:lnTo>
                      <a:pt x="286" y="759"/>
                    </a:lnTo>
                    <a:lnTo>
                      <a:pt x="333" y="724"/>
                    </a:lnTo>
                    <a:lnTo>
                      <a:pt x="429" y="627"/>
                    </a:lnTo>
                    <a:lnTo>
                      <a:pt x="523" y="491"/>
                    </a:lnTo>
                    <a:lnTo>
                      <a:pt x="619" y="326"/>
                    </a:lnTo>
                    <a:lnTo>
                      <a:pt x="667" y="243"/>
                    </a:lnTo>
                    <a:lnTo>
                      <a:pt x="714" y="165"/>
                    </a:lnTo>
                    <a:lnTo>
                      <a:pt x="762" y="98"/>
                    </a:lnTo>
                    <a:lnTo>
                      <a:pt x="809" y="44"/>
                    </a:lnTo>
                    <a:lnTo>
                      <a:pt x="857" y="11"/>
                    </a:lnTo>
                    <a:lnTo>
                      <a:pt x="904"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50344" name="Group 72"/>
            <p:cNvGrpSpPr/>
            <p:nvPr/>
          </p:nvGrpSpPr>
          <p:grpSpPr bwMode="auto">
            <a:xfrm>
              <a:off x="1642" y="3050"/>
              <a:ext cx="292" cy="727"/>
              <a:chOff x="4652" y="2072"/>
              <a:chExt cx="375" cy="874"/>
            </a:xfrm>
          </p:grpSpPr>
          <p:sp>
            <p:nvSpPr>
              <p:cNvPr id="950345" name="Line 73"/>
              <p:cNvSpPr>
                <a:spLocks noChangeShapeType="1"/>
              </p:cNvSpPr>
              <p:nvPr/>
            </p:nvSpPr>
            <p:spPr bwMode="auto">
              <a:xfrm>
                <a:off x="4652" y="2072"/>
                <a:ext cx="375" cy="2"/>
              </a:xfrm>
              <a:prstGeom prst="line">
                <a:avLst/>
              </a:prstGeom>
              <a:noFill/>
              <a:ln w="17463">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0346" name="Line 74"/>
              <p:cNvSpPr>
                <a:spLocks noChangeShapeType="1"/>
              </p:cNvSpPr>
              <p:nvPr/>
            </p:nvSpPr>
            <p:spPr bwMode="auto">
              <a:xfrm flipV="1">
                <a:off x="4655" y="2072"/>
                <a:ext cx="1" cy="874"/>
              </a:xfrm>
              <a:prstGeom prst="line">
                <a:avLst/>
              </a:prstGeom>
              <a:noFill/>
              <a:ln w="17463">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50347" name="Rectangle 75"/>
            <p:cNvSpPr>
              <a:spLocks noChangeArrowheads="1"/>
            </p:cNvSpPr>
            <p:nvPr/>
          </p:nvSpPr>
          <p:spPr bwMode="auto">
            <a:xfrm>
              <a:off x="1537" y="3816"/>
              <a:ext cx="4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000" b="1">
                  <a:effectLst>
                    <a:outerShdw blurRad="38100" dist="38100" dir="2700000" algn="tl">
                      <a:srgbClr val="000000"/>
                    </a:outerShdw>
                  </a:effectLst>
                  <a:sym typeface="Symbol" panose="05050102010706020507" pitchFamily="18" charset="2"/>
                </a:rPr>
                <a:t>1.645</a:t>
              </a:r>
              <a:endParaRPr lang="en-US" altLang="zh-CN" sz="2000" b="1">
                <a:effectLst>
                  <a:outerShdw blurRad="38100" dist="38100" dir="2700000" algn="tl">
                    <a:srgbClr val="000000"/>
                  </a:outerShdw>
                </a:effectLst>
              </a:endParaRPr>
            </a:p>
          </p:txBody>
        </p:sp>
        <p:sp>
          <p:nvSpPr>
            <p:cNvPr id="950348" name="Freeform 76"/>
            <p:cNvSpPr/>
            <p:nvPr/>
          </p:nvSpPr>
          <p:spPr bwMode="auto">
            <a:xfrm rot="3547430">
              <a:off x="1802" y="3369"/>
              <a:ext cx="132" cy="319"/>
            </a:xfrm>
            <a:custGeom>
              <a:avLst/>
              <a:gdLst>
                <a:gd name="T0" fmla="*/ 0 w 110"/>
                <a:gd name="T1" fmla="*/ 0 h 238"/>
                <a:gd name="T2" fmla="*/ 19 w 110"/>
                <a:gd name="T3" fmla="*/ 1 h 238"/>
                <a:gd name="T4" fmla="*/ 37 w 110"/>
                <a:gd name="T5" fmla="*/ 5 h 238"/>
                <a:gd name="T6" fmla="*/ 52 w 110"/>
                <a:gd name="T7" fmla="*/ 14 h 238"/>
                <a:gd name="T8" fmla="*/ 67 w 110"/>
                <a:gd name="T9" fmla="*/ 25 h 238"/>
                <a:gd name="T10" fmla="*/ 78 w 110"/>
                <a:gd name="T11" fmla="*/ 39 h 238"/>
                <a:gd name="T12" fmla="*/ 86 w 110"/>
                <a:gd name="T13" fmla="*/ 55 h 238"/>
                <a:gd name="T14" fmla="*/ 90 w 110"/>
                <a:gd name="T15" fmla="*/ 73 h 238"/>
                <a:gd name="T16" fmla="*/ 90 w 110"/>
                <a:gd name="T17" fmla="*/ 90 h 238"/>
                <a:gd name="T18" fmla="*/ 86 w 110"/>
                <a:gd name="T19" fmla="*/ 108 h 238"/>
                <a:gd name="T20" fmla="*/ 78 w 110"/>
                <a:gd name="T21" fmla="*/ 124 h 238"/>
                <a:gd name="T22" fmla="*/ 70 w 110"/>
                <a:gd name="T23" fmla="*/ 140 h 238"/>
                <a:gd name="T24" fmla="*/ 67 w 110"/>
                <a:gd name="T25" fmla="*/ 157 h 238"/>
                <a:gd name="T26" fmla="*/ 67 w 110"/>
                <a:gd name="T27" fmla="*/ 175 h 238"/>
                <a:gd name="T28" fmla="*/ 70 w 110"/>
                <a:gd name="T29" fmla="*/ 192 h 238"/>
                <a:gd name="T30" fmla="*/ 79 w 110"/>
                <a:gd name="T31" fmla="*/ 209 h 238"/>
                <a:gd name="T32" fmla="*/ 90 w 110"/>
                <a:gd name="T33" fmla="*/ 222 h 238"/>
                <a:gd name="T34" fmla="*/ 103 w 110"/>
                <a:gd name="T35" fmla="*/ 234 h 238"/>
                <a:gd name="T36" fmla="*/ 110 w 110"/>
                <a:gd name="T3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238">
                  <a:moveTo>
                    <a:pt x="0" y="0"/>
                  </a:moveTo>
                  <a:lnTo>
                    <a:pt x="19" y="1"/>
                  </a:lnTo>
                  <a:lnTo>
                    <a:pt x="37" y="5"/>
                  </a:lnTo>
                  <a:lnTo>
                    <a:pt x="52" y="14"/>
                  </a:lnTo>
                  <a:lnTo>
                    <a:pt x="67" y="25"/>
                  </a:lnTo>
                  <a:lnTo>
                    <a:pt x="78" y="39"/>
                  </a:lnTo>
                  <a:lnTo>
                    <a:pt x="86" y="55"/>
                  </a:lnTo>
                  <a:lnTo>
                    <a:pt x="90" y="73"/>
                  </a:lnTo>
                  <a:lnTo>
                    <a:pt x="90" y="90"/>
                  </a:lnTo>
                  <a:lnTo>
                    <a:pt x="86" y="108"/>
                  </a:lnTo>
                  <a:lnTo>
                    <a:pt x="78" y="124"/>
                  </a:lnTo>
                  <a:lnTo>
                    <a:pt x="70" y="140"/>
                  </a:lnTo>
                  <a:lnTo>
                    <a:pt x="67" y="157"/>
                  </a:lnTo>
                  <a:lnTo>
                    <a:pt x="67" y="175"/>
                  </a:lnTo>
                  <a:lnTo>
                    <a:pt x="70" y="192"/>
                  </a:lnTo>
                  <a:lnTo>
                    <a:pt x="79" y="209"/>
                  </a:lnTo>
                  <a:lnTo>
                    <a:pt x="90" y="222"/>
                  </a:lnTo>
                  <a:lnTo>
                    <a:pt x="103" y="234"/>
                  </a:lnTo>
                  <a:lnTo>
                    <a:pt x="110" y="238"/>
                  </a:lnTo>
                </a:path>
              </a:pathLst>
            </a:custGeom>
            <a:noFill/>
            <a:ln w="12700" cmpd="sng">
              <a:solidFill>
                <a:schemeClr val="tx1"/>
              </a:solidFill>
              <a:prstDash val="solid"/>
              <a:round/>
              <a:headEnd type="none" w="med" len="med"/>
              <a:tailEnd type="triangle" w="med" len="me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0349" name="Line 77"/>
            <p:cNvSpPr>
              <a:spLocks noChangeShapeType="1"/>
            </p:cNvSpPr>
            <p:nvPr/>
          </p:nvSpPr>
          <p:spPr bwMode="auto">
            <a:xfrm>
              <a:off x="1332" y="2868"/>
              <a:ext cx="0" cy="912"/>
            </a:xfrm>
            <a:prstGeom prst="line">
              <a:avLst/>
            </a:prstGeom>
            <a:noFill/>
            <a:ln w="12700">
              <a:solidFill>
                <a:schemeClr val="tx1"/>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950350" name="Group 78"/>
            <p:cNvGrpSpPr/>
            <p:nvPr/>
          </p:nvGrpSpPr>
          <p:grpSpPr bwMode="auto">
            <a:xfrm>
              <a:off x="425" y="3041"/>
              <a:ext cx="1817" cy="756"/>
              <a:chOff x="449" y="3003"/>
              <a:chExt cx="1865" cy="697"/>
            </a:xfrm>
          </p:grpSpPr>
          <p:sp>
            <p:nvSpPr>
              <p:cNvPr id="950351" name="Freeform 79"/>
              <p:cNvSpPr/>
              <p:nvPr/>
            </p:nvSpPr>
            <p:spPr bwMode="auto">
              <a:xfrm>
                <a:off x="472" y="3003"/>
                <a:ext cx="1842" cy="689"/>
              </a:xfrm>
              <a:custGeom>
                <a:avLst/>
                <a:gdLst>
                  <a:gd name="T0" fmla="*/ 0 w 1842"/>
                  <a:gd name="T1" fmla="*/ 0 h 689"/>
                  <a:gd name="T2" fmla="*/ 0 w 1842"/>
                  <a:gd name="T3" fmla="*/ 689 h 689"/>
                  <a:gd name="T4" fmla="*/ 1842 w 1842"/>
                  <a:gd name="T5" fmla="*/ 689 h 689"/>
                </a:gdLst>
                <a:ahLst/>
                <a:cxnLst>
                  <a:cxn ang="0">
                    <a:pos x="T0" y="T1"/>
                  </a:cxn>
                  <a:cxn ang="0">
                    <a:pos x="T2" y="T3"/>
                  </a:cxn>
                  <a:cxn ang="0">
                    <a:pos x="T4" y="T5"/>
                  </a:cxn>
                </a:cxnLst>
                <a:rect l="0" t="0" r="r" b="b"/>
                <a:pathLst>
                  <a:path w="1842" h="689">
                    <a:moveTo>
                      <a:pt x="0" y="0"/>
                    </a:moveTo>
                    <a:lnTo>
                      <a:pt x="0" y="689"/>
                    </a:lnTo>
                    <a:lnTo>
                      <a:pt x="1842" y="689"/>
                    </a:lnTo>
                  </a:path>
                </a:pathLst>
              </a:custGeom>
              <a:noFill/>
              <a:ln w="38100" cmpd="sng">
                <a:solidFill>
                  <a:srgbClr val="F0F0F0"/>
                </a:solidFill>
                <a:prstDash val="solid"/>
                <a:rou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950352" name="Group 80"/>
              <p:cNvGrpSpPr/>
              <p:nvPr/>
            </p:nvGrpSpPr>
            <p:grpSpPr bwMode="auto">
              <a:xfrm>
                <a:off x="449" y="3003"/>
                <a:ext cx="209" cy="697"/>
                <a:chOff x="449" y="3003"/>
                <a:chExt cx="209" cy="697"/>
              </a:xfrm>
            </p:grpSpPr>
            <p:sp>
              <p:nvSpPr>
                <p:cNvPr id="950353" name="Line 81"/>
                <p:cNvSpPr>
                  <a:spLocks noChangeShapeType="1"/>
                </p:cNvSpPr>
                <p:nvPr/>
              </p:nvSpPr>
              <p:spPr bwMode="auto">
                <a:xfrm>
                  <a:off x="449" y="3003"/>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950354" name="Line 82"/>
                <p:cNvSpPr>
                  <a:spLocks noChangeShapeType="1"/>
                </p:cNvSpPr>
                <p:nvPr/>
              </p:nvSpPr>
              <p:spPr bwMode="auto">
                <a:xfrm>
                  <a:off x="449" y="3072"/>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950355" name="Line 83"/>
                <p:cNvSpPr>
                  <a:spLocks noChangeShapeType="1"/>
                </p:cNvSpPr>
                <p:nvPr/>
              </p:nvSpPr>
              <p:spPr bwMode="auto">
                <a:xfrm>
                  <a:off x="449" y="3142"/>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950356" name="Line 84"/>
                <p:cNvSpPr>
                  <a:spLocks noChangeShapeType="1"/>
                </p:cNvSpPr>
                <p:nvPr/>
              </p:nvSpPr>
              <p:spPr bwMode="auto">
                <a:xfrm>
                  <a:off x="449" y="3210"/>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950357" name="Line 85"/>
                <p:cNvSpPr>
                  <a:spLocks noChangeShapeType="1"/>
                </p:cNvSpPr>
                <p:nvPr/>
              </p:nvSpPr>
              <p:spPr bwMode="auto">
                <a:xfrm>
                  <a:off x="449" y="3279"/>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950358" name="Line 86"/>
                <p:cNvSpPr>
                  <a:spLocks noChangeShapeType="1"/>
                </p:cNvSpPr>
                <p:nvPr/>
              </p:nvSpPr>
              <p:spPr bwMode="auto">
                <a:xfrm>
                  <a:off x="449" y="3347"/>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950359" name="Line 87"/>
                <p:cNvSpPr>
                  <a:spLocks noChangeShapeType="1"/>
                </p:cNvSpPr>
                <p:nvPr/>
              </p:nvSpPr>
              <p:spPr bwMode="auto">
                <a:xfrm>
                  <a:off x="449" y="3417"/>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950360" name="Line 88"/>
                <p:cNvSpPr>
                  <a:spLocks noChangeShapeType="1"/>
                </p:cNvSpPr>
                <p:nvPr/>
              </p:nvSpPr>
              <p:spPr bwMode="auto">
                <a:xfrm>
                  <a:off x="449" y="3485"/>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950361" name="Line 89"/>
                <p:cNvSpPr>
                  <a:spLocks noChangeShapeType="1"/>
                </p:cNvSpPr>
                <p:nvPr/>
              </p:nvSpPr>
              <p:spPr bwMode="auto">
                <a:xfrm>
                  <a:off x="449" y="3554"/>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950362" name="Line 90"/>
                <p:cNvSpPr>
                  <a:spLocks noChangeShapeType="1"/>
                </p:cNvSpPr>
                <p:nvPr/>
              </p:nvSpPr>
              <p:spPr bwMode="auto">
                <a:xfrm>
                  <a:off x="449" y="3623"/>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950363" name="Line 91"/>
                <p:cNvSpPr>
                  <a:spLocks noChangeShapeType="1"/>
                </p:cNvSpPr>
                <p:nvPr/>
              </p:nvSpPr>
              <p:spPr bwMode="auto">
                <a:xfrm>
                  <a:off x="657" y="3692"/>
                  <a:ext cx="1" cy="8"/>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0275">
                                            <p:txEl>
                                              <p:pRg st="0" end="0"/>
                                            </p:txEl>
                                          </p:spTgt>
                                        </p:tgtEl>
                                        <p:attrNameLst>
                                          <p:attrName>style.visibility</p:attrName>
                                        </p:attrNameLst>
                                      </p:cBhvr>
                                      <p:to>
                                        <p:strVal val="visible"/>
                                      </p:to>
                                    </p:set>
                                    <p:animEffect transition="in" filter="wipe(left)">
                                      <p:cBhvr>
                                        <p:cTn id="7" dur="500"/>
                                        <p:tgtEl>
                                          <p:spTgt spid="950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50275">
                                            <p:txEl>
                                              <p:pRg st="1" end="1"/>
                                            </p:txEl>
                                          </p:spTgt>
                                        </p:tgtEl>
                                        <p:attrNameLst>
                                          <p:attrName>style.visibility</p:attrName>
                                        </p:attrNameLst>
                                      </p:cBhvr>
                                      <p:to>
                                        <p:strVal val="visible"/>
                                      </p:to>
                                    </p:set>
                                    <p:animEffect transition="in" filter="wipe(left)">
                                      <p:cBhvr>
                                        <p:cTn id="12" dur="500"/>
                                        <p:tgtEl>
                                          <p:spTgt spid="9502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50275">
                                            <p:txEl>
                                              <p:pRg st="2" end="2"/>
                                            </p:txEl>
                                          </p:spTgt>
                                        </p:tgtEl>
                                        <p:attrNameLst>
                                          <p:attrName>style.visibility</p:attrName>
                                        </p:attrNameLst>
                                      </p:cBhvr>
                                      <p:to>
                                        <p:strVal val="visible"/>
                                      </p:to>
                                    </p:set>
                                    <p:animEffect transition="in" filter="wipe(left)">
                                      <p:cBhvr>
                                        <p:cTn id="17" dur="500"/>
                                        <p:tgtEl>
                                          <p:spTgt spid="9502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50275">
                                            <p:txEl>
                                              <p:pRg st="3" end="3"/>
                                            </p:txEl>
                                          </p:spTgt>
                                        </p:tgtEl>
                                        <p:attrNameLst>
                                          <p:attrName>style.visibility</p:attrName>
                                        </p:attrNameLst>
                                      </p:cBhvr>
                                      <p:to>
                                        <p:strVal val="visible"/>
                                      </p:to>
                                    </p:set>
                                    <p:animEffect transition="in" filter="wipe(left)">
                                      <p:cBhvr>
                                        <p:cTn id="22" dur="500"/>
                                        <p:tgtEl>
                                          <p:spTgt spid="9502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50275">
                                            <p:txEl>
                                              <p:pRg st="4" end="4"/>
                                            </p:txEl>
                                          </p:spTgt>
                                        </p:tgtEl>
                                        <p:attrNameLst>
                                          <p:attrName>style.visibility</p:attrName>
                                        </p:attrNameLst>
                                      </p:cBhvr>
                                      <p:to>
                                        <p:strVal val="visible"/>
                                      </p:to>
                                    </p:set>
                                    <p:animEffect transition="in" filter="wipe(left)">
                                      <p:cBhvr>
                                        <p:cTn id="27" dur="500"/>
                                        <p:tgtEl>
                                          <p:spTgt spid="9502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950335"/>
                                        </p:tgtEl>
                                        <p:attrNameLst>
                                          <p:attrName>style.visibility</p:attrName>
                                        </p:attrNameLst>
                                      </p:cBhvr>
                                      <p:to>
                                        <p:strVal val="visible"/>
                                      </p:to>
                                    </p:set>
                                    <p:animEffect transition="in" filter="barn(outVertical)">
                                      <p:cBhvr>
                                        <p:cTn id="32" dur="500"/>
                                        <p:tgtEl>
                                          <p:spTgt spid="95033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50276">
                                            <p:txEl>
                                              <p:pRg st="0" end="0"/>
                                            </p:txEl>
                                          </p:spTgt>
                                        </p:tgtEl>
                                        <p:attrNameLst>
                                          <p:attrName>style.visibility</p:attrName>
                                        </p:attrNameLst>
                                      </p:cBhvr>
                                      <p:to>
                                        <p:strVal val="visible"/>
                                      </p:to>
                                    </p:set>
                                    <p:animEffect transition="in" filter="wipe(left)">
                                      <p:cBhvr>
                                        <p:cTn id="37" dur="500"/>
                                        <p:tgtEl>
                                          <p:spTgt spid="950276">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50279">
                                            <p:txEl>
                                              <p:pRg st="0" end="0"/>
                                            </p:txEl>
                                          </p:spTgt>
                                        </p:tgtEl>
                                        <p:attrNameLst>
                                          <p:attrName>style.visibility</p:attrName>
                                        </p:attrNameLst>
                                      </p:cBhvr>
                                      <p:to>
                                        <p:strVal val="visible"/>
                                      </p:to>
                                    </p:set>
                                    <p:animEffect transition="in" filter="wipe(left)">
                                      <p:cBhvr>
                                        <p:cTn id="42" dur="500"/>
                                        <p:tgtEl>
                                          <p:spTgt spid="950279">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50277">
                                            <p:txEl>
                                              <p:pRg st="0" end="0"/>
                                            </p:txEl>
                                          </p:spTgt>
                                        </p:tgtEl>
                                        <p:attrNameLst>
                                          <p:attrName>style.visibility</p:attrName>
                                        </p:attrNameLst>
                                      </p:cBhvr>
                                      <p:to>
                                        <p:strVal val="visible"/>
                                      </p:to>
                                    </p:set>
                                    <p:animEffect transition="in" filter="wipe(left)">
                                      <p:cBhvr>
                                        <p:cTn id="47" dur="500"/>
                                        <p:tgtEl>
                                          <p:spTgt spid="950277">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50280">
                                            <p:txEl>
                                              <p:pRg st="0" end="0"/>
                                            </p:txEl>
                                          </p:spTgt>
                                        </p:tgtEl>
                                        <p:attrNameLst>
                                          <p:attrName>style.visibility</p:attrName>
                                        </p:attrNameLst>
                                      </p:cBhvr>
                                      <p:to>
                                        <p:strVal val="visible"/>
                                      </p:to>
                                    </p:set>
                                    <p:animEffect transition="in" filter="wipe(left)">
                                      <p:cBhvr>
                                        <p:cTn id="52" dur="500"/>
                                        <p:tgtEl>
                                          <p:spTgt spid="950280">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50278">
                                            <p:txEl>
                                              <p:pRg st="0" end="0"/>
                                            </p:txEl>
                                          </p:spTgt>
                                        </p:tgtEl>
                                        <p:attrNameLst>
                                          <p:attrName>style.visibility</p:attrName>
                                        </p:attrNameLst>
                                      </p:cBhvr>
                                      <p:to>
                                        <p:strVal val="visible"/>
                                      </p:to>
                                    </p:set>
                                    <p:animEffect transition="in" filter="wipe(left)">
                                      <p:cBhvr>
                                        <p:cTn id="57" dur="500"/>
                                        <p:tgtEl>
                                          <p:spTgt spid="9502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0275" grpId="0" autoUpdateAnimBg="0" build="p"/>
      <p:bldP spid="950276" grpId="0" autoUpdateAnimBg="0" build="p"/>
      <p:bldP spid="950277" grpId="0" autoUpdateAnimBg="0" build="p"/>
      <p:bldP spid="950278" grpId="0" autoUpdateAnimBg="0" build="p"/>
      <p:bldP spid="950279" grpId="0" autoUpdateAnimBg="0" build="p"/>
      <p:bldP spid="950280" grpId="0" autoUpdateAnimBg="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a:noFill/>
        </p:spPr>
        <p:txBody>
          <a:bodyPr>
            <a:normAutofit fontScale="90000"/>
          </a:bodyPr>
          <a:lstStyle/>
          <a:p>
            <a:r>
              <a:rPr lang="zh-CN" altLang="en-US" sz="4000">
                <a:latin typeface="Arial" panose="020B0604020202090204" pitchFamily="34" charset="0"/>
              </a:rPr>
              <a:t>总体均值的检验</a:t>
            </a:r>
            <a:br>
              <a:rPr lang="zh-CN" altLang="en-US" sz="4000">
                <a:latin typeface="Arial" panose="020B0604020202090204" pitchFamily="34" charset="0"/>
              </a:rPr>
            </a:br>
            <a:r>
              <a:rPr lang="zh-CN" altLang="en-US" sz="4000">
                <a:latin typeface="Arial" panose="020B0604020202090204" pitchFamily="34" charset="0"/>
              </a:rPr>
              <a:t> </a:t>
            </a:r>
            <a:r>
              <a:rPr lang="en-US" altLang="zh-CN" sz="3600">
                <a:solidFill>
                  <a:schemeClr val="hlink"/>
                </a:solidFill>
                <a:latin typeface="Arial" panose="020B0604020202090204" pitchFamily="34" charset="0"/>
              </a:rPr>
              <a:t>(</a:t>
            </a:r>
            <a:r>
              <a:rPr lang="en-US" altLang="zh-CN" sz="3600">
                <a:solidFill>
                  <a:schemeClr val="hlink"/>
                </a:solidFill>
                <a:latin typeface="Symbol" panose="05050102010706020507" pitchFamily="18" charset="2"/>
              </a:rPr>
              <a:t></a:t>
            </a:r>
            <a:r>
              <a:rPr lang="en-US" altLang="zh-CN" sz="3600" baseline="30000">
                <a:solidFill>
                  <a:schemeClr val="hlink"/>
                </a:solidFill>
                <a:latin typeface="Arial" panose="020B0604020202090204" pitchFamily="34" charset="0"/>
              </a:rPr>
              <a:t>2</a:t>
            </a:r>
            <a:r>
              <a:rPr lang="zh-CN" altLang="en-US" sz="3600">
                <a:solidFill>
                  <a:schemeClr val="hlink"/>
                </a:solidFill>
                <a:latin typeface="Arial" panose="020B0604020202090204" pitchFamily="34" charset="0"/>
              </a:rPr>
              <a:t>未知小样本</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239619" name="Rectangle 3"/>
          <p:cNvSpPr>
            <a:spLocks noGrp="1" noChangeArrowheads="1"/>
          </p:cNvSpPr>
          <p:nvPr>
            <p:ph type="body" idx="1"/>
          </p:nvPr>
        </p:nvSpPr>
        <p:spPr>
          <a:xfrm>
            <a:off x="2133601" y="1828801"/>
            <a:ext cx="7478713" cy="4022725"/>
          </a:xfrm>
          <a:noFill/>
        </p:spPr>
        <p:txBody>
          <a:bodyPr/>
          <a:lstStyle/>
          <a:p>
            <a:r>
              <a:rPr lang="en-US" altLang="zh-CN"/>
              <a:t>1.	</a:t>
            </a:r>
            <a:r>
              <a:rPr lang="zh-CN" altLang="en-US"/>
              <a:t>假定条件</a:t>
            </a:r>
            <a:endParaRPr lang="zh-CN" altLang="en-US"/>
          </a:p>
          <a:p>
            <a:pPr lvl="1"/>
            <a:r>
              <a:rPr lang="zh-CN" altLang="en-US">
                <a:latin typeface="Times New Roman" panose="02020603050405020304" pitchFamily="18" charset="0"/>
              </a:rPr>
              <a:t>总体为正态分布</a:t>
            </a:r>
            <a:endParaRPr lang="zh-CN" altLang="en-US">
              <a:latin typeface="Times New Roman" panose="02020603050405020304" pitchFamily="18" charset="0"/>
            </a:endParaRPr>
          </a:p>
          <a:p>
            <a:pPr lvl="1"/>
            <a:r>
              <a:rPr lang="zh-CN" altLang="en-US">
                <a:latin typeface="Symbol" panose="05050102010706020507" pitchFamily="18" charset="2"/>
              </a:rPr>
              <a:t></a:t>
            </a:r>
            <a:r>
              <a:rPr lang="en-US" altLang="zh-CN" baseline="30000"/>
              <a:t>2</a:t>
            </a:r>
            <a:r>
              <a:rPr lang="zh-CN" altLang="en-US"/>
              <a:t>未知，且小样本</a:t>
            </a:r>
            <a:endParaRPr lang="zh-CN" altLang="en-US">
              <a:latin typeface="Times New Roman" panose="02020603050405020304" pitchFamily="18" charset="0"/>
            </a:endParaRPr>
          </a:p>
          <a:p>
            <a:pPr>
              <a:spcBef>
                <a:spcPct val="30000"/>
              </a:spcBef>
            </a:pPr>
            <a:r>
              <a:rPr lang="en-US" altLang="zh-CN"/>
              <a:t>2.	</a:t>
            </a:r>
            <a:r>
              <a:rPr lang="zh-CN" altLang="en-US"/>
              <a:t>使用</a:t>
            </a:r>
            <a:r>
              <a:rPr lang="en-US" altLang="zh-CN" i="1">
                <a:latin typeface="Times New Roman" panose="02020603050405020304" pitchFamily="18" charset="0"/>
              </a:rPr>
              <a:t>t</a:t>
            </a:r>
            <a:r>
              <a:rPr lang="en-US" altLang="zh-CN"/>
              <a:t> </a:t>
            </a:r>
            <a:r>
              <a:rPr lang="zh-CN" altLang="en-US"/>
              <a:t>统计量</a:t>
            </a:r>
            <a:endParaRPr lang="zh-CN" altLang="en-US"/>
          </a:p>
        </p:txBody>
      </p:sp>
      <mc:AlternateContent xmlns:mc="http://schemas.openxmlformats.org/markup-compatibility/2006">
        <mc:Choice xmlns:a14="http://schemas.microsoft.com/office/drawing/2010/main" Requires="a14">
          <p:sp>
            <p:nvSpPr>
              <p:cNvPr id="239633" name="Object 17">
                <a:hlinkClick r:id="" action="ppaction://ole?verb=0"/>
              </p:cNvPr>
              <p:cNvSpPr txBox="1"/>
              <p:nvPr/>
            </p:nvSpPr>
            <p:spPr bwMode="auto">
              <a:xfrm>
                <a:off x="2947988" y="4213225"/>
                <a:ext cx="3359150" cy="1322388"/>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smtClean="0">
                          <a:solidFill>
                            <a:schemeClr val="tx1"/>
                          </a:solidFill>
                          <a:latin typeface="Cambria Math" panose="02040503050406030204" pitchFamily="18" charset="0"/>
                        </a:rPr>
                        <m:t>𝑡</m:t>
                      </m:r>
                      <m:r>
                        <a:rPr lang="zh-CN" altLang="en-US" i="1" smtClean="0">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acc>
                            <m:accPr>
                              <m:chr m:val="̄"/>
                              <m:ctrlPr>
                                <a:rPr lang="zh-CN" altLang="en-US" i="1">
                                  <a:solidFill>
                                    <a:schemeClr val="tx1"/>
                                  </a:solidFill>
                                  <a:latin typeface="Cambria Math" panose="02040503050406030204" pitchFamily="18" charset="0"/>
                                </a:rPr>
                              </m:ctrlPr>
                            </m:accPr>
                            <m:e>
                              <m:r>
                                <a:rPr lang="zh-CN" altLang="en-US" i="1">
                                  <a:solidFill>
                                    <a:schemeClr val="tx1"/>
                                  </a:solidFill>
                                  <a:latin typeface="Cambria Math" panose="02040503050406030204" pitchFamily="18" charset="0"/>
                                </a:rPr>
                                <m:t>𝑋</m:t>
                              </m:r>
                            </m:e>
                          </m:acc>
                          <m:r>
                            <a:rPr lang="zh-CN" altLang="en-US" i="1">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𝜇</m:t>
                              </m:r>
                            </m:e>
                            <m:sub>
                              <m:r>
                                <a:rPr lang="zh-CN" altLang="en-US" i="1">
                                  <a:solidFill>
                                    <a:schemeClr val="tx1"/>
                                  </a:solidFill>
                                  <a:latin typeface="Cambria Math" panose="02040503050406030204" pitchFamily="18" charset="0"/>
                                </a:rPr>
                                <m:t>0</m:t>
                              </m:r>
                            </m:sub>
                          </m:sSub>
                        </m:num>
                        <m:den>
                          <m:f>
                            <m:fPr>
                              <m:type m:val="lin"/>
                              <m:ctrlPr>
                                <a:rPr lang="zh-CN" altLang="en-US" i="1">
                                  <a:solidFill>
                                    <a:schemeClr val="tx1"/>
                                  </a:solidFill>
                                  <a:latin typeface="Cambria Math" panose="02040503050406030204" pitchFamily="18" charset="0"/>
                                </a:rPr>
                              </m:ctrlPr>
                            </m:fPr>
                            <m:num>
                              <m:r>
                                <a:rPr lang="zh-CN" altLang="en-US" i="1">
                                  <a:solidFill>
                                    <a:schemeClr val="tx1"/>
                                  </a:solidFill>
                                  <a:latin typeface="Cambria Math" panose="02040503050406030204" pitchFamily="18" charset="0"/>
                                </a:rPr>
                                <m:t>𝑆</m:t>
                              </m:r>
                            </m:num>
                            <m:den>
                              <m:rad>
                                <m:radPr>
                                  <m:degHide m:val="on"/>
                                  <m:ctrlPr>
                                    <a:rPr lang="zh-CN" altLang="en-US" i="1">
                                      <a:solidFill>
                                        <a:schemeClr val="tx1"/>
                                      </a:solidFill>
                                      <a:latin typeface="Cambria Math" panose="02040503050406030204" pitchFamily="18" charset="0"/>
                                    </a:rPr>
                                  </m:ctrlPr>
                                </m:radPr>
                                <m:deg/>
                                <m:e>
                                  <m:r>
                                    <a:rPr lang="zh-CN" altLang="en-US" i="1">
                                      <a:solidFill>
                                        <a:schemeClr val="tx1"/>
                                      </a:solidFill>
                                      <a:latin typeface="Cambria Math" panose="02040503050406030204" pitchFamily="18" charset="0"/>
                                    </a:rPr>
                                    <m:t>𝑛</m:t>
                                  </m:r>
                                </m:e>
                              </m:rad>
                            </m:den>
                          </m:f>
                        </m:den>
                      </m:f>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𝑡</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𝑛</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1</m:t>
                      </m:r>
                      <m:r>
                        <a:rPr lang="zh-CN" altLang="en-US" i="1">
                          <a:solidFill>
                            <a:schemeClr val="tx1"/>
                          </a:solidFill>
                          <a:latin typeface="Cambria Math" panose="02040503050406030204" pitchFamily="18" charset="0"/>
                        </a:rPr>
                        <m:t>)</m:t>
                      </m:r>
                    </m:oMath>
                  </m:oMathPara>
                </a14:m>
                <a:endParaRPr lang="zh-CN" altLang="en-US">
                  <a:solidFill>
                    <a:schemeClr val="tx1"/>
                  </a:solidFill>
                </a:endParaRPr>
              </a:p>
            </p:txBody>
          </p:sp>
        </mc:Choice>
        <mc:Fallback>
          <p:sp>
            <p:nvSpPr>
              <p:cNvPr id="239633" name="Object 17">
                <a:hlinkClick r:id="" action="ppaction://ole?verb=0"/>
              </p:cNvPr>
              <p:cNvSpPr txBox="1">
                <a:spLocks noRot="1" noChangeAspect="1" noMove="1" noResize="1" noEditPoints="1" noAdjustHandles="1" noChangeArrowheads="1" noChangeShapeType="1" noTextEdit="1"/>
              </p:cNvSpPr>
              <p:nvPr/>
            </p:nvSpPr>
            <p:spPr bwMode="auto">
              <a:xfrm>
                <a:off x="2947988" y="4213225"/>
                <a:ext cx="3359150" cy="1322388"/>
              </a:xfrm>
              <a:prstGeom prst="rect">
                <a:avLst/>
              </a:prstGeom>
              <a:blipFill rotWithShape="1">
                <a:blip r:embed="rId1"/>
                <a:stretch>
                  <a:fillRect l="-9" r="-369" b="-936"/>
                </a:stretch>
              </a:blipFill>
              <a:ln>
                <a:noFill/>
              </a:ln>
              <a:effectLst>
                <a:outerShdw dist="17961" dir="2700000" algn="ctr" rotWithShape="0">
                  <a:schemeClr val="bg2"/>
                </a:outerShdw>
              </a:effectLst>
            </p:spPr>
            <p:txBody>
              <a:bodyPr/>
              <a:lstStyle/>
              <a:p>
                <a:r>
                  <a:rPr lang="zh-CN" altLang="en-US">
                    <a:noFill/>
                  </a:rPr>
                  <a:t> </a:t>
                </a:r>
              </a:p>
            </p:txBody>
          </p:sp>
        </mc:Fallback>
      </mc:AlternateContent>
      <p:pic>
        <p:nvPicPr>
          <p:cNvPr id="239635" name="Picture 19" descr="fistslam">
            <a:hlinkHover r:id="" action="ppaction://noaction" highlightClick="1"/>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689" y="2838450"/>
            <a:ext cx="3436937" cy="2952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3124200" y="228600"/>
            <a:ext cx="7239000" cy="1143000"/>
          </a:xfrm>
          <a:noFill/>
        </p:spPr>
        <p:txBody>
          <a:bodyPr>
            <a:normAutofit fontScale="90000"/>
          </a:bodyPr>
          <a:lstStyle/>
          <a:p>
            <a:r>
              <a:rPr lang="en-US" altLang="zh-CN" sz="4000">
                <a:latin typeface="Symbol" panose="05050102010706020507" pitchFamily="18" charset="2"/>
              </a:rPr>
              <a:t></a:t>
            </a:r>
            <a:r>
              <a:rPr lang="en-US" altLang="zh-CN" sz="4000" baseline="30000">
                <a:latin typeface="Arial" panose="020B0604020202090204" pitchFamily="34" charset="0"/>
              </a:rPr>
              <a:t>2</a:t>
            </a:r>
            <a:r>
              <a:rPr lang="en-US" altLang="zh-CN" sz="4000">
                <a:latin typeface="Arial" panose="020B0604020202090204" pitchFamily="34" charset="0"/>
              </a:rPr>
              <a:t> </a:t>
            </a:r>
            <a:r>
              <a:rPr lang="zh-CN" altLang="en-US" sz="4000">
                <a:latin typeface="Arial" panose="020B0604020202090204" pitchFamily="34" charset="0"/>
              </a:rPr>
              <a:t>未知小样本均值的检验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256008" name="Rectangle 8"/>
          <p:cNvSpPr>
            <a:spLocks noGrp="1" noChangeArrowheads="1"/>
          </p:cNvSpPr>
          <p:nvPr>
            <p:ph type="body" sz="half" idx="1"/>
          </p:nvPr>
        </p:nvSpPr>
        <p:spPr>
          <a:xfrm>
            <a:off x="2133600" y="1828800"/>
            <a:ext cx="4724400" cy="4495800"/>
          </a:xfrm>
        </p:spPr>
        <p:txBody>
          <a:bodyPr/>
          <a:lstStyle/>
          <a:p>
            <a:pPr marL="0" indent="0" algn="just"/>
            <a:r>
              <a:rPr lang="en-US" altLang="zh-CN" b="1" dirty="0"/>
              <a:t>【</a:t>
            </a:r>
            <a:r>
              <a:rPr lang="zh-CN" altLang="en-US" b="1" dirty="0"/>
              <a:t>例</a:t>
            </a:r>
            <a:r>
              <a:rPr lang="en-US" altLang="zh-CN" b="1" dirty="0"/>
              <a:t>】</a:t>
            </a:r>
            <a:r>
              <a:rPr lang="zh-CN" altLang="en-US" sz="3000" dirty="0"/>
              <a:t>某机器制造出的肥皂厚度为</a:t>
            </a:r>
            <a:r>
              <a:rPr lang="en-US" altLang="zh-CN" sz="3000" dirty="0">
                <a:cs typeface="Times New Roman" panose="02020603050405020304" pitchFamily="18" charset="0"/>
              </a:rPr>
              <a:t>5cm</a:t>
            </a:r>
            <a:r>
              <a:rPr lang="zh-CN" altLang="en-US" sz="3000" dirty="0"/>
              <a:t>，今欲了解机器性能是否良好，随机抽取</a:t>
            </a:r>
            <a:r>
              <a:rPr lang="en-US" altLang="zh-CN" sz="3000" dirty="0">
                <a:cs typeface="Times New Roman" panose="02020603050405020304" pitchFamily="18" charset="0"/>
              </a:rPr>
              <a:t>10</a:t>
            </a:r>
            <a:r>
              <a:rPr lang="zh-CN" altLang="en-US" sz="3000" dirty="0"/>
              <a:t>块肥皂为样本，测得平均厚度为</a:t>
            </a:r>
            <a:r>
              <a:rPr lang="en-US" altLang="zh-CN" sz="3000" dirty="0">
                <a:cs typeface="Times New Roman" panose="02020603050405020304" pitchFamily="18" charset="0"/>
              </a:rPr>
              <a:t>5.3cm</a:t>
            </a:r>
            <a:r>
              <a:rPr lang="zh-CN" altLang="en-US" sz="3000" dirty="0"/>
              <a:t>，标准差为</a:t>
            </a:r>
            <a:r>
              <a:rPr lang="en-US" altLang="zh-CN" sz="3000" dirty="0">
                <a:cs typeface="Times New Roman" panose="02020603050405020304" pitchFamily="18" charset="0"/>
              </a:rPr>
              <a:t>0.3cm</a:t>
            </a:r>
            <a:r>
              <a:rPr lang="zh-CN" altLang="en-US" sz="3000" dirty="0"/>
              <a:t>，试以</a:t>
            </a:r>
            <a:r>
              <a:rPr lang="en-US" altLang="zh-CN" sz="3000" dirty="0">
                <a:cs typeface="Times New Roman" panose="02020603050405020304" pitchFamily="18" charset="0"/>
              </a:rPr>
              <a:t>0.05</a:t>
            </a:r>
            <a:r>
              <a:rPr lang="zh-CN" altLang="en-US" sz="3000" dirty="0"/>
              <a:t>的显著性水平检验机器性能良好的假设。 </a:t>
            </a:r>
            <a:endParaRPr lang="zh-CN" altLang="en-US" sz="3000" dirty="0"/>
          </a:p>
        </p:txBody>
      </p:sp>
      <p:pic>
        <p:nvPicPr>
          <p:cNvPr id="256016" name="Picture 16" descr="BL00381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142163" y="3548063"/>
            <a:ext cx="3059112" cy="2711450"/>
          </a:xfrm>
          <a:prstGeom prst="rect">
            <a:avLst/>
          </a:prstGeom>
          <a:noFill/>
          <a:extLst>
            <a:ext uri="{909E8E84-426E-40DD-AFC4-6F175D3DCCD1}">
              <a14:hiddenFill xmlns:a14="http://schemas.microsoft.com/office/drawing/2010/main">
                <a:solidFill>
                  <a:srgbClr val="FFFFFF"/>
                </a:solidFill>
              </a14:hiddenFill>
            </a:ext>
          </a:extLst>
        </p:spPr>
      </p:pic>
      <p:sp>
        <p:nvSpPr>
          <p:cNvPr id="256017" name="AutoShape 17"/>
          <p:cNvSpPr>
            <a:spLocks noChangeArrowheads="1"/>
          </p:cNvSpPr>
          <p:nvPr/>
        </p:nvSpPr>
        <p:spPr bwMode="auto">
          <a:xfrm>
            <a:off x="7907339" y="2093913"/>
            <a:ext cx="2205037" cy="836612"/>
          </a:xfrm>
          <a:prstGeom prst="cloudCallout">
            <a:avLst>
              <a:gd name="adj1" fmla="val -91324"/>
              <a:gd name="adj2" fmla="val 126852"/>
            </a:avLst>
          </a:prstGeom>
          <a:noFill/>
          <a:ln w="12700">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lang="zh-CN" altLang="en-US">
                <a:solidFill>
                  <a:schemeClr val="accent2"/>
                </a:solidFill>
                <a:effectLst>
                  <a:outerShdw blurRad="38100" dist="38100" dir="2700000" algn="tl">
                    <a:srgbClr val="000000"/>
                  </a:outerShdw>
                </a:effectLst>
              </a:rPr>
              <a:t>双侧检验</a:t>
            </a:r>
            <a:endParaRPr lang="zh-CN" altLang="en-US">
              <a:solidFill>
                <a:schemeClr val="accent2"/>
              </a:solidFill>
              <a:effectLst>
                <a:outerShdw blurRad="38100" dist="38100" dir="2700000" algn="tl">
                  <a:srgbClr val="000000"/>
                </a:outerShdw>
              </a:effectLst>
            </a:endParaRP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a:noFill/>
        </p:spPr>
        <p:txBody>
          <a:bodyPr>
            <a:normAutofit fontScale="90000"/>
          </a:bodyPr>
          <a:lstStyle/>
          <a:p>
            <a:r>
              <a:rPr lang="en-US" altLang="zh-CN" sz="4000">
                <a:latin typeface="Symbol" panose="05050102010706020507" pitchFamily="18" charset="2"/>
              </a:rPr>
              <a:t></a:t>
            </a:r>
            <a:r>
              <a:rPr lang="en-US" altLang="zh-CN" sz="4000" baseline="30000">
                <a:latin typeface="Arial" panose="020B0604020202090204" pitchFamily="34" charset="0"/>
              </a:rPr>
              <a:t>2</a:t>
            </a:r>
            <a:r>
              <a:rPr lang="en-US" altLang="zh-CN" sz="4000">
                <a:latin typeface="Arial" panose="020B0604020202090204" pitchFamily="34" charset="0"/>
              </a:rPr>
              <a:t> </a:t>
            </a:r>
            <a:r>
              <a:rPr lang="zh-CN" altLang="en-US" sz="4000">
                <a:latin typeface="Arial" panose="020B0604020202090204" pitchFamily="34" charset="0"/>
              </a:rPr>
              <a:t>未知小样本均值的检验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270339" name="Rectangle 3"/>
          <p:cNvSpPr>
            <a:spLocks noGrp="1" noChangeArrowheads="1"/>
          </p:cNvSpPr>
          <p:nvPr>
            <p:ph type="body" sz="half" idx="1"/>
          </p:nvPr>
        </p:nvSpPr>
        <p:spPr>
          <a:xfrm>
            <a:off x="2133600" y="1797050"/>
            <a:ext cx="3848100" cy="3994150"/>
          </a:xfrm>
          <a:noFill/>
        </p:spPr>
        <p:txBody>
          <a:bodyPr/>
          <a:lstStyle/>
          <a:p>
            <a:pPr marL="0" indent="0"/>
            <a:r>
              <a:rPr lang="en-US" altLang="zh-CN" sz="2800" b="1" dirty="0"/>
              <a:t>H</a:t>
            </a:r>
            <a:r>
              <a:rPr lang="en-US" altLang="zh-CN" sz="2000" b="1" dirty="0"/>
              <a:t>0</a:t>
            </a:r>
            <a:r>
              <a:rPr lang="en-US" altLang="zh-CN" sz="2800" b="1" dirty="0"/>
              <a:t>: </a:t>
            </a:r>
            <a:r>
              <a:rPr lang="en-US" altLang="zh-CN" sz="2800" b="1" dirty="0">
                <a:latin typeface="Symbol" panose="05050102010706020507" pitchFamily="18" charset="2"/>
              </a:rPr>
              <a:t></a:t>
            </a:r>
            <a:r>
              <a:rPr lang="en-US" altLang="zh-CN" sz="2800" b="1" dirty="0"/>
              <a:t> = 5</a:t>
            </a:r>
            <a:endParaRPr lang="en-US" altLang="zh-CN" sz="2800" b="1" dirty="0"/>
          </a:p>
          <a:p>
            <a:pPr marL="0" indent="0"/>
            <a:r>
              <a:rPr lang="en-US" altLang="zh-CN" sz="2800" b="1" dirty="0"/>
              <a:t>H</a:t>
            </a:r>
            <a:r>
              <a:rPr lang="en-US" altLang="zh-CN" sz="2000" b="1" dirty="0"/>
              <a:t>1</a:t>
            </a:r>
            <a:r>
              <a:rPr lang="en-US" altLang="zh-CN" sz="2800" b="1" dirty="0"/>
              <a:t>: </a:t>
            </a:r>
            <a:r>
              <a:rPr lang="en-US" altLang="zh-CN" sz="2800" b="1" dirty="0">
                <a:latin typeface="Symbol" panose="05050102010706020507" pitchFamily="18" charset="2"/>
              </a:rPr>
              <a:t></a:t>
            </a:r>
            <a:r>
              <a:rPr lang="en-US" altLang="zh-CN" sz="2800" b="1" dirty="0"/>
              <a:t> </a:t>
            </a:r>
            <a:r>
              <a:rPr lang="en-US" altLang="zh-CN" sz="2800" b="1" dirty="0">
                <a:latin typeface="Symbol" panose="05050102010706020507" pitchFamily="18" charset="2"/>
              </a:rPr>
              <a:t></a:t>
            </a:r>
            <a:r>
              <a:rPr lang="en-US" altLang="zh-CN" sz="2800" b="1" dirty="0"/>
              <a:t> 5</a:t>
            </a:r>
            <a:endParaRPr lang="en-US" altLang="zh-CN" sz="2800" b="1" dirty="0"/>
          </a:p>
          <a:p>
            <a:pPr marL="0" indent="0"/>
            <a:r>
              <a:rPr lang="en-US" altLang="zh-CN" sz="2800" b="1" dirty="0">
                <a:latin typeface="Symbol" panose="05050102010706020507" pitchFamily="18" charset="2"/>
              </a:rPr>
              <a:t></a:t>
            </a:r>
            <a:r>
              <a:rPr lang="en-US" altLang="zh-CN" sz="2800" b="1" dirty="0"/>
              <a:t> = 0.05</a:t>
            </a:r>
            <a:endParaRPr lang="en-US" altLang="zh-CN" sz="2800" b="1" dirty="0"/>
          </a:p>
          <a:p>
            <a:pPr marL="0" indent="0"/>
            <a:r>
              <a:rPr lang="en-US" altLang="zh-CN" sz="2800" b="1" dirty="0"/>
              <a:t>df = 10 - 1 = 9</a:t>
            </a:r>
            <a:endParaRPr lang="en-US" altLang="zh-CN" sz="2800" b="1" dirty="0"/>
          </a:p>
          <a:p>
            <a:pPr marL="0" indent="0">
              <a:spcBef>
                <a:spcPct val="9000"/>
              </a:spcBef>
            </a:pPr>
            <a:r>
              <a:rPr lang="zh-CN" altLang="en-US" sz="2800" b="1" dirty="0"/>
              <a:t>临界值</a:t>
            </a:r>
            <a:r>
              <a:rPr lang="en-US" altLang="zh-CN" sz="2800" b="1" dirty="0"/>
              <a:t>(s):</a:t>
            </a:r>
            <a:endParaRPr lang="en-US" altLang="zh-CN" sz="2800" b="1" dirty="0"/>
          </a:p>
          <a:p>
            <a:pPr marL="0" indent="0"/>
            <a:endParaRPr lang="en-US" altLang="zh-CN" sz="2800" b="1" dirty="0"/>
          </a:p>
        </p:txBody>
      </p:sp>
      <p:sp>
        <p:nvSpPr>
          <p:cNvPr id="270340" name="Rectangle 4"/>
          <p:cNvSpPr>
            <a:spLocks noChangeArrowheads="1"/>
          </p:cNvSpPr>
          <p:nvPr/>
        </p:nvSpPr>
        <p:spPr bwMode="auto">
          <a:xfrm>
            <a:off x="5754688" y="1828800"/>
            <a:ext cx="2895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effectLst>
                  <a:outerShdw blurRad="38100" dist="38100" dir="2700000" algn="tl">
                    <a:srgbClr val="000000"/>
                  </a:outerShdw>
                </a:effectLst>
                <a:latin typeface="Arial" panose="020B0604020202090204" pitchFamily="34" charset="0"/>
              </a:rPr>
              <a:t>检验统计量</a:t>
            </a:r>
            <a:r>
              <a:rPr lang="en-US" altLang="zh-CN" sz="2800" b="1">
                <a:effectLst>
                  <a:outerShdw blurRad="38100" dist="38100" dir="2700000" algn="tl">
                    <a:srgbClr val="000000"/>
                  </a:outerShdw>
                </a:effectLst>
                <a:latin typeface="Arial" panose="020B0604020202090204" pitchFamily="34" charset="0"/>
              </a:rPr>
              <a:t>: </a:t>
            </a:r>
            <a:endParaRPr lang="en-US" altLang="zh-CN" sz="2800" b="1">
              <a:effectLst>
                <a:outerShdw blurRad="38100" dist="38100" dir="2700000" algn="tl">
                  <a:srgbClr val="000000"/>
                </a:outerShdw>
              </a:effectLst>
              <a:latin typeface="Arial" panose="020B0604020202090204" pitchFamily="34" charset="0"/>
            </a:endParaRPr>
          </a:p>
        </p:txBody>
      </p:sp>
      <p:sp>
        <p:nvSpPr>
          <p:cNvPr id="270343" name="Rectangle 7"/>
          <p:cNvSpPr>
            <a:spLocks noChangeArrowheads="1"/>
          </p:cNvSpPr>
          <p:nvPr/>
        </p:nvSpPr>
        <p:spPr bwMode="auto">
          <a:xfrm>
            <a:off x="5832476" y="4322764"/>
            <a:ext cx="434022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zh-CN" altLang="en-US" sz="2600">
                <a:effectLst>
                  <a:outerShdw blurRad="38100" dist="38100" dir="2700000" algn="tl">
                    <a:srgbClr val="000000"/>
                  </a:outerShdw>
                </a:effectLst>
              </a:rPr>
              <a:t>在 </a:t>
            </a:r>
            <a:r>
              <a:rPr lang="zh-CN" altLang="en-US" sz="2600">
                <a:effectLst>
                  <a:outerShdw blurRad="38100" dist="38100" dir="2700000" algn="tl">
                    <a:srgbClr val="000000"/>
                  </a:outerShdw>
                </a:effectLst>
                <a:latin typeface="Symbol" panose="05050102010706020507" pitchFamily="18" charset="2"/>
              </a:rPr>
              <a:t></a:t>
            </a:r>
            <a:r>
              <a:rPr lang="zh-CN" altLang="en-US" sz="2600">
                <a:effectLst>
                  <a:outerShdw blurRad="38100" dist="38100" dir="2700000" algn="tl">
                    <a:srgbClr val="000000"/>
                  </a:outerShdw>
                </a:effectLst>
              </a:rPr>
              <a:t> </a:t>
            </a:r>
            <a:r>
              <a:rPr lang="en-US" altLang="zh-CN" sz="2600">
                <a:effectLst>
                  <a:outerShdw blurRad="38100" dist="38100" dir="2700000" algn="tl">
                    <a:srgbClr val="000000"/>
                  </a:outerShdw>
                </a:effectLst>
              </a:rPr>
              <a:t>= 0.05</a:t>
            </a:r>
            <a:r>
              <a:rPr lang="zh-CN" altLang="en-US" sz="2600">
                <a:effectLst>
                  <a:outerShdw blurRad="38100" dist="38100" dir="2700000" algn="tl">
                    <a:srgbClr val="000000"/>
                  </a:outerShdw>
                </a:effectLst>
              </a:rPr>
              <a:t>的水平上拒绝</a:t>
            </a:r>
            <a:r>
              <a:rPr lang="en-US" altLang="zh-CN" sz="2600">
                <a:effectLst>
                  <a:outerShdw blurRad="38100" dist="38100" dir="2700000" algn="tl">
                    <a:srgbClr val="000000"/>
                  </a:outerShdw>
                </a:effectLst>
              </a:rPr>
              <a:t>H</a:t>
            </a:r>
            <a:r>
              <a:rPr lang="en-US" altLang="zh-CN" sz="2600" baseline="-25000">
                <a:effectLst>
                  <a:outerShdw blurRad="38100" dist="38100" dir="2700000" algn="tl">
                    <a:srgbClr val="000000"/>
                  </a:outerShdw>
                </a:effectLst>
              </a:rPr>
              <a:t>0</a:t>
            </a:r>
            <a:endParaRPr lang="en-US" altLang="zh-CN" sz="2600">
              <a:effectLst>
                <a:outerShdw blurRad="38100" dist="38100" dir="2700000" algn="tl">
                  <a:srgbClr val="000000"/>
                </a:outerShdw>
              </a:effectLst>
            </a:endParaRPr>
          </a:p>
        </p:txBody>
      </p:sp>
      <p:sp>
        <p:nvSpPr>
          <p:cNvPr id="270344" name="Rectangle 8"/>
          <p:cNvSpPr>
            <a:spLocks noChangeArrowheads="1"/>
          </p:cNvSpPr>
          <p:nvPr/>
        </p:nvSpPr>
        <p:spPr bwMode="auto">
          <a:xfrm>
            <a:off x="5827714" y="5441951"/>
            <a:ext cx="420052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zh-CN" altLang="en-US" sz="2600">
                <a:effectLst>
                  <a:outerShdw blurRad="38100" dist="38100" dir="2700000" algn="tl">
                    <a:srgbClr val="000000"/>
                  </a:outerShdw>
                </a:effectLst>
                <a:latin typeface="Times New Roman" panose="02020603050405020304" pitchFamily="18" charset="0"/>
              </a:rPr>
              <a:t>说明该机器的性能不好</a:t>
            </a:r>
            <a:r>
              <a:rPr lang="zh-CN" altLang="en-US" sz="2600">
                <a:effectLst>
                  <a:outerShdw blurRad="38100" dist="38100" dir="2700000" algn="tl">
                    <a:srgbClr val="000000"/>
                  </a:outerShdw>
                </a:effectLst>
              </a:rPr>
              <a:t> </a:t>
            </a:r>
            <a:endParaRPr lang="zh-CN" altLang="en-US" sz="2600">
              <a:effectLst>
                <a:outerShdw blurRad="38100" dist="38100" dir="2700000" algn="tl">
                  <a:srgbClr val="000000"/>
                </a:outerShdw>
              </a:effectLst>
            </a:endParaRPr>
          </a:p>
        </p:txBody>
      </p:sp>
      <p:sp>
        <p:nvSpPr>
          <p:cNvPr id="270345" name="Rectangle 9"/>
          <p:cNvSpPr>
            <a:spLocks noChangeArrowheads="1"/>
          </p:cNvSpPr>
          <p:nvPr/>
        </p:nvSpPr>
        <p:spPr bwMode="auto">
          <a:xfrm>
            <a:off x="5832475" y="3713163"/>
            <a:ext cx="167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effectLst>
                  <a:outerShdw blurRad="38100" dist="38100" dir="2700000" algn="tl">
                    <a:srgbClr val="000000"/>
                  </a:outerShdw>
                </a:effectLst>
                <a:latin typeface="Arial" panose="020B0604020202090204" pitchFamily="34" charset="0"/>
              </a:rPr>
              <a:t>决策：</a:t>
            </a:r>
            <a:endParaRPr lang="zh-CN" altLang="en-US" sz="2800" b="1">
              <a:effectLst>
                <a:outerShdw blurRad="38100" dist="38100" dir="2700000" algn="tl">
                  <a:srgbClr val="000000"/>
                </a:outerShdw>
              </a:effectLst>
              <a:latin typeface="Arial" panose="020B0604020202090204" pitchFamily="34" charset="0"/>
            </a:endParaRPr>
          </a:p>
        </p:txBody>
      </p:sp>
      <p:sp>
        <p:nvSpPr>
          <p:cNvPr id="270346" name="Rectangle 10"/>
          <p:cNvSpPr>
            <a:spLocks noChangeArrowheads="1"/>
          </p:cNvSpPr>
          <p:nvPr/>
        </p:nvSpPr>
        <p:spPr bwMode="auto">
          <a:xfrm>
            <a:off x="5832475" y="4856163"/>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solidFill>
                  <a:srgbClr val="FFFFB1"/>
                </a:solidFill>
                <a:effectLst>
                  <a:outerShdw blurRad="38100" dist="38100" dir="2700000" algn="tl">
                    <a:srgbClr val="000000"/>
                  </a:outerShdw>
                </a:effectLst>
                <a:latin typeface="Arial" panose="020B0604020202090204" pitchFamily="34" charset="0"/>
              </a:rPr>
              <a:t>结论：</a:t>
            </a:r>
            <a:endParaRPr lang="zh-CN" altLang="en-US" sz="2800" b="1">
              <a:solidFill>
                <a:srgbClr val="FFFFB1"/>
              </a:solidFill>
              <a:effectLst>
                <a:outerShdw blurRad="38100" dist="38100" dir="2700000" algn="tl">
                  <a:srgbClr val="000000"/>
                </a:outerShdw>
              </a:effectLst>
              <a:latin typeface="Arial" panose="020B0604020202090204" pitchFamily="34" charset="0"/>
            </a:endParaRPr>
          </a:p>
        </p:txBody>
      </p:sp>
      <p:sp>
        <p:nvSpPr>
          <p:cNvPr id="270354" name="Text Box 18"/>
          <p:cNvSpPr txBox="1">
            <a:spLocks noChangeArrowheads="1"/>
          </p:cNvSpPr>
          <p:nvPr/>
        </p:nvSpPr>
        <p:spPr bwMode="auto">
          <a:xfrm>
            <a:off x="5791200" y="2514600"/>
            <a:ext cx="3124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a:effectLst>
                <a:outerShdw blurRad="38100" dist="38100" dir="2700000" algn="tl">
                  <a:srgbClr val="000000"/>
                </a:outerShdw>
              </a:effectLst>
            </a:endParaRPr>
          </a:p>
        </p:txBody>
      </p:sp>
      <mc:AlternateContent xmlns:mc="http://schemas.openxmlformats.org/markup-compatibility/2006">
        <mc:Choice xmlns:a14="http://schemas.microsoft.com/office/drawing/2010/main" Requires="a14">
          <p:sp>
            <p:nvSpPr>
              <p:cNvPr id="270356" name="Object 20">
                <a:hlinkClick r:id="" action="ppaction://ole?verb=0"/>
              </p:cNvPr>
              <p:cNvSpPr txBox="1"/>
              <p:nvPr/>
            </p:nvSpPr>
            <p:spPr bwMode="auto">
              <a:xfrm>
                <a:off x="5999164" y="2501901"/>
                <a:ext cx="3775075" cy="1006475"/>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𝑥</m:t>
                              </m:r>
                            </m:e>
                          </m:acc>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0</m:t>
                              </m:r>
                            </m:sub>
                          </m:sSub>
                        </m:num>
                        <m:den>
                          <m:f>
                            <m:fPr>
                              <m:type m:val="lin"/>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𝑠</m:t>
                              </m:r>
                            </m:num>
                            <m:den>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𝑛</m:t>
                                  </m:r>
                                </m:e>
                              </m:rad>
                            </m:den>
                          </m:f>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5</m:t>
                          </m:r>
                        </m:num>
                        <m:den>
                          <m:f>
                            <m:fPr>
                              <m:type m:val="lin"/>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3</m:t>
                              </m:r>
                            </m:num>
                            <m:den>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10</m:t>
                                  </m:r>
                                </m:e>
                              </m:rad>
                            </m:den>
                          </m:f>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16</m:t>
                      </m:r>
                    </m:oMath>
                  </m:oMathPara>
                </a14:m>
                <a:endParaRPr lang="zh-CN" altLang="en-US"/>
              </a:p>
            </p:txBody>
          </p:sp>
        </mc:Choice>
        <mc:Fallback>
          <p:sp>
            <p:nvSpPr>
              <p:cNvPr id="270356" name="Object 20">
                <a:hlinkClick r:id="" action="ppaction://ole?verb=0"/>
              </p:cNvPr>
              <p:cNvSpPr txBox="1">
                <a:spLocks noRot="1" noChangeAspect="1" noMove="1" noResize="1" noEditPoints="1" noAdjustHandles="1" noChangeArrowheads="1" noChangeShapeType="1" noTextEdit="1"/>
              </p:cNvSpPr>
              <p:nvPr/>
            </p:nvSpPr>
            <p:spPr bwMode="auto">
              <a:xfrm>
                <a:off x="5999164" y="2501901"/>
                <a:ext cx="3775075" cy="1006475"/>
              </a:xfrm>
              <a:prstGeom prst="rect">
                <a:avLst/>
              </a:prstGeom>
              <a:blipFill rotWithShape="1">
                <a:blip r:embed="rId1"/>
                <a:stretch>
                  <a:fillRect l="-8" r="-328" b="-1262"/>
                </a:stretch>
              </a:blipFill>
              <a:ln>
                <a:noFill/>
              </a:ln>
              <a:effectLst>
                <a:outerShdw dist="17961" dir="2700000" algn="ctr" rotWithShape="0">
                  <a:schemeClr val="bg2"/>
                </a:outerShdw>
              </a:effectLst>
            </p:spPr>
            <p:txBody>
              <a:bodyPr/>
              <a:lstStyle/>
              <a:p>
                <a:r>
                  <a:rPr lang="zh-CN" altLang="en-US">
                    <a:noFill/>
                  </a:rPr>
                  <a:t> </a:t>
                </a:r>
              </a:p>
            </p:txBody>
          </p:sp>
        </mc:Fallback>
      </mc:AlternateContent>
      <p:grpSp>
        <p:nvGrpSpPr>
          <p:cNvPr id="270413" name="Group 77"/>
          <p:cNvGrpSpPr/>
          <p:nvPr/>
        </p:nvGrpSpPr>
        <p:grpSpPr bwMode="auto">
          <a:xfrm>
            <a:off x="2293939" y="4425950"/>
            <a:ext cx="2960687" cy="1836738"/>
            <a:chOff x="485" y="2788"/>
            <a:chExt cx="1865" cy="1157"/>
          </a:xfrm>
        </p:grpSpPr>
        <p:sp>
          <p:nvSpPr>
            <p:cNvPr id="270359" name="Freeform 23" descr="60%"/>
            <p:cNvSpPr/>
            <p:nvPr/>
          </p:nvSpPr>
          <p:spPr bwMode="auto">
            <a:xfrm>
              <a:off x="611" y="3212"/>
              <a:ext cx="483" cy="484"/>
            </a:xfrm>
            <a:custGeom>
              <a:avLst/>
              <a:gdLst>
                <a:gd name="T0" fmla="*/ 447 w 447"/>
                <a:gd name="T1" fmla="*/ 0 h 436"/>
                <a:gd name="T2" fmla="*/ 447 w 447"/>
                <a:gd name="T3" fmla="*/ 436 h 436"/>
                <a:gd name="T4" fmla="*/ 0 w 447"/>
                <a:gd name="T5" fmla="*/ 436 h 436"/>
                <a:gd name="T6" fmla="*/ 54 w 447"/>
                <a:gd name="T7" fmla="*/ 412 h 436"/>
                <a:gd name="T8" fmla="*/ 106 w 447"/>
                <a:gd name="T9" fmla="*/ 386 h 436"/>
                <a:gd name="T10" fmla="*/ 156 w 447"/>
                <a:gd name="T11" fmla="*/ 355 h 436"/>
                <a:gd name="T12" fmla="*/ 203 w 447"/>
                <a:gd name="T13" fmla="*/ 321 h 436"/>
                <a:gd name="T14" fmla="*/ 248 w 447"/>
                <a:gd name="T15" fmla="*/ 284 h 436"/>
                <a:gd name="T16" fmla="*/ 290 w 447"/>
                <a:gd name="T17" fmla="*/ 243 h 436"/>
                <a:gd name="T18" fmla="*/ 329 w 447"/>
                <a:gd name="T19" fmla="*/ 199 h 436"/>
                <a:gd name="T20" fmla="*/ 364 w 447"/>
                <a:gd name="T21" fmla="*/ 152 h 436"/>
                <a:gd name="T22" fmla="*/ 395 w 447"/>
                <a:gd name="T23" fmla="*/ 104 h 436"/>
                <a:gd name="T24" fmla="*/ 423 w 447"/>
                <a:gd name="T25" fmla="*/ 54 h 436"/>
                <a:gd name="T26" fmla="*/ 447 w 447"/>
                <a:gd name="T27"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7" h="436">
                  <a:moveTo>
                    <a:pt x="447" y="0"/>
                  </a:moveTo>
                  <a:lnTo>
                    <a:pt x="447" y="436"/>
                  </a:lnTo>
                  <a:lnTo>
                    <a:pt x="0" y="436"/>
                  </a:lnTo>
                  <a:lnTo>
                    <a:pt x="54" y="412"/>
                  </a:lnTo>
                  <a:lnTo>
                    <a:pt x="106" y="386"/>
                  </a:lnTo>
                  <a:lnTo>
                    <a:pt x="156" y="355"/>
                  </a:lnTo>
                  <a:lnTo>
                    <a:pt x="203" y="321"/>
                  </a:lnTo>
                  <a:lnTo>
                    <a:pt x="248" y="284"/>
                  </a:lnTo>
                  <a:lnTo>
                    <a:pt x="290" y="243"/>
                  </a:lnTo>
                  <a:lnTo>
                    <a:pt x="329" y="199"/>
                  </a:lnTo>
                  <a:lnTo>
                    <a:pt x="364" y="152"/>
                  </a:lnTo>
                  <a:lnTo>
                    <a:pt x="395" y="104"/>
                  </a:lnTo>
                  <a:lnTo>
                    <a:pt x="423" y="54"/>
                  </a:lnTo>
                  <a:lnTo>
                    <a:pt x="447"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70360" name="Freeform 24" descr="60%"/>
            <p:cNvSpPr/>
            <p:nvPr/>
          </p:nvSpPr>
          <p:spPr bwMode="auto">
            <a:xfrm>
              <a:off x="1757" y="3234"/>
              <a:ext cx="484" cy="462"/>
            </a:xfrm>
            <a:custGeom>
              <a:avLst/>
              <a:gdLst>
                <a:gd name="T0" fmla="*/ 0 w 424"/>
                <a:gd name="T1" fmla="*/ 0 h 414"/>
                <a:gd name="T2" fmla="*/ 0 w 424"/>
                <a:gd name="T3" fmla="*/ 414 h 414"/>
                <a:gd name="T4" fmla="*/ 424 w 424"/>
                <a:gd name="T5" fmla="*/ 414 h 414"/>
                <a:gd name="T6" fmla="*/ 372 w 424"/>
                <a:gd name="T7" fmla="*/ 392 h 414"/>
                <a:gd name="T8" fmla="*/ 323 w 424"/>
                <a:gd name="T9" fmla="*/ 366 h 414"/>
                <a:gd name="T10" fmla="*/ 276 w 424"/>
                <a:gd name="T11" fmla="*/ 337 h 414"/>
                <a:gd name="T12" fmla="*/ 230 w 424"/>
                <a:gd name="T13" fmla="*/ 304 h 414"/>
                <a:gd name="T14" fmla="*/ 188 w 424"/>
                <a:gd name="T15" fmla="*/ 268 h 414"/>
                <a:gd name="T16" fmla="*/ 148 w 424"/>
                <a:gd name="T17" fmla="*/ 230 h 414"/>
                <a:gd name="T18" fmla="*/ 112 w 424"/>
                <a:gd name="T19" fmla="*/ 188 h 414"/>
                <a:gd name="T20" fmla="*/ 78 w 424"/>
                <a:gd name="T21" fmla="*/ 145 h 414"/>
                <a:gd name="T22" fmla="*/ 48 w 424"/>
                <a:gd name="T23" fmla="*/ 99 h 414"/>
                <a:gd name="T24" fmla="*/ 22 w 424"/>
                <a:gd name="T25" fmla="*/ 50 h 414"/>
                <a:gd name="T26" fmla="*/ 0 w 424"/>
                <a:gd name="T27"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4" h="414">
                  <a:moveTo>
                    <a:pt x="0" y="0"/>
                  </a:moveTo>
                  <a:lnTo>
                    <a:pt x="0" y="414"/>
                  </a:lnTo>
                  <a:lnTo>
                    <a:pt x="424" y="414"/>
                  </a:lnTo>
                  <a:lnTo>
                    <a:pt x="372" y="392"/>
                  </a:lnTo>
                  <a:lnTo>
                    <a:pt x="323" y="366"/>
                  </a:lnTo>
                  <a:lnTo>
                    <a:pt x="276" y="337"/>
                  </a:lnTo>
                  <a:lnTo>
                    <a:pt x="230" y="304"/>
                  </a:lnTo>
                  <a:lnTo>
                    <a:pt x="188" y="268"/>
                  </a:lnTo>
                  <a:lnTo>
                    <a:pt x="148" y="230"/>
                  </a:lnTo>
                  <a:lnTo>
                    <a:pt x="112" y="188"/>
                  </a:lnTo>
                  <a:lnTo>
                    <a:pt x="78" y="145"/>
                  </a:lnTo>
                  <a:lnTo>
                    <a:pt x="48" y="99"/>
                  </a:lnTo>
                  <a:lnTo>
                    <a:pt x="22" y="50"/>
                  </a:lnTo>
                  <a:lnTo>
                    <a:pt x="0"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270361" name="Group 25"/>
            <p:cNvGrpSpPr/>
            <p:nvPr/>
          </p:nvGrpSpPr>
          <p:grpSpPr bwMode="auto">
            <a:xfrm>
              <a:off x="508" y="2821"/>
              <a:ext cx="1808" cy="838"/>
              <a:chOff x="472" y="2857"/>
              <a:chExt cx="1808" cy="838"/>
            </a:xfrm>
          </p:grpSpPr>
          <p:sp>
            <p:nvSpPr>
              <p:cNvPr id="270362" name="Freeform 26"/>
              <p:cNvSpPr/>
              <p:nvPr/>
            </p:nvSpPr>
            <p:spPr bwMode="auto">
              <a:xfrm>
                <a:off x="1376" y="2857"/>
                <a:ext cx="904" cy="838"/>
              </a:xfrm>
              <a:custGeom>
                <a:avLst/>
                <a:gdLst>
                  <a:gd name="T0" fmla="*/ 904 w 904"/>
                  <a:gd name="T1" fmla="*/ 838 h 838"/>
                  <a:gd name="T2" fmla="*/ 809 w 904"/>
                  <a:gd name="T3" fmla="*/ 828 h 838"/>
                  <a:gd name="T4" fmla="*/ 762 w 904"/>
                  <a:gd name="T5" fmla="*/ 818 h 838"/>
                  <a:gd name="T6" fmla="*/ 714 w 904"/>
                  <a:gd name="T7" fmla="*/ 805 h 838"/>
                  <a:gd name="T8" fmla="*/ 667 w 904"/>
                  <a:gd name="T9" fmla="*/ 785 h 838"/>
                  <a:gd name="T10" fmla="*/ 619 w 904"/>
                  <a:gd name="T11" fmla="*/ 759 h 838"/>
                  <a:gd name="T12" fmla="*/ 572 w 904"/>
                  <a:gd name="T13" fmla="*/ 724 h 838"/>
                  <a:gd name="T14" fmla="*/ 476 w 904"/>
                  <a:gd name="T15" fmla="*/ 627 h 838"/>
                  <a:gd name="T16" fmla="*/ 381 w 904"/>
                  <a:gd name="T17" fmla="*/ 491 h 838"/>
                  <a:gd name="T18" fmla="*/ 286 w 904"/>
                  <a:gd name="T19" fmla="*/ 326 h 838"/>
                  <a:gd name="T20" fmla="*/ 239 w 904"/>
                  <a:gd name="T21" fmla="*/ 243 h 838"/>
                  <a:gd name="T22" fmla="*/ 191 w 904"/>
                  <a:gd name="T23" fmla="*/ 165 h 838"/>
                  <a:gd name="T24" fmla="*/ 144 w 904"/>
                  <a:gd name="T25" fmla="*/ 98 h 838"/>
                  <a:gd name="T26" fmla="*/ 95 w 904"/>
                  <a:gd name="T27" fmla="*/ 44 h 838"/>
                  <a:gd name="T28" fmla="*/ 48 w 904"/>
                  <a:gd name="T29" fmla="*/ 11 h 838"/>
                  <a:gd name="T30" fmla="*/ 0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904" y="838"/>
                    </a:moveTo>
                    <a:lnTo>
                      <a:pt x="809" y="828"/>
                    </a:lnTo>
                    <a:lnTo>
                      <a:pt x="762" y="818"/>
                    </a:lnTo>
                    <a:lnTo>
                      <a:pt x="714" y="805"/>
                    </a:lnTo>
                    <a:lnTo>
                      <a:pt x="667" y="785"/>
                    </a:lnTo>
                    <a:lnTo>
                      <a:pt x="619" y="759"/>
                    </a:lnTo>
                    <a:lnTo>
                      <a:pt x="572" y="724"/>
                    </a:lnTo>
                    <a:lnTo>
                      <a:pt x="476" y="627"/>
                    </a:lnTo>
                    <a:lnTo>
                      <a:pt x="381" y="491"/>
                    </a:lnTo>
                    <a:lnTo>
                      <a:pt x="286" y="326"/>
                    </a:lnTo>
                    <a:lnTo>
                      <a:pt x="239" y="243"/>
                    </a:lnTo>
                    <a:lnTo>
                      <a:pt x="191" y="165"/>
                    </a:lnTo>
                    <a:lnTo>
                      <a:pt x="144" y="98"/>
                    </a:lnTo>
                    <a:lnTo>
                      <a:pt x="95" y="44"/>
                    </a:lnTo>
                    <a:lnTo>
                      <a:pt x="48" y="11"/>
                    </a:lnTo>
                    <a:lnTo>
                      <a:pt x="0"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0363" name="Freeform 27"/>
              <p:cNvSpPr/>
              <p:nvPr/>
            </p:nvSpPr>
            <p:spPr bwMode="auto">
              <a:xfrm>
                <a:off x="472" y="2857"/>
                <a:ext cx="904" cy="838"/>
              </a:xfrm>
              <a:custGeom>
                <a:avLst/>
                <a:gdLst>
                  <a:gd name="T0" fmla="*/ 0 w 904"/>
                  <a:gd name="T1" fmla="*/ 838 h 838"/>
                  <a:gd name="T2" fmla="*/ 95 w 904"/>
                  <a:gd name="T3" fmla="*/ 828 h 838"/>
                  <a:gd name="T4" fmla="*/ 144 w 904"/>
                  <a:gd name="T5" fmla="*/ 818 h 838"/>
                  <a:gd name="T6" fmla="*/ 191 w 904"/>
                  <a:gd name="T7" fmla="*/ 805 h 838"/>
                  <a:gd name="T8" fmla="*/ 238 w 904"/>
                  <a:gd name="T9" fmla="*/ 785 h 838"/>
                  <a:gd name="T10" fmla="*/ 286 w 904"/>
                  <a:gd name="T11" fmla="*/ 759 h 838"/>
                  <a:gd name="T12" fmla="*/ 333 w 904"/>
                  <a:gd name="T13" fmla="*/ 724 h 838"/>
                  <a:gd name="T14" fmla="*/ 429 w 904"/>
                  <a:gd name="T15" fmla="*/ 627 h 838"/>
                  <a:gd name="T16" fmla="*/ 523 w 904"/>
                  <a:gd name="T17" fmla="*/ 491 h 838"/>
                  <a:gd name="T18" fmla="*/ 619 w 904"/>
                  <a:gd name="T19" fmla="*/ 326 h 838"/>
                  <a:gd name="T20" fmla="*/ 667 w 904"/>
                  <a:gd name="T21" fmla="*/ 243 h 838"/>
                  <a:gd name="T22" fmla="*/ 714 w 904"/>
                  <a:gd name="T23" fmla="*/ 165 h 838"/>
                  <a:gd name="T24" fmla="*/ 762 w 904"/>
                  <a:gd name="T25" fmla="*/ 98 h 838"/>
                  <a:gd name="T26" fmla="*/ 809 w 904"/>
                  <a:gd name="T27" fmla="*/ 44 h 838"/>
                  <a:gd name="T28" fmla="*/ 857 w 904"/>
                  <a:gd name="T29" fmla="*/ 11 h 838"/>
                  <a:gd name="T30" fmla="*/ 904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0" y="838"/>
                    </a:moveTo>
                    <a:lnTo>
                      <a:pt x="95" y="828"/>
                    </a:lnTo>
                    <a:lnTo>
                      <a:pt x="144" y="818"/>
                    </a:lnTo>
                    <a:lnTo>
                      <a:pt x="191" y="805"/>
                    </a:lnTo>
                    <a:lnTo>
                      <a:pt x="238" y="785"/>
                    </a:lnTo>
                    <a:lnTo>
                      <a:pt x="286" y="759"/>
                    </a:lnTo>
                    <a:lnTo>
                      <a:pt x="333" y="724"/>
                    </a:lnTo>
                    <a:lnTo>
                      <a:pt x="429" y="627"/>
                    </a:lnTo>
                    <a:lnTo>
                      <a:pt x="523" y="491"/>
                    </a:lnTo>
                    <a:lnTo>
                      <a:pt x="619" y="326"/>
                    </a:lnTo>
                    <a:lnTo>
                      <a:pt x="667" y="243"/>
                    </a:lnTo>
                    <a:lnTo>
                      <a:pt x="714" y="165"/>
                    </a:lnTo>
                    <a:lnTo>
                      <a:pt x="762" y="98"/>
                    </a:lnTo>
                    <a:lnTo>
                      <a:pt x="809" y="44"/>
                    </a:lnTo>
                    <a:lnTo>
                      <a:pt x="857" y="11"/>
                    </a:lnTo>
                    <a:lnTo>
                      <a:pt x="904"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70364" name="Line 28"/>
            <p:cNvSpPr>
              <a:spLocks noChangeShapeType="1"/>
            </p:cNvSpPr>
            <p:nvPr/>
          </p:nvSpPr>
          <p:spPr bwMode="auto">
            <a:xfrm>
              <a:off x="1982" y="3656"/>
              <a:ext cx="1" cy="8"/>
            </a:xfrm>
            <a:prstGeom prst="line">
              <a:avLst/>
            </a:prstGeom>
            <a:noFill/>
            <a:ln w="25400">
              <a:solidFill>
                <a:srgbClr val="CDCDCD"/>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0365" name="Line 29"/>
            <p:cNvSpPr>
              <a:spLocks noChangeShapeType="1"/>
            </p:cNvSpPr>
            <p:nvPr/>
          </p:nvSpPr>
          <p:spPr bwMode="auto">
            <a:xfrm>
              <a:off x="1798" y="3656"/>
              <a:ext cx="1" cy="8"/>
            </a:xfrm>
            <a:prstGeom prst="line">
              <a:avLst/>
            </a:prstGeom>
            <a:noFill/>
            <a:ln w="25400">
              <a:solidFill>
                <a:srgbClr val="CDCDCD"/>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0366" name="Line 30"/>
            <p:cNvSpPr>
              <a:spLocks noChangeShapeType="1"/>
            </p:cNvSpPr>
            <p:nvPr/>
          </p:nvSpPr>
          <p:spPr bwMode="auto">
            <a:xfrm>
              <a:off x="877" y="3656"/>
              <a:ext cx="1" cy="8"/>
            </a:xfrm>
            <a:prstGeom prst="line">
              <a:avLst/>
            </a:prstGeom>
            <a:noFill/>
            <a:ln w="25400">
              <a:solidFill>
                <a:srgbClr val="CDCDCD"/>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0381" name="Rectangle 45"/>
            <p:cNvSpPr>
              <a:spLocks noChangeArrowheads="1"/>
            </p:cNvSpPr>
            <p:nvPr/>
          </p:nvSpPr>
          <p:spPr bwMode="auto">
            <a:xfrm>
              <a:off x="2203" y="3693"/>
              <a:ext cx="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600" b="1">
                  <a:solidFill>
                    <a:srgbClr val="F0F0F0"/>
                  </a:solidFill>
                  <a:effectLst>
                    <a:outerShdw blurRad="38100" dist="38100" dir="2700000" algn="tl">
                      <a:srgbClr val="000000"/>
                    </a:outerShdw>
                  </a:effectLst>
                </a:rPr>
                <a:t>t</a:t>
              </a:r>
              <a:endParaRPr lang="en-US" altLang="zh-CN" sz="2600" b="1">
                <a:solidFill>
                  <a:srgbClr val="F0F0F0"/>
                </a:solidFill>
                <a:effectLst>
                  <a:outerShdw blurRad="38100" dist="38100" dir="2700000" algn="tl">
                    <a:srgbClr val="000000"/>
                  </a:outerShdw>
                </a:effectLst>
              </a:endParaRPr>
            </a:p>
          </p:txBody>
        </p:sp>
        <p:sp>
          <p:nvSpPr>
            <p:cNvPr id="270382" name="Rectangle 46"/>
            <p:cNvSpPr>
              <a:spLocks noChangeArrowheads="1"/>
            </p:cNvSpPr>
            <p:nvPr/>
          </p:nvSpPr>
          <p:spPr bwMode="auto">
            <a:xfrm>
              <a:off x="1351" y="3690"/>
              <a:ext cx="8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solidFill>
                    <a:srgbClr val="F0F0F0"/>
                  </a:solidFill>
                  <a:effectLst>
                    <a:outerShdw blurRad="38100" dist="38100" dir="2700000" algn="tl">
                      <a:srgbClr val="000000"/>
                    </a:outerShdw>
                  </a:effectLst>
                </a:rPr>
                <a:t>0</a:t>
              </a:r>
              <a:endParaRPr lang="en-US" altLang="zh-CN">
                <a:solidFill>
                  <a:srgbClr val="F0F0F0"/>
                </a:solidFill>
                <a:effectLst>
                  <a:outerShdw blurRad="38100" dist="38100" dir="2700000" algn="tl">
                    <a:srgbClr val="000000"/>
                  </a:outerShdw>
                </a:effectLst>
              </a:endParaRPr>
            </a:p>
          </p:txBody>
        </p:sp>
        <p:sp>
          <p:nvSpPr>
            <p:cNvPr id="270383" name="Rectangle 47"/>
            <p:cNvSpPr>
              <a:spLocks noChangeArrowheads="1"/>
            </p:cNvSpPr>
            <p:nvPr/>
          </p:nvSpPr>
          <p:spPr bwMode="auto">
            <a:xfrm>
              <a:off x="1599" y="3714"/>
              <a:ext cx="3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solidFill>
                    <a:srgbClr val="F0F0F0"/>
                  </a:solidFill>
                  <a:effectLst>
                    <a:outerShdw blurRad="38100" dist="38100" dir="2700000" algn="tl">
                      <a:srgbClr val="000000"/>
                    </a:outerShdw>
                  </a:effectLst>
                </a:rPr>
                <a:t>2.262</a:t>
              </a:r>
              <a:endParaRPr lang="en-US" altLang="zh-CN">
                <a:solidFill>
                  <a:srgbClr val="F0F0F0"/>
                </a:solidFill>
                <a:effectLst>
                  <a:outerShdw blurRad="38100" dist="38100" dir="2700000" algn="tl">
                    <a:srgbClr val="000000"/>
                  </a:outerShdw>
                </a:effectLst>
              </a:endParaRPr>
            </a:p>
          </p:txBody>
        </p:sp>
        <p:sp>
          <p:nvSpPr>
            <p:cNvPr id="270384" name="Rectangle 48"/>
            <p:cNvSpPr>
              <a:spLocks noChangeArrowheads="1"/>
            </p:cNvSpPr>
            <p:nvPr/>
          </p:nvSpPr>
          <p:spPr bwMode="auto">
            <a:xfrm>
              <a:off x="821" y="3726"/>
              <a:ext cx="40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solidFill>
                    <a:srgbClr val="F0F0F0"/>
                  </a:solidFill>
                  <a:effectLst>
                    <a:outerShdw blurRad="38100" dist="38100" dir="2700000" algn="tl">
                      <a:srgbClr val="000000"/>
                    </a:outerShdw>
                  </a:effectLst>
                </a:rPr>
                <a:t>-2.262</a:t>
              </a:r>
              <a:endParaRPr lang="en-US" altLang="zh-CN">
                <a:solidFill>
                  <a:srgbClr val="F0F0F0"/>
                </a:solidFill>
                <a:effectLst>
                  <a:outerShdw blurRad="38100" dist="38100" dir="2700000" algn="tl">
                    <a:srgbClr val="000000"/>
                  </a:outerShdw>
                </a:effectLst>
              </a:endParaRPr>
            </a:p>
          </p:txBody>
        </p:sp>
        <p:sp>
          <p:nvSpPr>
            <p:cNvPr id="270385" name="Rectangle 49"/>
            <p:cNvSpPr>
              <a:spLocks noChangeArrowheads="1"/>
            </p:cNvSpPr>
            <p:nvPr/>
          </p:nvSpPr>
          <p:spPr bwMode="auto">
            <a:xfrm>
              <a:off x="1983" y="3134"/>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solidFill>
                    <a:srgbClr val="F0F0F0"/>
                  </a:solidFill>
                  <a:effectLst>
                    <a:outerShdw blurRad="38100" dist="38100" dir="2700000" algn="tl">
                      <a:srgbClr val="000000"/>
                    </a:outerShdw>
                  </a:effectLst>
                </a:rPr>
                <a:t>.025</a:t>
              </a:r>
              <a:endParaRPr lang="en-US" altLang="zh-CN">
                <a:solidFill>
                  <a:srgbClr val="F0F0F0"/>
                </a:solidFill>
                <a:effectLst>
                  <a:outerShdw blurRad="38100" dist="38100" dir="2700000" algn="tl">
                    <a:srgbClr val="000000"/>
                  </a:outerShdw>
                </a:effectLst>
              </a:endParaRPr>
            </a:p>
          </p:txBody>
        </p:sp>
        <p:sp>
          <p:nvSpPr>
            <p:cNvPr id="270386" name="Freeform 50"/>
            <p:cNvSpPr/>
            <p:nvPr/>
          </p:nvSpPr>
          <p:spPr bwMode="auto">
            <a:xfrm>
              <a:off x="844" y="3316"/>
              <a:ext cx="134" cy="274"/>
            </a:xfrm>
            <a:custGeom>
              <a:avLst/>
              <a:gdLst>
                <a:gd name="T0" fmla="*/ 0 w 110"/>
                <a:gd name="T1" fmla="*/ 0 h 238"/>
                <a:gd name="T2" fmla="*/ 19 w 110"/>
                <a:gd name="T3" fmla="*/ 1 h 238"/>
                <a:gd name="T4" fmla="*/ 37 w 110"/>
                <a:gd name="T5" fmla="*/ 5 h 238"/>
                <a:gd name="T6" fmla="*/ 52 w 110"/>
                <a:gd name="T7" fmla="*/ 14 h 238"/>
                <a:gd name="T8" fmla="*/ 67 w 110"/>
                <a:gd name="T9" fmla="*/ 25 h 238"/>
                <a:gd name="T10" fmla="*/ 78 w 110"/>
                <a:gd name="T11" fmla="*/ 39 h 238"/>
                <a:gd name="T12" fmla="*/ 86 w 110"/>
                <a:gd name="T13" fmla="*/ 55 h 238"/>
                <a:gd name="T14" fmla="*/ 90 w 110"/>
                <a:gd name="T15" fmla="*/ 73 h 238"/>
                <a:gd name="T16" fmla="*/ 90 w 110"/>
                <a:gd name="T17" fmla="*/ 90 h 238"/>
                <a:gd name="T18" fmla="*/ 86 w 110"/>
                <a:gd name="T19" fmla="*/ 108 h 238"/>
                <a:gd name="T20" fmla="*/ 78 w 110"/>
                <a:gd name="T21" fmla="*/ 124 h 238"/>
                <a:gd name="T22" fmla="*/ 70 w 110"/>
                <a:gd name="T23" fmla="*/ 140 h 238"/>
                <a:gd name="T24" fmla="*/ 67 w 110"/>
                <a:gd name="T25" fmla="*/ 157 h 238"/>
                <a:gd name="T26" fmla="*/ 67 w 110"/>
                <a:gd name="T27" fmla="*/ 175 h 238"/>
                <a:gd name="T28" fmla="*/ 70 w 110"/>
                <a:gd name="T29" fmla="*/ 192 h 238"/>
                <a:gd name="T30" fmla="*/ 79 w 110"/>
                <a:gd name="T31" fmla="*/ 209 h 238"/>
                <a:gd name="T32" fmla="*/ 90 w 110"/>
                <a:gd name="T33" fmla="*/ 222 h 238"/>
                <a:gd name="T34" fmla="*/ 103 w 110"/>
                <a:gd name="T35" fmla="*/ 234 h 238"/>
                <a:gd name="T36" fmla="*/ 110 w 110"/>
                <a:gd name="T3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238">
                  <a:moveTo>
                    <a:pt x="0" y="0"/>
                  </a:moveTo>
                  <a:lnTo>
                    <a:pt x="19" y="1"/>
                  </a:lnTo>
                  <a:lnTo>
                    <a:pt x="37" y="5"/>
                  </a:lnTo>
                  <a:lnTo>
                    <a:pt x="52" y="14"/>
                  </a:lnTo>
                  <a:lnTo>
                    <a:pt x="67" y="25"/>
                  </a:lnTo>
                  <a:lnTo>
                    <a:pt x="78" y="39"/>
                  </a:lnTo>
                  <a:lnTo>
                    <a:pt x="86" y="55"/>
                  </a:lnTo>
                  <a:lnTo>
                    <a:pt x="90" y="73"/>
                  </a:lnTo>
                  <a:lnTo>
                    <a:pt x="90" y="90"/>
                  </a:lnTo>
                  <a:lnTo>
                    <a:pt x="86" y="108"/>
                  </a:lnTo>
                  <a:lnTo>
                    <a:pt x="78" y="124"/>
                  </a:lnTo>
                  <a:lnTo>
                    <a:pt x="70" y="140"/>
                  </a:lnTo>
                  <a:lnTo>
                    <a:pt x="67" y="157"/>
                  </a:lnTo>
                  <a:lnTo>
                    <a:pt x="67" y="175"/>
                  </a:lnTo>
                  <a:lnTo>
                    <a:pt x="70" y="192"/>
                  </a:lnTo>
                  <a:lnTo>
                    <a:pt x="79" y="209"/>
                  </a:lnTo>
                  <a:lnTo>
                    <a:pt x="90" y="222"/>
                  </a:lnTo>
                  <a:lnTo>
                    <a:pt x="103" y="234"/>
                  </a:lnTo>
                  <a:lnTo>
                    <a:pt x="110" y="238"/>
                  </a:lnTo>
                </a:path>
              </a:pathLst>
            </a:custGeom>
            <a:noFill/>
            <a:ln w="12700"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0387" name="Freeform 51"/>
            <p:cNvSpPr/>
            <p:nvPr/>
          </p:nvSpPr>
          <p:spPr bwMode="auto">
            <a:xfrm>
              <a:off x="1873" y="3304"/>
              <a:ext cx="294" cy="236"/>
            </a:xfrm>
            <a:custGeom>
              <a:avLst/>
              <a:gdLst>
                <a:gd name="T0" fmla="*/ 294 w 294"/>
                <a:gd name="T1" fmla="*/ 0 h 188"/>
                <a:gd name="T2" fmla="*/ 291 w 294"/>
                <a:gd name="T3" fmla="*/ 23 h 188"/>
                <a:gd name="T4" fmla="*/ 283 w 294"/>
                <a:gd name="T5" fmla="*/ 46 h 188"/>
                <a:gd name="T6" fmla="*/ 271 w 294"/>
                <a:gd name="T7" fmla="*/ 66 h 188"/>
                <a:gd name="T8" fmla="*/ 255 w 294"/>
                <a:gd name="T9" fmla="*/ 84 h 188"/>
                <a:gd name="T10" fmla="*/ 236 w 294"/>
                <a:gd name="T11" fmla="*/ 99 h 188"/>
                <a:gd name="T12" fmla="*/ 214 w 294"/>
                <a:gd name="T13" fmla="*/ 110 h 188"/>
                <a:gd name="T14" fmla="*/ 190 w 294"/>
                <a:gd name="T15" fmla="*/ 117 h 188"/>
                <a:gd name="T16" fmla="*/ 166 w 294"/>
                <a:gd name="T17" fmla="*/ 118 h 188"/>
                <a:gd name="T18" fmla="*/ 142 w 294"/>
                <a:gd name="T19" fmla="*/ 116 h 188"/>
                <a:gd name="T20" fmla="*/ 117 w 294"/>
                <a:gd name="T21" fmla="*/ 113 h 188"/>
                <a:gd name="T22" fmla="*/ 92 w 294"/>
                <a:gd name="T23" fmla="*/ 116 h 188"/>
                <a:gd name="T24" fmla="*/ 70 w 294"/>
                <a:gd name="T25" fmla="*/ 123 h 188"/>
                <a:gd name="T26" fmla="*/ 47 w 294"/>
                <a:gd name="T27" fmla="*/ 133 h 188"/>
                <a:gd name="T28" fmla="*/ 27 w 294"/>
                <a:gd name="T29" fmla="*/ 147 h 188"/>
                <a:gd name="T30" fmla="*/ 12 w 294"/>
                <a:gd name="T31" fmla="*/ 166 h 188"/>
                <a:gd name="T32" fmla="*/ 0 w 294"/>
                <a:gd name="T33" fmla="*/ 186 h 188"/>
                <a:gd name="T34" fmla="*/ 0 w 294"/>
                <a:gd name="T35" fmla="*/ 18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4" h="188">
                  <a:moveTo>
                    <a:pt x="294" y="0"/>
                  </a:moveTo>
                  <a:lnTo>
                    <a:pt x="291" y="23"/>
                  </a:lnTo>
                  <a:lnTo>
                    <a:pt x="283" y="46"/>
                  </a:lnTo>
                  <a:lnTo>
                    <a:pt x="271" y="66"/>
                  </a:lnTo>
                  <a:lnTo>
                    <a:pt x="255" y="84"/>
                  </a:lnTo>
                  <a:lnTo>
                    <a:pt x="236" y="99"/>
                  </a:lnTo>
                  <a:lnTo>
                    <a:pt x="214" y="110"/>
                  </a:lnTo>
                  <a:lnTo>
                    <a:pt x="190" y="117"/>
                  </a:lnTo>
                  <a:lnTo>
                    <a:pt x="166" y="118"/>
                  </a:lnTo>
                  <a:lnTo>
                    <a:pt x="142" y="116"/>
                  </a:lnTo>
                  <a:lnTo>
                    <a:pt x="117" y="113"/>
                  </a:lnTo>
                  <a:lnTo>
                    <a:pt x="92" y="116"/>
                  </a:lnTo>
                  <a:lnTo>
                    <a:pt x="70" y="123"/>
                  </a:lnTo>
                  <a:lnTo>
                    <a:pt x="47" y="133"/>
                  </a:lnTo>
                  <a:lnTo>
                    <a:pt x="27" y="147"/>
                  </a:lnTo>
                  <a:lnTo>
                    <a:pt x="12" y="166"/>
                  </a:lnTo>
                  <a:lnTo>
                    <a:pt x="0" y="186"/>
                  </a:lnTo>
                  <a:lnTo>
                    <a:pt x="0" y="188"/>
                  </a:lnTo>
                </a:path>
              </a:pathLst>
            </a:custGeom>
            <a:noFill/>
            <a:ln w="12700"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0388" name="Rectangle 52"/>
            <p:cNvSpPr>
              <a:spLocks noChangeArrowheads="1"/>
            </p:cNvSpPr>
            <p:nvPr/>
          </p:nvSpPr>
          <p:spPr bwMode="auto">
            <a:xfrm>
              <a:off x="537" y="2788"/>
              <a:ext cx="5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2000">
                  <a:solidFill>
                    <a:srgbClr val="F0F0F0"/>
                  </a:solidFill>
                  <a:effectLst>
                    <a:outerShdw blurRad="38100" dist="38100" dir="2700000" algn="tl">
                      <a:srgbClr val="000000"/>
                    </a:outerShdw>
                  </a:effectLst>
                </a:rPr>
                <a:t>拒绝 </a:t>
              </a:r>
              <a:r>
                <a:rPr lang="en-US" altLang="zh-CN" sz="2000">
                  <a:solidFill>
                    <a:srgbClr val="F0F0F0"/>
                  </a:solidFill>
                  <a:effectLst>
                    <a:outerShdw blurRad="38100" dist="38100" dir="2700000" algn="tl">
                      <a:srgbClr val="000000"/>
                    </a:outerShdw>
                  </a:effectLst>
                </a:rPr>
                <a:t>H</a:t>
              </a:r>
              <a:r>
                <a:rPr lang="en-US" altLang="zh-CN" sz="2000" baseline="-25000">
                  <a:solidFill>
                    <a:srgbClr val="F0F0F0"/>
                  </a:solidFill>
                  <a:effectLst>
                    <a:outerShdw blurRad="38100" dist="38100" dir="2700000" algn="tl">
                      <a:srgbClr val="000000"/>
                    </a:outerShdw>
                  </a:effectLst>
                </a:rPr>
                <a:t>0</a:t>
              </a:r>
              <a:endParaRPr lang="en-US" altLang="zh-CN" sz="2000">
                <a:solidFill>
                  <a:srgbClr val="F0F0F0"/>
                </a:solidFill>
                <a:effectLst>
                  <a:outerShdw blurRad="38100" dist="38100" dir="2700000" algn="tl">
                    <a:srgbClr val="000000"/>
                  </a:outerShdw>
                </a:effectLst>
              </a:endParaRPr>
            </a:p>
          </p:txBody>
        </p:sp>
        <p:sp>
          <p:nvSpPr>
            <p:cNvPr id="270389" name="Rectangle 53"/>
            <p:cNvSpPr>
              <a:spLocks noChangeArrowheads="1"/>
            </p:cNvSpPr>
            <p:nvPr/>
          </p:nvSpPr>
          <p:spPr bwMode="auto">
            <a:xfrm>
              <a:off x="1733" y="2788"/>
              <a:ext cx="5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2000">
                  <a:solidFill>
                    <a:srgbClr val="F0F0F0"/>
                  </a:solidFill>
                  <a:effectLst>
                    <a:outerShdw blurRad="38100" dist="38100" dir="2700000" algn="tl">
                      <a:srgbClr val="000000"/>
                    </a:outerShdw>
                  </a:effectLst>
                </a:rPr>
                <a:t>拒绝 </a:t>
              </a:r>
              <a:r>
                <a:rPr lang="en-US" altLang="zh-CN" sz="2000">
                  <a:solidFill>
                    <a:srgbClr val="F0F0F0"/>
                  </a:solidFill>
                  <a:effectLst>
                    <a:outerShdw blurRad="38100" dist="38100" dir="2700000" algn="tl">
                      <a:srgbClr val="000000"/>
                    </a:outerShdw>
                  </a:effectLst>
                </a:rPr>
                <a:t>H</a:t>
              </a:r>
              <a:r>
                <a:rPr lang="en-US" altLang="zh-CN" sz="2000" baseline="-25000">
                  <a:solidFill>
                    <a:srgbClr val="F0F0F0"/>
                  </a:solidFill>
                  <a:effectLst>
                    <a:outerShdw blurRad="38100" dist="38100" dir="2700000" algn="tl">
                      <a:srgbClr val="000000"/>
                    </a:outerShdw>
                  </a:effectLst>
                </a:rPr>
                <a:t>0</a:t>
              </a:r>
              <a:endParaRPr lang="en-US" altLang="zh-CN" sz="2000">
                <a:solidFill>
                  <a:srgbClr val="F0F0F0"/>
                </a:solidFill>
                <a:effectLst>
                  <a:outerShdw blurRad="38100" dist="38100" dir="2700000" algn="tl">
                    <a:srgbClr val="000000"/>
                  </a:outerShdw>
                </a:effectLst>
              </a:endParaRPr>
            </a:p>
          </p:txBody>
        </p:sp>
        <p:grpSp>
          <p:nvGrpSpPr>
            <p:cNvPr id="270390" name="Group 54"/>
            <p:cNvGrpSpPr/>
            <p:nvPr/>
          </p:nvGrpSpPr>
          <p:grpSpPr bwMode="auto">
            <a:xfrm>
              <a:off x="794" y="3012"/>
              <a:ext cx="301" cy="670"/>
              <a:chOff x="758" y="3048"/>
              <a:chExt cx="301" cy="670"/>
            </a:xfrm>
          </p:grpSpPr>
          <p:sp>
            <p:nvSpPr>
              <p:cNvPr id="270391" name="Line 55"/>
              <p:cNvSpPr>
                <a:spLocks noChangeShapeType="1"/>
              </p:cNvSpPr>
              <p:nvPr/>
            </p:nvSpPr>
            <p:spPr bwMode="auto">
              <a:xfrm>
                <a:off x="758" y="3048"/>
                <a:ext cx="300" cy="1"/>
              </a:xfrm>
              <a:prstGeom prst="line">
                <a:avLst/>
              </a:prstGeom>
              <a:noFill/>
              <a:ln w="17463">
                <a:solidFill>
                  <a:schemeClr val="tx1"/>
                </a:solidFill>
                <a:round/>
                <a:headEnd type="triangle" w="med" len="me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70392" name="Line 56"/>
              <p:cNvSpPr>
                <a:spLocks noChangeShapeType="1"/>
              </p:cNvSpPr>
              <p:nvPr/>
            </p:nvSpPr>
            <p:spPr bwMode="auto">
              <a:xfrm flipV="1">
                <a:off x="1058" y="3048"/>
                <a:ext cx="1" cy="670"/>
              </a:xfrm>
              <a:prstGeom prst="line">
                <a:avLst/>
              </a:prstGeom>
              <a:noFill/>
              <a:ln w="17463">
                <a:solidFill>
                  <a:schemeClr val="tx1"/>
                </a:solidFill>
                <a:roun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270393" name="Group 57"/>
            <p:cNvGrpSpPr/>
            <p:nvPr/>
          </p:nvGrpSpPr>
          <p:grpSpPr bwMode="auto">
            <a:xfrm>
              <a:off x="1757" y="3012"/>
              <a:ext cx="322" cy="676"/>
              <a:chOff x="1721" y="3048"/>
              <a:chExt cx="322" cy="676"/>
            </a:xfrm>
          </p:grpSpPr>
          <p:sp>
            <p:nvSpPr>
              <p:cNvPr id="270394" name="Line 58"/>
              <p:cNvSpPr>
                <a:spLocks noChangeShapeType="1"/>
              </p:cNvSpPr>
              <p:nvPr/>
            </p:nvSpPr>
            <p:spPr bwMode="auto">
              <a:xfrm flipH="1">
                <a:off x="1721" y="3048"/>
                <a:ext cx="322" cy="1"/>
              </a:xfrm>
              <a:prstGeom prst="line">
                <a:avLst/>
              </a:prstGeom>
              <a:noFill/>
              <a:ln w="17463">
                <a:solidFill>
                  <a:schemeClr val="tx1"/>
                </a:solidFill>
                <a:round/>
                <a:headEnd type="triangle" w="med" len="me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70395" name="Line 59"/>
              <p:cNvSpPr>
                <a:spLocks noChangeShapeType="1"/>
              </p:cNvSpPr>
              <p:nvPr/>
            </p:nvSpPr>
            <p:spPr bwMode="auto">
              <a:xfrm flipV="1">
                <a:off x="1721" y="3048"/>
                <a:ext cx="1" cy="676"/>
              </a:xfrm>
              <a:prstGeom prst="line">
                <a:avLst/>
              </a:prstGeom>
              <a:noFill/>
              <a:ln w="17463">
                <a:solidFill>
                  <a:schemeClr val="tx1"/>
                </a:solidFill>
                <a:roun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270396" name="Rectangle 60"/>
            <p:cNvSpPr>
              <a:spLocks noChangeArrowheads="1"/>
            </p:cNvSpPr>
            <p:nvPr/>
          </p:nvSpPr>
          <p:spPr bwMode="auto">
            <a:xfrm>
              <a:off x="589" y="3134"/>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solidFill>
                    <a:srgbClr val="F0F0F0"/>
                  </a:solidFill>
                  <a:effectLst>
                    <a:outerShdw blurRad="38100" dist="38100" dir="2700000" algn="tl">
                      <a:srgbClr val="000000"/>
                    </a:outerShdw>
                  </a:effectLst>
                </a:rPr>
                <a:t>.025</a:t>
              </a:r>
              <a:endParaRPr lang="en-US" altLang="zh-CN">
                <a:solidFill>
                  <a:srgbClr val="F0F0F0"/>
                </a:solidFill>
                <a:effectLst>
                  <a:outerShdw blurRad="38100" dist="38100" dir="2700000" algn="tl">
                    <a:srgbClr val="000000"/>
                  </a:outerShdw>
                </a:effectLst>
              </a:endParaRPr>
            </a:p>
          </p:txBody>
        </p:sp>
        <p:sp>
          <p:nvSpPr>
            <p:cNvPr id="270397" name="Line 61"/>
            <p:cNvSpPr>
              <a:spLocks noChangeShapeType="1"/>
            </p:cNvSpPr>
            <p:nvPr/>
          </p:nvSpPr>
          <p:spPr bwMode="auto">
            <a:xfrm>
              <a:off x="1428" y="2856"/>
              <a:ext cx="0" cy="828"/>
            </a:xfrm>
            <a:prstGeom prst="line">
              <a:avLst/>
            </a:prstGeom>
            <a:noFill/>
            <a:ln w="12700">
              <a:solidFill>
                <a:schemeClr val="tx1"/>
              </a:solidFill>
              <a:round/>
            </a:ln>
            <a:effectLst>
              <a:outerShdw dist="28398" dir="3806097"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270398" name="Group 62"/>
            <p:cNvGrpSpPr/>
            <p:nvPr/>
          </p:nvGrpSpPr>
          <p:grpSpPr bwMode="auto">
            <a:xfrm>
              <a:off x="485" y="3003"/>
              <a:ext cx="1865" cy="697"/>
              <a:chOff x="449" y="3003"/>
              <a:chExt cx="1865" cy="697"/>
            </a:xfrm>
          </p:grpSpPr>
          <p:sp>
            <p:nvSpPr>
              <p:cNvPr id="270399" name="Freeform 63"/>
              <p:cNvSpPr/>
              <p:nvPr/>
            </p:nvSpPr>
            <p:spPr bwMode="auto">
              <a:xfrm>
                <a:off x="472" y="3003"/>
                <a:ext cx="1842" cy="689"/>
              </a:xfrm>
              <a:custGeom>
                <a:avLst/>
                <a:gdLst>
                  <a:gd name="T0" fmla="*/ 0 w 1842"/>
                  <a:gd name="T1" fmla="*/ 0 h 689"/>
                  <a:gd name="T2" fmla="*/ 0 w 1842"/>
                  <a:gd name="T3" fmla="*/ 689 h 689"/>
                  <a:gd name="T4" fmla="*/ 1842 w 1842"/>
                  <a:gd name="T5" fmla="*/ 689 h 689"/>
                </a:gdLst>
                <a:ahLst/>
                <a:cxnLst>
                  <a:cxn ang="0">
                    <a:pos x="T0" y="T1"/>
                  </a:cxn>
                  <a:cxn ang="0">
                    <a:pos x="T2" y="T3"/>
                  </a:cxn>
                  <a:cxn ang="0">
                    <a:pos x="T4" y="T5"/>
                  </a:cxn>
                </a:cxnLst>
                <a:rect l="0" t="0" r="r" b="b"/>
                <a:pathLst>
                  <a:path w="1842" h="689">
                    <a:moveTo>
                      <a:pt x="0" y="0"/>
                    </a:moveTo>
                    <a:lnTo>
                      <a:pt x="0" y="689"/>
                    </a:lnTo>
                    <a:lnTo>
                      <a:pt x="1842" y="689"/>
                    </a:lnTo>
                  </a:path>
                </a:pathLst>
              </a:custGeom>
              <a:noFill/>
              <a:ln w="19050" cmpd="sng">
                <a:solidFill>
                  <a:srgbClr val="F0F0F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70400" name="Group 64"/>
              <p:cNvGrpSpPr/>
              <p:nvPr/>
            </p:nvGrpSpPr>
            <p:grpSpPr bwMode="auto">
              <a:xfrm>
                <a:off x="449" y="3003"/>
                <a:ext cx="209" cy="697"/>
                <a:chOff x="449" y="3003"/>
                <a:chExt cx="209" cy="697"/>
              </a:xfrm>
            </p:grpSpPr>
            <p:sp>
              <p:nvSpPr>
                <p:cNvPr id="270401" name="Line 65"/>
                <p:cNvSpPr>
                  <a:spLocks noChangeShapeType="1"/>
                </p:cNvSpPr>
                <p:nvPr/>
              </p:nvSpPr>
              <p:spPr bwMode="auto">
                <a:xfrm>
                  <a:off x="449" y="3003"/>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70402" name="Line 66"/>
                <p:cNvSpPr>
                  <a:spLocks noChangeShapeType="1"/>
                </p:cNvSpPr>
                <p:nvPr/>
              </p:nvSpPr>
              <p:spPr bwMode="auto">
                <a:xfrm>
                  <a:off x="449" y="3072"/>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70403" name="Line 67"/>
                <p:cNvSpPr>
                  <a:spLocks noChangeShapeType="1"/>
                </p:cNvSpPr>
                <p:nvPr/>
              </p:nvSpPr>
              <p:spPr bwMode="auto">
                <a:xfrm>
                  <a:off x="449" y="3142"/>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70404" name="Line 68"/>
                <p:cNvSpPr>
                  <a:spLocks noChangeShapeType="1"/>
                </p:cNvSpPr>
                <p:nvPr/>
              </p:nvSpPr>
              <p:spPr bwMode="auto">
                <a:xfrm>
                  <a:off x="449" y="3210"/>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70405" name="Line 69"/>
                <p:cNvSpPr>
                  <a:spLocks noChangeShapeType="1"/>
                </p:cNvSpPr>
                <p:nvPr/>
              </p:nvSpPr>
              <p:spPr bwMode="auto">
                <a:xfrm>
                  <a:off x="449" y="3279"/>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70406" name="Line 70"/>
                <p:cNvSpPr>
                  <a:spLocks noChangeShapeType="1"/>
                </p:cNvSpPr>
                <p:nvPr/>
              </p:nvSpPr>
              <p:spPr bwMode="auto">
                <a:xfrm>
                  <a:off x="449" y="3347"/>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70407" name="Line 71"/>
                <p:cNvSpPr>
                  <a:spLocks noChangeShapeType="1"/>
                </p:cNvSpPr>
                <p:nvPr/>
              </p:nvSpPr>
              <p:spPr bwMode="auto">
                <a:xfrm>
                  <a:off x="449" y="3417"/>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70408" name="Line 72"/>
                <p:cNvSpPr>
                  <a:spLocks noChangeShapeType="1"/>
                </p:cNvSpPr>
                <p:nvPr/>
              </p:nvSpPr>
              <p:spPr bwMode="auto">
                <a:xfrm>
                  <a:off x="449" y="3485"/>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70409" name="Line 73"/>
                <p:cNvSpPr>
                  <a:spLocks noChangeShapeType="1"/>
                </p:cNvSpPr>
                <p:nvPr/>
              </p:nvSpPr>
              <p:spPr bwMode="auto">
                <a:xfrm>
                  <a:off x="449" y="3554"/>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70410" name="Line 74"/>
                <p:cNvSpPr>
                  <a:spLocks noChangeShapeType="1"/>
                </p:cNvSpPr>
                <p:nvPr/>
              </p:nvSpPr>
              <p:spPr bwMode="auto">
                <a:xfrm>
                  <a:off x="449" y="3623"/>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70411" name="Line 75"/>
                <p:cNvSpPr>
                  <a:spLocks noChangeShapeType="1"/>
                </p:cNvSpPr>
                <p:nvPr/>
              </p:nvSpPr>
              <p:spPr bwMode="auto">
                <a:xfrm>
                  <a:off x="657" y="3692"/>
                  <a:ext cx="1" cy="8"/>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0339">
                                            <p:txEl>
                                              <p:pRg st="0" end="0"/>
                                            </p:txEl>
                                          </p:spTgt>
                                        </p:tgtEl>
                                        <p:attrNameLst>
                                          <p:attrName>style.visibility</p:attrName>
                                        </p:attrNameLst>
                                      </p:cBhvr>
                                      <p:to>
                                        <p:strVal val="visible"/>
                                      </p:to>
                                    </p:set>
                                    <p:animEffect transition="in" filter="wipe(left)">
                                      <p:cBhvr>
                                        <p:cTn id="7" dur="500"/>
                                        <p:tgtEl>
                                          <p:spTgt spid="270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0339">
                                            <p:txEl>
                                              <p:pRg st="1" end="1"/>
                                            </p:txEl>
                                          </p:spTgt>
                                        </p:tgtEl>
                                        <p:attrNameLst>
                                          <p:attrName>style.visibility</p:attrName>
                                        </p:attrNameLst>
                                      </p:cBhvr>
                                      <p:to>
                                        <p:strVal val="visible"/>
                                      </p:to>
                                    </p:set>
                                    <p:animEffect transition="in" filter="wipe(left)">
                                      <p:cBhvr>
                                        <p:cTn id="12" dur="500"/>
                                        <p:tgtEl>
                                          <p:spTgt spid="270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0339">
                                            <p:txEl>
                                              <p:pRg st="2" end="2"/>
                                            </p:txEl>
                                          </p:spTgt>
                                        </p:tgtEl>
                                        <p:attrNameLst>
                                          <p:attrName>style.visibility</p:attrName>
                                        </p:attrNameLst>
                                      </p:cBhvr>
                                      <p:to>
                                        <p:strVal val="visible"/>
                                      </p:to>
                                    </p:set>
                                    <p:animEffect transition="in" filter="wipe(left)">
                                      <p:cBhvr>
                                        <p:cTn id="17" dur="500"/>
                                        <p:tgtEl>
                                          <p:spTgt spid="270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0339">
                                            <p:txEl>
                                              <p:pRg st="3" end="3"/>
                                            </p:txEl>
                                          </p:spTgt>
                                        </p:tgtEl>
                                        <p:attrNameLst>
                                          <p:attrName>style.visibility</p:attrName>
                                        </p:attrNameLst>
                                      </p:cBhvr>
                                      <p:to>
                                        <p:strVal val="visible"/>
                                      </p:to>
                                    </p:set>
                                    <p:animEffect transition="in" filter="wipe(left)">
                                      <p:cBhvr>
                                        <p:cTn id="22" dur="500"/>
                                        <p:tgtEl>
                                          <p:spTgt spid="2703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0339">
                                            <p:txEl>
                                              <p:pRg st="4" end="4"/>
                                            </p:txEl>
                                          </p:spTgt>
                                        </p:tgtEl>
                                        <p:attrNameLst>
                                          <p:attrName>style.visibility</p:attrName>
                                        </p:attrNameLst>
                                      </p:cBhvr>
                                      <p:to>
                                        <p:strVal val="visible"/>
                                      </p:to>
                                    </p:set>
                                    <p:animEffect transition="in" filter="wipe(left)">
                                      <p:cBhvr>
                                        <p:cTn id="27" dur="500"/>
                                        <p:tgtEl>
                                          <p:spTgt spid="2703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270413"/>
                                        </p:tgtEl>
                                        <p:attrNameLst>
                                          <p:attrName>style.visibility</p:attrName>
                                        </p:attrNameLst>
                                      </p:cBhvr>
                                      <p:to>
                                        <p:strVal val="visible"/>
                                      </p:to>
                                    </p:set>
                                    <p:animEffect transition="in" filter="barn(outVertical)">
                                      <p:cBhvr>
                                        <p:cTn id="32" dur="500"/>
                                        <p:tgtEl>
                                          <p:spTgt spid="2704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70340">
                                            <p:txEl>
                                              <p:pRg st="0" end="0"/>
                                            </p:txEl>
                                          </p:spTgt>
                                        </p:tgtEl>
                                        <p:attrNameLst>
                                          <p:attrName>style.visibility</p:attrName>
                                        </p:attrNameLst>
                                      </p:cBhvr>
                                      <p:to>
                                        <p:strVal val="visible"/>
                                      </p:to>
                                    </p:set>
                                    <p:animEffect transition="in" filter="wipe(left)">
                                      <p:cBhvr>
                                        <p:cTn id="37" dur="500"/>
                                        <p:tgtEl>
                                          <p:spTgt spid="270340">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70345">
                                            <p:txEl>
                                              <p:pRg st="0" end="0"/>
                                            </p:txEl>
                                          </p:spTgt>
                                        </p:tgtEl>
                                        <p:attrNameLst>
                                          <p:attrName>style.visibility</p:attrName>
                                        </p:attrNameLst>
                                      </p:cBhvr>
                                      <p:to>
                                        <p:strVal val="visible"/>
                                      </p:to>
                                    </p:set>
                                    <p:animEffect transition="in" filter="wipe(left)">
                                      <p:cBhvr>
                                        <p:cTn id="42" dur="500"/>
                                        <p:tgtEl>
                                          <p:spTgt spid="27034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0343">
                                            <p:txEl>
                                              <p:pRg st="0" end="0"/>
                                            </p:txEl>
                                          </p:spTgt>
                                        </p:tgtEl>
                                        <p:attrNameLst>
                                          <p:attrName>style.visibility</p:attrName>
                                        </p:attrNameLst>
                                      </p:cBhvr>
                                      <p:to>
                                        <p:strVal val="visible"/>
                                      </p:to>
                                    </p:set>
                                    <p:animEffect transition="in" filter="wipe(left)">
                                      <p:cBhvr>
                                        <p:cTn id="47" dur="500"/>
                                        <p:tgtEl>
                                          <p:spTgt spid="270343">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70346">
                                            <p:txEl>
                                              <p:pRg st="0" end="0"/>
                                            </p:txEl>
                                          </p:spTgt>
                                        </p:tgtEl>
                                        <p:attrNameLst>
                                          <p:attrName>style.visibility</p:attrName>
                                        </p:attrNameLst>
                                      </p:cBhvr>
                                      <p:to>
                                        <p:strVal val="visible"/>
                                      </p:to>
                                    </p:set>
                                    <p:animEffect transition="in" filter="wipe(left)">
                                      <p:cBhvr>
                                        <p:cTn id="52" dur="500"/>
                                        <p:tgtEl>
                                          <p:spTgt spid="27034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70344">
                                            <p:txEl>
                                              <p:pRg st="0" end="0"/>
                                            </p:txEl>
                                          </p:spTgt>
                                        </p:tgtEl>
                                        <p:attrNameLst>
                                          <p:attrName>style.visibility</p:attrName>
                                        </p:attrNameLst>
                                      </p:cBhvr>
                                      <p:to>
                                        <p:strVal val="visible"/>
                                      </p:to>
                                    </p:set>
                                    <p:animEffect transition="in" filter="wipe(left)">
                                      <p:cBhvr>
                                        <p:cTn id="57" dur="500"/>
                                        <p:tgtEl>
                                          <p:spTgt spid="2703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9" grpId="0" autoUpdateAnimBg="0" build="p"/>
      <p:bldP spid="270340" grpId="0" autoUpdateAnimBg="0" build="p"/>
      <p:bldP spid="270343" grpId="0" autoUpdateAnimBg="0" build="p"/>
      <p:bldP spid="270344" grpId="0" autoUpdateAnimBg="0" build="p"/>
      <p:bldP spid="270345" grpId="0" autoUpdateAnimBg="0" build="p"/>
      <p:bldP spid="270346" grpId="0" autoUpdateAnimBg="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34" name="Rectangle 2"/>
          <p:cNvSpPr>
            <a:spLocks noGrp="1" noChangeArrowheads="1"/>
          </p:cNvSpPr>
          <p:nvPr>
            <p:ph type="title"/>
          </p:nvPr>
        </p:nvSpPr>
        <p:spPr>
          <a:noFill/>
        </p:spPr>
        <p:txBody>
          <a:bodyPr>
            <a:normAutofit fontScale="90000"/>
          </a:bodyPr>
          <a:lstStyle/>
          <a:p>
            <a:r>
              <a:rPr lang="en-US" altLang="zh-CN" sz="4000">
                <a:latin typeface="Symbol" panose="05050102010706020507" pitchFamily="18" charset="2"/>
              </a:rPr>
              <a:t></a:t>
            </a:r>
            <a:r>
              <a:rPr lang="en-US" altLang="zh-CN" sz="4000" baseline="30000">
                <a:latin typeface="Arial" panose="020B0604020202090204" pitchFamily="34" charset="0"/>
              </a:rPr>
              <a:t>2</a:t>
            </a:r>
            <a:r>
              <a:rPr lang="en-US" altLang="zh-CN" sz="4000">
                <a:latin typeface="Arial" panose="020B0604020202090204" pitchFamily="34" charset="0"/>
              </a:rPr>
              <a:t> </a:t>
            </a:r>
            <a:r>
              <a:rPr lang="zh-CN" altLang="en-US" sz="4000">
                <a:latin typeface="Arial" panose="020B0604020202090204" pitchFamily="34" charset="0"/>
              </a:rPr>
              <a:t>未知小样本均值的检验</a:t>
            </a:r>
            <a:br>
              <a:rPr lang="zh-CN" altLang="en-US" sz="4000">
                <a:latin typeface="Arial" panose="020B0604020202090204" pitchFamily="34" charset="0"/>
              </a:rPr>
            </a:br>
            <a:r>
              <a:rPr lang="zh-CN" altLang="en-US" sz="4000">
                <a:latin typeface="Arial" panose="020B0604020202090204" pitchFamily="34" charset="0"/>
              </a:rPr>
              <a:t> </a:t>
            </a:r>
            <a:r>
              <a:rPr lang="en-US" altLang="zh-CN" sz="3600">
                <a:solidFill>
                  <a:schemeClr val="hlink"/>
                </a:solidFill>
                <a:latin typeface="Arial" panose="020B0604020202090204" pitchFamily="34" charset="0"/>
              </a:rPr>
              <a:t>(</a:t>
            </a:r>
            <a:r>
              <a:rPr lang="en-US" altLang="zh-CN" sz="3600" i="1">
                <a:solidFill>
                  <a:schemeClr val="hlink"/>
                </a:solidFill>
                <a:latin typeface="Arial" panose="020B0604020202090204" pitchFamily="34" charset="0"/>
              </a:rPr>
              <a:t>P </a:t>
            </a:r>
            <a:r>
              <a:rPr lang="zh-CN" altLang="en-US" sz="3600">
                <a:solidFill>
                  <a:schemeClr val="hlink"/>
                </a:solidFill>
                <a:latin typeface="Arial" panose="020B0604020202090204" pitchFamily="34" charset="0"/>
              </a:rPr>
              <a:t>值的计算与应用</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1068035" name="Rectangle 3"/>
          <p:cNvSpPr>
            <a:spLocks noGrp="1" noChangeArrowheads="1"/>
          </p:cNvSpPr>
          <p:nvPr>
            <p:ph type="body" sz="half" idx="1"/>
          </p:nvPr>
        </p:nvSpPr>
        <p:spPr>
          <a:xfrm>
            <a:off x="2133600" y="1789114"/>
            <a:ext cx="8058150" cy="4281487"/>
          </a:xfrm>
          <a:noFill/>
        </p:spPr>
        <p:txBody>
          <a:bodyPr>
            <a:normAutofit fontScale="92500" lnSpcReduction="10000"/>
          </a:bodyPr>
          <a:lstStyle/>
          <a:p>
            <a:pPr marL="0" indent="0" algn="just">
              <a:lnSpc>
                <a:spcPct val="90000"/>
              </a:lnSpc>
            </a:pPr>
            <a:r>
              <a:rPr lang="zh-CN" altLang="en-US" sz="2800" dirty="0"/>
              <a:t>第</a:t>
            </a:r>
            <a:r>
              <a:rPr lang="en-US" altLang="zh-CN" sz="2800" dirty="0"/>
              <a:t>1</a:t>
            </a:r>
            <a:r>
              <a:rPr lang="zh-CN" altLang="en-US" sz="2800" dirty="0"/>
              <a:t>步：进入</a:t>
            </a:r>
            <a:r>
              <a:rPr lang="en-US" altLang="zh-CN" sz="2800" dirty="0">
                <a:cs typeface="Times New Roman" panose="02020603050405020304" pitchFamily="18" charset="0"/>
              </a:rPr>
              <a:t>Excel</a:t>
            </a:r>
            <a:r>
              <a:rPr lang="zh-CN" altLang="en-US" sz="2800" dirty="0"/>
              <a:t>表格界面，选择“插入”下拉菜单</a:t>
            </a:r>
            <a:endParaRPr lang="zh-CN" altLang="en-US" sz="2800" dirty="0">
              <a:cs typeface="Times New Roman" panose="02020603050405020304" pitchFamily="18" charset="0"/>
            </a:endParaRPr>
          </a:p>
          <a:p>
            <a:pPr marL="0" indent="0" algn="just">
              <a:lnSpc>
                <a:spcPct val="90000"/>
              </a:lnSpc>
            </a:pPr>
            <a:r>
              <a:rPr lang="zh-CN" altLang="en-US" sz="2800" dirty="0"/>
              <a:t>第</a:t>
            </a:r>
            <a:r>
              <a:rPr lang="en-US" altLang="zh-CN" sz="2800" dirty="0">
                <a:cs typeface="Times New Roman" panose="02020603050405020304" pitchFamily="18" charset="0"/>
              </a:rPr>
              <a:t>2</a:t>
            </a:r>
            <a:r>
              <a:rPr lang="zh-CN" altLang="en-US" sz="2800" dirty="0"/>
              <a:t>步：选择“函数”点击</a:t>
            </a:r>
            <a:r>
              <a:rPr lang="zh-CN" altLang="en-US" sz="2800" dirty="0">
                <a:cs typeface="Times New Roman" panose="02020603050405020304" pitchFamily="18" charset="0"/>
              </a:rPr>
              <a:t>，并</a:t>
            </a:r>
            <a:r>
              <a:rPr lang="zh-CN" altLang="en-US" sz="2800" dirty="0"/>
              <a:t>在函数分类中点击“统</a:t>
            </a:r>
            <a:endParaRPr lang="zh-CN" altLang="en-US" sz="2800" dirty="0"/>
          </a:p>
          <a:p>
            <a:pPr marL="0" indent="0" algn="just">
              <a:lnSpc>
                <a:spcPct val="90000"/>
              </a:lnSpc>
            </a:pPr>
            <a:r>
              <a:rPr lang="zh-CN" altLang="en-US" sz="2800" dirty="0"/>
              <a:t>             计” ，然后，在函数名的菜单中选择字符</a:t>
            </a:r>
            <a:endParaRPr lang="zh-CN" altLang="en-US" sz="2800" dirty="0"/>
          </a:p>
          <a:p>
            <a:pPr marL="0" indent="0" algn="just">
              <a:lnSpc>
                <a:spcPct val="90000"/>
              </a:lnSpc>
            </a:pPr>
            <a:r>
              <a:rPr lang="zh-CN" altLang="en-US" sz="2800" dirty="0"/>
              <a:t>             “</a:t>
            </a:r>
            <a:r>
              <a:rPr lang="en-US" altLang="zh-CN" sz="2800" dirty="0">
                <a:cs typeface="Times New Roman" panose="02020603050405020304" pitchFamily="18" charset="0"/>
              </a:rPr>
              <a:t>TDIST</a:t>
            </a:r>
            <a:r>
              <a:rPr lang="en-US" altLang="zh-CN" sz="2800" dirty="0"/>
              <a:t>”</a:t>
            </a:r>
            <a:r>
              <a:rPr lang="zh-CN" altLang="en-US" sz="2800" dirty="0"/>
              <a:t>，确定</a:t>
            </a:r>
            <a:endParaRPr lang="zh-CN" altLang="en-US" sz="2800" dirty="0">
              <a:cs typeface="Times New Roman" panose="02020603050405020304" pitchFamily="18" charset="0"/>
            </a:endParaRPr>
          </a:p>
          <a:p>
            <a:pPr marL="0" indent="0" algn="just">
              <a:lnSpc>
                <a:spcPct val="90000"/>
              </a:lnSpc>
            </a:pPr>
            <a:r>
              <a:rPr lang="zh-CN" altLang="en-US" sz="2800" dirty="0"/>
              <a:t>第</a:t>
            </a:r>
            <a:r>
              <a:rPr lang="en-US" altLang="zh-CN" sz="2800" dirty="0">
                <a:cs typeface="Times New Roman" panose="02020603050405020304" pitchFamily="18" charset="0"/>
              </a:rPr>
              <a:t>3</a:t>
            </a:r>
            <a:r>
              <a:rPr lang="zh-CN" altLang="en-US" sz="2800" dirty="0"/>
              <a:t>步：在弹出的</a:t>
            </a:r>
            <a:r>
              <a:rPr lang="en-US" altLang="zh-CN" sz="2800" dirty="0">
                <a:latin typeface="Times New Roman" panose="02020603050405020304" pitchFamily="18" charset="0"/>
                <a:cs typeface="Times New Roman" panose="02020603050405020304" pitchFamily="18" charset="0"/>
              </a:rPr>
              <a:t>X</a:t>
            </a:r>
            <a:r>
              <a:rPr lang="zh-CN" altLang="en-US" sz="2800" dirty="0"/>
              <a:t>栏中录入计算出的</a:t>
            </a:r>
            <a:r>
              <a:rPr lang="en-US" altLang="zh-CN" sz="2800" i="1" dirty="0">
                <a:cs typeface="Times New Roman" panose="02020603050405020304" pitchFamily="18" charset="0"/>
              </a:rPr>
              <a:t>t</a:t>
            </a:r>
            <a:r>
              <a:rPr lang="zh-CN" altLang="en-US" sz="2800" dirty="0"/>
              <a:t>值</a:t>
            </a:r>
            <a:r>
              <a:rPr lang="en-US" altLang="zh-CN" sz="2800" dirty="0">
                <a:cs typeface="Times New Roman" panose="02020603050405020304" pitchFamily="18" charset="0"/>
              </a:rPr>
              <a:t>3.16      </a:t>
            </a:r>
            <a:endParaRPr lang="en-US" altLang="zh-CN" sz="2800" dirty="0">
              <a:cs typeface="Times New Roman" panose="02020603050405020304" pitchFamily="18" charset="0"/>
            </a:endParaRPr>
          </a:p>
          <a:p>
            <a:pPr marL="0" indent="0" algn="just">
              <a:lnSpc>
                <a:spcPct val="90000"/>
              </a:lnSpc>
            </a:pPr>
            <a:r>
              <a:rPr lang="en-US" altLang="zh-CN" sz="2800" dirty="0">
                <a:cs typeface="Times New Roman" panose="02020603050405020304" pitchFamily="18" charset="0"/>
              </a:rPr>
              <a:t>             </a:t>
            </a:r>
            <a:r>
              <a:rPr lang="zh-CN" altLang="en-US" sz="2800" dirty="0"/>
              <a:t>在自由度</a:t>
            </a:r>
            <a:r>
              <a:rPr lang="en-US" altLang="zh-CN" sz="2800" dirty="0"/>
              <a:t>(</a:t>
            </a:r>
            <a:r>
              <a:rPr lang="en-US" altLang="zh-CN" sz="2800" dirty="0">
                <a:cs typeface="Times New Roman" panose="02020603050405020304" pitchFamily="18" charset="0"/>
              </a:rPr>
              <a:t>Deg-freedom</a:t>
            </a:r>
            <a:r>
              <a:rPr lang="en-US" altLang="zh-CN" sz="2800" dirty="0"/>
              <a:t>)</a:t>
            </a:r>
            <a:r>
              <a:rPr lang="zh-CN" altLang="en-US" sz="2800" dirty="0"/>
              <a:t>栏中录入</a:t>
            </a:r>
            <a:r>
              <a:rPr lang="en-US" altLang="zh-CN" sz="2800" dirty="0">
                <a:cs typeface="Times New Roman" panose="02020603050405020304" pitchFamily="18" charset="0"/>
              </a:rPr>
              <a:t>9</a:t>
            </a:r>
            <a:endParaRPr lang="en-US" altLang="zh-CN" sz="2800" dirty="0">
              <a:cs typeface="Times New Roman" panose="02020603050405020304" pitchFamily="18" charset="0"/>
            </a:endParaRPr>
          </a:p>
          <a:p>
            <a:pPr marL="0" indent="0" algn="just">
              <a:lnSpc>
                <a:spcPct val="90000"/>
              </a:lnSpc>
            </a:pPr>
            <a:r>
              <a:rPr lang="en-US" altLang="zh-CN" sz="2800" dirty="0"/>
              <a:t>             </a:t>
            </a:r>
            <a:r>
              <a:rPr lang="zh-CN" altLang="en-US" sz="2800" dirty="0"/>
              <a:t>在</a:t>
            </a:r>
            <a:r>
              <a:rPr lang="en-US" altLang="zh-CN" sz="2800" dirty="0">
                <a:cs typeface="Times New Roman" panose="02020603050405020304" pitchFamily="18" charset="0"/>
              </a:rPr>
              <a:t>Tails</a:t>
            </a:r>
            <a:r>
              <a:rPr lang="zh-CN" altLang="en-US" sz="2800" dirty="0"/>
              <a:t>栏中录入</a:t>
            </a:r>
            <a:r>
              <a:rPr lang="en-US" altLang="zh-CN" sz="2800" dirty="0">
                <a:cs typeface="Times New Roman" panose="02020603050405020304" pitchFamily="18" charset="0"/>
              </a:rPr>
              <a:t>2</a:t>
            </a:r>
            <a:r>
              <a:rPr lang="zh-CN" altLang="en-US" sz="2800" dirty="0"/>
              <a:t>，表明是双侧检验</a:t>
            </a:r>
            <a:r>
              <a:rPr lang="en-US" altLang="zh-CN" sz="2800" dirty="0"/>
              <a:t>(</a:t>
            </a:r>
            <a:r>
              <a:rPr lang="zh-CN" altLang="en-US" sz="2800" dirty="0"/>
              <a:t>单测</a:t>
            </a:r>
            <a:endParaRPr lang="zh-CN" altLang="en-US" sz="2800" dirty="0"/>
          </a:p>
          <a:p>
            <a:pPr marL="0" indent="0" algn="just">
              <a:lnSpc>
                <a:spcPct val="90000"/>
              </a:lnSpc>
            </a:pPr>
            <a:r>
              <a:rPr lang="zh-CN" altLang="en-US" sz="2800" dirty="0"/>
              <a:t>             检验则在该栏内录入</a:t>
            </a:r>
            <a:r>
              <a:rPr lang="en-US" altLang="zh-CN" sz="2800" dirty="0">
                <a:cs typeface="Times New Roman" panose="02020603050405020304" pitchFamily="18" charset="0"/>
              </a:rPr>
              <a:t>1</a:t>
            </a:r>
            <a:r>
              <a:rPr lang="en-US" altLang="zh-CN" sz="2800" dirty="0"/>
              <a:t>)</a:t>
            </a:r>
            <a:endParaRPr lang="en-US" altLang="zh-CN" sz="2800" dirty="0">
              <a:cs typeface="Times New Roman" panose="02020603050405020304" pitchFamily="18" charset="0"/>
            </a:endParaRPr>
          </a:p>
          <a:p>
            <a:pPr marL="0" indent="0" algn="just">
              <a:lnSpc>
                <a:spcPct val="90000"/>
              </a:lnSpc>
            </a:pPr>
            <a:r>
              <a:rPr lang="en-US" altLang="zh-CN" sz="2800" i="1" dirty="0">
                <a:cs typeface="Times New Roman" panose="02020603050405020304" pitchFamily="18" charset="0"/>
              </a:rPr>
              <a:t>             P</a:t>
            </a:r>
            <a:r>
              <a:rPr lang="zh-CN" altLang="en-US" sz="2800" dirty="0"/>
              <a:t>值的结果为</a:t>
            </a:r>
            <a:r>
              <a:rPr lang="en-US" altLang="zh-CN" sz="2800" dirty="0">
                <a:cs typeface="Times New Roman" panose="02020603050405020304" pitchFamily="18" charset="0"/>
              </a:rPr>
              <a:t>0.01155&lt;0.025</a:t>
            </a:r>
            <a:r>
              <a:rPr lang="zh-CN" altLang="en-US" sz="2800" dirty="0">
                <a:cs typeface="Times New Roman" panose="02020603050405020304" pitchFamily="18" charset="0"/>
              </a:rPr>
              <a:t>，</a:t>
            </a:r>
            <a:r>
              <a:rPr lang="zh-CN" altLang="en-US" sz="2800" dirty="0"/>
              <a:t>拒绝</a:t>
            </a:r>
            <a:r>
              <a:rPr lang="en-US" altLang="zh-CN" sz="2800" dirty="0"/>
              <a:t>H</a:t>
            </a:r>
            <a:r>
              <a:rPr lang="en-US" altLang="zh-CN" sz="2800" baseline="-25000" dirty="0"/>
              <a:t>0</a:t>
            </a:r>
            <a:endParaRPr lang="en-US" altLang="zh-CN" sz="2800" baseline="-25000" dirty="0"/>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a:noFill/>
        </p:spPr>
        <p:txBody>
          <a:bodyPr>
            <a:normAutofit fontScale="90000"/>
          </a:bodyPr>
          <a:lstStyle/>
          <a:p>
            <a:r>
              <a:rPr lang="en-US" altLang="zh-CN" sz="4000">
                <a:latin typeface="Symbol" panose="05050102010706020507" pitchFamily="18" charset="2"/>
              </a:rPr>
              <a:t></a:t>
            </a:r>
            <a:r>
              <a:rPr lang="en-US" altLang="zh-CN" sz="4000" baseline="30000">
                <a:latin typeface="Arial" panose="020B0604020202090204" pitchFamily="34" charset="0"/>
              </a:rPr>
              <a:t>2</a:t>
            </a:r>
            <a:r>
              <a:rPr lang="en-US" altLang="zh-CN" sz="4000">
                <a:latin typeface="Arial" panose="020B0604020202090204" pitchFamily="34" charset="0"/>
              </a:rPr>
              <a:t> </a:t>
            </a:r>
            <a:r>
              <a:rPr lang="zh-CN" altLang="en-US" sz="4000">
                <a:latin typeface="Arial" panose="020B0604020202090204" pitchFamily="34" charset="0"/>
              </a:rPr>
              <a:t>未知小样本均值的检验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290819" name="Rectangle 3"/>
          <p:cNvSpPr>
            <a:spLocks noGrp="1" noChangeArrowheads="1"/>
          </p:cNvSpPr>
          <p:nvPr>
            <p:ph type="body" sz="half" idx="1"/>
          </p:nvPr>
        </p:nvSpPr>
        <p:spPr>
          <a:xfrm>
            <a:off x="5246688" y="1752601"/>
            <a:ext cx="5048250" cy="4678363"/>
          </a:xfrm>
          <a:noFill/>
        </p:spPr>
        <p:txBody>
          <a:bodyPr>
            <a:normAutofit lnSpcReduction="10000"/>
          </a:bodyPr>
          <a:lstStyle/>
          <a:p>
            <a:pPr marL="0" indent="0" algn="just">
              <a:lnSpc>
                <a:spcPct val="105000"/>
              </a:lnSpc>
            </a:pPr>
            <a:r>
              <a:rPr lang="en-US" altLang="zh-CN" sz="2600" dirty="0"/>
              <a:t> </a:t>
            </a:r>
            <a:r>
              <a:rPr lang="en-US" altLang="zh-CN" sz="2800" b="1" dirty="0"/>
              <a:t>【</a:t>
            </a:r>
            <a:r>
              <a:rPr lang="zh-CN" altLang="en-US" sz="2800" b="1" dirty="0"/>
              <a:t>例</a:t>
            </a:r>
            <a:r>
              <a:rPr lang="en-US" altLang="zh-CN" sz="2800" b="1" dirty="0"/>
              <a:t>】</a:t>
            </a:r>
            <a:r>
              <a:rPr lang="zh-CN" altLang="en-US" sz="2600" dirty="0"/>
              <a:t>一个汽车轮胎制造商声称，某一等级的轮胎的平均寿命在一定的汽车重量和正常行驶条件下大于</a:t>
            </a:r>
            <a:r>
              <a:rPr lang="en-US" altLang="zh-CN" sz="2600" dirty="0"/>
              <a:t>40000</a:t>
            </a:r>
            <a:r>
              <a:rPr lang="zh-CN" altLang="en-US" sz="2600" dirty="0"/>
              <a:t>公里，对一个由</a:t>
            </a:r>
            <a:r>
              <a:rPr lang="en-US" altLang="zh-CN" sz="2600" dirty="0"/>
              <a:t>20</a:t>
            </a:r>
            <a:r>
              <a:rPr lang="zh-CN" altLang="en-US" sz="2600" dirty="0"/>
              <a:t>个轮胎组成的随机样本作了试验，测得平均值为</a:t>
            </a:r>
            <a:r>
              <a:rPr lang="en-US" altLang="zh-CN" sz="2600" dirty="0"/>
              <a:t>41000</a:t>
            </a:r>
            <a:r>
              <a:rPr lang="zh-CN" altLang="en-US" sz="2600" dirty="0"/>
              <a:t>公里，标准差为</a:t>
            </a:r>
            <a:r>
              <a:rPr lang="en-US" altLang="zh-CN" sz="2600" dirty="0"/>
              <a:t>5000</a:t>
            </a:r>
            <a:r>
              <a:rPr lang="zh-CN" altLang="en-US" sz="2600" dirty="0"/>
              <a:t>公里。已知轮胎寿命的公里数服从正态分布，我们能否根据这些数据作出结论，该制造商的产品同他所说的标准相符？</a:t>
            </a:r>
            <a:r>
              <a:rPr lang="en-US" altLang="zh-CN" sz="2600" dirty="0"/>
              <a:t>(</a:t>
            </a:r>
            <a:r>
              <a:rPr lang="en-US" altLang="zh-CN" sz="2800" dirty="0">
                <a:latin typeface="Symbol" panose="05050102010706020507" pitchFamily="18" charset="2"/>
              </a:rPr>
              <a:t></a:t>
            </a:r>
            <a:r>
              <a:rPr lang="en-US" altLang="zh-CN" sz="2800" dirty="0"/>
              <a:t> </a:t>
            </a:r>
            <a:r>
              <a:rPr lang="en-US" altLang="zh-CN" sz="2600" dirty="0"/>
              <a:t>= 0.05)</a:t>
            </a:r>
            <a:endParaRPr lang="en-US" altLang="zh-CN" sz="2600" dirty="0"/>
          </a:p>
        </p:txBody>
      </p:sp>
      <p:graphicFrame>
        <p:nvGraphicFramePr>
          <p:cNvPr id="290822" name="Object 6">
            <a:hlinkHover r:id="" action="ppaction://noaction" highlightClick="1"/>
          </p:cNvPr>
          <p:cNvGraphicFramePr>
            <a:graphicFrameLocks noChangeAspect="1"/>
          </p:cNvGraphicFramePr>
          <p:nvPr/>
        </p:nvGraphicFramePr>
        <p:xfrm>
          <a:off x="1752600" y="4648201"/>
          <a:ext cx="3581400" cy="1477963"/>
        </p:xfrm>
        <a:graphic>
          <a:graphicData uri="http://schemas.openxmlformats.org/presentationml/2006/ole">
            <mc:AlternateContent xmlns:mc="http://schemas.openxmlformats.org/markup-compatibility/2006">
              <mc:Choice xmlns:v="urn:schemas-microsoft-com:vml" Requires="v">
                <p:oleObj spid="_x0000_s1026" name="Clip" r:id="rId1" imgW="39271575" imgH="10239375" progId="MS_ClipArt_Gallery.5">
                  <p:embed/>
                </p:oleObj>
              </mc:Choice>
              <mc:Fallback>
                <p:oleObj name="Clip" r:id="rId1" imgW="39271575" imgH="10239375" progId="MS_ClipArt_Gallery.5">
                  <p:embed/>
                  <p:pic>
                    <p:nvPicPr>
                      <p:cNvPr id="0" name="Object 6">
                        <a:hlinkHover r:id="" action="ppaction://noaction"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648201"/>
                        <a:ext cx="3581400" cy="1477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0828" name="AutoShape 12"/>
          <p:cNvSpPr>
            <a:spLocks noChangeArrowheads="1"/>
          </p:cNvSpPr>
          <p:nvPr/>
        </p:nvSpPr>
        <p:spPr bwMode="auto">
          <a:xfrm flipH="1">
            <a:off x="2174876" y="2266950"/>
            <a:ext cx="2574925" cy="1219200"/>
          </a:xfrm>
          <a:prstGeom prst="cloudCallout">
            <a:avLst>
              <a:gd name="adj1" fmla="val -63995"/>
              <a:gd name="adj2" fmla="val 119787"/>
            </a:avLst>
          </a:prstGeom>
          <a:noFill/>
          <a:ln w="12700">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lang="zh-CN" altLang="en-US">
                <a:solidFill>
                  <a:schemeClr val="accent2"/>
                </a:solidFill>
                <a:effectLst>
                  <a:outerShdw blurRad="38100" dist="38100" dir="2700000" algn="tl">
                    <a:srgbClr val="000000"/>
                  </a:outerShdw>
                </a:effectLst>
              </a:rPr>
              <a:t>单侧检验！</a:t>
            </a:r>
            <a:endParaRPr lang="zh-CN" altLang="en-US">
              <a:solidFill>
                <a:schemeClr val="accent2"/>
              </a:solidFill>
              <a:effectLst>
                <a:outerShdw blurRad="38100" dist="38100" dir="2700000" algn="tl">
                  <a:srgbClr val="000000"/>
                </a:outerShdw>
              </a:effectLst>
            </a:endParaRP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5155" name="Rectangle 3"/>
          <p:cNvSpPr>
            <a:spLocks noGrp="1" noChangeArrowheads="1"/>
          </p:cNvSpPr>
          <p:nvPr>
            <p:ph type="title"/>
          </p:nvPr>
        </p:nvSpPr>
        <p:spPr>
          <a:noFill/>
        </p:spPr>
        <p:txBody>
          <a:bodyPr>
            <a:normAutofit fontScale="90000"/>
          </a:bodyPr>
          <a:lstStyle/>
          <a:p>
            <a:r>
              <a:rPr lang="zh-CN" altLang="en-US" sz="4000">
                <a:latin typeface="Arial" panose="020B0604020202090204" pitchFamily="34" charset="0"/>
              </a:rPr>
              <a:t>均值的单尾 </a:t>
            </a:r>
            <a:r>
              <a:rPr lang="en-US" altLang="zh-CN" sz="4000">
                <a:latin typeface="Arial" panose="020B0604020202090204" pitchFamily="34" charset="0"/>
              </a:rPr>
              <a:t>t </a:t>
            </a:r>
            <a:r>
              <a:rPr lang="zh-CN" altLang="en-US" sz="4000">
                <a:latin typeface="Arial" panose="020B0604020202090204" pitchFamily="34" charset="0"/>
              </a:rPr>
              <a:t>检验 </a:t>
            </a:r>
            <a:br>
              <a:rPr lang="zh-CN" altLang="en-US" sz="4000">
                <a:latin typeface="Arial" panose="020B0604020202090204" pitchFamily="34" charset="0"/>
              </a:rPr>
            </a:b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计算结果</a:t>
            </a:r>
            <a:r>
              <a:rPr lang="en-US" altLang="zh-CN" sz="3600">
                <a:solidFill>
                  <a:schemeClr val="hlink"/>
                </a:solidFill>
                <a:latin typeface="Arial" panose="020B0604020202090204" pitchFamily="34" charset="0"/>
              </a:rPr>
              <a:t>) </a:t>
            </a:r>
            <a:endParaRPr lang="en-US" altLang="zh-CN" sz="3600">
              <a:solidFill>
                <a:schemeClr val="hlink"/>
              </a:solidFill>
              <a:latin typeface="Arial" panose="020B0604020202090204" pitchFamily="34" charset="0"/>
            </a:endParaRPr>
          </a:p>
        </p:txBody>
      </p:sp>
      <p:sp>
        <p:nvSpPr>
          <p:cNvPr id="305156" name="Rectangle 4"/>
          <p:cNvSpPr>
            <a:spLocks noGrp="1" noChangeArrowheads="1"/>
          </p:cNvSpPr>
          <p:nvPr>
            <p:ph type="body" sz="half" idx="1"/>
          </p:nvPr>
        </p:nvSpPr>
        <p:spPr>
          <a:xfrm>
            <a:off x="2133600" y="1778000"/>
            <a:ext cx="3848100" cy="4013200"/>
          </a:xfrm>
          <a:noFill/>
        </p:spPr>
        <p:txBody>
          <a:bodyPr/>
          <a:lstStyle/>
          <a:p>
            <a:pPr marL="0" indent="0"/>
            <a:r>
              <a:rPr lang="en-US" altLang="zh-CN" sz="2800" b="1"/>
              <a:t>H</a:t>
            </a:r>
            <a:r>
              <a:rPr lang="en-US" altLang="zh-CN" sz="2000" b="1"/>
              <a:t>0</a:t>
            </a:r>
            <a:r>
              <a:rPr lang="en-US" altLang="zh-CN" sz="2800" b="1"/>
              <a:t>: </a:t>
            </a:r>
            <a:r>
              <a:rPr lang="en-US" altLang="zh-CN" sz="2800" b="1">
                <a:latin typeface="Symbol" panose="05050102010706020507" pitchFamily="18" charset="2"/>
              </a:rPr>
              <a:t></a:t>
            </a:r>
            <a:r>
              <a:rPr lang="en-US" altLang="zh-CN" sz="2800" b="1"/>
              <a:t> </a:t>
            </a:r>
            <a:r>
              <a:rPr lang="en-US" altLang="zh-CN" sz="2800" b="1">
                <a:sym typeface="Symbol" panose="05050102010706020507" pitchFamily="18" charset="2"/>
              </a:rPr>
              <a:t></a:t>
            </a:r>
            <a:r>
              <a:rPr lang="en-US" altLang="zh-CN" sz="2800" b="1"/>
              <a:t> 40000</a:t>
            </a:r>
            <a:endParaRPr lang="en-US" altLang="zh-CN" sz="2800" b="1"/>
          </a:p>
          <a:p>
            <a:pPr marL="0" indent="0"/>
            <a:r>
              <a:rPr lang="en-US" altLang="zh-CN" sz="2800" b="1"/>
              <a:t>H</a:t>
            </a:r>
            <a:r>
              <a:rPr lang="en-US" altLang="zh-CN" sz="2000" b="1"/>
              <a:t>1</a:t>
            </a:r>
            <a:r>
              <a:rPr lang="en-US" altLang="zh-CN" sz="2800" b="1"/>
              <a:t>: </a:t>
            </a:r>
            <a:r>
              <a:rPr lang="en-US" altLang="zh-CN" sz="2800" b="1">
                <a:latin typeface="Symbol" panose="05050102010706020507" pitchFamily="18" charset="2"/>
              </a:rPr>
              <a:t></a:t>
            </a:r>
            <a:r>
              <a:rPr lang="en-US" altLang="zh-CN" sz="2800" b="1"/>
              <a:t> &lt; 40000</a:t>
            </a:r>
            <a:endParaRPr lang="en-US" altLang="zh-CN" sz="2800" b="1"/>
          </a:p>
          <a:p>
            <a:pPr marL="0" indent="0"/>
            <a:r>
              <a:rPr lang="en-US" altLang="zh-CN" sz="2800" b="1">
                <a:latin typeface="Symbol" panose="05050102010706020507" pitchFamily="18" charset="2"/>
              </a:rPr>
              <a:t></a:t>
            </a:r>
            <a:r>
              <a:rPr lang="en-US" altLang="zh-CN" sz="2800" b="1"/>
              <a:t> = 0.05</a:t>
            </a:r>
            <a:endParaRPr lang="en-US" altLang="zh-CN" sz="2800" b="1"/>
          </a:p>
          <a:p>
            <a:pPr marL="0" indent="0"/>
            <a:r>
              <a:rPr lang="en-US" altLang="zh-CN" sz="2800" b="1"/>
              <a:t>df = 20 - 1 = 19</a:t>
            </a:r>
            <a:endParaRPr lang="en-US" altLang="zh-CN" sz="2800" b="1"/>
          </a:p>
          <a:p>
            <a:pPr marL="0" indent="0">
              <a:spcBef>
                <a:spcPct val="18000"/>
              </a:spcBef>
            </a:pPr>
            <a:r>
              <a:rPr lang="zh-CN" altLang="en-US" sz="2800" b="1"/>
              <a:t>临界值</a:t>
            </a:r>
            <a:r>
              <a:rPr lang="en-US" altLang="zh-CN" sz="2800" b="1"/>
              <a:t>(s):</a:t>
            </a:r>
            <a:endParaRPr lang="en-US" altLang="zh-CN" sz="2800" b="1"/>
          </a:p>
          <a:p>
            <a:pPr marL="0" indent="0"/>
            <a:endParaRPr lang="en-US" altLang="zh-CN" sz="2800" b="1"/>
          </a:p>
        </p:txBody>
      </p:sp>
      <p:sp>
        <p:nvSpPr>
          <p:cNvPr id="305157" name="Rectangle 5"/>
          <p:cNvSpPr>
            <a:spLocks noChangeArrowheads="1"/>
          </p:cNvSpPr>
          <p:nvPr/>
        </p:nvSpPr>
        <p:spPr bwMode="auto">
          <a:xfrm>
            <a:off x="5668963" y="1790700"/>
            <a:ext cx="3733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effectLst>
                  <a:outerShdw blurRad="38100" dist="38100" dir="2700000" algn="tl">
                    <a:srgbClr val="000000"/>
                  </a:outerShdw>
                </a:effectLst>
                <a:latin typeface="Arial" panose="020B0604020202090204" pitchFamily="34" charset="0"/>
              </a:rPr>
              <a:t>检验统计量</a:t>
            </a:r>
            <a:r>
              <a:rPr lang="en-US" altLang="zh-CN" sz="2800" b="1">
                <a:effectLst>
                  <a:outerShdw blurRad="38100" dist="38100" dir="2700000" algn="tl">
                    <a:srgbClr val="000000"/>
                  </a:outerShdw>
                </a:effectLst>
                <a:latin typeface="Arial" panose="020B0604020202090204" pitchFamily="34" charset="0"/>
              </a:rPr>
              <a:t>:</a:t>
            </a:r>
            <a:endParaRPr lang="en-US" altLang="zh-CN" sz="2800" b="1">
              <a:effectLst>
                <a:outerShdw blurRad="38100" dist="38100" dir="2700000" algn="tl">
                  <a:srgbClr val="000000"/>
                </a:outerShdw>
              </a:effectLst>
              <a:latin typeface="Arial" panose="020B0604020202090204" pitchFamily="34" charset="0"/>
            </a:endParaRPr>
          </a:p>
        </p:txBody>
      </p:sp>
      <p:sp>
        <p:nvSpPr>
          <p:cNvPr id="305159" name="Rectangle 7"/>
          <p:cNvSpPr>
            <a:spLocks noChangeArrowheads="1"/>
          </p:cNvSpPr>
          <p:nvPr/>
        </p:nvSpPr>
        <p:spPr bwMode="auto">
          <a:xfrm>
            <a:off x="5734051" y="4343400"/>
            <a:ext cx="4652963"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altLang="zh-CN" sz="2800">
                <a:effectLst>
                  <a:outerShdw blurRad="38100" dist="38100" dir="2700000" algn="tl">
                    <a:srgbClr val="000000"/>
                  </a:outerShdw>
                </a:effectLst>
              </a:rPr>
              <a:t> </a:t>
            </a:r>
            <a:r>
              <a:rPr lang="zh-CN" altLang="en-US">
                <a:effectLst>
                  <a:outerShdw blurRad="38100" dist="38100" dir="2700000" algn="tl">
                    <a:srgbClr val="000000"/>
                  </a:outerShdw>
                </a:effectLst>
              </a:rPr>
              <a:t>在</a:t>
            </a:r>
            <a:r>
              <a:rPr lang="zh-CN" altLang="en-US">
                <a:effectLst>
                  <a:outerShdw blurRad="38100" dist="38100" dir="2700000" algn="tl">
                    <a:srgbClr val="000000"/>
                  </a:outerShdw>
                </a:effectLst>
                <a:latin typeface="Symbol" panose="05050102010706020507" pitchFamily="18" charset="2"/>
              </a:rPr>
              <a:t></a:t>
            </a:r>
            <a:r>
              <a:rPr lang="zh-CN" altLang="en-US">
                <a:effectLst>
                  <a:outerShdw blurRad="38100" dist="38100" dir="2700000" algn="tl">
                    <a:srgbClr val="000000"/>
                  </a:outerShdw>
                </a:effectLst>
              </a:rPr>
              <a:t> </a:t>
            </a:r>
            <a:r>
              <a:rPr lang="en-US" altLang="zh-CN">
                <a:effectLst>
                  <a:outerShdw blurRad="38100" dist="38100" dir="2700000" algn="tl">
                    <a:srgbClr val="000000"/>
                  </a:outerShdw>
                </a:effectLst>
              </a:rPr>
              <a:t>= 0.05</a:t>
            </a:r>
            <a:r>
              <a:rPr lang="zh-CN" altLang="en-US">
                <a:effectLst>
                  <a:outerShdw blurRad="38100" dist="38100" dir="2700000" algn="tl">
                    <a:srgbClr val="000000"/>
                  </a:outerShdw>
                </a:effectLst>
              </a:rPr>
              <a:t>的水平上不拒绝</a:t>
            </a:r>
            <a:r>
              <a:rPr lang="en-US" altLang="zh-CN">
                <a:effectLst>
                  <a:outerShdw blurRad="38100" dist="38100" dir="2700000" algn="tl">
                    <a:srgbClr val="000000"/>
                  </a:outerShdw>
                </a:effectLst>
              </a:rPr>
              <a:t>H</a:t>
            </a:r>
            <a:r>
              <a:rPr lang="en-US" altLang="zh-CN" baseline="-25000">
                <a:effectLst>
                  <a:outerShdw blurRad="38100" dist="38100" dir="2700000" algn="tl">
                    <a:srgbClr val="000000"/>
                  </a:outerShdw>
                </a:effectLst>
              </a:rPr>
              <a:t>0</a:t>
            </a:r>
            <a:endParaRPr lang="en-US" altLang="zh-CN">
              <a:effectLst>
                <a:outerShdw blurRad="38100" dist="38100" dir="2700000" algn="tl">
                  <a:srgbClr val="000000"/>
                </a:outerShdw>
              </a:effectLst>
            </a:endParaRPr>
          </a:p>
        </p:txBody>
      </p:sp>
      <p:sp>
        <p:nvSpPr>
          <p:cNvPr id="305160" name="Rectangle 8"/>
          <p:cNvSpPr>
            <a:spLocks noChangeArrowheads="1"/>
          </p:cNvSpPr>
          <p:nvPr/>
        </p:nvSpPr>
        <p:spPr bwMode="auto">
          <a:xfrm>
            <a:off x="5810250" y="5486400"/>
            <a:ext cx="434340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zh-CN" altLang="en-US">
                <a:effectLst>
                  <a:outerShdw blurRad="38100" dist="38100" dir="2700000" algn="tl">
                    <a:srgbClr val="000000"/>
                  </a:outerShdw>
                </a:effectLst>
              </a:rPr>
              <a:t>不能认为制造商的产品同他所说的标准不相符</a:t>
            </a:r>
            <a:endParaRPr lang="zh-CN" altLang="en-US">
              <a:effectLst>
                <a:outerShdw blurRad="38100" dist="38100" dir="2700000" algn="tl">
                  <a:srgbClr val="000000"/>
                </a:outerShdw>
              </a:effectLst>
            </a:endParaRPr>
          </a:p>
        </p:txBody>
      </p:sp>
      <p:sp>
        <p:nvSpPr>
          <p:cNvPr id="305161" name="Text Box 9"/>
          <p:cNvSpPr txBox="1">
            <a:spLocks noChangeArrowheads="1"/>
          </p:cNvSpPr>
          <p:nvPr/>
        </p:nvSpPr>
        <p:spPr bwMode="auto">
          <a:xfrm>
            <a:off x="5668963" y="3886201"/>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ffectLst>
                  <a:outerShdw blurRad="38100" dist="38100" dir="2700000" algn="tl">
                    <a:srgbClr val="000000"/>
                  </a:outerShdw>
                </a:effectLst>
              </a:rPr>
              <a:t>决策</a:t>
            </a:r>
            <a:r>
              <a:rPr lang="en-US" altLang="zh-CN" sz="2800" b="1">
                <a:effectLst>
                  <a:outerShdw blurRad="38100" dist="38100" dir="2700000" algn="tl">
                    <a:srgbClr val="000000"/>
                  </a:outerShdw>
                </a:effectLst>
              </a:rPr>
              <a:t>:</a:t>
            </a:r>
            <a:r>
              <a:rPr lang="en-US" altLang="zh-CN">
                <a:effectLst>
                  <a:outerShdw blurRad="38100" dist="38100" dir="2700000" algn="tl">
                    <a:srgbClr val="000000"/>
                  </a:outerShdw>
                </a:effectLst>
              </a:rPr>
              <a:t> </a:t>
            </a:r>
            <a:endParaRPr lang="en-US" altLang="zh-CN">
              <a:effectLst>
                <a:outerShdw blurRad="38100" dist="38100" dir="2700000" algn="tl">
                  <a:srgbClr val="000000"/>
                </a:outerShdw>
              </a:effectLst>
            </a:endParaRPr>
          </a:p>
        </p:txBody>
      </p:sp>
      <p:sp>
        <p:nvSpPr>
          <p:cNvPr id="305162" name="Text Box 10"/>
          <p:cNvSpPr txBox="1">
            <a:spLocks noChangeArrowheads="1"/>
          </p:cNvSpPr>
          <p:nvPr/>
        </p:nvSpPr>
        <p:spPr bwMode="auto">
          <a:xfrm>
            <a:off x="5668963" y="4953001"/>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ffectLst>
                  <a:outerShdw blurRad="38100" dist="38100" dir="2700000" algn="tl">
                    <a:srgbClr val="000000"/>
                  </a:outerShdw>
                </a:effectLst>
              </a:rPr>
              <a:t>结论</a:t>
            </a:r>
            <a:r>
              <a:rPr lang="en-US" altLang="zh-CN" sz="2800" b="1">
                <a:effectLst>
                  <a:outerShdw blurRad="38100" dist="38100" dir="2700000" algn="tl">
                    <a:srgbClr val="000000"/>
                  </a:outerShdw>
                </a:effectLst>
              </a:rPr>
              <a:t>:</a:t>
            </a:r>
            <a:r>
              <a:rPr lang="en-US" altLang="zh-CN">
                <a:effectLst>
                  <a:outerShdw blurRad="38100" dist="38100" dir="2700000" algn="tl">
                    <a:srgbClr val="000000"/>
                  </a:outerShdw>
                </a:effectLst>
              </a:rPr>
              <a:t> </a:t>
            </a:r>
            <a:endParaRPr lang="en-US" altLang="zh-CN">
              <a:effectLst>
                <a:outerShdw blurRad="38100" dist="38100" dir="2700000" algn="tl">
                  <a:srgbClr val="000000"/>
                </a:outerShdw>
              </a:effectLst>
            </a:endParaRPr>
          </a:p>
        </p:txBody>
      </p:sp>
      <mc:AlternateContent xmlns:mc="http://schemas.openxmlformats.org/markup-compatibility/2006">
        <mc:Choice xmlns:a14="http://schemas.microsoft.com/office/drawing/2010/main" Requires="a14">
          <p:sp>
            <p:nvSpPr>
              <p:cNvPr id="305218" name="Object 66">
                <a:hlinkClick r:id="" action="ppaction://ole?verb=0"/>
              </p:cNvPr>
              <p:cNvSpPr txBox="1"/>
              <p:nvPr/>
            </p:nvSpPr>
            <p:spPr bwMode="auto">
              <a:xfrm>
                <a:off x="5799138" y="2200275"/>
                <a:ext cx="3587750" cy="1797050"/>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smtClean="0">
                          <a:solidFill>
                            <a:schemeClr val="tx1"/>
                          </a:solidFill>
                          <a:latin typeface="Cambria Math" panose="02040503050406030204" pitchFamily="18" charset="0"/>
                        </a:rPr>
                        <m:t>𝑡</m:t>
                      </m:r>
                      <m:r>
                        <m:rPr>
                          <m:aln/>
                        </m:rPr>
                        <a:rPr lang="zh-CN" altLang="en-US" i="1">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acc>
                            <m:accPr>
                              <m:chr m:val="̄"/>
                              <m:ctrlPr>
                                <a:rPr lang="zh-CN" altLang="en-US" i="1">
                                  <a:solidFill>
                                    <a:schemeClr val="tx1"/>
                                  </a:solidFill>
                                  <a:latin typeface="Cambria Math" panose="02040503050406030204" pitchFamily="18" charset="0"/>
                                </a:rPr>
                              </m:ctrlPr>
                            </m:accPr>
                            <m:e>
                              <m:r>
                                <a:rPr lang="zh-CN" altLang="en-US" i="1">
                                  <a:solidFill>
                                    <a:schemeClr val="tx1"/>
                                  </a:solidFill>
                                  <a:latin typeface="Cambria Math" panose="02040503050406030204" pitchFamily="18" charset="0"/>
                                </a:rPr>
                                <m:t>𝑥</m:t>
                              </m:r>
                            </m:e>
                          </m:acc>
                          <m:r>
                            <a:rPr lang="zh-CN" altLang="en-US" i="1">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𝜇</m:t>
                              </m:r>
                            </m:e>
                            <m:sub>
                              <m:r>
                                <a:rPr lang="zh-CN" altLang="en-US" i="1">
                                  <a:solidFill>
                                    <a:schemeClr val="tx1"/>
                                  </a:solidFill>
                                  <a:latin typeface="Cambria Math" panose="02040503050406030204" pitchFamily="18" charset="0"/>
                                </a:rPr>
                                <m:t>0</m:t>
                              </m:r>
                            </m:sub>
                          </m:sSub>
                        </m:num>
                        <m:den>
                          <m:f>
                            <m:fPr>
                              <m:type m:val="lin"/>
                              <m:ctrlPr>
                                <a:rPr lang="zh-CN" altLang="en-US" i="1">
                                  <a:solidFill>
                                    <a:schemeClr val="tx1"/>
                                  </a:solidFill>
                                  <a:latin typeface="Cambria Math" panose="02040503050406030204" pitchFamily="18" charset="0"/>
                                </a:rPr>
                              </m:ctrlPr>
                            </m:fPr>
                            <m:num>
                              <m:r>
                                <a:rPr lang="zh-CN" altLang="en-US" i="1">
                                  <a:solidFill>
                                    <a:schemeClr val="tx1"/>
                                  </a:solidFill>
                                  <a:latin typeface="Cambria Math" panose="02040503050406030204" pitchFamily="18" charset="0"/>
                                </a:rPr>
                                <m:t>𝑠</m:t>
                              </m:r>
                            </m:num>
                            <m:den>
                              <m:rad>
                                <m:radPr>
                                  <m:degHide m:val="on"/>
                                  <m:ctrlPr>
                                    <a:rPr lang="zh-CN" altLang="en-US" i="1">
                                      <a:solidFill>
                                        <a:schemeClr val="tx1"/>
                                      </a:solidFill>
                                      <a:latin typeface="Cambria Math" panose="02040503050406030204" pitchFamily="18" charset="0"/>
                                    </a:rPr>
                                  </m:ctrlPr>
                                </m:radPr>
                                <m:deg/>
                                <m:e>
                                  <m:r>
                                    <a:rPr lang="zh-CN" altLang="en-US" i="1">
                                      <a:solidFill>
                                        <a:schemeClr val="tx1"/>
                                      </a:solidFill>
                                      <a:latin typeface="Cambria Math" panose="02040503050406030204" pitchFamily="18" charset="0"/>
                                    </a:rPr>
                                    <m:t>𝑛</m:t>
                                  </m:r>
                                </m:e>
                              </m:rad>
                            </m:den>
                          </m:f>
                        </m:den>
                      </m:f>
                    </m:oMath>
                    <m:oMath xmlns:m="http://schemas.openxmlformats.org/officeDocument/2006/math">
                      <m:r>
                        <m:rPr>
                          <m:aln/>
                        </m:rPr>
                        <a:rPr lang="zh-CN" altLang="en-US" i="1">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r>
                            <a:rPr lang="zh-CN" altLang="en-US" i="1">
                              <a:solidFill>
                                <a:schemeClr val="tx1"/>
                              </a:solidFill>
                              <a:latin typeface="Cambria Math" panose="02040503050406030204" pitchFamily="18" charset="0"/>
                            </a:rPr>
                            <m:t>41000</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40000</m:t>
                          </m:r>
                        </m:num>
                        <m:den>
                          <m:f>
                            <m:fPr>
                              <m:type m:val="lin"/>
                              <m:ctrlPr>
                                <a:rPr lang="zh-CN" altLang="en-US" i="1">
                                  <a:solidFill>
                                    <a:schemeClr val="tx1"/>
                                  </a:solidFill>
                                  <a:latin typeface="Cambria Math" panose="02040503050406030204" pitchFamily="18" charset="0"/>
                                </a:rPr>
                              </m:ctrlPr>
                            </m:fPr>
                            <m:num>
                              <m:r>
                                <a:rPr lang="zh-CN" altLang="en-US" i="1">
                                  <a:solidFill>
                                    <a:schemeClr val="tx1"/>
                                  </a:solidFill>
                                  <a:latin typeface="Cambria Math" panose="02040503050406030204" pitchFamily="18" charset="0"/>
                                </a:rPr>
                                <m:t>5000</m:t>
                              </m:r>
                            </m:num>
                            <m:den>
                              <m:rad>
                                <m:radPr>
                                  <m:degHide m:val="on"/>
                                  <m:ctrlPr>
                                    <a:rPr lang="zh-CN" altLang="en-US" i="1">
                                      <a:solidFill>
                                        <a:schemeClr val="tx1"/>
                                      </a:solidFill>
                                      <a:latin typeface="Cambria Math" panose="02040503050406030204" pitchFamily="18" charset="0"/>
                                    </a:rPr>
                                  </m:ctrlPr>
                                </m:radPr>
                                <m:deg/>
                                <m:e>
                                  <m:r>
                                    <a:rPr lang="zh-CN" altLang="en-US" i="1">
                                      <a:solidFill>
                                        <a:schemeClr val="tx1"/>
                                      </a:solidFill>
                                      <a:latin typeface="Cambria Math" panose="02040503050406030204" pitchFamily="18" charset="0"/>
                                    </a:rPr>
                                    <m:t>20</m:t>
                                  </m:r>
                                </m:e>
                              </m:rad>
                            </m:den>
                          </m:f>
                        </m:den>
                      </m:f>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0</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894</m:t>
                      </m:r>
                    </m:oMath>
                  </m:oMathPara>
                </a14:m>
                <a:endParaRPr lang="zh-CN" altLang="en-US" dirty="0">
                  <a:solidFill>
                    <a:schemeClr val="tx1"/>
                  </a:solidFill>
                </a:endParaRPr>
              </a:p>
            </p:txBody>
          </p:sp>
        </mc:Choice>
        <mc:Fallback>
          <p:sp>
            <p:nvSpPr>
              <p:cNvPr id="305218" name="Object 66">
                <a:hlinkClick r:id="" action="ppaction://ole?verb=0"/>
              </p:cNvPr>
              <p:cNvSpPr txBox="1">
                <a:spLocks noRot="1" noChangeAspect="1" noMove="1" noResize="1" noEditPoints="1" noAdjustHandles="1" noChangeArrowheads="1" noChangeShapeType="1" noTextEdit="1"/>
              </p:cNvSpPr>
              <p:nvPr/>
            </p:nvSpPr>
            <p:spPr bwMode="auto">
              <a:xfrm>
                <a:off x="5799138" y="2200275"/>
                <a:ext cx="3587750" cy="1797050"/>
              </a:xfrm>
              <a:prstGeom prst="rect">
                <a:avLst/>
              </a:prstGeom>
              <a:blipFill rotWithShape="1">
                <a:blip r:embed="rId1"/>
                <a:stretch>
                  <a:fillRect l="-9" r="-345" b="-707"/>
                </a:stretch>
              </a:blipFill>
              <a:ln>
                <a:noFill/>
              </a:ln>
              <a:effectLst>
                <a:outerShdw dist="17961" dir="2700000" algn="ctr" rotWithShape="0">
                  <a:schemeClr val="bg2"/>
                </a:outerShdw>
              </a:effectLst>
            </p:spPr>
            <p:txBody>
              <a:bodyPr/>
              <a:lstStyle/>
              <a:p>
                <a:r>
                  <a:rPr lang="zh-CN" altLang="en-US">
                    <a:noFill/>
                  </a:rPr>
                  <a:t> </a:t>
                </a:r>
              </a:p>
            </p:txBody>
          </p:sp>
        </mc:Fallback>
      </mc:AlternateContent>
      <p:grpSp>
        <p:nvGrpSpPr>
          <p:cNvPr id="305264" name="Group 112"/>
          <p:cNvGrpSpPr/>
          <p:nvPr/>
        </p:nvGrpSpPr>
        <p:grpSpPr bwMode="auto">
          <a:xfrm>
            <a:off x="2255839" y="4379913"/>
            <a:ext cx="2922587" cy="1871662"/>
            <a:chOff x="461" y="2735"/>
            <a:chExt cx="1841" cy="1179"/>
          </a:xfrm>
        </p:grpSpPr>
        <p:sp>
          <p:nvSpPr>
            <p:cNvPr id="305220" name="Text Box 68"/>
            <p:cNvSpPr txBox="1">
              <a:spLocks noChangeArrowheads="1"/>
            </p:cNvSpPr>
            <p:nvPr/>
          </p:nvSpPr>
          <p:spPr bwMode="auto">
            <a:xfrm>
              <a:off x="670" y="3642"/>
              <a:ext cx="69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a:effectLst>
                    <a:outerShdw blurRad="38100" dist="38100" dir="2700000" algn="tl">
                      <a:srgbClr val="000000"/>
                    </a:outerShdw>
                  </a:effectLst>
                </a:rPr>
                <a:t>-1.7291</a:t>
              </a:r>
              <a:endParaRPr lang="en-US" altLang="zh-CN" sz="2000">
                <a:effectLst>
                  <a:outerShdw blurRad="38100" dist="38100" dir="2700000" algn="tl">
                    <a:srgbClr val="000000"/>
                  </a:outerShdw>
                </a:effectLst>
              </a:endParaRPr>
            </a:p>
          </p:txBody>
        </p:sp>
        <p:sp>
          <p:nvSpPr>
            <p:cNvPr id="305221" name="Line 69"/>
            <p:cNvSpPr>
              <a:spLocks noChangeShapeType="1"/>
            </p:cNvSpPr>
            <p:nvPr/>
          </p:nvSpPr>
          <p:spPr bwMode="auto">
            <a:xfrm>
              <a:off x="1377" y="2796"/>
              <a:ext cx="0" cy="855"/>
            </a:xfrm>
            <a:prstGeom prst="line">
              <a:avLst/>
            </a:prstGeom>
            <a:noFill/>
            <a:ln w="17463">
              <a:solidFill>
                <a:schemeClr val="tx1"/>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05222" name="Freeform 70" descr="60%"/>
            <p:cNvSpPr/>
            <p:nvPr/>
          </p:nvSpPr>
          <p:spPr bwMode="auto">
            <a:xfrm>
              <a:off x="510" y="3213"/>
              <a:ext cx="552" cy="451"/>
            </a:xfrm>
            <a:custGeom>
              <a:avLst/>
              <a:gdLst>
                <a:gd name="T0" fmla="*/ 447 w 447"/>
                <a:gd name="T1" fmla="*/ 0 h 436"/>
                <a:gd name="T2" fmla="*/ 447 w 447"/>
                <a:gd name="T3" fmla="*/ 436 h 436"/>
                <a:gd name="T4" fmla="*/ 0 w 447"/>
                <a:gd name="T5" fmla="*/ 436 h 436"/>
                <a:gd name="T6" fmla="*/ 54 w 447"/>
                <a:gd name="T7" fmla="*/ 412 h 436"/>
                <a:gd name="T8" fmla="*/ 106 w 447"/>
                <a:gd name="T9" fmla="*/ 386 h 436"/>
                <a:gd name="T10" fmla="*/ 156 w 447"/>
                <a:gd name="T11" fmla="*/ 355 h 436"/>
                <a:gd name="T12" fmla="*/ 203 w 447"/>
                <a:gd name="T13" fmla="*/ 321 h 436"/>
                <a:gd name="T14" fmla="*/ 248 w 447"/>
                <a:gd name="T15" fmla="*/ 284 h 436"/>
                <a:gd name="T16" fmla="*/ 290 w 447"/>
                <a:gd name="T17" fmla="*/ 243 h 436"/>
                <a:gd name="T18" fmla="*/ 329 w 447"/>
                <a:gd name="T19" fmla="*/ 199 h 436"/>
                <a:gd name="T20" fmla="*/ 364 w 447"/>
                <a:gd name="T21" fmla="*/ 152 h 436"/>
                <a:gd name="T22" fmla="*/ 395 w 447"/>
                <a:gd name="T23" fmla="*/ 104 h 436"/>
                <a:gd name="T24" fmla="*/ 423 w 447"/>
                <a:gd name="T25" fmla="*/ 54 h 436"/>
                <a:gd name="T26" fmla="*/ 447 w 447"/>
                <a:gd name="T27"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7" h="436">
                  <a:moveTo>
                    <a:pt x="447" y="0"/>
                  </a:moveTo>
                  <a:lnTo>
                    <a:pt x="447" y="436"/>
                  </a:lnTo>
                  <a:lnTo>
                    <a:pt x="0" y="436"/>
                  </a:lnTo>
                  <a:lnTo>
                    <a:pt x="54" y="412"/>
                  </a:lnTo>
                  <a:lnTo>
                    <a:pt x="106" y="386"/>
                  </a:lnTo>
                  <a:lnTo>
                    <a:pt x="156" y="355"/>
                  </a:lnTo>
                  <a:lnTo>
                    <a:pt x="203" y="321"/>
                  </a:lnTo>
                  <a:lnTo>
                    <a:pt x="248" y="284"/>
                  </a:lnTo>
                  <a:lnTo>
                    <a:pt x="290" y="243"/>
                  </a:lnTo>
                  <a:lnTo>
                    <a:pt x="329" y="199"/>
                  </a:lnTo>
                  <a:lnTo>
                    <a:pt x="364" y="152"/>
                  </a:lnTo>
                  <a:lnTo>
                    <a:pt x="395" y="104"/>
                  </a:lnTo>
                  <a:lnTo>
                    <a:pt x="423" y="54"/>
                  </a:lnTo>
                  <a:lnTo>
                    <a:pt x="447"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305223" name="Group 71"/>
            <p:cNvGrpSpPr/>
            <p:nvPr/>
          </p:nvGrpSpPr>
          <p:grpSpPr bwMode="auto">
            <a:xfrm>
              <a:off x="484" y="2782"/>
              <a:ext cx="1784" cy="844"/>
              <a:chOff x="472" y="2857"/>
              <a:chExt cx="1808" cy="838"/>
            </a:xfrm>
          </p:grpSpPr>
          <p:sp>
            <p:nvSpPr>
              <p:cNvPr id="305224" name="Freeform 72"/>
              <p:cNvSpPr/>
              <p:nvPr/>
            </p:nvSpPr>
            <p:spPr bwMode="auto">
              <a:xfrm>
                <a:off x="1376" y="2857"/>
                <a:ext cx="904" cy="838"/>
              </a:xfrm>
              <a:custGeom>
                <a:avLst/>
                <a:gdLst>
                  <a:gd name="T0" fmla="*/ 904 w 904"/>
                  <a:gd name="T1" fmla="*/ 838 h 838"/>
                  <a:gd name="T2" fmla="*/ 809 w 904"/>
                  <a:gd name="T3" fmla="*/ 828 h 838"/>
                  <a:gd name="T4" fmla="*/ 762 w 904"/>
                  <a:gd name="T5" fmla="*/ 818 h 838"/>
                  <a:gd name="T6" fmla="*/ 714 w 904"/>
                  <a:gd name="T7" fmla="*/ 805 h 838"/>
                  <a:gd name="T8" fmla="*/ 667 w 904"/>
                  <a:gd name="T9" fmla="*/ 785 h 838"/>
                  <a:gd name="T10" fmla="*/ 619 w 904"/>
                  <a:gd name="T11" fmla="*/ 759 h 838"/>
                  <a:gd name="T12" fmla="*/ 572 w 904"/>
                  <a:gd name="T13" fmla="*/ 724 h 838"/>
                  <a:gd name="T14" fmla="*/ 476 w 904"/>
                  <a:gd name="T15" fmla="*/ 627 h 838"/>
                  <a:gd name="T16" fmla="*/ 381 w 904"/>
                  <a:gd name="T17" fmla="*/ 491 h 838"/>
                  <a:gd name="T18" fmla="*/ 286 w 904"/>
                  <a:gd name="T19" fmla="*/ 326 h 838"/>
                  <a:gd name="T20" fmla="*/ 239 w 904"/>
                  <a:gd name="T21" fmla="*/ 243 h 838"/>
                  <a:gd name="T22" fmla="*/ 191 w 904"/>
                  <a:gd name="T23" fmla="*/ 165 h 838"/>
                  <a:gd name="T24" fmla="*/ 144 w 904"/>
                  <a:gd name="T25" fmla="*/ 98 h 838"/>
                  <a:gd name="T26" fmla="*/ 95 w 904"/>
                  <a:gd name="T27" fmla="*/ 44 h 838"/>
                  <a:gd name="T28" fmla="*/ 48 w 904"/>
                  <a:gd name="T29" fmla="*/ 11 h 838"/>
                  <a:gd name="T30" fmla="*/ 0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904" y="838"/>
                    </a:moveTo>
                    <a:lnTo>
                      <a:pt x="809" y="828"/>
                    </a:lnTo>
                    <a:lnTo>
                      <a:pt x="762" y="818"/>
                    </a:lnTo>
                    <a:lnTo>
                      <a:pt x="714" y="805"/>
                    </a:lnTo>
                    <a:lnTo>
                      <a:pt x="667" y="785"/>
                    </a:lnTo>
                    <a:lnTo>
                      <a:pt x="619" y="759"/>
                    </a:lnTo>
                    <a:lnTo>
                      <a:pt x="572" y="724"/>
                    </a:lnTo>
                    <a:lnTo>
                      <a:pt x="476" y="627"/>
                    </a:lnTo>
                    <a:lnTo>
                      <a:pt x="381" y="491"/>
                    </a:lnTo>
                    <a:lnTo>
                      <a:pt x="286" y="326"/>
                    </a:lnTo>
                    <a:lnTo>
                      <a:pt x="239" y="243"/>
                    </a:lnTo>
                    <a:lnTo>
                      <a:pt x="191" y="165"/>
                    </a:lnTo>
                    <a:lnTo>
                      <a:pt x="144" y="98"/>
                    </a:lnTo>
                    <a:lnTo>
                      <a:pt x="95" y="44"/>
                    </a:lnTo>
                    <a:lnTo>
                      <a:pt x="48" y="11"/>
                    </a:lnTo>
                    <a:lnTo>
                      <a:pt x="0"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5225" name="Freeform 73"/>
              <p:cNvSpPr/>
              <p:nvPr/>
            </p:nvSpPr>
            <p:spPr bwMode="auto">
              <a:xfrm>
                <a:off x="472" y="2857"/>
                <a:ext cx="904" cy="838"/>
              </a:xfrm>
              <a:custGeom>
                <a:avLst/>
                <a:gdLst>
                  <a:gd name="T0" fmla="*/ 0 w 904"/>
                  <a:gd name="T1" fmla="*/ 838 h 838"/>
                  <a:gd name="T2" fmla="*/ 95 w 904"/>
                  <a:gd name="T3" fmla="*/ 828 h 838"/>
                  <a:gd name="T4" fmla="*/ 144 w 904"/>
                  <a:gd name="T5" fmla="*/ 818 h 838"/>
                  <a:gd name="T6" fmla="*/ 191 w 904"/>
                  <a:gd name="T7" fmla="*/ 805 h 838"/>
                  <a:gd name="T8" fmla="*/ 238 w 904"/>
                  <a:gd name="T9" fmla="*/ 785 h 838"/>
                  <a:gd name="T10" fmla="*/ 286 w 904"/>
                  <a:gd name="T11" fmla="*/ 759 h 838"/>
                  <a:gd name="T12" fmla="*/ 333 w 904"/>
                  <a:gd name="T13" fmla="*/ 724 h 838"/>
                  <a:gd name="T14" fmla="*/ 429 w 904"/>
                  <a:gd name="T15" fmla="*/ 627 h 838"/>
                  <a:gd name="T16" fmla="*/ 523 w 904"/>
                  <a:gd name="T17" fmla="*/ 491 h 838"/>
                  <a:gd name="T18" fmla="*/ 619 w 904"/>
                  <a:gd name="T19" fmla="*/ 326 h 838"/>
                  <a:gd name="T20" fmla="*/ 667 w 904"/>
                  <a:gd name="T21" fmla="*/ 243 h 838"/>
                  <a:gd name="T22" fmla="*/ 714 w 904"/>
                  <a:gd name="T23" fmla="*/ 165 h 838"/>
                  <a:gd name="T24" fmla="*/ 762 w 904"/>
                  <a:gd name="T25" fmla="*/ 98 h 838"/>
                  <a:gd name="T26" fmla="*/ 809 w 904"/>
                  <a:gd name="T27" fmla="*/ 44 h 838"/>
                  <a:gd name="T28" fmla="*/ 857 w 904"/>
                  <a:gd name="T29" fmla="*/ 11 h 838"/>
                  <a:gd name="T30" fmla="*/ 904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0" y="838"/>
                    </a:moveTo>
                    <a:lnTo>
                      <a:pt x="95" y="828"/>
                    </a:lnTo>
                    <a:lnTo>
                      <a:pt x="144" y="818"/>
                    </a:lnTo>
                    <a:lnTo>
                      <a:pt x="191" y="805"/>
                    </a:lnTo>
                    <a:lnTo>
                      <a:pt x="238" y="785"/>
                    </a:lnTo>
                    <a:lnTo>
                      <a:pt x="286" y="759"/>
                    </a:lnTo>
                    <a:lnTo>
                      <a:pt x="333" y="724"/>
                    </a:lnTo>
                    <a:lnTo>
                      <a:pt x="429" y="627"/>
                    </a:lnTo>
                    <a:lnTo>
                      <a:pt x="523" y="491"/>
                    </a:lnTo>
                    <a:lnTo>
                      <a:pt x="619" y="326"/>
                    </a:lnTo>
                    <a:lnTo>
                      <a:pt x="667" y="243"/>
                    </a:lnTo>
                    <a:lnTo>
                      <a:pt x="714" y="165"/>
                    </a:lnTo>
                    <a:lnTo>
                      <a:pt x="762" y="98"/>
                    </a:lnTo>
                    <a:lnTo>
                      <a:pt x="809" y="44"/>
                    </a:lnTo>
                    <a:lnTo>
                      <a:pt x="857" y="11"/>
                    </a:lnTo>
                    <a:lnTo>
                      <a:pt x="904"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05226" name="Line 74"/>
            <p:cNvSpPr>
              <a:spLocks noChangeShapeType="1"/>
            </p:cNvSpPr>
            <p:nvPr/>
          </p:nvSpPr>
          <p:spPr bwMode="auto">
            <a:xfrm>
              <a:off x="847" y="3624"/>
              <a:ext cx="2" cy="8"/>
            </a:xfrm>
            <a:prstGeom prst="line">
              <a:avLst/>
            </a:prstGeom>
            <a:noFill/>
            <a:ln w="25400">
              <a:solidFill>
                <a:srgbClr val="CDCDCD"/>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5241" name="Rectangle 89"/>
            <p:cNvSpPr>
              <a:spLocks noChangeArrowheads="1"/>
            </p:cNvSpPr>
            <p:nvPr/>
          </p:nvSpPr>
          <p:spPr bwMode="auto">
            <a:xfrm>
              <a:off x="2157" y="3662"/>
              <a:ext cx="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600" b="1">
                  <a:effectLst>
                    <a:outerShdw blurRad="38100" dist="38100" dir="2700000" algn="tl">
                      <a:srgbClr val="000000"/>
                    </a:outerShdw>
                  </a:effectLst>
                </a:rPr>
                <a:t>t</a:t>
              </a:r>
              <a:endParaRPr lang="en-US" altLang="zh-CN" sz="2600" b="1">
                <a:effectLst>
                  <a:outerShdw blurRad="38100" dist="38100" dir="2700000" algn="tl">
                    <a:srgbClr val="000000"/>
                  </a:outerShdw>
                </a:effectLst>
              </a:endParaRPr>
            </a:p>
          </p:txBody>
        </p:sp>
        <p:sp>
          <p:nvSpPr>
            <p:cNvPr id="305242" name="Rectangle 90"/>
            <p:cNvSpPr>
              <a:spLocks noChangeArrowheads="1"/>
            </p:cNvSpPr>
            <p:nvPr/>
          </p:nvSpPr>
          <p:spPr bwMode="auto">
            <a:xfrm>
              <a:off x="1315" y="3659"/>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600">
                  <a:effectLst>
                    <a:outerShdw blurRad="38100" dist="38100" dir="2700000" algn="tl">
                      <a:srgbClr val="000000"/>
                    </a:outerShdw>
                  </a:effectLst>
                </a:rPr>
                <a:t>0</a:t>
              </a:r>
              <a:endParaRPr lang="en-US" altLang="zh-CN" sz="2600">
                <a:effectLst>
                  <a:outerShdw blurRad="38100" dist="38100" dir="2700000" algn="tl">
                    <a:srgbClr val="000000"/>
                  </a:outerShdw>
                </a:effectLst>
              </a:endParaRPr>
            </a:p>
          </p:txBody>
        </p:sp>
        <p:sp>
          <p:nvSpPr>
            <p:cNvPr id="305243" name="Freeform 91"/>
            <p:cNvSpPr/>
            <p:nvPr/>
          </p:nvSpPr>
          <p:spPr bwMode="auto">
            <a:xfrm>
              <a:off x="749" y="3272"/>
              <a:ext cx="199" cy="284"/>
            </a:xfrm>
            <a:custGeom>
              <a:avLst/>
              <a:gdLst>
                <a:gd name="T0" fmla="*/ 0 w 110"/>
                <a:gd name="T1" fmla="*/ 0 h 238"/>
                <a:gd name="T2" fmla="*/ 19 w 110"/>
                <a:gd name="T3" fmla="*/ 1 h 238"/>
                <a:gd name="T4" fmla="*/ 37 w 110"/>
                <a:gd name="T5" fmla="*/ 5 h 238"/>
                <a:gd name="T6" fmla="*/ 52 w 110"/>
                <a:gd name="T7" fmla="*/ 14 h 238"/>
                <a:gd name="T8" fmla="*/ 67 w 110"/>
                <a:gd name="T9" fmla="*/ 25 h 238"/>
                <a:gd name="T10" fmla="*/ 78 w 110"/>
                <a:gd name="T11" fmla="*/ 39 h 238"/>
                <a:gd name="T12" fmla="*/ 86 w 110"/>
                <a:gd name="T13" fmla="*/ 55 h 238"/>
                <a:gd name="T14" fmla="*/ 90 w 110"/>
                <a:gd name="T15" fmla="*/ 73 h 238"/>
                <a:gd name="T16" fmla="*/ 90 w 110"/>
                <a:gd name="T17" fmla="*/ 90 h 238"/>
                <a:gd name="T18" fmla="*/ 86 w 110"/>
                <a:gd name="T19" fmla="*/ 108 h 238"/>
                <a:gd name="T20" fmla="*/ 78 w 110"/>
                <a:gd name="T21" fmla="*/ 124 h 238"/>
                <a:gd name="T22" fmla="*/ 70 w 110"/>
                <a:gd name="T23" fmla="*/ 140 h 238"/>
                <a:gd name="T24" fmla="*/ 67 w 110"/>
                <a:gd name="T25" fmla="*/ 157 h 238"/>
                <a:gd name="T26" fmla="*/ 67 w 110"/>
                <a:gd name="T27" fmla="*/ 175 h 238"/>
                <a:gd name="T28" fmla="*/ 70 w 110"/>
                <a:gd name="T29" fmla="*/ 192 h 238"/>
                <a:gd name="T30" fmla="*/ 79 w 110"/>
                <a:gd name="T31" fmla="*/ 209 h 238"/>
                <a:gd name="T32" fmla="*/ 90 w 110"/>
                <a:gd name="T33" fmla="*/ 222 h 238"/>
                <a:gd name="T34" fmla="*/ 103 w 110"/>
                <a:gd name="T35" fmla="*/ 234 h 238"/>
                <a:gd name="T36" fmla="*/ 110 w 110"/>
                <a:gd name="T3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238">
                  <a:moveTo>
                    <a:pt x="0" y="0"/>
                  </a:moveTo>
                  <a:lnTo>
                    <a:pt x="19" y="1"/>
                  </a:lnTo>
                  <a:lnTo>
                    <a:pt x="37" y="5"/>
                  </a:lnTo>
                  <a:lnTo>
                    <a:pt x="52" y="14"/>
                  </a:lnTo>
                  <a:lnTo>
                    <a:pt x="67" y="25"/>
                  </a:lnTo>
                  <a:lnTo>
                    <a:pt x="78" y="39"/>
                  </a:lnTo>
                  <a:lnTo>
                    <a:pt x="86" y="55"/>
                  </a:lnTo>
                  <a:lnTo>
                    <a:pt x="90" y="73"/>
                  </a:lnTo>
                  <a:lnTo>
                    <a:pt x="90" y="90"/>
                  </a:lnTo>
                  <a:lnTo>
                    <a:pt x="86" y="108"/>
                  </a:lnTo>
                  <a:lnTo>
                    <a:pt x="78" y="124"/>
                  </a:lnTo>
                  <a:lnTo>
                    <a:pt x="70" y="140"/>
                  </a:lnTo>
                  <a:lnTo>
                    <a:pt x="67" y="157"/>
                  </a:lnTo>
                  <a:lnTo>
                    <a:pt x="67" y="175"/>
                  </a:lnTo>
                  <a:lnTo>
                    <a:pt x="70" y="192"/>
                  </a:lnTo>
                  <a:lnTo>
                    <a:pt x="79" y="209"/>
                  </a:lnTo>
                  <a:lnTo>
                    <a:pt x="90" y="222"/>
                  </a:lnTo>
                  <a:lnTo>
                    <a:pt x="103" y="234"/>
                  </a:lnTo>
                  <a:lnTo>
                    <a:pt x="110" y="238"/>
                  </a:lnTo>
                </a:path>
              </a:pathLst>
            </a:custGeom>
            <a:noFill/>
            <a:ln w="12700" cmpd="sng">
              <a:solidFill>
                <a:schemeClr val="tx1"/>
              </a:solidFill>
              <a:prstDash val="solid"/>
              <a:round/>
              <a:headEnd type="none" w="med" len="med"/>
              <a:tailEnd type="triangle" w="med" len="me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5244" name="Rectangle 92"/>
            <p:cNvSpPr>
              <a:spLocks noChangeArrowheads="1"/>
            </p:cNvSpPr>
            <p:nvPr/>
          </p:nvSpPr>
          <p:spPr bwMode="auto">
            <a:xfrm>
              <a:off x="611" y="2735"/>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2000">
                  <a:effectLst>
                    <a:outerShdw blurRad="38100" dist="38100" dir="2700000" algn="tl">
                      <a:srgbClr val="000000"/>
                    </a:outerShdw>
                  </a:effectLst>
                </a:rPr>
                <a:t>拒绝域</a:t>
              </a:r>
              <a:endParaRPr lang="zh-CN" altLang="en-US" sz="2000">
                <a:effectLst>
                  <a:outerShdw blurRad="38100" dist="38100" dir="2700000" algn="tl">
                    <a:srgbClr val="000000"/>
                  </a:outerShdw>
                </a:effectLst>
              </a:endParaRPr>
            </a:p>
          </p:txBody>
        </p:sp>
        <p:sp>
          <p:nvSpPr>
            <p:cNvPr id="305245" name="Line 93"/>
            <p:cNvSpPr>
              <a:spLocks noChangeShapeType="1"/>
            </p:cNvSpPr>
            <p:nvPr/>
          </p:nvSpPr>
          <p:spPr bwMode="auto">
            <a:xfrm>
              <a:off x="766" y="2975"/>
              <a:ext cx="296" cy="1"/>
            </a:xfrm>
            <a:prstGeom prst="line">
              <a:avLst/>
            </a:prstGeom>
            <a:noFill/>
            <a:ln w="17463">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5247" name="Rectangle 95"/>
            <p:cNvSpPr>
              <a:spLocks noChangeArrowheads="1"/>
            </p:cNvSpPr>
            <p:nvPr/>
          </p:nvSpPr>
          <p:spPr bwMode="auto">
            <a:xfrm>
              <a:off x="611" y="3067"/>
              <a:ext cx="21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000">
                  <a:effectLst>
                    <a:outerShdw blurRad="38100" dist="38100" dir="2700000" algn="tl">
                      <a:srgbClr val="000000"/>
                    </a:outerShdw>
                  </a:effectLst>
                  <a:sym typeface="Symbol" panose="05050102010706020507" pitchFamily="18" charset="2"/>
                </a:rPr>
                <a:t>.05</a:t>
              </a:r>
              <a:endParaRPr lang="en-US" altLang="zh-CN" sz="2000">
                <a:effectLst>
                  <a:outerShdw blurRad="38100" dist="38100" dir="2700000" algn="tl">
                    <a:srgbClr val="000000"/>
                  </a:outerShdw>
                </a:effectLst>
              </a:endParaRPr>
            </a:p>
          </p:txBody>
        </p:sp>
        <p:sp>
          <p:nvSpPr>
            <p:cNvPr id="305249" name="Line 97"/>
            <p:cNvSpPr>
              <a:spLocks noChangeShapeType="1"/>
            </p:cNvSpPr>
            <p:nvPr/>
          </p:nvSpPr>
          <p:spPr bwMode="auto">
            <a:xfrm flipH="1">
              <a:off x="1056" y="2976"/>
              <a:ext cx="0" cy="672"/>
            </a:xfrm>
            <a:prstGeom prst="line">
              <a:avLst/>
            </a:prstGeom>
            <a:noFill/>
            <a:ln w="19050">
              <a:solidFill>
                <a:schemeClr val="tx1"/>
              </a:solidFill>
              <a:round/>
            </a:ln>
            <a:effectLst>
              <a:outerShdw dist="28398" dir="3806097"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305250" name="Group 98"/>
            <p:cNvGrpSpPr/>
            <p:nvPr/>
          </p:nvGrpSpPr>
          <p:grpSpPr bwMode="auto">
            <a:xfrm>
              <a:off x="461" y="2966"/>
              <a:ext cx="1841" cy="702"/>
              <a:chOff x="449" y="3003"/>
              <a:chExt cx="1865" cy="697"/>
            </a:xfrm>
          </p:grpSpPr>
          <p:sp>
            <p:nvSpPr>
              <p:cNvPr id="305251" name="Freeform 99"/>
              <p:cNvSpPr/>
              <p:nvPr/>
            </p:nvSpPr>
            <p:spPr bwMode="auto">
              <a:xfrm>
                <a:off x="472" y="3003"/>
                <a:ext cx="1842" cy="689"/>
              </a:xfrm>
              <a:custGeom>
                <a:avLst/>
                <a:gdLst>
                  <a:gd name="T0" fmla="*/ 0 w 1842"/>
                  <a:gd name="T1" fmla="*/ 0 h 689"/>
                  <a:gd name="T2" fmla="*/ 0 w 1842"/>
                  <a:gd name="T3" fmla="*/ 689 h 689"/>
                  <a:gd name="T4" fmla="*/ 1842 w 1842"/>
                  <a:gd name="T5" fmla="*/ 689 h 689"/>
                </a:gdLst>
                <a:ahLst/>
                <a:cxnLst>
                  <a:cxn ang="0">
                    <a:pos x="T0" y="T1"/>
                  </a:cxn>
                  <a:cxn ang="0">
                    <a:pos x="T2" y="T3"/>
                  </a:cxn>
                  <a:cxn ang="0">
                    <a:pos x="T4" y="T5"/>
                  </a:cxn>
                </a:cxnLst>
                <a:rect l="0" t="0" r="r" b="b"/>
                <a:pathLst>
                  <a:path w="1842" h="689">
                    <a:moveTo>
                      <a:pt x="0" y="0"/>
                    </a:moveTo>
                    <a:lnTo>
                      <a:pt x="0" y="689"/>
                    </a:lnTo>
                    <a:lnTo>
                      <a:pt x="1842" y="689"/>
                    </a:lnTo>
                  </a:path>
                </a:pathLst>
              </a:custGeom>
              <a:noFill/>
              <a:ln w="38100" cmpd="sng">
                <a:solidFill>
                  <a:srgbClr val="F0F0F0"/>
                </a:solidFill>
                <a:prstDash val="solid"/>
                <a:rou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05252" name="Group 100"/>
              <p:cNvGrpSpPr/>
              <p:nvPr/>
            </p:nvGrpSpPr>
            <p:grpSpPr bwMode="auto">
              <a:xfrm>
                <a:off x="449" y="3003"/>
                <a:ext cx="209" cy="697"/>
                <a:chOff x="449" y="3003"/>
                <a:chExt cx="209" cy="697"/>
              </a:xfrm>
            </p:grpSpPr>
            <p:sp>
              <p:nvSpPr>
                <p:cNvPr id="305253" name="Line 101"/>
                <p:cNvSpPr>
                  <a:spLocks noChangeShapeType="1"/>
                </p:cNvSpPr>
                <p:nvPr/>
              </p:nvSpPr>
              <p:spPr bwMode="auto">
                <a:xfrm>
                  <a:off x="449" y="3003"/>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05254" name="Line 102"/>
                <p:cNvSpPr>
                  <a:spLocks noChangeShapeType="1"/>
                </p:cNvSpPr>
                <p:nvPr/>
              </p:nvSpPr>
              <p:spPr bwMode="auto">
                <a:xfrm>
                  <a:off x="449" y="3072"/>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05255" name="Line 103"/>
                <p:cNvSpPr>
                  <a:spLocks noChangeShapeType="1"/>
                </p:cNvSpPr>
                <p:nvPr/>
              </p:nvSpPr>
              <p:spPr bwMode="auto">
                <a:xfrm>
                  <a:off x="449" y="3142"/>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05256" name="Line 104"/>
                <p:cNvSpPr>
                  <a:spLocks noChangeShapeType="1"/>
                </p:cNvSpPr>
                <p:nvPr/>
              </p:nvSpPr>
              <p:spPr bwMode="auto">
                <a:xfrm>
                  <a:off x="449" y="3210"/>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05257" name="Line 105"/>
                <p:cNvSpPr>
                  <a:spLocks noChangeShapeType="1"/>
                </p:cNvSpPr>
                <p:nvPr/>
              </p:nvSpPr>
              <p:spPr bwMode="auto">
                <a:xfrm>
                  <a:off x="449" y="3279"/>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05258" name="Line 106"/>
                <p:cNvSpPr>
                  <a:spLocks noChangeShapeType="1"/>
                </p:cNvSpPr>
                <p:nvPr/>
              </p:nvSpPr>
              <p:spPr bwMode="auto">
                <a:xfrm>
                  <a:off x="449" y="3347"/>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05259" name="Line 107"/>
                <p:cNvSpPr>
                  <a:spLocks noChangeShapeType="1"/>
                </p:cNvSpPr>
                <p:nvPr/>
              </p:nvSpPr>
              <p:spPr bwMode="auto">
                <a:xfrm>
                  <a:off x="449" y="3417"/>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05260" name="Line 108"/>
                <p:cNvSpPr>
                  <a:spLocks noChangeShapeType="1"/>
                </p:cNvSpPr>
                <p:nvPr/>
              </p:nvSpPr>
              <p:spPr bwMode="auto">
                <a:xfrm>
                  <a:off x="449" y="3485"/>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05261" name="Line 109"/>
                <p:cNvSpPr>
                  <a:spLocks noChangeShapeType="1"/>
                </p:cNvSpPr>
                <p:nvPr/>
              </p:nvSpPr>
              <p:spPr bwMode="auto">
                <a:xfrm>
                  <a:off x="449" y="3554"/>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05262" name="Line 110"/>
                <p:cNvSpPr>
                  <a:spLocks noChangeShapeType="1"/>
                </p:cNvSpPr>
                <p:nvPr/>
              </p:nvSpPr>
              <p:spPr bwMode="auto">
                <a:xfrm>
                  <a:off x="449" y="3623"/>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05263" name="Line 111"/>
                <p:cNvSpPr>
                  <a:spLocks noChangeShapeType="1"/>
                </p:cNvSpPr>
                <p:nvPr/>
              </p:nvSpPr>
              <p:spPr bwMode="auto">
                <a:xfrm>
                  <a:off x="657" y="3692"/>
                  <a:ext cx="1" cy="8"/>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5156">
                                            <p:txEl>
                                              <p:pRg st="0" end="0"/>
                                            </p:txEl>
                                          </p:spTgt>
                                        </p:tgtEl>
                                        <p:attrNameLst>
                                          <p:attrName>style.visibility</p:attrName>
                                        </p:attrNameLst>
                                      </p:cBhvr>
                                      <p:to>
                                        <p:strVal val="visible"/>
                                      </p:to>
                                    </p:set>
                                    <p:animEffect transition="in" filter="wipe(left)">
                                      <p:cBhvr>
                                        <p:cTn id="7" dur="500"/>
                                        <p:tgtEl>
                                          <p:spTgt spid="3051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5156">
                                            <p:txEl>
                                              <p:pRg st="1" end="1"/>
                                            </p:txEl>
                                          </p:spTgt>
                                        </p:tgtEl>
                                        <p:attrNameLst>
                                          <p:attrName>style.visibility</p:attrName>
                                        </p:attrNameLst>
                                      </p:cBhvr>
                                      <p:to>
                                        <p:strVal val="visible"/>
                                      </p:to>
                                    </p:set>
                                    <p:animEffect transition="in" filter="wipe(left)">
                                      <p:cBhvr>
                                        <p:cTn id="12" dur="500"/>
                                        <p:tgtEl>
                                          <p:spTgt spid="3051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5156">
                                            <p:txEl>
                                              <p:pRg st="2" end="2"/>
                                            </p:txEl>
                                          </p:spTgt>
                                        </p:tgtEl>
                                        <p:attrNameLst>
                                          <p:attrName>style.visibility</p:attrName>
                                        </p:attrNameLst>
                                      </p:cBhvr>
                                      <p:to>
                                        <p:strVal val="visible"/>
                                      </p:to>
                                    </p:set>
                                    <p:animEffect transition="in" filter="wipe(left)">
                                      <p:cBhvr>
                                        <p:cTn id="17" dur="500"/>
                                        <p:tgtEl>
                                          <p:spTgt spid="3051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5156">
                                            <p:txEl>
                                              <p:pRg st="3" end="3"/>
                                            </p:txEl>
                                          </p:spTgt>
                                        </p:tgtEl>
                                        <p:attrNameLst>
                                          <p:attrName>style.visibility</p:attrName>
                                        </p:attrNameLst>
                                      </p:cBhvr>
                                      <p:to>
                                        <p:strVal val="visible"/>
                                      </p:to>
                                    </p:set>
                                    <p:animEffect transition="in" filter="wipe(left)">
                                      <p:cBhvr>
                                        <p:cTn id="22" dur="500"/>
                                        <p:tgtEl>
                                          <p:spTgt spid="3051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5156">
                                            <p:txEl>
                                              <p:pRg st="4" end="4"/>
                                            </p:txEl>
                                          </p:spTgt>
                                        </p:tgtEl>
                                        <p:attrNameLst>
                                          <p:attrName>style.visibility</p:attrName>
                                        </p:attrNameLst>
                                      </p:cBhvr>
                                      <p:to>
                                        <p:strVal val="visible"/>
                                      </p:to>
                                    </p:set>
                                    <p:animEffect transition="in" filter="wipe(left)">
                                      <p:cBhvr>
                                        <p:cTn id="27" dur="500"/>
                                        <p:tgtEl>
                                          <p:spTgt spid="30515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305264"/>
                                        </p:tgtEl>
                                        <p:attrNameLst>
                                          <p:attrName>style.visibility</p:attrName>
                                        </p:attrNameLst>
                                      </p:cBhvr>
                                      <p:to>
                                        <p:strVal val="visible"/>
                                      </p:to>
                                    </p:set>
                                    <p:animEffect transition="in" filter="barn(outVertical)">
                                      <p:cBhvr>
                                        <p:cTn id="32" dur="500"/>
                                        <p:tgtEl>
                                          <p:spTgt spid="30526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5157">
                                            <p:txEl>
                                              <p:pRg st="0" end="0"/>
                                            </p:txEl>
                                          </p:spTgt>
                                        </p:tgtEl>
                                        <p:attrNameLst>
                                          <p:attrName>style.visibility</p:attrName>
                                        </p:attrNameLst>
                                      </p:cBhvr>
                                      <p:to>
                                        <p:strVal val="visible"/>
                                      </p:to>
                                    </p:set>
                                    <p:animEffect transition="in" filter="wipe(left)">
                                      <p:cBhvr>
                                        <p:cTn id="37" dur="500"/>
                                        <p:tgtEl>
                                          <p:spTgt spid="30515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05161">
                                            <p:txEl>
                                              <p:pRg st="0" end="0"/>
                                            </p:txEl>
                                          </p:spTgt>
                                        </p:tgtEl>
                                        <p:attrNameLst>
                                          <p:attrName>style.visibility</p:attrName>
                                        </p:attrNameLst>
                                      </p:cBhvr>
                                      <p:to>
                                        <p:strVal val="visible"/>
                                      </p:to>
                                    </p:set>
                                    <p:animEffect transition="in" filter="wipe(left)">
                                      <p:cBhvr>
                                        <p:cTn id="42" dur="500"/>
                                        <p:tgtEl>
                                          <p:spTgt spid="30516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05159">
                                            <p:txEl>
                                              <p:pRg st="0" end="0"/>
                                            </p:txEl>
                                          </p:spTgt>
                                        </p:tgtEl>
                                        <p:attrNameLst>
                                          <p:attrName>style.visibility</p:attrName>
                                        </p:attrNameLst>
                                      </p:cBhvr>
                                      <p:to>
                                        <p:strVal val="visible"/>
                                      </p:to>
                                    </p:set>
                                    <p:animEffect transition="in" filter="wipe(left)">
                                      <p:cBhvr>
                                        <p:cTn id="47" dur="500"/>
                                        <p:tgtEl>
                                          <p:spTgt spid="30515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05162">
                                            <p:txEl>
                                              <p:pRg st="0" end="0"/>
                                            </p:txEl>
                                          </p:spTgt>
                                        </p:tgtEl>
                                        <p:attrNameLst>
                                          <p:attrName>style.visibility</p:attrName>
                                        </p:attrNameLst>
                                      </p:cBhvr>
                                      <p:to>
                                        <p:strVal val="visible"/>
                                      </p:to>
                                    </p:set>
                                    <p:animEffect transition="in" filter="wipe(left)">
                                      <p:cBhvr>
                                        <p:cTn id="52" dur="500"/>
                                        <p:tgtEl>
                                          <p:spTgt spid="30516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05160">
                                            <p:txEl>
                                              <p:pRg st="0" end="0"/>
                                            </p:txEl>
                                          </p:spTgt>
                                        </p:tgtEl>
                                        <p:attrNameLst>
                                          <p:attrName>style.visibility</p:attrName>
                                        </p:attrNameLst>
                                      </p:cBhvr>
                                      <p:to>
                                        <p:strVal val="visible"/>
                                      </p:to>
                                    </p:set>
                                    <p:animEffect transition="in" filter="wipe(left)">
                                      <p:cBhvr>
                                        <p:cTn id="57" dur="500"/>
                                        <p:tgtEl>
                                          <p:spTgt spid="30516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6" grpId="0" autoUpdateAnimBg="0" build="p"/>
      <p:bldP spid="305157" grpId="0" autoUpdateAnimBg="0" build="p"/>
      <p:bldP spid="305159" grpId="0" autoUpdateAnimBg="0" build="p"/>
      <p:bldP spid="305160" grpId="0" autoUpdateAnimBg="0" build="p"/>
      <p:bldP spid="305161" grpId="0" autoUpdateAnimBg="0" build="p"/>
      <p:bldP spid="305162" grpId="0" autoUpdateAnimBg="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Rectangle 2"/>
          <p:cNvSpPr>
            <a:spLocks noGrp="1" noChangeArrowheads="1"/>
          </p:cNvSpPr>
          <p:nvPr>
            <p:ph type="ctrTitle"/>
          </p:nvPr>
        </p:nvSpPr>
        <p:spPr>
          <a:xfrm>
            <a:off x="2209800" y="2286000"/>
            <a:ext cx="7772400" cy="1143000"/>
          </a:xfrm>
          <a:noFill/>
        </p:spPr>
        <p:txBody>
          <a:bodyPr anchor="ctr" anchorCtr="0">
            <a:normAutofit fontScale="90000"/>
          </a:bodyPr>
          <a:lstStyle/>
          <a:p>
            <a:r>
              <a:rPr lang="zh-CN" altLang="en-US" sz="4400">
                <a:latin typeface="Arial" panose="020B0604020202090204" pitchFamily="34" charset="0"/>
              </a:rPr>
              <a:t>总体比例的检验</a:t>
            </a:r>
            <a:br>
              <a:rPr lang="zh-CN" altLang="en-US" sz="4400">
                <a:latin typeface="Arial" panose="020B0604020202090204" pitchFamily="34" charset="0"/>
              </a:rPr>
            </a:br>
            <a:r>
              <a:rPr lang="en-US" altLang="zh-CN" sz="4000">
                <a:solidFill>
                  <a:schemeClr val="hlink"/>
                </a:solidFill>
                <a:latin typeface="Arial" panose="020B0604020202090204" pitchFamily="34" charset="0"/>
              </a:rPr>
              <a:t>(</a:t>
            </a:r>
            <a:r>
              <a:rPr lang="en-US" altLang="zh-CN" sz="4000" i="1">
                <a:solidFill>
                  <a:schemeClr val="hlink"/>
                </a:solidFill>
                <a:latin typeface="Arial" panose="020B0604020202090204" pitchFamily="34" charset="0"/>
              </a:rPr>
              <a:t>Z</a:t>
            </a:r>
            <a:r>
              <a:rPr lang="en-US" altLang="zh-CN" sz="4000">
                <a:solidFill>
                  <a:schemeClr val="hlink"/>
                </a:solidFill>
                <a:latin typeface="Arial" panose="020B0604020202090204" pitchFamily="34" charset="0"/>
              </a:rPr>
              <a:t> </a:t>
            </a:r>
            <a:r>
              <a:rPr lang="zh-CN" altLang="en-US" sz="4000">
                <a:solidFill>
                  <a:schemeClr val="hlink"/>
                </a:solidFill>
                <a:latin typeface="Arial" panose="020B0604020202090204" pitchFamily="34" charset="0"/>
              </a:rPr>
              <a:t>检验</a:t>
            </a:r>
            <a:r>
              <a:rPr lang="en-US" altLang="zh-CN" sz="4000">
                <a:solidFill>
                  <a:schemeClr val="hlink"/>
                </a:solidFill>
                <a:latin typeface="Arial" panose="020B0604020202090204" pitchFamily="34" charset="0"/>
              </a:rPr>
              <a:t>)</a:t>
            </a:r>
            <a:endParaRPr lang="en-US" altLang="zh-CN" sz="4000">
              <a:solidFill>
                <a:schemeClr val="hlink"/>
              </a:solidFill>
              <a:latin typeface="Arial" panose="020B0604020202090204" pitchFamily="34" charset="0"/>
            </a:endParaRPr>
          </a:p>
        </p:txBody>
      </p: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2018" name="Rectangle 2"/>
          <p:cNvSpPr>
            <a:spLocks noGrp="1" noChangeArrowheads="1"/>
          </p:cNvSpPr>
          <p:nvPr>
            <p:ph type="title"/>
          </p:nvPr>
        </p:nvSpPr>
        <p:spPr>
          <a:noFill/>
        </p:spPr>
        <p:txBody>
          <a:bodyPr/>
          <a:lstStyle/>
          <a:p>
            <a:r>
              <a:rPr lang="zh-CN" altLang="en-US" sz="4000">
                <a:latin typeface="Arial" panose="020B0604020202090204" pitchFamily="34" charset="0"/>
              </a:rPr>
              <a:t>一个总体比例检验</a:t>
            </a:r>
            <a:endParaRPr lang="zh-CN" altLang="en-US" sz="4000">
              <a:latin typeface="Arial" panose="020B0604020202090204" pitchFamily="34" charset="0"/>
            </a:endParaRPr>
          </a:p>
        </p:txBody>
      </p:sp>
      <p:sp>
        <p:nvSpPr>
          <p:cNvPr id="342019" name="Rectangle 3"/>
          <p:cNvSpPr>
            <a:spLocks noGrp="1" noChangeArrowheads="1"/>
          </p:cNvSpPr>
          <p:nvPr>
            <p:ph type="body" idx="1"/>
          </p:nvPr>
        </p:nvSpPr>
        <p:spPr>
          <a:xfrm>
            <a:off x="2133600" y="1828800"/>
            <a:ext cx="8229600" cy="4114800"/>
          </a:xfrm>
          <a:noFill/>
        </p:spPr>
        <p:txBody>
          <a:bodyPr/>
          <a:lstStyle/>
          <a:p>
            <a:pPr marL="609600" indent="-609600">
              <a:buFontTx/>
              <a:buAutoNum type="arabicPeriod"/>
            </a:pPr>
            <a:r>
              <a:rPr lang="zh-CN" altLang="en-US"/>
              <a:t>假定条件</a:t>
            </a:r>
            <a:endParaRPr lang="zh-CN" altLang="en-US"/>
          </a:p>
          <a:p>
            <a:pPr marL="1219200" lvl="1" indent="-533400"/>
            <a:r>
              <a:rPr lang="zh-CN" altLang="en-US"/>
              <a:t>有两类结果</a:t>
            </a:r>
            <a:endParaRPr lang="zh-CN" altLang="en-US"/>
          </a:p>
          <a:p>
            <a:pPr marL="1219200" lvl="1" indent="-533400"/>
            <a:r>
              <a:rPr lang="zh-CN" altLang="en-US"/>
              <a:t>总体服从二项分布</a:t>
            </a:r>
            <a:endParaRPr lang="zh-CN" altLang="en-US"/>
          </a:p>
          <a:p>
            <a:pPr marL="1219200" lvl="1" indent="-533400"/>
            <a:r>
              <a:rPr lang="zh-CN" altLang="en-US"/>
              <a:t>可用正态分布来近似</a:t>
            </a:r>
            <a:endParaRPr lang="zh-CN" altLang="en-US"/>
          </a:p>
          <a:p>
            <a:pPr marL="609600" indent="-609600">
              <a:buFontTx/>
              <a:buAutoNum type="arabicPeriod" startAt="2"/>
            </a:pPr>
            <a:r>
              <a:rPr lang="zh-CN" altLang="en-US"/>
              <a:t>比</a:t>
            </a:r>
            <a:r>
              <a:rPr lang="zh-CN" altLang="en-US">
                <a:latin typeface="Times New Roman" panose="02020603050405020304" pitchFamily="18" charset="0"/>
              </a:rPr>
              <a:t>例检验的 </a:t>
            </a:r>
            <a:r>
              <a:rPr lang="en-US" altLang="zh-CN" i="1">
                <a:latin typeface="Times New Roman" panose="02020603050405020304" pitchFamily="18" charset="0"/>
              </a:rPr>
              <a:t>Z </a:t>
            </a:r>
            <a:r>
              <a:rPr lang="zh-CN" altLang="en-US">
                <a:latin typeface="Times New Roman" panose="02020603050405020304" pitchFamily="18" charset="0"/>
              </a:rPr>
              <a:t>统计量</a:t>
            </a:r>
            <a:endParaRPr lang="zh-CN" altLang="en-US">
              <a:latin typeface="Times New Roman" panose="02020603050405020304" pitchFamily="18" charset="0"/>
            </a:endParaRPr>
          </a:p>
        </p:txBody>
      </p:sp>
      <p:sp>
        <p:nvSpPr>
          <p:cNvPr id="342023" name="Rectangle 7"/>
          <p:cNvSpPr>
            <a:spLocks noChangeArrowheads="1"/>
          </p:cNvSpPr>
          <p:nvPr/>
        </p:nvSpPr>
        <p:spPr bwMode="auto">
          <a:xfrm>
            <a:off x="6584951" y="5427664"/>
            <a:ext cx="343852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altLang="zh-CN" b="1">
                <a:solidFill>
                  <a:srgbClr val="FFFFB1"/>
                </a:solidFill>
                <a:effectLst>
                  <a:outerShdw blurRad="38100" dist="38100" dir="2700000" algn="tl">
                    <a:srgbClr val="000000"/>
                  </a:outerShdw>
                </a:effectLst>
                <a:latin typeface="Times New Roman" panose="02020603050405020304" pitchFamily="18" charset="0"/>
                <a:sym typeface="Symbol" panose="05050102010706020507" pitchFamily="18" charset="2"/>
              </a:rPr>
              <a:t></a:t>
            </a:r>
            <a:r>
              <a:rPr lang="en-US" altLang="zh-CN" b="1" baseline="-25000">
                <a:solidFill>
                  <a:srgbClr val="FFFFB1"/>
                </a:solidFill>
                <a:effectLst>
                  <a:outerShdw blurRad="38100" dist="38100" dir="2700000" algn="tl">
                    <a:srgbClr val="000000"/>
                  </a:outerShdw>
                </a:effectLst>
              </a:rPr>
              <a:t>0</a:t>
            </a:r>
            <a:r>
              <a:rPr lang="zh-CN" altLang="en-US" b="1">
                <a:solidFill>
                  <a:srgbClr val="FFFFB1"/>
                </a:solidFill>
                <a:effectLst>
                  <a:outerShdw blurRad="38100" dist="38100" dir="2700000" algn="tl">
                    <a:srgbClr val="000000"/>
                  </a:outerShdw>
                </a:effectLst>
              </a:rPr>
              <a:t>为假设的总体比例</a:t>
            </a:r>
            <a:endParaRPr lang="zh-CN" altLang="en-US" b="1">
              <a:solidFill>
                <a:srgbClr val="FFFFB1"/>
              </a:solidFill>
              <a:effectLst>
                <a:outerShdw blurRad="38100" dist="38100" dir="2700000" algn="tl">
                  <a:srgbClr val="000000"/>
                </a:outerShdw>
              </a:effectLst>
            </a:endParaRPr>
          </a:p>
        </p:txBody>
      </p:sp>
      <mc:AlternateContent xmlns:mc="http://schemas.openxmlformats.org/markup-compatibility/2006">
        <mc:Choice xmlns:a14="http://schemas.microsoft.com/office/drawing/2010/main" Requires="a14">
          <p:sp>
            <p:nvSpPr>
              <p:cNvPr id="342037" name="Object 21">
                <a:hlinkClick r:id="" action="ppaction://ole?verb=0"/>
              </p:cNvPr>
              <p:cNvSpPr txBox="1"/>
              <p:nvPr/>
            </p:nvSpPr>
            <p:spPr bwMode="auto">
              <a:xfrm>
                <a:off x="2535238" y="4537076"/>
                <a:ext cx="4532312" cy="1641475"/>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𝑍</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𝜋</m:t>
                              </m:r>
                            </m:e>
                            <m:sub>
                              <m:r>
                                <a:rPr lang="zh-CN" altLang="en-US" i="1">
                                  <a:solidFill>
                                    <a:srgbClr val="000000"/>
                                  </a:solidFill>
                                  <a:latin typeface="Cambria Math" panose="02040503050406030204" pitchFamily="18" charset="0"/>
                                </a:rPr>
                                <m:t>0</m:t>
                              </m:r>
                            </m:sub>
                          </m:sSub>
                        </m:num>
                        <m:den>
                          <m:rad>
                            <m:radPr>
                              <m:degHide m:val="on"/>
                              <m:ctrlPr>
                                <a:rPr lang="zh-CN" altLang="en-US" i="1">
                                  <a:solidFill>
                                    <a:srgbClr val="000000"/>
                                  </a:solidFill>
                                  <a:latin typeface="Cambria Math" panose="02040503050406030204" pitchFamily="18" charset="0"/>
                                </a:rPr>
                              </m:ctrlPr>
                            </m:radPr>
                            <m:deg/>
                            <m:e>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𝜋</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𝜋</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𝑛</m:t>
                                  </m:r>
                                </m:den>
                              </m:f>
                            </m:e>
                          </m:rad>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𝑁</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oMath>
                  </m:oMathPara>
                </a14:m>
                <a:endParaRPr lang="zh-CN" altLang="en-US"/>
              </a:p>
            </p:txBody>
          </p:sp>
        </mc:Choice>
        <mc:Fallback>
          <p:sp>
            <p:nvSpPr>
              <p:cNvPr id="342037" name="Object 21">
                <a:hlinkClick r:id="" action="ppaction://ole?verb=0"/>
              </p:cNvPr>
              <p:cNvSpPr txBox="1">
                <a:spLocks noRot="1" noChangeAspect="1" noMove="1" noResize="1" noEditPoints="1" noAdjustHandles="1" noChangeArrowheads="1" noChangeShapeType="1" noTextEdit="1"/>
              </p:cNvSpPr>
              <p:nvPr/>
            </p:nvSpPr>
            <p:spPr bwMode="auto">
              <a:xfrm>
                <a:off x="2535238" y="4537076"/>
                <a:ext cx="4532312" cy="1641475"/>
              </a:xfrm>
              <a:prstGeom prst="rect">
                <a:avLst/>
              </a:prstGeom>
              <a:blipFill rotWithShape="1">
                <a:blip r:embed="rId1"/>
                <a:stretch>
                  <a:fillRect l="-7" r="-280" b="-774"/>
                </a:stretch>
              </a:blipFill>
              <a:ln>
                <a:noFill/>
              </a:ln>
              <a:effectLst>
                <a:outerShdw dist="17961" dir="2700000" algn="ctr" rotWithShape="0">
                  <a:schemeClr val="bg2"/>
                </a:outerShdw>
              </a:effectLst>
            </p:spPr>
            <p:txBody>
              <a:bodyPr/>
              <a:lstStyle/>
              <a:p>
                <a:r>
                  <a:rPr lang="zh-CN" altLang="en-US">
                    <a:noFill/>
                  </a:rPr>
                  <a:t> </a:t>
                </a:r>
              </a:p>
            </p:txBody>
          </p:sp>
        </mc:Fallback>
      </mc:AlternateContent>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2019">
                                            <p:txEl>
                                              <p:pRg st="0" end="0"/>
                                            </p:txEl>
                                          </p:spTgt>
                                        </p:tgtEl>
                                        <p:attrNameLst>
                                          <p:attrName>style.visibility</p:attrName>
                                        </p:attrNameLst>
                                      </p:cBhvr>
                                      <p:to>
                                        <p:strVal val="visible"/>
                                      </p:to>
                                    </p:set>
                                    <p:animEffect transition="in" filter="wipe(left)">
                                      <p:cBhvr>
                                        <p:cTn id="7" dur="500"/>
                                        <p:tgtEl>
                                          <p:spTgt spid="34201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42019">
                                            <p:txEl>
                                              <p:pRg st="1" end="1"/>
                                            </p:txEl>
                                          </p:spTgt>
                                        </p:tgtEl>
                                        <p:attrNameLst>
                                          <p:attrName>style.visibility</p:attrName>
                                        </p:attrNameLst>
                                      </p:cBhvr>
                                      <p:to>
                                        <p:strVal val="visible"/>
                                      </p:to>
                                    </p:set>
                                    <p:animEffect transition="in" filter="wipe(left)">
                                      <p:cBhvr>
                                        <p:cTn id="10" dur="500"/>
                                        <p:tgtEl>
                                          <p:spTgt spid="342019">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42019">
                                            <p:txEl>
                                              <p:pRg st="2" end="2"/>
                                            </p:txEl>
                                          </p:spTgt>
                                        </p:tgtEl>
                                        <p:attrNameLst>
                                          <p:attrName>style.visibility</p:attrName>
                                        </p:attrNameLst>
                                      </p:cBhvr>
                                      <p:to>
                                        <p:strVal val="visible"/>
                                      </p:to>
                                    </p:set>
                                    <p:animEffect transition="in" filter="wipe(left)">
                                      <p:cBhvr>
                                        <p:cTn id="13" dur="500"/>
                                        <p:tgtEl>
                                          <p:spTgt spid="342019">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42019">
                                            <p:txEl>
                                              <p:pRg st="3" end="3"/>
                                            </p:txEl>
                                          </p:spTgt>
                                        </p:tgtEl>
                                        <p:attrNameLst>
                                          <p:attrName>style.visibility</p:attrName>
                                        </p:attrNameLst>
                                      </p:cBhvr>
                                      <p:to>
                                        <p:strVal val="visible"/>
                                      </p:to>
                                    </p:set>
                                    <p:animEffect transition="in" filter="wipe(left)">
                                      <p:cBhvr>
                                        <p:cTn id="16" dur="500"/>
                                        <p:tgtEl>
                                          <p:spTgt spid="34201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42019">
                                            <p:txEl>
                                              <p:pRg st="4" end="4"/>
                                            </p:txEl>
                                          </p:spTgt>
                                        </p:tgtEl>
                                        <p:attrNameLst>
                                          <p:attrName>style.visibility</p:attrName>
                                        </p:attrNameLst>
                                      </p:cBhvr>
                                      <p:to>
                                        <p:strVal val="visible"/>
                                      </p:to>
                                    </p:set>
                                    <p:animEffect transition="in" filter="wipe(left)">
                                      <p:cBhvr>
                                        <p:cTn id="21" dur="500"/>
                                        <p:tgtEl>
                                          <p:spTgt spid="342019">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42023"/>
                                        </p:tgtEl>
                                        <p:attrNameLst>
                                          <p:attrName>style.visibility</p:attrName>
                                        </p:attrNameLst>
                                      </p:cBhvr>
                                      <p:to>
                                        <p:strVal val="visible"/>
                                      </p:to>
                                    </p:set>
                                    <p:animEffect transition="in" filter="wipe(left)">
                                      <p:cBhvr>
                                        <p:cTn id="26" dur="500"/>
                                        <p:tgtEl>
                                          <p:spTgt spid="342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19" grpId="0" autoUpdateAnimBg="0" build="p"/>
      <p:bldP spid="342023"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459" name="Rectangle 347"/>
          <p:cNvSpPr>
            <a:spLocks noGrp="1" noChangeArrowheads="1"/>
          </p:cNvSpPr>
          <p:nvPr>
            <p:ph type="title"/>
          </p:nvPr>
        </p:nvSpPr>
        <p:spPr>
          <a:xfrm>
            <a:off x="3200400" y="152400"/>
            <a:ext cx="7239000" cy="1143000"/>
          </a:xfrm>
          <a:noFill/>
        </p:spPr>
        <p:txBody>
          <a:bodyPr>
            <a:normAutofit fontScale="90000"/>
          </a:bodyPr>
          <a:lstStyle/>
          <a:p>
            <a:r>
              <a:rPr lang="zh-CN" altLang="en-US" sz="4000"/>
              <a:t>一个总体比例的检验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346460" name="Rectangle 348"/>
          <p:cNvSpPr>
            <a:spLocks noGrp="1" noChangeArrowheads="1"/>
          </p:cNvSpPr>
          <p:nvPr>
            <p:ph type="body" sz="half" idx="1"/>
          </p:nvPr>
        </p:nvSpPr>
        <p:spPr>
          <a:xfrm>
            <a:off x="2132013" y="1666875"/>
            <a:ext cx="4533900" cy="4533900"/>
          </a:xfrm>
          <a:noFill/>
        </p:spPr>
        <p:txBody>
          <a:bodyPr/>
          <a:lstStyle/>
          <a:p>
            <a:pPr marL="0" indent="0" algn="just">
              <a:lnSpc>
                <a:spcPct val="110000"/>
              </a:lnSpc>
            </a:pPr>
            <a:r>
              <a:rPr lang="en-US" altLang="zh-CN" sz="2800" b="1" dirty="0"/>
              <a:t>【</a:t>
            </a:r>
            <a:r>
              <a:rPr lang="zh-CN" altLang="en-US" sz="2800" b="1" dirty="0"/>
              <a:t>例</a:t>
            </a:r>
            <a:r>
              <a:rPr lang="en-US" altLang="zh-CN" sz="2800" b="1" dirty="0"/>
              <a:t>】</a:t>
            </a:r>
            <a:r>
              <a:rPr lang="zh-CN" altLang="en-US" sz="2600" dirty="0"/>
              <a:t>一项统计结果声称，某市老年人口（年龄在</a:t>
            </a:r>
            <a:r>
              <a:rPr lang="en-US" altLang="zh-CN" sz="2600" dirty="0">
                <a:cs typeface="Times New Roman" panose="02020603050405020304" pitchFamily="18" charset="0"/>
              </a:rPr>
              <a:t>65</a:t>
            </a:r>
            <a:r>
              <a:rPr lang="zh-CN" altLang="en-US" sz="2600" dirty="0"/>
              <a:t>岁以上）的比重为</a:t>
            </a:r>
            <a:r>
              <a:rPr lang="en-US" altLang="zh-CN" sz="2600" dirty="0">
                <a:cs typeface="Times New Roman" panose="02020603050405020304" pitchFamily="18" charset="0"/>
              </a:rPr>
              <a:t>14.7%</a:t>
            </a:r>
            <a:r>
              <a:rPr lang="zh-CN" altLang="en-US" sz="2600" dirty="0"/>
              <a:t>，该市老年人口研究会为了检验该项统计是否可靠，随机抽选了</a:t>
            </a:r>
            <a:r>
              <a:rPr lang="en-US" altLang="zh-CN" sz="2600" dirty="0">
                <a:cs typeface="Times New Roman" panose="02020603050405020304" pitchFamily="18" charset="0"/>
              </a:rPr>
              <a:t>400</a:t>
            </a:r>
            <a:r>
              <a:rPr lang="zh-CN" altLang="en-US" sz="2600" dirty="0"/>
              <a:t>名居民，发现其中有</a:t>
            </a:r>
            <a:r>
              <a:rPr lang="en-US" altLang="zh-CN" sz="2600" dirty="0">
                <a:cs typeface="Times New Roman" panose="02020603050405020304" pitchFamily="18" charset="0"/>
              </a:rPr>
              <a:t>57</a:t>
            </a:r>
            <a:r>
              <a:rPr lang="zh-CN" altLang="en-US" sz="2600" dirty="0"/>
              <a:t>人年龄在</a:t>
            </a:r>
            <a:r>
              <a:rPr lang="en-US" altLang="zh-CN" sz="2600" dirty="0">
                <a:cs typeface="Times New Roman" panose="02020603050405020304" pitchFamily="18" charset="0"/>
              </a:rPr>
              <a:t>65</a:t>
            </a:r>
            <a:r>
              <a:rPr lang="zh-CN" altLang="en-US" sz="2600" dirty="0"/>
              <a:t>岁以上。调查结果是否支持该市老年人口比重为</a:t>
            </a:r>
            <a:r>
              <a:rPr lang="en-US" altLang="zh-CN" sz="2600" dirty="0">
                <a:cs typeface="Times New Roman" panose="02020603050405020304" pitchFamily="18" charset="0"/>
              </a:rPr>
              <a:t>14.7%</a:t>
            </a:r>
            <a:r>
              <a:rPr lang="zh-CN" altLang="en-US" sz="2600" dirty="0"/>
              <a:t>的看法？</a:t>
            </a:r>
            <a:r>
              <a:rPr lang="en-US" altLang="zh-CN" sz="2600" dirty="0"/>
              <a:t>(</a:t>
            </a:r>
            <a:r>
              <a:rPr lang="en-US" altLang="zh-CN" sz="2600" b="1" dirty="0">
                <a:latin typeface="Symbol" panose="05050102010706020507" pitchFamily="18" charset="2"/>
              </a:rPr>
              <a:t></a:t>
            </a:r>
            <a:r>
              <a:rPr lang="en-US" altLang="zh-CN" sz="2600" dirty="0"/>
              <a:t>= </a:t>
            </a:r>
            <a:r>
              <a:rPr lang="en-US" altLang="zh-CN" sz="2600" b="1" dirty="0"/>
              <a:t>0.05</a:t>
            </a:r>
            <a:r>
              <a:rPr lang="en-US" altLang="zh-CN" sz="2600" dirty="0"/>
              <a:t>)</a:t>
            </a:r>
            <a:endParaRPr lang="en-US" altLang="zh-CN" sz="2600" dirty="0"/>
          </a:p>
        </p:txBody>
      </p:sp>
      <p:sp>
        <p:nvSpPr>
          <p:cNvPr id="346518" name="AutoShape 406"/>
          <p:cNvSpPr>
            <a:spLocks noChangeArrowheads="1"/>
          </p:cNvSpPr>
          <p:nvPr/>
        </p:nvSpPr>
        <p:spPr bwMode="auto">
          <a:xfrm>
            <a:off x="7605714" y="2114551"/>
            <a:ext cx="2490787" cy="830263"/>
          </a:xfrm>
          <a:prstGeom prst="cloudCallout">
            <a:avLst>
              <a:gd name="adj1" fmla="val -82759"/>
              <a:gd name="adj2" fmla="val 145028"/>
            </a:avLst>
          </a:prstGeom>
          <a:noFill/>
          <a:ln w="12700">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lang="zh-CN" altLang="en-US">
                <a:solidFill>
                  <a:schemeClr val="accent2"/>
                </a:solidFill>
                <a:effectLst>
                  <a:outerShdw blurRad="38100" dist="38100" dir="2700000" algn="tl">
                    <a:srgbClr val="000000"/>
                  </a:outerShdw>
                </a:effectLst>
              </a:rPr>
              <a:t>双侧检验</a:t>
            </a:r>
            <a:endParaRPr lang="zh-CN" altLang="en-US">
              <a:solidFill>
                <a:schemeClr val="accent2"/>
              </a:solidFill>
              <a:effectLst>
                <a:outerShdw blurRad="38100" dist="38100" dir="2700000" algn="tl">
                  <a:srgbClr val="000000"/>
                </a:outerShdw>
              </a:effectLst>
            </a:endParaRPr>
          </a:p>
        </p:txBody>
      </p:sp>
      <p:grpSp>
        <p:nvGrpSpPr>
          <p:cNvPr id="346670" name="Group 558"/>
          <p:cNvGrpSpPr/>
          <p:nvPr/>
        </p:nvGrpSpPr>
        <p:grpSpPr bwMode="auto">
          <a:xfrm>
            <a:off x="6985000" y="3994150"/>
            <a:ext cx="2927350" cy="2243138"/>
            <a:chOff x="3332" y="2660"/>
            <a:chExt cx="1664" cy="1269"/>
          </a:xfrm>
        </p:grpSpPr>
        <p:grpSp>
          <p:nvGrpSpPr>
            <p:cNvPr id="346604" name="Group 492"/>
            <p:cNvGrpSpPr/>
            <p:nvPr/>
          </p:nvGrpSpPr>
          <p:grpSpPr bwMode="auto">
            <a:xfrm>
              <a:off x="3332" y="2696"/>
              <a:ext cx="764" cy="1233"/>
              <a:chOff x="3848" y="1976"/>
              <a:chExt cx="944" cy="1317"/>
            </a:xfrm>
          </p:grpSpPr>
          <p:grpSp>
            <p:nvGrpSpPr>
              <p:cNvPr id="346550" name="Group 438"/>
              <p:cNvGrpSpPr/>
              <p:nvPr/>
            </p:nvGrpSpPr>
            <p:grpSpPr bwMode="auto">
              <a:xfrm>
                <a:off x="4057" y="2424"/>
                <a:ext cx="673" cy="582"/>
                <a:chOff x="4057" y="2424"/>
                <a:chExt cx="673" cy="582"/>
              </a:xfrm>
            </p:grpSpPr>
            <p:sp>
              <p:nvSpPr>
                <p:cNvPr id="346540" name="Freeform 428"/>
                <p:cNvSpPr/>
                <p:nvPr/>
              </p:nvSpPr>
              <p:spPr bwMode="auto">
                <a:xfrm>
                  <a:off x="4057" y="2424"/>
                  <a:ext cx="437" cy="363"/>
                </a:xfrm>
                <a:custGeom>
                  <a:avLst/>
                  <a:gdLst>
                    <a:gd name="T0" fmla="*/ 600 w 873"/>
                    <a:gd name="T1" fmla="*/ 287 h 726"/>
                    <a:gd name="T2" fmla="*/ 722 w 873"/>
                    <a:gd name="T3" fmla="*/ 347 h 726"/>
                    <a:gd name="T4" fmla="*/ 758 w 873"/>
                    <a:gd name="T5" fmla="*/ 400 h 726"/>
                    <a:gd name="T6" fmla="*/ 786 w 873"/>
                    <a:gd name="T7" fmla="*/ 536 h 726"/>
                    <a:gd name="T8" fmla="*/ 834 w 873"/>
                    <a:gd name="T9" fmla="*/ 634 h 726"/>
                    <a:gd name="T10" fmla="*/ 873 w 873"/>
                    <a:gd name="T11" fmla="*/ 726 h 726"/>
                    <a:gd name="T12" fmla="*/ 778 w 873"/>
                    <a:gd name="T13" fmla="*/ 643 h 726"/>
                    <a:gd name="T14" fmla="*/ 702 w 873"/>
                    <a:gd name="T15" fmla="*/ 603 h 726"/>
                    <a:gd name="T16" fmla="*/ 591 w 873"/>
                    <a:gd name="T17" fmla="*/ 520 h 726"/>
                    <a:gd name="T18" fmla="*/ 547 w 873"/>
                    <a:gd name="T19" fmla="*/ 441 h 726"/>
                    <a:gd name="T20" fmla="*/ 520 w 873"/>
                    <a:gd name="T21" fmla="*/ 328 h 726"/>
                    <a:gd name="T22" fmla="*/ 122 w 873"/>
                    <a:gd name="T23" fmla="*/ 161 h 726"/>
                    <a:gd name="T24" fmla="*/ 0 w 873"/>
                    <a:gd name="T25" fmla="*/ 6 h 726"/>
                    <a:gd name="T26" fmla="*/ 59 w 873"/>
                    <a:gd name="T27" fmla="*/ 0 h 726"/>
                    <a:gd name="T28" fmla="*/ 190 w 873"/>
                    <a:gd name="T29" fmla="*/ 50 h 726"/>
                    <a:gd name="T30" fmla="*/ 600 w 873"/>
                    <a:gd name="T31" fmla="*/ 287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3" h="726">
                      <a:moveTo>
                        <a:pt x="600" y="287"/>
                      </a:moveTo>
                      <a:lnTo>
                        <a:pt x="722" y="347"/>
                      </a:lnTo>
                      <a:lnTo>
                        <a:pt x="758" y="400"/>
                      </a:lnTo>
                      <a:lnTo>
                        <a:pt x="786" y="536"/>
                      </a:lnTo>
                      <a:lnTo>
                        <a:pt x="834" y="634"/>
                      </a:lnTo>
                      <a:lnTo>
                        <a:pt x="873" y="726"/>
                      </a:lnTo>
                      <a:lnTo>
                        <a:pt x="778" y="643"/>
                      </a:lnTo>
                      <a:lnTo>
                        <a:pt x="702" y="603"/>
                      </a:lnTo>
                      <a:lnTo>
                        <a:pt x="591" y="520"/>
                      </a:lnTo>
                      <a:lnTo>
                        <a:pt x="547" y="441"/>
                      </a:lnTo>
                      <a:lnTo>
                        <a:pt x="520" y="328"/>
                      </a:lnTo>
                      <a:lnTo>
                        <a:pt x="122" y="161"/>
                      </a:lnTo>
                      <a:lnTo>
                        <a:pt x="0" y="6"/>
                      </a:lnTo>
                      <a:lnTo>
                        <a:pt x="59" y="0"/>
                      </a:lnTo>
                      <a:lnTo>
                        <a:pt x="190" y="50"/>
                      </a:lnTo>
                      <a:lnTo>
                        <a:pt x="600" y="287"/>
                      </a:lnTo>
                      <a:close/>
                    </a:path>
                  </a:pathLst>
                </a:custGeom>
                <a:solidFill>
                  <a:srgbClr val="E040A0"/>
                </a:solidFill>
                <a:ln w="9525">
                  <a:solidFill>
                    <a:srgbClr val="000000"/>
                  </a:solidFill>
                  <a:prstDash val="solid"/>
                  <a:round/>
                </a:ln>
              </p:spPr>
              <p:txBody>
                <a:bodyPr/>
                <a:lstStyle/>
                <a:p>
                  <a:endParaRPr lang="zh-CN" altLang="en-US"/>
                </a:p>
              </p:txBody>
            </p:sp>
            <p:grpSp>
              <p:nvGrpSpPr>
                <p:cNvPr id="346549" name="Group 437"/>
                <p:cNvGrpSpPr/>
                <p:nvPr/>
              </p:nvGrpSpPr>
              <p:grpSpPr bwMode="auto">
                <a:xfrm>
                  <a:off x="4370" y="2632"/>
                  <a:ext cx="360" cy="374"/>
                  <a:chOff x="4370" y="2632"/>
                  <a:chExt cx="360" cy="374"/>
                </a:xfrm>
              </p:grpSpPr>
              <p:sp>
                <p:nvSpPr>
                  <p:cNvPr id="346541" name="Freeform 429"/>
                  <p:cNvSpPr/>
                  <p:nvPr/>
                </p:nvSpPr>
                <p:spPr bwMode="auto">
                  <a:xfrm>
                    <a:off x="4370" y="2632"/>
                    <a:ext cx="360" cy="374"/>
                  </a:xfrm>
                  <a:custGeom>
                    <a:avLst/>
                    <a:gdLst>
                      <a:gd name="T0" fmla="*/ 0 w 720"/>
                      <a:gd name="T1" fmla="*/ 608 h 749"/>
                      <a:gd name="T2" fmla="*/ 97 w 720"/>
                      <a:gd name="T3" fmla="*/ 565 h 749"/>
                      <a:gd name="T4" fmla="*/ 124 w 720"/>
                      <a:gd name="T5" fmla="*/ 500 h 749"/>
                      <a:gd name="T6" fmla="*/ 148 w 720"/>
                      <a:gd name="T7" fmla="*/ 440 h 749"/>
                      <a:gd name="T8" fmla="*/ 151 w 720"/>
                      <a:gd name="T9" fmla="*/ 366 h 749"/>
                      <a:gd name="T10" fmla="*/ 133 w 720"/>
                      <a:gd name="T11" fmla="*/ 273 h 749"/>
                      <a:gd name="T12" fmla="*/ 116 w 720"/>
                      <a:gd name="T13" fmla="*/ 176 h 749"/>
                      <a:gd name="T14" fmla="*/ 141 w 720"/>
                      <a:gd name="T15" fmla="*/ 159 h 749"/>
                      <a:gd name="T16" fmla="*/ 173 w 720"/>
                      <a:gd name="T17" fmla="*/ 155 h 749"/>
                      <a:gd name="T18" fmla="*/ 212 w 720"/>
                      <a:gd name="T19" fmla="*/ 176 h 749"/>
                      <a:gd name="T20" fmla="*/ 251 w 720"/>
                      <a:gd name="T21" fmla="*/ 229 h 749"/>
                      <a:gd name="T22" fmla="*/ 296 w 720"/>
                      <a:gd name="T23" fmla="*/ 340 h 749"/>
                      <a:gd name="T24" fmla="*/ 335 w 720"/>
                      <a:gd name="T25" fmla="*/ 247 h 749"/>
                      <a:gd name="T26" fmla="*/ 394 w 720"/>
                      <a:gd name="T27" fmla="*/ 173 h 749"/>
                      <a:gd name="T28" fmla="*/ 452 w 720"/>
                      <a:gd name="T29" fmla="*/ 125 h 749"/>
                      <a:gd name="T30" fmla="*/ 532 w 720"/>
                      <a:gd name="T31" fmla="*/ 51 h 749"/>
                      <a:gd name="T32" fmla="*/ 591 w 720"/>
                      <a:gd name="T33" fmla="*/ 4 h 749"/>
                      <a:gd name="T34" fmla="*/ 630 w 720"/>
                      <a:gd name="T35" fmla="*/ 0 h 749"/>
                      <a:gd name="T36" fmla="*/ 656 w 720"/>
                      <a:gd name="T37" fmla="*/ 25 h 749"/>
                      <a:gd name="T38" fmla="*/ 644 w 720"/>
                      <a:gd name="T39" fmla="*/ 62 h 749"/>
                      <a:gd name="T40" fmla="*/ 610 w 720"/>
                      <a:gd name="T41" fmla="*/ 125 h 749"/>
                      <a:gd name="T42" fmla="*/ 561 w 720"/>
                      <a:gd name="T43" fmla="*/ 203 h 749"/>
                      <a:gd name="T44" fmla="*/ 498 w 720"/>
                      <a:gd name="T45" fmla="*/ 284 h 749"/>
                      <a:gd name="T46" fmla="*/ 584 w 720"/>
                      <a:gd name="T47" fmla="*/ 263 h 749"/>
                      <a:gd name="T48" fmla="*/ 654 w 720"/>
                      <a:gd name="T49" fmla="*/ 264 h 749"/>
                      <a:gd name="T50" fmla="*/ 690 w 720"/>
                      <a:gd name="T51" fmla="*/ 284 h 749"/>
                      <a:gd name="T52" fmla="*/ 690 w 720"/>
                      <a:gd name="T53" fmla="*/ 322 h 749"/>
                      <a:gd name="T54" fmla="*/ 671 w 720"/>
                      <a:gd name="T55" fmla="*/ 358 h 749"/>
                      <a:gd name="T56" fmla="*/ 635 w 720"/>
                      <a:gd name="T57" fmla="*/ 395 h 749"/>
                      <a:gd name="T58" fmla="*/ 576 w 720"/>
                      <a:gd name="T59" fmla="*/ 416 h 749"/>
                      <a:gd name="T60" fmla="*/ 644 w 720"/>
                      <a:gd name="T61" fmla="*/ 410 h 749"/>
                      <a:gd name="T62" fmla="*/ 700 w 720"/>
                      <a:gd name="T63" fmla="*/ 428 h 749"/>
                      <a:gd name="T64" fmla="*/ 720 w 720"/>
                      <a:gd name="T65" fmla="*/ 477 h 749"/>
                      <a:gd name="T66" fmla="*/ 702 w 720"/>
                      <a:gd name="T67" fmla="*/ 518 h 749"/>
                      <a:gd name="T68" fmla="*/ 657 w 720"/>
                      <a:gd name="T69" fmla="*/ 539 h 749"/>
                      <a:gd name="T70" fmla="*/ 542 w 720"/>
                      <a:gd name="T71" fmla="*/ 532 h 749"/>
                      <a:gd name="T72" fmla="*/ 598 w 720"/>
                      <a:gd name="T73" fmla="*/ 553 h 749"/>
                      <a:gd name="T74" fmla="*/ 625 w 720"/>
                      <a:gd name="T75" fmla="*/ 576 h 749"/>
                      <a:gd name="T76" fmla="*/ 646 w 720"/>
                      <a:gd name="T77" fmla="*/ 608 h 749"/>
                      <a:gd name="T78" fmla="*/ 639 w 720"/>
                      <a:gd name="T79" fmla="*/ 655 h 749"/>
                      <a:gd name="T80" fmla="*/ 605 w 720"/>
                      <a:gd name="T81" fmla="*/ 683 h 749"/>
                      <a:gd name="T82" fmla="*/ 567 w 720"/>
                      <a:gd name="T83" fmla="*/ 682 h 749"/>
                      <a:gd name="T84" fmla="*/ 516 w 720"/>
                      <a:gd name="T85" fmla="*/ 666 h 749"/>
                      <a:gd name="T86" fmla="*/ 467 w 720"/>
                      <a:gd name="T87" fmla="*/ 639 h 749"/>
                      <a:gd name="T88" fmla="*/ 437 w 720"/>
                      <a:gd name="T89" fmla="*/ 687 h 749"/>
                      <a:gd name="T90" fmla="*/ 404 w 720"/>
                      <a:gd name="T91" fmla="*/ 722 h 749"/>
                      <a:gd name="T92" fmla="*/ 367 w 720"/>
                      <a:gd name="T93" fmla="*/ 740 h 749"/>
                      <a:gd name="T94" fmla="*/ 319 w 720"/>
                      <a:gd name="T95" fmla="*/ 749 h 749"/>
                      <a:gd name="T96" fmla="*/ 121 w 720"/>
                      <a:gd name="T97" fmla="*/ 698 h 749"/>
                      <a:gd name="T98" fmla="*/ 0 w 720"/>
                      <a:gd name="T99" fmla="*/ 608 h 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20" h="749">
                        <a:moveTo>
                          <a:pt x="0" y="608"/>
                        </a:moveTo>
                        <a:lnTo>
                          <a:pt x="97" y="565"/>
                        </a:lnTo>
                        <a:lnTo>
                          <a:pt x="124" y="500"/>
                        </a:lnTo>
                        <a:lnTo>
                          <a:pt x="148" y="440"/>
                        </a:lnTo>
                        <a:lnTo>
                          <a:pt x="151" y="366"/>
                        </a:lnTo>
                        <a:lnTo>
                          <a:pt x="133" y="273"/>
                        </a:lnTo>
                        <a:lnTo>
                          <a:pt x="116" y="176"/>
                        </a:lnTo>
                        <a:lnTo>
                          <a:pt x="141" y="159"/>
                        </a:lnTo>
                        <a:lnTo>
                          <a:pt x="173" y="155"/>
                        </a:lnTo>
                        <a:lnTo>
                          <a:pt x="212" y="176"/>
                        </a:lnTo>
                        <a:lnTo>
                          <a:pt x="251" y="229"/>
                        </a:lnTo>
                        <a:lnTo>
                          <a:pt x="296" y="340"/>
                        </a:lnTo>
                        <a:lnTo>
                          <a:pt x="335" y="247"/>
                        </a:lnTo>
                        <a:lnTo>
                          <a:pt x="394" y="173"/>
                        </a:lnTo>
                        <a:lnTo>
                          <a:pt x="452" y="125"/>
                        </a:lnTo>
                        <a:lnTo>
                          <a:pt x="532" y="51"/>
                        </a:lnTo>
                        <a:lnTo>
                          <a:pt x="591" y="4"/>
                        </a:lnTo>
                        <a:lnTo>
                          <a:pt x="630" y="0"/>
                        </a:lnTo>
                        <a:lnTo>
                          <a:pt x="656" y="25"/>
                        </a:lnTo>
                        <a:lnTo>
                          <a:pt x="644" y="62"/>
                        </a:lnTo>
                        <a:lnTo>
                          <a:pt x="610" y="125"/>
                        </a:lnTo>
                        <a:lnTo>
                          <a:pt x="561" y="203"/>
                        </a:lnTo>
                        <a:lnTo>
                          <a:pt x="498" y="284"/>
                        </a:lnTo>
                        <a:lnTo>
                          <a:pt x="584" y="263"/>
                        </a:lnTo>
                        <a:lnTo>
                          <a:pt x="654" y="264"/>
                        </a:lnTo>
                        <a:lnTo>
                          <a:pt x="690" y="284"/>
                        </a:lnTo>
                        <a:lnTo>
                          <a:pt x="690" y="322"/>
                        </a:lnTo>
                        <a:lnTo>
                          <a:pt x="671" y="358"/>
                        </a:lnTo>
                        <a:lnTo>
                          <a:pt x="635" y="395"/>
                        </a:lnTo>
                        <a:lnTo>
                          <a:pt x="576" y="416"/>
                        </a:lnTo>
                        <a:lnTo>
                          <a:pt x="644" y="410"/>
                        </a:lnTo>
                        <a:lnTo>
                          <a:pt x="700" y="428"/>
                        </a:lnTo>
                        <a:lnTo>
                          <a:pt x="720" y="477"/>
                        </a:lnTo>
                        <a:lnTo>
                          <a:pt x="702" y="518"/>
                        </a:lnTo>
                        <a:lnTo>
                          <a:pt x="657" y="539"/>
                        </a:lnTo>
                        <a:lnTo>
                          <a:pt x="542" y="532"/>
                        </a:lnTo>
                        <a:lnTo>
                          <a:pt x="598" y="553"/>
                        </a:lnTo>
                        <a:lnTo>
                          <a:pt x="625" y="576"/>
                        </a:lnTo>
                        <a:lnTo>
                          <a:pt x="646" y="608"/>
                        </a:lnTo>
                        <a:lnTo>
                          <a:pt x="639" y="655"/>
                        </a:lnTo>
                        <a:lnTo>
                          <a:pt x="605" y="683"/>
                        </a:lnTo>
                        <a:lnTo>
                          <a:pt x="567" y="682"/>
                        </a:lnTo>
                        <a:lnTo>
                          <a:pt x="516" y="666"/>
                        </a:lnTo>
                        <a:lnTo>
                          <a:pt x="467" y="639"/>
                        </a:lnTo>
                        <a:lnTo>
                          <a:pt x="437" y="687"/>
                        </a:lnTo>
                        <a:lnTo>
                          <a:pt x="404" y="722"/>
                        </a:lnTo>
                        <a:lnTo>
                          <a:pt x="367" y="740"/>
                        </a:lnTo>
                        <a:lnTo>
                          <a:pt x="319" y="749"/>
                        </a:lnTo>
                        <a:lnTo>
                          <a:pt x="121" y="698"/>
                        </a:lnTo>
                        <a:lnTo>
                          <a:pt x="0" y="608"/>
                        </a:lnTo>
                        <a:close/>
                      </a:path>
                    </a:pathLst>
                  </a:custGeom>
                  <a:solidFill>
                    <a:srgbClr val="E0A080"/>
                  </a:solidFill>
                  <a:ln w="9525">
                    <a:solidFill>
                      <a:srgbClr val="000000"/>
                    </a:solidFill>
                    <a:prstDash val="solid"/>
                    <a:round/>
                  </a:ln>
                </p:spPr>
                <p:txBody>
                  <a:bodyPr/>
                  <a:lstStyle/>
                  <a:p>
                    <a:endParaRPr lang="zh-CN" altLang="en-US"/>
                  </a:p>
                </p:txBody>
              </p:sp>
              <p:grpSp>
                <p:nvGrpSpPr>
                  <p:cNvPr id="346548" name="Group 436"/>
                  <p:cNvGrpSpPr/>
                  <p:nvPr/>
                </p:nvGrpSpPr>
                <p:grpSpPr bwMode="auto">
                  <a:xfrm>
                    <a:off x="4419" y="2791"/>
                    <a:ext cx="250" cy="190"/>
                    <a:chOff x="4419" y="2791"/>
                    <a:chExt cx="250" cy="190"/>
                  </a:xfrm>
                </p:grpSpPr>
                <p:sp>
                  <p:nvSpPr>
                    <p:cNvPr id="346542" name="Freeform 430"/>
                    <p:cNvSpPr/>
                    <p:nvPr/>
                  </p:nvSpPr>
                  <p:spPr bwMode="auto">
                    <a:xfrm>
                      <a:off x="4587" y="2793"/>
                      <a:ext cx="82" cy="54"/>
                    </a:xfrm>
                    <a:custGeom>
                      <a:avLst/>
                      <a:gdLst>
                        <a:gd name="T0" fmla="*/ 163 w 163"/>
                        <a:gd name="T1" fmla="*/ 96 h 108"/>
                        <a:gd name="T2" fmla="*/ 102 w 163"/>
                        <a:gd name="T3" fmla="*/ 108 h 108"/>
                        <a:gd name="T4" fmla="*/ 51 w 163"/>
                        <a:gd name="T5" fmla="*/ 104 h 108"/>
                        <a:gd name="T6" fmla="*/ 15 w 163"/>
                        <a:gd name="T7" fmla="*/ 87 h 108"/>
                        <a:gd name="T8" fmla="*/ 0 w 163"/>
                        <a:gd name="T9" fmla="*/ 55 h 108"/>
                        <a:gd name="T10" fmla="*/ 10 w 163"/>
                        <a:gd name="T11" fmla="*/ 22 h 108"/>
                        <a:gd name="T12" fmla="*/ 44 w 163"/>
                        <a:gd name="T13" fmla="*/ 0 h 108"/>
                      </a:gdLst>
                      <a:ahLst/>
                      <a:cxnLst>
                        <a:cxn ang="0">
                          <a:pos x="T0" y="T1"/>
                        </a:cxn>
                        <a:cxn ang="0">
                          <a:pos x="T2" y="T3"/>
                        </a:cxn>
                        <a:cxn ang="0">
                          <a:pos x="T4" y="T5"/>
                        </a:cxn>
                        <a:cxn ang="0">
                          <a:pos x="T6" y="T7"/>
                        </a:cxn>
                        <a:cxn ang="0">
                          <a:pos x="T8" y="T9"/>
                        </a:cxn>
                        <a:cxn ang="0">
                          <a:pos x="T10" y="T11"/>
                        </a:cxn>
                        <a:cxn ang="0">
                          <a:pos x="T12" y="T13"/>
                        </a:cxn>
                      </a:cxnLst>
                      <a:rect l="0" t="0" r="r" b="b"/>
                      <a:pathLst>
                        <a:path w="163" h="108">
                          <a:moveTo>
                            <a:pt x="163" y="96"/>
                          </a:moveTo>
                          <a:lnTo>
                            <a:pt x="102" y="108"/>
                          </a:lnTo>
                          <a:lnTo>
                            <a:pt x="51" y="104"/>
                          </a:lnTo>
                          <a:lnTo>
                            <a:pt x="15" y="87"/>
                          </a:lnTo>
                          <a:lnTo>
                            <a:pt x="0" y="55"/>
                          </a:lnTo>
                          <a:lnTo>
                            <a:pt x="10" y="22"/>
                          </a:lnTo>
                          <a:lnTo>
                            <a:pt x="44" y="0"/>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43" name="Freeform 431"/>
                    <p:cNvSpPr/>
                    <p:nvPr/>
                  </p:nvSpPr>
                  <p:spPr bwMode="auto">
                    <a:xfrm>
                      <a:off x="4573" y="2847"/>
                      <a:ext cx="88" cy="56"/>
                    </a:xfrm>
                    <a:custGeom>
                      <a:avLst/>
                      <a:gdLst>
                        <a:gd name="T0" fmla="*/ 175 w 175"/>
                        <a:gd name="T1" fmla="*/ 109 h 113"/>
                        <a:gd name="T2" fmla="*/ 114 w 175"/>
                        <a:gd name="T3" fmla="*/ 113 h 113"/>
                        <a:gd name="T4" fmla="*/ 60 w 175"/>
                        <a:gd name="T5" fmla="*/ 106 h 113"/>
                        <a:gd name="T6" fmla="*/ 22 w 175"/>
                        <a:gd name="T7" fmla="*/ 90 h 113"/>
                        <a:gd name="T8" fmla="*/ 0 w 175"/>
                        <a:gd name="T9" fmla="*/ 58 h 113"/>
                        <a:gd name="T10" fmla="*/ 9 w 175"/>
                        <a:gd name="T11" fmla="*/ 30 h 113"/>
                        <a:gd name="T12" fmla="*/ 36 w 175"/>
                        <a:gd name="T13" fmla="*/ 0 h 113"/>
                      </a:gdLst>
                      <a:ahLst/>
                      <a:cxnLst>
                        <a:cxn ang="0">
                          <a:pos x="T0" y="T1"/>
                        </a:cxn>
                        <a:cxn ang="0">
                          <a:pos x="T2" y="T3"/>
                        </a:cxn>
                        <a:cxn ang="0">
                          <a:pos x="T4" y="T5"/>
                        </a:cxn>
                        <a:cxn ang="0">
                          <a:pos x="T6" y="T7"/>
                        </a:cxn>
                        <a:cxn ang="0">
                          <a:pos x="T8" y="T9"/>
                        </a:cxn>
                        <a:cxn ang="0">
                          <a:pos x="T10" y="T11"/>
                        </a:cxn>
                        <a:cxn ang="0">
                          <a:pos x="T12" y="T13"/>
                        </a:cxn>
                      </a:cxnLst>
                      <a:rect l="0" t="0" r="r" b="b"/>
                      <a:pathLst>
                        <a:path w="175" h="113">
                          <a:moveTo>
                            <a:pt x="175" y="109"/>
                          </a:moveTo>
                          <a:lnTo>
                            <a:pt x="114" y="113"/>
                          </a:lnTo>
                          <a:lnTo>
                            <a:pt x="60" y="106"/>
                          </a:lnTo>
                          <a:lnTo>
                            <a:pt x="22" y="90"/>
                          </a:lnTo>
                          <a:lnTo>
                            <a:pt x="0" y="58"/>
                          </a:lnTo>
                          <a:lnTo>
                            <a:pt x="9" y="30"/>
                          </a:lnTo>
                          <a:lnTo>
                            <a:pt x="36" y="0"/>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44" name="Freeform 432"/>
                    <p:cNvSpPr/>
                    <p:nvPr/>
                  </p:nvSpPr>
                  <p:spPr bwMode="auto">
                    <a:xfrm>
                      <a:off x="4547" y="2887"/>
                      <a:ext cx="56" cy="68"/>
                    </a:xfrm>
                    <a:custGeom>
                      <a:avLst/>
                      <a:gdLst>
                        <a:gd name="T0" fmla="*/ 113 w 113"/>
                        <a:gd name="T1" fmla="*/ 137 h 137"/>
                        <a:gd name="T2" fmla="*/ 56 w 113"/>
                        <a:gd name="T3" fmla="*/ 115 h 137"/>
                        <a:gd name="T4" fmla="*/ 22 w 113"/>
                        <a:gd name="T5" fmla="*/ 88 h 137"/>
                        <a:gd name="T6" fmla="*/ 0 w 113"/>
                        <a:gd name="T7" fmla="*/ 49 h 137"/>
                        <a:gd name="T8" fmla="*/ 12 w 113"/>
                        <a:gd name="T9" fmla="*/ 12 h 137"/>
                        <a:gd name="T10" fmla="*/ 39 w 113"/>
                        <a:gd name="T11" fmla="*/ 0 h 137"/>
                      </a:gdLst>
                      <a:ahLst/>
                      <a:cxnLst>
                        <a:cxn ang="0">
                          <a:pos x="T0" y="T1"/>
                        </a:cxn>
                        <a:cxn ang="0">
                          <a:pos x="T2" y="T3"/>
                        </a:cxn>
                        <a:cxn ang="0">
                          <a:pos x="T4" y="T5"/>
                        </a:cxn>
                        <a:cxn ang="0">
                          <a:pos x="T6" y="T7"/>
                        </a:cxn>
                        <a:cxn ang="0">
                          <a:pos x="T8" y="T9"/>
                        </a:cxn>
                        <a:cxn ang="0">
                          <a:pos x="T10" y="T11"/>
                        </a:cxn>
                      </a:cxnLst>
                      <a:rect l="0" t="0" r="r" b="b"/>
                      <a:pathLst>
                        <a:path w="113" h="137">
                          <a:moveTo>
                            <a:pt x="113" y="137"/>
                          </a:moveTo>
                          <a:lnTo>
                            <a:pt x="56" y="115"/>
                          </a:lnTo>
                          <a:lnTo>
                            <a:pt x="22" y="88"/>
                          </a:lnTo>
                          <a:lnTo>
                            <a:pt x="0" y="49"/>
                          </a:lnTo>
                          <a:lnTo>
                            <a:pt x="12" y="12"/>
                          </a:lnTo>
                          <a:lnTo>
                            <a:pt x="39" y="0"/>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45" name="Freeform 433"/>
                    <p:cNvSpPr/>
                    <p:nvPr/>
                  </p:nvSpPr>
                  <p:spPr bwMode="auto">
                    <a:xfrm>
                      <a:off x="4518" y="2791"/>
                      <a:ext cx="12" cy="66"/>
                    </a:xfrm>
                    <a:custGeom>
                      <a:avLst/>
                      <a:gdLst>
                        <a:gd name="T0" fmla="*/ 0 w 23"/>
                        <a:gd name="T1" fmla="*/ 0 h 130"/>
                        <a:gd name="T2" fmla="*/ 20 w 23"/>
                        <a:gd name="T3" fmla="*/ 58 h 130"/>
                        <a:gd name="T4" fmla="*/ 23 w 23"/>
                        <a:gd name="T5" fmla="*/ 91 h 130"/>
                        <a:gd name="T6" fmla="*/ 20 w 23"/>
                        <a:gd name="T7" fmla="*/ 130 h 130"/>
                      </a:gdLst>
                      <a:ahLst/>
                      <a:cxnLst>
                        <a:cxn ang="0">
                          <a:pos x="T0" y="T1"/>
                        </a:cxn>
                        <a:cxn ang="0">
                          <a:pos x="T2" y="T3"/>
                        </a:cxn>
                        <a:cxn ang="0">
                          <a:pos x="T4" y="T5"/>
                        </a:cxn>
                        <a:cxn ang="0">
                          <a:pos x="T6" y="T7"/>
                        </a:cxn>
                      </a:cxnLst>
                      <a:rect l="0" t="0" r="r" b="b"/>
                      <a:pathLst>
                        <a:path w="23" h="130">
                          <a:moveTo>
                            <a:pt x="0" y="0"/>
                          </a:moveTo>
                          <a:lnTo>
                            <a:pt x="20" y="58"/>
                          </a:lnTo>
                          <a:lnTo>
                            <a:pt x="23" y="91"/>
                          </a:lnTo>
                          <a:lnTo>
                            <a:pt x="20" y="130"/>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46" name="Freeform 434"/>
                    <p:cNvSpPr/>
                    <p:nvPr/>
                  </p:nvSpPr>
                  <p:spPr bwMode="auto">
                    <a:xfrm>
                      <a:off x="4515" y="2791"/>
                      <a:ext cx="48" cy="26"/>
                    </a:xfrm>
                    <a:custGeom>
                      <a:avLst/>
                      <a:gdLst>
                        <a:gd name="T0" fmla="*/ 0 w 95"/>
                        <a:gd name="T1" fmla="*/ 0 h 51"/>
                        <a:gd name="T2" fmla="*/ 40 w 95"/>
                        <a:gd name="T3" fmla="*/ 5 h 51"/>
                        <a:gd name="T4" fmla="*/ 71 w 95"/>
                        <a:gd name="T5" fmla="*/ 21 h 51"/>
                        <a:gd name="T6" fmla="*/ 95 w 95"/>
                        <a:gd name="T7" fmla="*/ 51 h 51"/>
                      </a:gdLst>
                      <a:ahLst/>
                      <a:cxnLst>
                        <a:cxn ang="0">
                          <a:pos x="T0" y="T1"/>
                        </a:cxn>
                        <a:cxn ang="0">
                          <a:pos x="T2" y="T3"/>
                        </a:cxn>
                        <a:cxn ang="0">
                          <a:pos x="T4" y="T5"/>
                        </a:cxn>
                        <a:cxn ang="0">
                          <a:pos x="T6" y="T7"/>
                        </a:cxn>
                      </a:cxnLst>
                      <a:rect l="0" t="0" r="r" b="b"/>
                      <a:pathLst>
                        <a:path w="95" h="51">
                          <a:moveTo>
                            <a:pt x="0" y="0"/>
                          </a:moveTo>
                          <a:lnTo>
                            <a:pt x="40" y="5"/>
                          </a:lnTo>
                          <a:lnTo>
                            <a:pt x="71" y="21"/>
                          </a:lnTo>
                          <a:lnTo>
                            <a:pt x="95" y="51"/>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47" name="Freeform 435"/>
                    <p:cNvSpPr/>
                    <p:nvPr/>
                  </p:nvSpPr>
                  <p:spPr bwMode="auto">
                    <a:xfrm>
                      <a:off x="4419" y="2910"/>
                      <a:ext cx="82" cy="71"/>
                    </a:xfrm>
                    <a:custGeom>
                      <a:avLst/>
                      <a:gdLst>
                        <a:gd name="T0" fmla="*/ 0 w 163"/>
                        <a:gd name="T1" fmla="*/ 0 h 141"/>
                        <a:gd name="T2" fmla="*/ 3 w 163"/>
                        <a:gd name="T3" fmla="*/ 21 h 141"/>
                        <a:gd name="T4" fmla="*/ 10 w 163"/>
                        <a:gd name="T5" fmla="*/ 45 h 141"/>
                        <a:gd name="T6" fmla="*/ 20 w 163"/>
                        <a:gd name="T7" fmla="*/ 63 h 141"/>
                        <a:gd name="T8" fmla="*/ 45 w 163"/>
                        <a:gd name="T9" fmla="*/ 82 h 141"/>
                        <a:gd name="T10" fmla="*/ 76 w 163"/>
                        <a:gd name="T11" fmla="*/ 97 h 141"/>
                        <a:gd name="T12" fmla="*/ 110 w 163"/>
                        <a:gd name="T13" fmla="*/ 98 h 141"/>
                        <a:gd name="T14" fmla="*/ 135 w 163"/>
                        <a:gd name="T15" fmla="*/ 105 h 141"/>
                        <a:gd name="T16" fmla="*/ 152 w 163"/>
                        <a:gd name="T17" fmla="*/ 123 h 141"/>
                        <a:gd name="T18" fmla="*/ 163 w 163"/>
                        <a:gd name="T19" fmla="*/ 139 h 141"/>
                        <a:gd name="T20" fmla="*/ 163 w 163"/>
                        <a:gd name="T21" fmla="*/ 14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3" h="141">
                          <a:moveTo>
                            <a:pt x="0" y="0"/>
                          </a:moveTo>
                          <a:lnTo>
                            <a:pt x="3" y="21"/>
                          </a:lnTo>
                          <a:lnTo>
                            <a:pt x="10" y="45"/>
                          </a:lnTo>
                          <a:lnTo>
                            <a:pt x="20" y="63"/>
                          </a:lnTo>
                          <a:lnTo>
                            <a:pt x="45" y="82"/>
                          </a:lnTo>
                          <a:lnTo>
                            <a:pt x="76" y="97"/>
                          </a:lnTo>
                          <a:lnTo>
                            <a:pt x="110" y="98"/>
                          </a:lnTo>
                          <a:lnTo>
                            <a:pt x="135" y="105"/>
                          </a:lnTo>
                          <a:lnTo>
                            <a:pt x="152" y="123"/>
                          </a:lnTo>
                          <a:lnTo>
                            <a:pt x="163" y="139"/>
                          </a:lnTo>
                          <a:lnTo>
                            <a:pt x="163" y="141"/>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grpSp>
            <p:nvGrpSpPr>
              <p:cNvPr id="346603" name="Group 491"/>
              <p:cNvGrpSpPr/>
              <p:nvPr/>
            </p:nvGrpSpPr>
            <p:grpSpPr bwMode="auto">
              <a:xfrm>
                <a:off x="3848" y="1976"/>
                <a:ext cx="944" cy="1317"/>
                <a:chOff x="3848" y="1976"/>
                <a:chExt cx="944" cy="1317"/>
              </a:xfrm>
            </p:grpSpPr>
            <p:grpSp>
              <p:nvGrpSpPr>
                <p:cNvPr id="346582" name="Group 470"/>
                <p:cNvGrpSpPr/>
                <p:nvPr/>
              </p:nvGrpSpPr>
              <p:grpSpPr bwMode="auto">
                <a:xfrm>
                  <a:off x="4013" y="1976"/>
                  <a:ext cx="751" cy="730"/>
                  <a:chOff x="4013" y="1976"/>
                  <a:chExt cx="751" cy="730"/>
                </a:xfrm>
              </p:grpSpPr>
              <p:sp>
                <p:nvSpPr>
                  <p:cNvPr id="346551" name="Freeform 439"/>
                  <p:cNvSpPr/>
                  <p:nvPr/>
                </p:nvSpPr>
                <p:spPr bwMode="auto">
                  <a:xfrm>
                    <a:off x="4084" y="1976"/>
                    <a:ext cx="671" cy="730"/>
                  </a:xfrm>
                  <a:custGeom>
                    <a:avLst/>
                    <a:gdLst>
                      <a:gd name="T0" fmla="*/ 164 w 1342"/>
                      <a:gd name="T1" fmla="*/ 1157 h 1460"/>
                      <a:gd name="T2" fmla="*/ 229 w 1342"/>
                      <a:gd name="T3" fmla="*/ 1032 h 1460"/>
                      <a:gd name="T4" fmla="*/ 229 w 1342"/>
                      <a:gd name="T5" fmla="*/ 995 h 1460"/>
                      <a:gd name="T6" fmla="*/ 205 w 1342"/>
                      <a:gd name="T7" fmla="*/ 946 h 1460"/>
                      <a:gd name="T8" fmla="*/ 169 w 1342"/>
                      <a:gd name="T9" fmla="*/ 891 h 1460"/>
                      <a:gd name="T10" fmla="*/ 103 w 1342"/>
                      <a:gd name="T11" fmla="*/ 840 h 1460"/>
                      <a:gd name="T12" fmla="*/ 61 w 1342"/>
                      <a:gd name="T13" fmla="*/ 770 h 1460"/>
                      <a:gd name="T14" fmla="*/ 40 w 1342"/>
                      <a:gd name="T15" fmla="*/ 708 h 1460"/>
                      <a:gd name="T16" fmla="*/ 15 w 1342"/>
                      <a:gd name="T17" fmla="*/ 662 h 1460"/>
                      <a:gd name="T18" fmla="*/ 15 w 1342"/>
                      <a:gd name="T19" fmla="*/ 608 h 1460"/>
                      <a:gd name="T20" fmla="*/ 0 w 1342"/>
                      <a:gd name="T21" fmla="*/ 482 h 1460"/>
                      <a:gd name="T22" fmla="*/ 15 w 1342"/>
                      <a:gd name="T23" fmla="*/ 387 h 1460"/>
                      <a:gd name="T24" fmla="*/ 44 w 1342"/>
                      <a:gd name="T25" fmla="*/ 305 h 1460"/>
                      <a:gd name="T26" fmla="*/ 85 w 1342"/>
                      <a:gd name="T27" fmla="*/ 217 h 1460"/>
                      <a:gd name="T28" fmla="*/ 134 w 1342"/>
                      <a:gd name="T29" fmla="*/ 165 h 1460"/>
                      <a:gd name="T30" fmla="*/ 226 w 1342"/>
                      <a:gd name="T31" fmla="*/ 104 h 1460"/>
                      <a:gd name="T32" fmla="*/ 326 w 1342"/>
                      <a:gd name="T33" fmla="*/ 62 h 1460"/>
                      <a:gd name="T34" fmla="*/ 431 w 1342"/>
                      <a:gd name="T35" fmla="*/ 25 h 1460"/>
                      <a:gd name="T36" fmla="*/ 565 w 1342"/>
                      <a:gd name="T37" fmla="*/ 3 h 1460"/>
                      <a:gd name="T38" fmla="*/ 660 w 1342"/>
                      <a:gd name="T39" fmla="*/ 0 h 1460"/>
                      <a:gd name="T40" fmla="*/ 756 w 1342"/>
                      <a:gd name="T41" fmla="*/ 9 h 1460"/>
                      <a:gd name="T42" fmla="*/ 876 w 1342"/>
                      <a:gd name="T43" fmla="*/ 33 h 1460"/>
                      <a:gd name="T44" fmla="*/ 987 w 1342"/>
                      <a:gd name="T45" fmla="*/ 70 h 1460"/>
                      <a:gd name="T46" fmla="*/ 1066 w 1342"/>
                      <a:gd name="T47" fmla="*/ 113 h 1460"/>
                      <a:gd name="T48" fmla="*/ 1167 w 1342"/>
                      <a:gd name="T49" fmla="*/ 192 h 1460"/>
                      <a:gd name="T50" fmla="*/ 1235 w 1342"/>
                      <a:gd name="T51" fmla="*/ 285 h 1460"/>
                      <a:gd name="T52" fmla="*/ 1286 w 1342"/>
                      <a:gd name="T53" fmla="*/ 372 h 1460"/>
                      <a:gd name="T54" fmla="*/ 1311 w 1342"/>
                      <a:gd name="T55" fmla="*/ 435 h 1460"/>
                      <a:gd name="T56" fmla="*/ 1342 w 1342"/>
                      <a:gd name="T57" fmla="*/ 544 h 1460"/>
                      <a:gd name="T58" fmla="*/ 1342 w 1342"/>
                      <a:gd name="T59" fmla="*/ 629 h 1460"/>
                      <a:gd name="T60" fmla="*/ 1321 w 1342"/>
                      <a:gd name="T61" fmla="*/ 750 h 1460"/>
                      <a:gd name="T62" fmla="*/ 1291 w 1342"/>
                      <a:gd name="T63" fmla="*/ 849 h 1460"/>
                      <a:gd name="T64" fmla="*/ 1245 w 1342"/>
                      <a:gd name="T65" fmla="*/ 932 h 1460"/>
                      <a:gd name="T66" fmla="*/ 1206 w 1342"/>
                      <a:gd name="T67" fmla="*/ 979 h 1460"/>
                      <a:gd name="T68" fmla="*/ 1148 w 1342"/>
                      <a:gd name="T69" fmla="*/ 1032 h 1460"/>
                      <a:gd name="T70" fmla="*/ 1053 w 1342"/>
                      <a:gd name="T71" fmla="*/ 1073 h 1460"/>
                      <a:gd name="T72" fmla="*/ 981 w 1342"/>
                      <a:gd name="T73" fmla="*/ 1099 h 1460"/>
                      <a:gd name="T74" fmla="*/ 902 w 1342"/>
                      <a:gd name="T75" fmla="*/ 1124 h 1460"/>
                      <a:gd name="T76" fmla="*/ 776 w 1342"/>
                      <a:gd name="T77" fmla="*/ 1136 h 1460"/>
                      <a:gd name="T78" fmla="*/ 667 w 1342"/>
                      <a:gd name="T79" fmla="*/ 1157 h 1460"/>
                      <a:gd name="T80" fmla="*/ 596 w 1342"/>
                      <a:gd name="T81" fmla="*/ 1173 h 1460"/>
                      <a:gd name="T82" fmla="*/ 575 w 1342"/>
                      <a:gd name="T83" fmla="*/ 1208 h 1460"/>
                      <a:gd name="T84" fmla="*/ 581 w 1342"/>
                      <a:gd name="T85" fmla="*/ 1252 h 1460"/>
                      <a:gd name="T86" fmla="*/ 575 w 1342"/>
                      <a:gd name="T87" fmla="*/ 1294 h 1460"/>
                      <a:gd name="T88" fmla="*/ 560 w 1342"/>
                      <a:gd name="T89" fmla="*/ 1324 h 1460"/>
                      <a:gd name="T90" fmla="*/ 552 w 1342"/>
                      <a:gd name="T91" fmla="*/ 1383 h 1460"/>
                      <a:gd name="T92" fmla="*/ 555 w 1342"/>
                      <a:gd name="T93" fmla="*/ 1460 h 1460"/>
                      <a:gd name="T94" fmla="*/ 465 w 1342"/>
                      <a:gd name="T95" fmla="*/ 1331 h 1460"/>
                      <a:gd name="T96" fmla="*/ 346 w 1342"/>
                      <a:gd name="T97" fmla="*/ 1226 h 1460"/>
                      <a:gd name="T98" fmla="*/ 246 w 1342"/>
                      <a:gd name="T99" fmla="*/ 1176 h 1460"/>
                      <a:gd name="T100" fmla="*/ 164 w 1342"/>
                      <a:gd name="T101" fmla="*/ 1157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42" h="1460">
                        <a:moveTo>
                          <a:pt x="164" y="1157"/>
                        </a:moveTo>
                        <a:lnTo>
                          <a:pt x="229" y="1032"/>
                        </a:lnTo>
                        <a:lnTo>
                          <a:pt x="229" y="995"/>
                        </a:lnTo>
                        <a:lnTo>
                          <a:pt x="205" y="946"/>
                        </a:lnTo>
                        <a:lnTo>
                          <a:pt x="169" y="891"/>
                        </a:lnTo>
                        <a:lnTo>
                          <a:pt x="103" y="840"/>
                        </a:lnTo>
                        <a:lnTo>
                          <a:pt x="61" y="770"/>
                        </a:lnTo>
                        <a:lnTo>
                          <a:pt x="40" y="708"/>
                        </a:lnTo>
                        <a:lnTo>
                          <a:pt x="15" y="662"/>
                        </a:lnTo>
                        <a:lnTo>
                          <a:pt x="15" y="608"/>
                        </a:lnTo>
                        <a:lnTo>
                          <a:pt x="0" y="482"/>
                        </a:lnTo>
                        <a:lnTo>
                          <a:pt x="15" y="387"/>
                        </a:lnTo>
                        <a:lnTo>
                          <a:pt x="44" y="305"/>
                        </a:lnTo>
                        <a:lnTo>
                          <a:pt x="85" y="217"/>
                        </a:lnTo>
                        <a:lnTo>
                          <a:pt x="134" y="165"/>
                        </a:lnTo>
                        <a:lnTo>
                          <a:pt x="226" y="104"/>
                        </a:lnTo>
                        <a:lnTo>
                          <a:pt x="326" y="62"/>
                        </a:lnTo>
                        <a:lnTo>
                          <a:pt x="431" y="25"/>
                        </a:lnTo>
                        <a:lnTo>
                          <a:pt x="565" y="3"/>
                        </a:lnTo>
                        <a:lnTo>
                          <a:pt x="660" y="0"/>
                        </a:lnTo>
                        <a:lnTo>
                          <a:pt x="756" y="9"/>
                        </a:lnTo>
                        <a:lnTo>
                          <a:pt x="876" y="33"/>
                        </a:lnTo>
                        <a:lnTo>
                          <a:pt x="987" y="70"/>
                        </a:lnTo>
                        <a:lnTo>
                          <a:pt x="1066" y="113"/>
                        </a:lnTo>
                        <a:lnTo>
                          <a:pt x="1167" y="192"/>
                        </a:lnTo>
                        <a:lnTo>
                          <a:pt x="1235" y="285"/>
                        </a:lnTo>
                        <a:lnTo>
                          <a:pt x="1286" y="372"/>
                        </a:lnTo>
                        <a:lnTo>
                          <a:pt x="1311" y="435"/>
                        </a:lnTo>
                        <a:lnTo>
                          <a:pt x="1342" y="544"/>
                        </a:lnTo>
                        <a:lnTo>
                          <a:pt x="1342" y="629"/>
                        </a:lnTo>
                        <a:lnTo>
                          <a:pt x="1321" y="750"/>
                        </a:lnTo>
                        <a:lnTo>
                          <a:pt x="1291" y="849"/>
                        </a:lnTo>
                        <a:lnTo>
                          <a:pt x="1245" y="932"/>
                        </a:lnTo>
                        <a:lnTo>
                          <a:pt x="1206" y="979"/>
                        </a:lnTo>
                        <a:lnTo>
                          <a:pt x="1148" y="1032"/>
                        </a:lnTo>
                        <a:lnTo>
                          <a:pt x="1053" y="1073"/>
                        </a:lnTo>
                        <a:lnTo>
                          <a:pt x="981" y="1099"/>
                        </a:lnTo>
                        <a:lnTo>
                          <a:pt x="902" y="1124"/>
                        </a:lnTo>
                        <a:lnTo>
                          <a:pt x="776" y="1136"/>
                        </a:lnTo>
                        <a:lnTo>
                          <a:pt x="667" y="1157"/>
                        </a:lnTo>
                        <a:lnTo>
                          <a:pt x="596" y="1173"/>
                        </a:lnTo>
                        <a:lnTo>
                          <a:pt x="575" y="1208"/>
                        </a:lnTo>
                        <a:lnTo>
                          <a:pt x="581" y="1252"/>
                        </a:lnTo>
                        <a:lnTo>
                          <a:pt x="575" y="1294"/>
                        </a:lnTo>
                        <a:lnTo>
                          <a:pt x="560" y="1324"/>
                        </a:lnTo>
                        <a:lnTo>
                          <a:pt x="552" y="1383"/>
                        </a:lnTo>
                        <a:lnTo>
                          <a:pt x="555" y="1460"/>
                        </a:lnTo>
                        <a:lnTo>
                          <a:pt x="465" y="1331"/>
                        </a:lnTo>
                        <a:lnTo>
                          <a:pt x="346" y="1226"/>
                        </a:lnTo>
                        <a:lnTo>
                          <a:pt x="246" y="1176"/>
                        </a:lnTo>
                        <a:lnTo>
                          <a:pt x="164" y="1157"/>
                        </a:lnTo>
                        <a:close/>
                      </a:path>
                    </a:pathLst>
                  </a:custGeom>
                  <a:solidFill>
                    <a:srgbClr val="E0A080"/>
                  </a:solidFill>
                  <a:ln w="9525">
                    <a:solidFill>
                      <a:srgbClr val="000000"/>
                    </a:solidFill>
                    <a:prstDash val="solid"/>
                    <a:round/>
                  </a:ln>
                </p:spPr>
                <p:txBody>
                  <a:bodyPr/>
                  <a:lstStyle/>
                  <a:p>
                    <a:endParaRPr lang="zh-CN" altLang="en-US"/>
                  </a:p>
                </p:txBody>
              </p:sp>
              <p:grpSp>
                <p:nvGrpSpPr>
                  <p:cNvPr id="346570" name="Group 458"/>
                  <p:cNvGrpSpPr/>
                  <p:nvPr/>
                </p:nvGrpSpPr>
                <p:grpSpPr bwMode="auto">
                  <a:xfrm>
                    <a:off x="4013" y="1976"/>
                    <a:ext cx="630" cy="505"/>
                    <a:chOff x="4013" y="1976"/>
                    <a:chExt cx="630" cy="505"/>
                  </a:xfrm>
                </p:grpSpPr>
                <p:grpSp>
                  <p:nvGrpSpPr>
                    <p:cNvPr id="346554" name="Group 442"/>
                    <p:cNvGrpSpPr/>
                    <p:nvPr/>
                  </p:nvGrpSpPr>
                  <p:grpSpPr bwMode="auto">
                    <a:xfrm>
                      <a:off x="4181" y="1976"/>
                      <a:ext cx="434" cy="152"/>
                      <a:chOff x="4181" y="1976"/>
                      <a:chExt cx="434" cy="152"/>
                    </a:xfrm>
                  </p:grpSpPr>
                  <p:sp>
                    <p:nvSpPr>
                      <p:cNvPr id="346552" name="Freeform 440"/>
                      <p:cNvSpPr/>
                      <p:nvPr/>
                    </p:nvSpPr>
                    <p:spPr bwMode="auto">
                      <a:xfrm>
                        <a:off x="4216" y="1999"/>
                        <a:ext cx="399" cy="129"/>
                      </a:xfrm>
                      <a:custGeom>
                        <a:avLst/>
                        <a:gdLst>
                          <a:gd name="T0" fmla="*/ 0 w 796"/>
                          <a:gd name="T1" fmla="*/ 259 h 259"/>
                          <a:gd name="T2" fmla="*/ 61 w 796"/>
                          <a:gd name="T3" fmla="*/ 178 h 259"/>
                          <a:gd name="T4" fmla="*/ 141 w 796"/>
                          <a:gd name="T5" fmla="*/ 114 h 259"/>
                          <a:gd name="T6" fmla="*/ 236 w 796"/>
                          <a:gd name="T7" fmla="*/ 61 h 259"/>
                          <a:gd name="T8" fmla="*/ 331 w 796"/>
                          <a:gd name="T9" fmla="*/ 30 h 259"/>
                          <a:gd name="T10" fmla="*/ 436 w 796"/>
                          <a:gd name="T11" fmla="*/ 8 h 259"/>
                          <a:gd name="T12" fmla="*/ 572 w 796"/>
                          <a:gd name="T13" fmla="*/ 0 h 259"/>
                          <a:gd name="T14" fmla="*/ 672 w 796"/>
                          <a:gd name="T15" fmla="*/ 16 h 259"/>
                          <a:gd name="T16" fmla="*/ 796 w 796"/>
                          <a:gd name="T17" fmla="*/ 58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6" h="259">
                            <a:moveTo>
                              <a:pt x="0" y="259"/>
                            </a:moveTo>
                            <a:lnTo>
                              <a:pt x="61" y="178"/>
                            </a:lnTo>
                            <a:lnTo>
                              <a:pt x="141" y="114"/>
                            </a:lnTo>
                            <a:lnTo>
                              <a:pt x="236" y="61"/>
                            </a:lnTo>
                            <a:lnTo>
                              <a:pt x="331" y="30"/>
                            </a:lnTo>
                            <a:lnTo>
                              <a:pt x="436" y="8"/>
                            </a:lnTo>
                            <a:lnTo>
                              <a:pt x="572" y="0"/>
                            </a:lnTo>
                            <a:lnTo>
                              <a:pt x="672" y="16"/>
                            </a:lnTo>
                            <a:lnTo>
                              <a:pt x="796" y="58"/>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53" name="Freeform 441"/>
                      <p:cNvSpPr/>
                      <p:nvPr/>
                    </p:nvSpPr>
                    <p:spPr bwMode="auto">
                      <a:xfrm>
                        <a:off x="4181" y="1976"/>
                        <a:ext cx="412" cy="143"/>
                      </a:xfrm>
                      <a:custGeom>
                        <a:avLst/>
                        <a:gdLst>
                          <a:gd name="T0" fmla="*/ 0 w 822"/>
                          <a:gd name="T1" fmla="*/ 285 h 285"/>
                          <a:gd name="T2" fmla="*/ 39 w 822"/>
                          <a:gd name="T3" fmla="*/ 202 h 285"/>
                          <a:gd name="T4" fmla="*/ 87 w 822"/>
                          <a:gd name="T5" fmla="*/ 144 h 285"/>
                          <a:gd name="T6" fmla="*/ 139 w 822"/>
                          <a:gd name="T7" fmla="*/ 97 h 285"/>
                          <a:gd name="T8" fmla="*/ 236 w 822"/>
                          <a:gd name="T9" fmla="*/ 46 h 285"/>
                          <a:gd name="T10" fmla="*/ 360 w 822"/>
                          <a:gd name="T11" fmla="*/ 9 h 285"/>
                          <a:gd name="T12" fmla="*/ 476 w 822"/>
                          <a:gd name="T13" fmla="*/ 0 h 285"/>
                          <a:gd name="T14" fmla="*/ 601 w 822"/>
                          <a:gd name="T15" fmla="*/ 14 h 285"/>
                          <a:gd name="T16" fmla="*/ 715 w 822"/>
                          <a:gd name="T17" fmla="*/ 51 h 285"/>
                          <a:gd name="T18" fmla="*/ 771 w 822"/>
                          <a:gd name="T19" fmla="*/ 67 h 285"/>
                          <a:gd name="T20" fmla="*/ 822 w 822"/>
                          <a:gd name="T21" fmla="*/ 83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22" h="285">
                            <a:moveTo>
                              <a:pt x="0" y="285"/>
                            </a:moveTo>
                            <a:lnTo>
                              <a:pt x="39" y="202"/>
                            </a:lnTo>
                            <a:lnTo>
                              <a:pt x="87" y="144"/>
                            </a:lnTo>
                            <a:lnTo>
                              <a:pt x="139" y="97"/>
                            </a:lnTo>
                            <a:lnTo>
                              <a:pt x="236" y="46"/>
                            </a:lnTo>
                            <a:lnTo>
                              <a:pt x="360" y="9"/>
                            </a:lnTo>
                            <a:lnTo>
                              <a:pt x="476" y="0"/>
                            </a:lnTo>
                            <a:lnTo>
                              <a:pt x="601" y="14"/>
                            </a:lnTo>
                            <a:lnTo>
                              <a:pt x="715" y="51"/>
                            </a:lnTo>
                            <a:lnTo>
                              <a:pt x="771" y="67"/>
                            </a:lnTo>
                            <a:lnTo>
                              <a:pt x="822" y="83"/>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46562" name="Group 450"/>
                    <p:cNvGrpSpPr/>
                    <p:nvPr/>
                  </p:nvGrpSpPr>
                  <p:grpSpPr bwMode="auto">
                    <a:xfrm>
                      <a:off x="4013" y="2070"/>
                      <a:ext cx="236" cy="248"/>
                      <a:chOff x="4013" y="2070"/>
                      <a:chExt cx="236" cy="248"/>
                    </a:xfrm>
                  </p:grpSpPr>
                  <p:sp>
                    <p:nvSpPr>
                      <p:cNvPr id="346555" name="Freeform 443"/>
                      <p:cNvSpPr/>
                      <p:nvPr/>
                    </p:nvSpPr>
                    <p:spPr bwMode="auto">
                      <a:xfrm>
                        <a:off x="4013" y="2070"/>
                        <a:ext cx="236" cy="248"/>
                      </a:xfrm>
                      <a:custGeom>
                        <a:avLst/>
                        <a:gdLst>
                          <a:gd name="T0" fmla="*/ 25 w 472"/>
                          <a:gd name="T1" fmla="*/ 411 h 495"/>
                          <a:gd name="T2" fmla="*/ 13 w 472"/>
                          <a:gd name="T3" fmla="*/ 215 h 495"/>
                          <a:gd name="T4" fmla="*/ 78 w 472"/>
                          <a:gd name="T5" fmla="*/ 94 h 495"/>
                          <a:gd name="T6" fmla="*/ 125 w 472"/>
                          <a:gd name="T7" fmla="*/ 23 h 495"/>
                          <a:gd name="T8" fmla="*/ 171 w 472"/>
                          <a:gd name="T9" fmla="*/ 0 h 495"/>
                          <a:gd name="T10" fmla="*/ 197 w 472"/>
                          <a:gd name="T11" fmla="*/ 44 h 495"/>
                          <a:gd name="T12" fmla="*/ 232 w 472"/>
                          <a:gd name="T13" fmla="*/ 25 h 495"/>
                          <a:gd name="T14" fmla="*/ 254 w 472"/>
                          <a:gd name="T15" fmla="*/ 73 h 495"/>
                          <a:gd name="T16" fmla="*/ 280 w 472"/>
                          <a:gd name="T17" fmla="*/ 102 h 495"/>
                          <a:gd name="T18" fmla="*/ 307 w 472"/>
                          <a:gd name="T19" fmla="*/ 125 h 495"/>
                          <a:gd name="T20" fmla="*/ 302 w 472"/>
                          <a:gd name="T21" fmla="*/ 168 h 495"/>
                          <a:gd name="T22" fmla="*/ 336 w 472"/>
                          <a:gd name="T23" fmla="*/ 143 h 495"/>
                          <a:gd name="T24" fmla="*/ 370 w 472"/>
                          <a:gd name="T25" fmla="*/ 164 h 495"/>
                          <a:gd name="T26" fmla="*/ 372 w 472"/>
                          <a:gd name="T27" fmla="*/ 199 h 495"/>
                          <a:gd name="T28" fmla="*/ 412 w 472"/>
                          <a:gd name="T29" fmla="*/ 205 h 495"/>
                          <a:gd name="T30" fmla="*/ 428 w 472"/>
                          <a:gd name="T31" fmla="*/ 247 h 495"/>
                          <a:gd name="T32" fmla="*/ 457 w 472"/>
                          <a:gd name="T33" fmla="*/ 284 h 495"/>
                          <a:gd name="T34" fmla="*/ 446 w 472"/>
                          <a:gd name="T35" fmla="*/ 370 h 495"/>
                          <a:gd name="T36" fmla="*/ 462 w 472"/>
                          <a:gd name="T37" fmla="*/ 421 h 495"/>
                          <a:gd name="T38" fmla="*/ 472 w 472"/>
                          <a:gd name="T39" fmla="*/ 469 h 495"/>
                          <a:gd name="T40" fmla="*/ 441 w 472"/>
                          <a:gd name="T41" fmla="*/ 495 h 495"/>
                          <a:gd name="T42" fmla="*/ 404 w 472"/>
                          <a:gd name="T43" fmla="*/ 492 h 495"/>
                          <a:gd name="T44" fmla="*/ 370 w 472"/>
                          <a:gd name="T45" fmla="*/ 453 h 495"/>
                          <a:gd name="T46" fmla="*/ 346 w 472"/>
                          <a:gd name="T47" fmla="*/ 449 h 495"/>
                          <a:gd name="T48" fmla="*/ 305 w 472"/>
                          <a:gd name="T49" fmla="*/ 439 h 495"/>
                          <a:gd name="T50" fmla="*/ 280 w 472"/>
                          <a:gd name="T51" fmla="*/ 432 h 495"/>
                          <a:gd name="T52" fmla="*/ 260 w 472"/>
                          <a:gd name="T53" fmla="*/ 423 h 495"/>
                          <a:gd name="T54" fmla="*/ 232 w 472"/>
                          <a:gd name="T55" fmla="*/ 420 h 495"/>
                          <a:gd name="T56" fmla="*/ 214 w 472"/>
                          <a:gd name="T57" fmla="*/ 390 h 495"/>
                          <a:gd name="T58" fmla="*/ 198 w 472"/>
                          <a:gd name="T59" fmla="*/ 420 h 495"/>
                          <a:gd name="T60" fmla="*/ 166 w 472"/>
                          <a:gd name="T61" fmla="*/ 428 h 495"/>
                          <a:gd name="T62" fmla="*/ 153 w 472"/>
                          <a:gd name="T63" fmla="*/ 439 h 495"/>
                          <a:gd name="T64" fmla="*/ 125 w 472"/>
                          <a:gd name="T65" fmla="*/ 471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2" h="495">
                            <a:moveTo>
                              <a:pt x="86" y="471"/>
                            </a:moveTo>
                            <a:lnTo>
                              <a:pt x="25" y="411"/>
                            </a:lnTo>
                            <a:lnTo>
                              <a:pt x="0" y="324"/>
                            </a:lnTo>
                            <a:lnTo>
                              <a:pt x="13" y="215"/>
                            </a:lnTo>
                            <a:lnTo>
                              <a:pt x="49" y="134"/>
                            </a:lnTo>
                            <a:lnTo>
                              <a:pt x="78" y="94"/>
                            </a:lnTo>
                            <a:lnTo>
                              <a:pt x="110" y="41"/>
                            </a:lnTo>
                            <a:lnTo>
                              <a:pt x="125" y="23"/>
                            </a:lnTo>
                            <a:lnTo>
                              <a:pt x="147" y="4"/>
                            </a:lnTo>
                            <a:lnTo>
                              <a:pt x="171" y="0"/>
                            </a:lnTo>
                            <a:lnTo>
                              <a:pt x="185" y="21"/>
                            </a:lnTo>
                            <a:lnTo>
                              <a:pt x="197" y="44"/>
                            </a:lnTo>
                            <a:lnTo>
                              <a:pt x="205" y="29"/>
                            </a:lnTo>
                            <a:lnTo>
                              <a:pt x="232" y="25"/>
                            </a:lnTo>
                            <a:lnTo>
                              <a:pt x="248" y="44"/>
                            </a:lnTo>
                            <a:lnTo>
                              <a:pt x="254" y="73"/>
                            </a:lnTo>
                            <a:lnTo>
                              <a:pt x="260" y="111"/>
                            </a:lnTo>
                            <a:lnTo>
                              <a:pt x="280" y="102"/>
                            </a:lnTo>
                            <a:lnTo>
                              <a:pt x="302" y="113"/>
                            </a:lnTo>
                            <a:lnTo>
                              <a:pt x="307" y="125"/>
                            </a:lnTo>
                            <a:lnTo>
                              <a:pt x="305" y="147"/>
                            </a:lnTo>
                            <a:lnTo>
                              <a:pt x="302" y="168"/>
                            </a:lnTo>
                            <a:lnTo>
                              <a:pt x="316" y="154"/>
                            </a:lnTo>
                            <a:lnTo>
                              <a:pt x="336" y="143"/>
                            </a:lnTo>
                            <a:lnTo>
                              <a:pt x="368" y="147"/>
                            </a:lnTo>
                            <a:lnTo>
                              <a:pt x="370" y="164"/>
                            </a:lnTo>
                            <a:lnTo>
                              <a:pt x="372" y="180"/>
                            </a:lnTo>
                            <a:lnTo>
                              <a:pt x="372" y="199"/>
                            </a:lnTo>
                            <a:lnTo>
                              <a:pt x="392" y="196"/>
                            </a:lnTo>
                            <a:lnTo>
                              <a:pt x="412" y="205"/>
                            </a:lnTo>
                            <a:lnTo>
                              <a:pt x="423" y="220"/>
                            </a:lnTo>
                            <a:lnTo>
                              <a:pt x="428" y="247"/>
                            </a:lnTo>
                            <a:lnTo>
                              <a:pt x="446" y="254"/>
                            </a:lnTo>
                            <a:lnTo>
                              <a:pt x="457" y="284"/>
                            </a:lnTo>
                            <a:lnTo>
                              <a:pt x="453" y="316"/>
                            </a:lnTo>
                            <a:lnTo>
                              <a:pt x="446" y="370"/>
                            </a:lnTo>
                            <a:lnTo>
                              <a:pt x="451" y="400"/>
                            </a:lnTo>
                            <a:lnTo>
                              <a:pt x="462" y="421"/>
                            </a:lnTo>
                            <a:lnTo>
                              <a:pt x="472" y="442"/>
                            </a:lnTo>
                            <a:lnTo>
                              <a:pt x="472" y="469"/>
                            </a:lnTo>
                            <a:lnTo>
                              <a:pt x="457" y="490"/>
                            </a:lnTo>
                            <a:lnTo>
                              <a:pt x="441" y="495"/>
                            </a:lnTo>
                            <a:lnTo>
                              <a:pt x="423" y="495"/>
                            </a:lnTo>
                            <a:lnTo>
                              <a:pt x="404" y="492"/>
                            </a:lnTo>
                            <a:lnTo>
                              <a:pt x="382" y="471"/>
                            </a:lnTo>
                            <a:lnTo>
                              <a:pt x="370" y="453"/>
                            </a:lnTo>
                            <a:lnTo>
                              <a:pt x="367" y="442"/>
                            </a:lnTo>
                            <a:lnTo>
                              <a:pt x="346" y="449"/>
                            </a:lnTo>
                            <a:lnTo>
                              <a:pt x="321" y="448"/>
                            </a:lnTo>
                            <a:lnTo>
                              <a:pt x="305" y="439"/>
                            </a:lnTo>
                            <a:lnTo>
                              <a:pt x="300" y="432"/>
                            </a:lnTo>
                            <a:lnTo>
                              <a:pt x="280" y="432"/>
                            </a:lnTo>
                            <a:lnTo>
                              <a:pt x="268" y="427"/>
                            </a:lnTo>
                            <a:lnTo>
                              <a:pt x="260" y="423"/>
                            </a:lnTo>
                            <a:lnTo>
                              <a:pt x="244" y="423"/>
                            </a:lnTo>
                            <a:lnTo>
                              <a:pt x="232" y="420"/>
                            </a:lnTo>
                            <a:lnTo>
                              <a:pt x="220" y="400"/>
                            </a:lnTo>
                            <a:lnTo>
                              <a:pt x="214" y="390"/>
                            </a:lnTo>
                            <a:lnTo>
                              <a:pt x="205" y="400"/>
                            </a:lnTo>
                            <a:lnTo>
                              <a:pt x="198" y="420"/>
                            </a:lnTo>
                            <a:lnTo>
                              <a:pt x="183" y="427"/>
                            </a:lnTo>
                            <a:lnTo>
                              <a:pt x="166" y="428"/>
                            </a:lnTo>
                            <a:lnTo>
                              <a:pt x="158" y="428"/>
                            </a:lnTo>
                            <a:lnTo>
                              <a:pt x="153" y="439"/>
                            </a:lnTo>
                            <a:lnTo>
                              <a:pt x="141" y="453"/>
                            </a:lnTo>
                            <a:lnTo>
                              <a:pt x="125" y="471"/>
                            </a:lnTo>
                            <a:lnTo>
                              <a:pt x="86" y="471"/>
                            </a:lnTo>
                            <a:close/>
                          </a:path>
                        </a:pathLst>
                      </a:custGeom>
                      <a:solidFill>
                        <a:srgbClr val="C08040"/>
                      </a:solidFill>
                      <a:ln w="9525">
                        <a:solidFill>
                          <a:srgbClr val="000000"/>
                        </a:solidFill>
                        <a:prstDash val="solid"/>
                        <a:round/>
                      </a:ln>
                    </p:spPr>
                    <p:txBody>
                      <a:bodyPr/>
                      <a:lstStyle/>
                      <a:p>
                        <a:endParaRPr lang="zh-CN" altLang="en-US"/>
                      </a:p>
                    </p:txBody>
                  </p:sp>
                  <p:grpSp>
                    <p:nvGrpSpPr>
                      <p:cNvPr id="346561" name="Group 449"/>
                      <p:cNvGrpSpPr/>
                      <p:nvPr/>
                    </p:nvGrpSpPr>
                    <p:grpSpPr bwMode="auto">
                      <a:xfrm>
                        <a:off x="4025" y="2083"/>
                        <a:ext cx="179" cy="216"/>
                        <a:chOff x="4025" y="2083"/>
                        <a:chExt cx="179" cy="216"/>
                      </a:xfrm>
                    </p:grpSpPr>
                    <p:sp>
                      <p:nvSpPr>
                        <p:cNvPr id="346556" name="Freeform 444"/>
                        <p:cNvSpPr/>
                        <p:nvPr/>
                      </p:nvSpPr>
                      <p:spPr bwMode="auto">
                        <a:xfrm>
                          <a:off x="4169" y="2228"/>
                          <a:ext cx="35" cy="46"/>
                        </a:xfrm>
                        <a:custGeom>
                          <a:avLst/>
                          <a:gdLst>
                            <a:gd name="T0" fmla="*/ 21 w 72"/>
                            <a:gd name="T1" fmla="*/ 91 h 91"/>
                            <a:gd name="T2" fmla="*/ 16 w 72"/>
                            <a:gd name="T3" fmla="*/ 44 h 91"/>
                            <a:gd name="T4" fmla="*/ 29 w 72"/>
                            <a:gd name="T5" fmla="*/ 19 h 91"/>
                            <a:gd name="T6" fmla="*/ 72 w 72"/>
                            <a:gd name="T7" fmla="*/ 0 h 91"/>
                            <a:gd name="T8" fmla="*/ 45 w 72"/>
                            <a:gd name="T9" fmla="*/ 3 h 91"/>
                            <a:gd name="T10" fmla="*/ 11 w 72"/>
                            <a:gd name="T11" fmla="*/ 14 h 91"/>
                            <a:gd name="T12" fmla="*/ 0 w 72"/>
                            <a:gd name="T13" fmla="*/ 37 h 91"/>
                            <a:gd name="T14" fmla="*/ 21 w 72"/>
                            <a:gd name="T15" fmla="*/ 91 h 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91">
                              <a:moveTo>
                                <a:pt x="21" y="91"/>
                              </a:moveTo>
                              <a:lnTo>
                                <a:pt x="16" y="44"/>
                              </a:lnTo>
                              <a:lnTo>
                                <a:pt x="29" y="19"/>
                              </a:lnTo>
                              <a:lnTo>
                                <a:pt x="72" y="0"/>
                              </a:lnTo>
                              <a:lnTo>
                                <a:pt x="45" y="3"/>
                              </a:lnTo>
                              <a:lnTo>
                                <a:pt x="11" y="14"/>
                              </a:lnTo>
                              <a:lnTo>
                                <a:pt x="0" y="37"/>
                              </a:lnTo>
                              <a:lnTo>
                                <a:pt x="21" y="91"/>
                              </a:lnTo>
                              <a:close/>
                            </a:path>
                          </a:pathLst>
                        </a:custGeom>
                        <a:solidFill>
                          <a:srgbClr val="804000"/>
                        </a:solidFill>
                        <a:ln w="9525">
                          <a:solidFill>
                            <a:srgbClr val="000000"/>
                          </a:solidFill>
                          <a:prstDash val="solid"/>
                          <a:round/>
                        </a:ln>
                      </p:spPr>
                      <p:txBody>
                        <a:bodyPr/>
                        <a:lstStyle/>
                        <a:p>
                          <a:endParaRPr lang="zh-CN" altLang="en-US"/>
                        </a:p>
                      </p:txBody>
                    </p:sp>
                    <p:sp>
                      <p:nvSpPr>
                        <p:cNvPr id="346557" name="Freeform 445"/>
                        <p:cNvSpPr/>
                        <p:nvPr/>
                      </p:nvSpPr>
                      <p:spPr bwMode="auto">
                        <a:xfrm>
                          <a:off x="4102" y="2154"/>
                          <a:ext cx="57" cy="111"/>
                        </a:xfrm>
                        <a:custGeom>
                          <a:avLst/>
                          <a:gdLst>
                            <a:gd name="T0" fmla="*/ 46 w 114"/>
                            <a:gd name="T1" fmla="*/ 222 h 222"/>
                            <a:gd name="T2" fmla="*/ 26 w 114"/>
                            <a:gd name="T3" fmla="*/ 172 h 222"/>
                            <a:gd name="T4" fmla="*/ 26 w 114"/>
                            <a:gd name="T5" fmla="*/ 105 h 222"/>
                            <a:gd name="T6" fmla="*/ 65 w 114"/>
                            <a:gd name="T7" fmla="*/ 52 h 222"/>
                            <a:gd name="T8" fmla="*/ 114 w 114"/>
                            <a:gd name="T9" fmla="*/ 0 h 222"/>
                            <a:gd name="T10" fmla="*/ 84 w 114"/>
                            <a:gd name="T11" fmla="*/ 30 h 222"/>
                            <a:gd name="T12" fmla="*/ 36 w 114"/>
                            <a:gd name="T13" fmla="*/ 67 h 222"/>
                            <a:gd name="T14" fmla="*/ 0 w 114"/>
                            <a:gd name="T15" fmla="*/ 98 h 222"/>
                            <a:gd name="T16" fmla="*/ 7 w 114"/>
                            <a:gd name="T17" fmla="*/ 125 h 222"/>
                            <a:gd name="T18" fmla="*/ 5 w 114"/>
                            <a:gd name="T19" fmla="*/ 155 h 222"/>
                            <a:gd name="T20" fmla="*/ 5 w 114"/>
                            <a:gd name="T21" fmla="*/ 188 h 222"/>
                            <a:gd name="T22" fmla="*/ 46 w 114"/>
                            <a:gd name="T23"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4" h="222">
                              <a:moveTo>
                                <a:pt x="46" y="222"/>
                              </a:moveTo>
                              <a:lnTo>
                                <a:pt x="26" y="172"/>
                              </a:lnTo>
                              <a:lnTo>
                                <a:pt x="26" y="105"/>
                              </a:lnTo>
                              <a:lnTo>
                                <a:pt x="65" y="52"/>
                              </a:lnTo>
                              <a:lnTo>
                                <a:pt x="114" y="0"/>
                              </a:lnTo>
                              <a:lnTo>
                                <a:pt x="84" y="30"/>
                              </a:lnTo>
                              <a:lnTo>
                                <a:pt x="36" y="67"/>
                              </a:lnTo>
                              <a:lnTo>
                                <a:pt x="0" y="98"/>
                              </a:lnTo>
                              <a:lnTo>
                                <a:pt x="7" y="125"/>
                              </a:lnTo>
                              <a:lnTo>
                                <a:pt x="5" y="155"/>
                              </a:lnTo>
                              <a:lnTo>
                                <a:pt x="5" y="188"/>
                              </a:lnTo>
                              <a:lnTo>
                                <a:pt x="46" y="222"/>
                              </a:lnTo>
                              <a:close/>
                            </a:path>
                          </a:pathLst>
                        </a:custGeom>
                        <a:solidFill>
                          <a:srgbClr val="804000"/>
                        </a:solidFill>
                        <a:ln w="9525">
                          <a:solidFill>
                            <a:srgbClr val="000000"/>
                          </a:solidFill>
                          <a:prstDash val="solid"/>
                          <a:round/>
                        </a:ln>
                      </p:spPr>
                      <p:txBody>
                        <a:bodyPr/>
                        <a:lstStyle/>
                        <a:p>
                          <a:endParaRPr lang="zh-CN" altLang="en-US"/>
                        </a:p>
                      </p:txBody>
                    </p:sp>
                    <p:sp>
                      <p:nvSpPr>
                        <p:cNvPr id="346558" name="Freeform 446"/>
                        <p:cNvSpPr/>
                        <p:nvPr/>
                      </p:nvSpPr>
                      <p:spPr bwMode="auto">
                        <a:xfrm>
                          <a:off x="4025" y="2214"/>
                          <a:ext cx="39" cy="85"/>
                        </a:xfrm>
                        <a:custGeom>
                          <a:avLst/>
                          <a:gdLst>
                            <a:gd name="T0" fmla="*/ 34 w 79"/>
                            <a:gd name="T1" fmla="*/ 143 h 171"/>
                            <a:gd name="T2" fmla="*/ 0 w 79"/>
                            <a:gd name="T3" fmla="*/ 90 h 171"/>
                            <a:gd name="T4" fmla="*/ 14 w 79"/>
                            <a:gd name="T5" fmla="*/ 53 h 171"/>
                            <a:gd name="T6" fmla="*/ 43 w 79"/>
                            <a:gd name="T7" fmla="*/ 0 h 171"/>
                            <a:gd name="T8" fmla="*/ 19 w 79"/>
                            <a:gd name="T9" fmla="*/ 92 h 171"/>
                            <a:gd name="T10" fmla="*/ 38 w 79"/>
                            <a:gd name="T11" fmla="*/ 133 h 171"/>
                            <a:gd name="T12" fmla="*/ 79 w 79"/>
                            <a:gd name="T13" fmla="*/ 171 h 171"/>
                            <a:gd name="T14" fmla="*/ 34 w 79"/>
                            <a:gd name="T15" fmla="*/ 143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9" h="171">
                              <a:moveTo>
                                <a:pt x="34" y="143"/>
                              </a:moveTo>
                              <a:lnTo>
                                <a:pt x="0" y="90"/>
                              </a:lnTo>
                              <a:lnTo>
                                <a:pt x="14" y="53"/>
                              </a:lnTo>
                              <a:lnTo>
                                <a:pt x="43" y="0"/>
                              </a:lnTo>
                              <a:lnTo>
                                <a:pt x="19" y="92"/>
                              </a:lnTo>
                              <a:lnTo>
                                <a:pt x="38" y="133"/>
                              </a:lnTo>
                              <a:lnTo>
                                <a:pt x="79" y="171"/>
                              </a:lnTo>
                              <a:lnTo>
                                <a:pt x="34" y="143"/>
                              </a:lnTo>
                              <a:close/>
                            </a:path>
                          </a:pathLst>
                        </a:custGeom>
                        <a:solidFill>
                          <a:srgbClr val="804000"/>
                        </a:solidFill>
                        <a:ln w="9525">
                          <a:solidFill>
                            <a:srgbClr val="000000"/>
                          </a:solidFill>
                          <a:prstDash val="solid"/>
                          <a:round/>
                        </a:ln>
                      </p:spPr>
                      <p:txBody>
                        <a:bodyPr/>
                        <a:lstStyle/>
                        <a:p>
                          <a:endParaRPr lang="zh-CN" altLang="en-US"/>
                        </a:p>
                      </p:txBody>
                    </p:sp>
                    <p:sp>
                      <p:nvSpPr>
                        <p:cNvPr id="346559" name="Freeform 447"/>
                        <p:cNvSpPr/>
                        <p:nvPr/>
                      </p:nvSpPr>
                      <p:spPr bwMode="auto">
                        <a:xfrm>
                          <a:off x="4057" y="2083"/>
                          <a:ext cx="53" cy="86"/>
                        </a:xfrm>
                        <a:custGeom>
                          <a:avLst/>
                          <a:gdLst>
                            <a:gd name="T0" fmla="*/ 107 w 107"/>
                            <a:gd name="T1" fmla="*/ 0 h 171"/>
                            <a:gd name="T2" fmla="*/ 56 w 107"/>
                            <a:gd name="T3" fmla="*/ 42 h 171"/>
                            <a:gd name="T4" fmla="*/ 16 w 107"/>
                            <a:gd name="T5" fmla="*/ 84 h 171"/>
                            <a:gd name="T6" fmla="*/ 9 w 107"/>
                            <a:gd name="T7" fmla="*/ 120 h 171"/>
                            <a:gd name="T8" fmla="*/ 0 w 107"/>
                            <a:gd name="T9" fmla="*/ 171 h 171"/>
                            <a:gd name="T10" fmla="*/ 17 w 107"/>
                            <a:gd name="T11" fmla="*/ 130 h 171"/>
                            <a:gd name="T12" fmla="*/ 33 w 107"/>
                            <a:gd name="T13" fmla="*/ 88 h 171"/>
                            <a:gd name="T14" fmla="*/ 77 w 107"/>
                            <a:gd name="T15" fmla="*/ 37 h 171"/>
                            <a:gd name="T16" fmla="*/ 107 w 107"/>
                            <a:gd name="T17" fmla="*/ 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71">
                              <a:moveTo>
                                <a:pt x="107" y="0"/>
                              </a:moveTo>
                              <a:lnTo>
                                <a:pt x="56" y="42"/>
                              </a:lnTo>
                              <a:lnTo>
                                <a:pt x="16" y="84"/>
                              </a:lnTo>
                              <a:lnTo>
                                <a:pt x="9" y="120"/>
                              </a:lnTo>
                              <a:lnTo>
                                <a:pt x="0" y="171"/>
                              </a:lnTo>
                              <a:lnTo>
                                <a:pt x="17" y="130"/>
                              </a:lnTo>
                              <a:lnTo>
                                <a:pt x="33" y="88"/>
                              </a:lnTo>
                              <a:lnTo>
                                <a:pt x="77" y="37"/>
                              </a:lnTo>
                              <a:lnTo>
                                <a:pt x="107" y="0"/>
                              </a:lnTo>
                              <a:close/>
                            </a:path>
                          </a:pathLst>
                        </a:custGeom>
                        <a:solidFill>
                          <a:srgbClr val="804000"/>
                        </a:solidFill>
                        <a:ln w="9525">
                          <a:solidFill>
                            <a:srgbClr val="000000"/>
                          </a:solidFill>
                          <a:prstDash val="solid"/>
                          <a:round/>
                        </a:ln>
                      </p:spPr>
                      <p:txBody>
                        <a:bodyPr/>
                        <a:lstStyle/>
                        <a:p>
                          <a:endParaRPr lang="zh-CN" altLang="en-US"/>
                        </a:p>
                      </p:txBody>
                    </p:sp>
                    <p:sp>
                      <p:nvSpPr>
                        <p:cNvPr id="346560" name="Freeform 448"/>
                        <p:cNvSpPr/>
                        <p:nvPr/>
                      </p:nvSpPr>
                      <p:spPr bwMode="auto">
                        <a:xfrm>
                          <a:off x="4051" y="2245"/>
                          <a:ext cx="29" cy="54"/>
                        </a:xfrm>
                        <a:custGeom>
                          <a:avLst/>
                          <a:gdLst>
                            <a:gd name="T0" fmla="*/ 24 w 60"/>
                            <a:gd name="T1" fmla="*/ 107 h 107"/>
                            <a:gd name="T2" fmla="*/ 9 w 60"/>
                            <a:gd name="T3" fmla="*/ 72 h 107"/>
                            <a:gd name="T4" fmla="*/ 0 w 60"/>
                            <a:gd name="T5" fmla="*/ 53 h 107"/>
                            <a:gd name="T6" fmla="*/ 17 w 60"/>
                            <a:gd name="T7" fmla="*/ 23 h 107"/>
                            <a:gd name="T8" fmla="*/ 55 w 60"/>
                            <a:gd name="T9" fmla="*/ 0 h 107"/>
                            <a:gd name="T10" fmla="*/ 33 w 60"/>
                            <a:gd name="T11" fmla="*/ 30 h 107"/>
                            <a:gd name="T12" fmla="*/ 21 w 60"/>
                            <a:gd name="T13" fmla="*/ 63 h 107"/>
                            <a:gd name="T14" fmla="*/ 39 w 60"/>
                            <a:gd name="T15" fmla="*/ 72 h 107"/>
                            <a:gd name="T16" fmla="*/ 60 w 60"/>
                            <a:gd name="T17" fmla="*/ 47 h 107"/>
                            <a:gd name="T18" fmla="*/ 50 w 60"/>
                            <a:gd name="T19" fmla="*/ 70 h 107"/>
                            <a:gd name="T20" fmla="*/ 24 w 60"/>
                            <a:gd name="T21"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107">
                              <a:moveTo>
                                <a:pt x="24" y="107"/>
                              </a:moveTo>
                              <a:lnTo>
                                <a:pt x="9" y="72"/>
                              </a:lnTo>
                              <a:lnTo>
                                <a:pt x="0" y="53"/>
                              </a:lnTo>
                              <a:lnTo>
                                <a:pt x="17" y="23"/>
                              </a:lnTo>
                              <a:lnTo>
                                <a:pt x="55" y="0"/>
                              </a:lnTo>
                              <a:lnTo>
                                <a:pt x="33" y="30"/>
                              </a:lnTo>
                              <a:lnTo>
                                <a:pt x="21" y="63"/>
                              </a:lnTo>
                              <a:lnTo>
                                <a:pt x="39" y="72"/>
                              </a:lnTo>
                              <a:lnTo>
                                <a:pt x="60" y="47"/>
                              </a:lnTo>
                              <a:lnTo>
                                <a:pt x="50" y="70"/>
                              </a:lnTo>
                              <a:lnTo>
                                <a:pt x="24" y="107"/>
                              </a:lnTo>
                              <a:close/>
                            </a:path>
                          </a:pathLst>
                        </a:custGeom>
                        <a:solidFill>
                          <a:srgbClr val="804000"/>
                        </a:solidFill>
                        <a:ln w="9525">
                          <a:solidFill>
                            <a:srgbClr val="000000"/>
                          </a:solidFill>
                          <a:prstDash val="solid"/>
                          <a:round/>
                        </a:ln>
                      </p:spPr>
                      <p:txBody>
                        <a:bodyPr/>
                        <a:lstStyle/>
                        <a:p>
                          <a:endParaRPr lang="zh-CN" altLang="en-US"/>
                        </a:p>
                      </p:txBody>
                    </p:sp>
                  </p:grpSp>
                </p:grpSp>
                <p:grpSp>
                  <p:nvGrpSpPr>
                    <p:cNvPr id="346569" name="Group 457"/>
                    <p:cNvGrpSpPr/>
                    <p:nvPr/>
                  </p:nvGrpSpPr>
                  <p:grpSpPr bwMode="auto">
                    <a:xfrm>
                      <a:off x="4389" y="2351"/>
                      <a:ext cx="254" cy="130"/>
                      <a:chOff x="4389" y="2351"/>
                      <a:chExt cx="254" cy="130"/>
                    </a:xfrm>
                  </p:grpSpPr>
                  <p:sp>
                    <p:nvSpPr>
                      <p:cNvPr id="346563" name="Freeform 451"/>
                      <p:cNvSpPr/>
                      <p:nvPr/>
                    </p:nvSpPr>
                    <p:spPr bwMode="auto">
                      <a:xfrm>
                        <a:off x="4389" y="2351"/>
                        <a:ext cx="254" cy="130"/>
                      </a:xfrm>
                      <a:custGeom>
                        <a:avLst/>
                        <a:gdLst>
                          <a:gd name="T0" fmla="*/ 31 w 508"/>
                          <a:gd name="T1" fmla="*/ 64 h 259"/>
                          <a:gd name="T2" fmla="*/ 123 w 508"/>
                          <a:gd name="T3" fmla="*/ 69 h 259"/>
                          <a:gd name="T4" fmla="*/ 187 w 508"/>
                          <a:gd name="T5" fmla="*/ 67 h 259"/>
                          <a:gd name="T6" fmla="*/ 264 w 508"/>
                          <a:gd name="T7" fmla="*/ 32 h 259"/>
                          <a:gd name="T8" fmla="*/ 328 w 508"/>
                          <a:gd name="T9" fmla="*/ 4 h 259"/>
                          <a:gd name="T10" fmla="*/ 386 w 508"/>
                          <a:gd name="T11" fmla="*/ 0 h 259"/>
                          <a:gd name="T12" fmla="*/ 412 w 508"/>
                          <a:gd name="T13" fmla="*/ 25 h 259"/>
                          <a:gd name="T14" fmla="*/ 451 w 508"/>
                          <a:gd name="T15" fmla="*/ 41 h 259"/>
                          <a:gd name="T16" fmla="*/ 496 w 508"/>
                          <a:gd name="T17" fmla="*/ 46 h 259"/>
                          <a:gd name="T18" fmla="*/ 508 w 508"/>
                          <a:gd name="T19" fmla="*/ 69 h 259"/>
                          <a:gd name="T20" fmla="*/ 503 w 508"/>
                          <a:gd name="T21" fmla="*/ 118 h 259"/>
                          <a:gd name="T22" fmla="*/ 493 w 508"/>
                          <a:gd name="T23" fmla="*/ 150 h 259"/>
                          <a:gd name="T24" fmla="*/ 471 w 508"/>
                          <a:gd name="T25" fmla="*/ 176 h 259"/>
                          <a:gd name="T26" fmla="*/ 437 w 508"/>
                          <a:gd name="T27" fmla="*/ 208 h 259"/>
                          <a:gd name="T28" fmla="*/ 422 w 508"/>
                          <a:gd name="T29" fmla="*/ 236 h 259"/>
                          <a:gd name="T30" fmla="*/ 398 w 508"/>
                          <a:gd name="T31" fmla="*/ 257 h 259"/>
                          <a:gd name="T32" fmla="*/ 378 w 508"/>
                          <a:gd name="T33" fmla="*/ 259 h 259"/>
                          <a:gd name="T34" fmla="*/ 349 w 508"/>
                          <a:gd name="T35" fmla="*/ 233 h 259"/>
                          <a:gd name="T36" fmla="*/ 332 w 508"/>
                          <a:gd name="T37" fmla="*/ 243 h 259"/>
                          <a:gd name="T38" fmla="*/ 301 w 508"/>
                          <a:gd name="T39" fmla="*/ 245 h 259"/>
                          <a:gd name="T40" fmla="*/ 281 w 508"/>
                          <a:gd name="T41" fmla="*/ 206 h 259"/>
                          <a:gd name="T42" fmla="*/ 267 w 508"/>
                          <a:gd name="T43" fmla="*/ 212 h 259"/>
                          <a:gd name="T44" fmla="*/ 248 w 508"/>
                          <a:gd name="T45" fmla="*/ 212 h 259"/>
                          <a:gd name="T46" fmla="*/ 237 w 508"/>
                          <a:gd name="T47" fmla="*/ 192 h 259"/>
                          <a:gd name="T48" fmla="*/ 214 w 508"/>
                          <a:gd name="T49" fmla="*/ 206 h 259"/>
                          <a:gd name="T50" fmla="*/ 194 w 508"/>
                          <a:gd name="T51" fmla="*/ 217 h 259"/>
                          <a:gd name="T52" fmla="*/ 167 w 508"/>
                          <a:gd name="T53" fmla="*/ 206 h 259"/>
                          <a:gd name="T54" fmla="*/ 162 w 508"/>
                          <a:gd name="T55" fmla="*/ 187 h 259"/>
                          <a:gd name="T56" fmla="*/ 158 w 508"/>
                          <a:gd name="T57" fmla="*/ 164 h 259"/>
                          <a:gd name="T58" fmla="*/ 118 w 508"/>
                          <a:gd name="T59" fmla="*/ 169 h 259"/>
                          <a:gd name="T60" fmla="*/ 85 w 508"/>
                          <a:gd name="T61" fmla="*/ 176 h 259"/>
                          <a:gd name="T62" fmla="*/ 79 w 508"/>
                          <a:gd name="T63" fmla="*/ 164 h 259"/>
                          <a:gd name="T64" fmla="*/ 51 w 508"/>
                          <a:gd name="T65" fmla="*/ 164 h 259"/>
                          <a:gd name="T66" fmla="*/ 14 w 508"/>
                          <a:gd name="T67" fmla="*/ 136 h 259"/>
                          <a:gd name="T68" fmla="*/ 0 w 508"/>
                          <a:gd name="T69" fmla="*/ 106 h 259"/>
                          <a:gd name="T70" fmla="*/ 7 w 508"/>
                          <a:gd name="T71" fmla="*/ 92 h 259"/>
                          <a:gd name="T72" fmla="*/ 2 w 508"/>
                          <a:gd name="T73" fmla="*/ 67 h 259"/>
                          <a:gd name="T74" fmla="*/ 31 w 508"/>
                          <a:gd name="T75" fmla="*/ 64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08" h="259">
                            <a:moveTo>
                              <a:pt x="31" y="64"/>
                            </a:moveTo>
                            <a:lnTo>
                              <a:pt x="123" y="69"/>
                            </a:lnTo>
                            <a:lnTo>
                              <a:pt x="187" y="67"/>
                            </a:lnTo>
                            <a:lnTo>
                              <a:pt x="264" y="32"/>
                            </a:lnTo>
                            <a:lnTo>
                              <a:pt x="328" y="4"/>
                            </a:lnTo>
                            <a:lnTo>
                              <a:pt x="386" y="0"/>
                            </a:lnTo>
                            <a:lnTo>
                              <a:pt x="412" y="25"/>
                            </a:lnTo>
                            <a:lnTo>
                              <a:pt x="451" y="41"/>
                            </a:lnTo>
                            <a:lnTo>
                              <a:pt x="496" y="46"/>
                            </a:lnTo>
                            <a:lnTo>
                              <a:pt x="508" y="69"/>
                            </a:lnTo>
                            <a:lnTo>
                              <a:pt x="503" y="118"/>
                            </a:lnTo>
                            <a:lnTo>
                              <a:pt x="493" y="150"/>
                            </a:lnTo>
                            <a:lnTo>
                              <a:pt x="471" y="176"/>
                            </a:lnTo>
                            <a:lnTo>
                              <a:pt x="437" y="208"/>
                            </a:lnTo>
                            <a:lnTo>
                              <a:pt x="422" y="236"/>
                            </a:lnTo>
                            <a:lnTo>
                              <a:pt x="398" y="257"/>
                            </a:lnTo>
                            <a:lnTo>
                              <a:pt x="378" y="259"/>
                            </a:lnTo>
                            <a:lnTo>
                              <a:pt x="349" y="233"/>
                            </a:lnTo>
                            <a:lnTo>
                              <a:pt x="332" y="243"/>
                            </a:lnTo>
                            <a:lnTo>
                              <a:pt x="301" y="245"/>
                            </a:lnTo>
                            <a:lnTo>
                              <a:pt x="281" y="206"/>
                            </a:lnTo>
                            <a:lnTo>
                              <a:pt x="267" y="212"/>
                            </a:lnTo>
                            <a:lnTo>
                              <a:pt x="248" y="212"/>
                            </a:lnTo>
                            <a:lnTo>
                              <a:pt x="237" y="192"/>
                            </a:lnTo>
                            <a:lnTo>
                              <a:pt x="214" y="206"/>
                            </a:lnTo>
                            <a:lnTo>
                              <a:pt x="194" y="217"/>
                            </a:lnTo>
                            <a:lnTo>
                              <a:pt x="167" y="206"/>
                            </a:lnTo>
                            <a:lnTo>
                              <a:pt x="162" y="187"/>
                            </a:lnTo>
                            <a:lnTo>
                              <a:pt x="158" y="164"/>
                            </a:lnTo>
                            <a:lnTo>
                              <a:pt x="118" y="169"/>
                            </a:lnTo>
                            <a:lnTo>
                              <a:pt x="85" y="176"/>
                            </a:lnTo>
                            <a:lnTo>
                              <a:pt x="79" y="164"/>
                            </a:lnTo>
                            <a:lnTo>
                              <a:pt x="51" y="164"/>
                            </a:lnTo>
                            <a:lnTo>
                              <a:pt x="14" y="136"/>
                            </a:lnTo>
                            <a:lnTo>
                              <a:pt x="0" y="106"/>
                            </a:lnTo>
                            <a:lnTo>
                              <a:pt x="7" y="92"/>
                            </a:lnTo>
                            <a:lnTo>
                              <a:pt x="2" y="67"/>
                            </a:lnTo>
                            <a:lnTo>
                              <a:pt x="31" y="64"/>
                            </a:lnTo>
                            <a:close/>
                          </a:path>
                        </a:pathLst>
                      </a:custGeom>
                      <a:solidFill>
                        <a:srgbClr val="C08040"/>
                      </a:solidFill>
                      <a:ln w="9525">
                        <a:solidFill>
                          <a:srgbClr val="000000"/>
                        </a:solidFill>
                        <a:prstDash val="solid"/>
                        <a:round/>
                      </a:ln>
                    </p:spPr>
                    <p:txBody>
                      <a:bodyPr/>
                      <a:lstStyle/>
                      <a:p>
                        <a:endParaRPr lang="zh-CN" altLang="en-US"/>
                      </a:p>
                    </p:txBody>
                  </p:sp>
                  <p:grpSp>
                    <p:nvGrpSpPr>
                      <p:cNvPr id="346568" name="Group 456"/>
                      <p:cNvGrpSpPr/>
                      <p:nvPr/>
                    </p:nvGrpSpPr>
                    <p:grpSpPr bwMode="auto">
                      <a:xfrm>
                        <a:off x="4427" y="2371"/>
                        <a:ext cx="190" cy="99"/>
                        <a:chOff x="4427" y="2371"/>
                        <a:chExt cx="190" cy="99"/>
                      </a:xfrm>
                    </p:grpSpPr>
                    <p:sp>
                      <p:nvSpPr>
                        <p:cNvPr id="346564" name="Freeform 452"/>
                        <p:cNvSpPr/>
                        <p:nvPr/>
                      </p:nvSpPr>
                      <p:spPr bwMode="auto">
                        <a:xfrm>
                          <a:off x="4427" y="2404"/>
                          <a:ext cx="59" cy="29"/>
                        </a:xfrm>
                        <a:custGeom>
                          <a:avLst/>
                          <a:gdLst>
                            <a:gd name="T0" fmla="*/ 0 w 117"/>
                            <a:gd name="T1" fmla="*/ 58 h 58"/>
                            <a:gd name="T2" fmla="*/ 59 w 117"/>
                            <a:gd name="T3" fmla="*/ 39 h 58"/>
                            <a:gd name="T4" fmla="*/ 117 w 117"/>
                            <a:gd name="T5" fmla="*/ 0 h 58"/>
                            <a:gd name="T6" fmla="*/ 95 w 117"/>
                            <a:gd name="T7" fmla="*/ 30 h 58"/>
                            <a:gd name="T8" fmla="*/ 70 w 117"/>
                            <a:gd name="T9" fmla="*/ 49 h 58"/>
                            <a:gd name="T10" fmla="*/ 0 w 117"/>
                            <a:gd name="T11" fmla="*/ 58 h 58"/>
                          </a:gdLst>
                          <a:ahLst/>
                          <a:cxnLst>
                            <a:cxn ang="0">
                              <a:pos x="T0" y="T1"/>
                            </a:cxn>
                            <a:cxn ang="0">
                              <a:pos x="T2" y="T3"/>
                            </a:cxn>
                            <a:cxn ang="0">
                              <a:pos x="T4" y="T5"/>
                            </a:cxn>
                            <a:cxn ang="0">
                              <a:pos x="T6" y="T7"/>
                            </a:cxn>
                            <a:cxn ang="0">
                              <a:pos x="T8" y="T9"/>
                            </a:cxn>
                            <a:cxn ang="0">
                              <a:pos x="T10" y="T11"/>
                            </a:cxn>
                          </a:cxnLst>
                          <a:rect l="0" t="0" r="r" b="b"/>
                          <a:pathLst>
                            <a:path w="117" h="58">
                              <a:moveTo>
                                <a:pt x="0" y="58"/>
                              </a:moveTo>
                              <a:lnTo>
                                <a:pt x="59" y="39"/>
                              </a:lnTo>
                              <a:lnTo>
                                <a:pt x="117" y="0"/>
                              </a:lnTo>
                              <a:lnTo>
                                <a:pt x="95" y="30"/>
                              </a:lnTo>
                              <a:lnTo>
                                <a:pt x="70" y="49"/>
                              </a:lnTo>
                              <a:lnTo>
                                <a:pt x="0" y="58"/>
                              </a:lnTo>
                              <a:close/>
                            </a:path>
                          </a:pathLst>
                        </a:custGeom>
                        <a:solidFill>
                          <a:srgbClr val="804000"/>
                        </a:solidFill>
                        <a:ln w="9525">
                          <a:solidFill>
                            <a:srgbClr val="000000"/>
                          </a:solidFill>
                          <a:prstDash val="solid"/>
                          <a:round/>
                        </a:ln>
                      </p:spPr>
                      <p:txBody>
                        <a:bodyPr/>
                        <a:lstStyle/>
                        <a:p>
                          <a:endParaRPr lang="zh-CN" altLang="en-US"/>
                        </a:p>
                      </p:txBody>
                    </p:sp>
                    <p:sp>
                      <p:nvSpPr>
                        <p:cNvPr id="346565" name="Freeform 453"/>
                        <p:cNvSpPr/>
                        <p:nvPr/>
                      </p:nvSpPr>
                      <p:spPr bwMode="auto">
                        <a:xfrm>
                          <a:off x="4504" y="2371"/>
                          <a:ext cx="48" cy="80"/>
                        </a:xfrm>
                        <a:custGeom>
                          <a:avLst/>
                          <a:gdLst>
                            <a:gd name="T0" fmla="*/ 0 w 96"/>
                            <a:gd name="T1" fmla="*/ 158 h 158"/>
                            <a:gd name="T2" fmla="*/ 33 w 96"/>
                            <a:gd name="T3" fmla="*/ 105 h 158"/>
                            <a:gd name="T4" fmla="*/ 96 w 96"/>
                            <a:gd name="T5" fmla="*/ 0 h 158"/>
                            <a:gd name="T6" fmla="*/ 77 w 96"/>
                            <a:gd name="T7" fmla="*/ 63 h 158"/>
                            <a:gd name="T8" fmla="*/ 65 w 96"/>
                            <a:gd name="T9" fmla="*/ 109 h 158"/>
                            <a:gd name="T10" fmla="*/ 0 w 96"/>
                            <a:gd name="T11" fmla="*/ 158 h 158"/>
                          </a:gdLst>
                          <a:ahLst/>
                          <a:cxnLst>
                            <a:cxn ang="0">
                              <a:pos x="T0" y="T1"/>
                            </a:cxn>
                            <a:cxn ang="0">
                              <a:pos x="T2" y="T3"/>
                            </a:cxn>
                            <a:cxn ang="0">
                              <a:pos x="T4" y="T5"/>
                            </a:cxn>
                            <a:cxn ang="0">
                              <a:pos x="T6" y="T7"/>
                            </a:cxn>
                            <a:cxn ang="0">
                              <a:pos x="T8" y="T9"/>
                            </a:cxn>
                            <a:cxn ang="0">
                              <a:pos x="T10" y="T11"/>
                            </a:cxn>
                          </a:cxnLst>
                          <a:rect l="0" t="0" r="r" b="b"/>
                          <a:pathLst>
                            <a:path w="96" h="158">
                              <a:moveTo>
                                <a:pt x="0" y="158"/>
                              </a:moveTo>
                              <a:lnTo>
                                <a:pt x="33" y="105"/>
                              </a:lnTo>
                              <a:lnTo>
                                <a:pt x="96" y="0"/>
                              </a:lnTo>
                              <a:lnTo>
                                <a:pt x="77" y="63"/>
                              </a:lnTo>
                              <a:lnTo>
                                <a:pt x="65" y="109"/>
                              </a:lnTo>
                              <a:lnTo>
                                <a:pt x="0" y="158"/>
                              </a:lnTo>
                              <a:close/>
                            </a:path>
                          </a:pathLst>
                        </a:custGeom>
                        <a:solidFill>
                          <a:srgbClr val="804000"/>
                        </a:solidFill>
                        <a:ln w="9525">
                          <a:solidFill>
                            <a:srgbClr val="000000"/>
                          </a:solidFill>
                          <a:prstDash val="solid"/>
                          <a:round/>
                        </a:ln>
                      </p:spPr>
                      <p:txBody>
                        <a:bodyPr/>
                        <a:lstStyle/>
                        <a:p>
                          <a:endParaRPr lang="zh-CN" altLang="en-US"/>
                        </a:p>
                      </p:txBody>
                    </p:sp>
                    <p:sp>
                      <p:nvSpPr>
                        <p:cNvPr id="346566" name="Freeform 454"/>
                        <p:cNvSpPr/>
                        <p:nvPr/>
                      </p:nvSpPr>
                      <p:spPr bwMode="auto">
                        <a:xfrm>
                          <a:off x="4560" y="2375"/>
                          <a:ext cx="34" cy="95"/>
                        </a:xfrm>
                        <a:custGeom>
                          <a:avLst/>
                          <a:gdLst>
                            <a:gd name="T0" fmla="*/ 0 w 68"/>
                            <a:gd name="T1" fmla="*/ 190 h 190"/>
                            <a:gd name="T2" fmla="*/ 49 w 68"/>
                            <a:gd name="T3" fmla="*/ 148 h 190"/>
                            <a:gd name="T4" fmla="*/ 47 w 68"/>
                            <a:gd name="T5" fmla="*/ 61 h 190"/>
                            <a:gd name="T6" fmla="*/ 13 w 68"/>
                            <a:gd name="T7" fmla="*/ 0 h 190"/>
                            <a:gd name="T8" fmla="*/ 54 w 68"/>
                            <a:gd name="T9" fmla="*/ 58 h 190"/>
                            <a:gd name="T10" fmla="*/ 68 w 68"/>
                            <a:gd name="T11" fmla="*/ 116 h 190"/>
                            <a:gd name="T12" fmla="*/ 64 w 68"/>
                            <a:gd name="T13" fmla="*/ 165 h 190"/>
                            <a:gd name="T14" fmla="*/ 0 w 68"/>
                            <a:gd name="T15" fmla="*/ 190 h 1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90">
                              <a:moveTo>
                                <a:pt x="0" y="190"/>
                              </a:moveTo>
                              <a:lnTo>
                                <a:pt x="49" y="148"/>
                              </a:lnTo>
                              <a:lnTo>
                                <a:pt x="47" y="61"/>
                              </a:lnTo>
                              <a:lnTo>
                                <a:pt x="13" y="0"/>
                              </a:lnTo>
                              <a:lnTo>
                                <a:pt x="54" y="58"/>
                              </a:lnTo>
                              <a:lnTo>
                                <a:pt x="68" y="116"/>
                              </a:lnTo>
                              <a:lnTo>
                                <a:pt x="64" y="165"/>
                              </a:lnTo>
                              <a:lnTo>
                                <a:pt x="0" y="190"/>
                              </a:lnTo>
                              <a:close/>
                            </a:path>
                          </a:pathLst>
                        </a:custGeom>
                        <a:solidFill>
                          <a:srgbClr val="804000"/>
                        </a:solidFill>
                        <a:ln w="9525">
                          <a:solidFill>
                            <a:srgbClr val="000000"/>
                          </a:solidFill>
                          <a:prstDash val="solid"/>
                          <a:round/>
                        </a:ln>
                      </p:spPr>
                      <p:txBody>
                        <a:bodyPr/>
                        <a:lstStyle/>
                        <a:p>
                          <a:endParaRPr lang="zh-CN" altLang="en-US"/>
                        </a:p>
                      </p:txBody>
                    </p:sp>
                    <p:sp>
                      <p:nvSpPr>
                        <p:cNvPr id="346567" name="Freeform 455"/>
                        <p:cNvSpPr/>
                        <p:nvPr/>
                      </p:nvSpPr>
                      <p:spPr bwMode="auto">
                        <a:xfrm>
                          <a:off x="4607" y="2406"/>
                          <a:ext cx="10" cy="36"/>
                        </a:xfrm>
                        <a:custGeom>
                          <a:avLst/>
                          <a:gdLst>
                            <a:gd name="T0" fmla="*/ 0 w 20"/>
                            <a:gd name="T1" fmla="*/ 0 h 73"/>
                            <a:gd name="T2" fmla="*/ 20 w 20"/>
                            <a:gd name="T3" fmla="*/ 48 h 73"/>
                            <a:gd name="T4" fmla="*/ 14 w 20"/>
                            <a:gd name="T5" fmla="*/ 73 h 73"/>
                          </a:gdLst>
                          <a:ahLst/>
                          <a:cxnLst>
                            <a:cxn ang="0">
                              <a:pos x="T0" y="T1"/>
                            </a:cxn>
                            <a:cxn ang="0">
                              <a:pos x="T2" y="T3"/>
                            </a:cxn>
                            <a:cxn ang="0">
                              <a:pos x="T4" y="T5"/>
                            </a:cxn>
                          </a:cxnLst>
                          <a:rect l="0" t="0" r="r" b="b"/>
                          <a:pathLst>
                            <a:path w="20" h="73">
                              <a:moveTo>
                                <a:pt x="0" y="0"/>
                              </a:moveTo>
                              <a:lnTo>
                                <a:pt x="20" y="48"/>
                              </a:lnTo>
                              <a:lnTo>
                                <a:pt x="14" y="73"/>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grpSp>
                <p:nvGrpSpPr>
                  <p:cNvPr id="346578" name="Group 466"/>
                  <p:cNvGrpSpPr/>
                  <p:nvPr/>
                </p:nvGrpSpPr>
                <p:grpSpPr bwMode="auto">
                  <a:xfrm>
                    <a:off x="4462" y="2131"/>
                    <a:ext cx="302" cy="270"/>
                    <a:chOff x="4462" y="2131"/>
                    <a:chExt cx="302" cy="270"/>
                  </a:xfrm>
                </p:grpSpPr>
                <p:sp>
                  <p:nvSpPr>
                    <p:cNvPr id="346571" name="Freeform 459"/>
                    <p:cNvSpPr/>
                    <p:nvPr/>
                  </p:nvSpPr>
                  <p:spPr bwMode="auto">
                    <a:xfrm>
                      <a:off x="4595" y="2229"/>
                      <a:ext cx="145" cy="139"/>
                    </a:xfrm>
                    <a:custGeom>
                      <a:avLst/>
                      <a:gdLst>
                        <a:gd name="T0" fmla="*/ 21 w 289"/>
                        <a:gd name="T1" fmla="*/ 111 h 279"/>
                        <a:gd name="T2" fmla="*/ 55 w 289"/>
                        <a:gd name="T3" fmla="*/ 57 h 279"/>
                        <a:gd name="T4" fmla="*/ 75 w 289"/>
                        <a:gd name="T5" fmla="*/ 37 h 279"/>
                        <a:gd name="T6" fmla="*/ 121 w 289"/>
                        <a:gd name="T7" fmla="*/ 13 h 279"/>
                        <a:gd name="T8" fmla="*/ 172 w 289"/>
                        <a:gd name="T9" fmla="*/ 0 h 279"/>
                        <a:gd name="T10" fmla="*/ 218 w 289"/>
                        <a:gd name="T11" fmla="*/ 0 h 279"/>
                        <a:gd name="T12" fmla="*/ 247 w 289"/>
                        <a:gd name="T13" fmla="*/ 9 h 279"/>
                        <a:gd name="T14" fmla="*/ 272 w 289"/>
                        <a:gd name="T15" fmla="*/ 43 h 279"/>
                        <a:gd name="T16" fmla="*/ 289 w 289"/>
                        <a:gd name="T17" fmla="*/ 90 h 279"/>
                        <a:gd name="T18" fmla="*/ 284 w 289"/>
                        <a:gd name="T19" fmla="*/ 140 h 279"/>
                        <a:gd name="T20" fmla="*/ 258 w 289"/>
                        <a:gd name="T21" fmla="*/ 184 h 279"/>
                        <a:gd name="T22" fmla="*/ 240 w 289"/>
                        <a:gd name="T23" fmla="*/ 217 h 279"/>
                        <a:gd name="T24" fmla="*/ 187 w 289"/>
                        <a:gd name="T25" fmla="*/ 249 h 279"/>
                        <a:gd name="T26" fmla="*/ 121 w 289"/>
                        <a:gd name="T27" fmla="*/ 265 h 279"/>
                        <a:gd name="T28" fmla="*/ 63 w 289"/>
                        <a:gd name="T29" fmla="*/ 279 h 279"/>
                        <a:gd name="T30" fmla="*/ 24 w 289"/>
                        <a:gd name="T31" fmla="*/ 265 h 279"/>
                        <a:gd name="T32" fmla="*/ 4 w 289"/>
                        <a:gd name="T33" fmla="*/ 238 h 279"/>
                        <a:gd name="T34" fmla="*/ 0 w 289"/>
                        <a:gd name="T35" fmla="*/ 192 h 279"/>
                        <a:gd name="T36" fmla="*/ 21 w 289"/>
                        <a:gd name="T37" fmla="*/ 111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9" h="279">
                          <a:moveTo>
                            <a:pt x="21" y="111"/>
                          </a:moveTo>
                          <a:lnTo>
                            <a:pt x="55" y="57"/>
                          </a:lnTo>
                          <a:lnTo>
                            <a:pt x="75" y="37"/>
                          </a:lnTo>
                          <a:lnTo>
                            <a:pt x="121" y="13"/>
                          </a:lnTo>
                          <a:lnTo>
                            <a:pt x="172" y="0"/>
                          </a:lnTo>
                          <a:lnTo>
                            <a:pt x="218" y="0"/>
                          </a:lnTo>
                          <a:lnTo>
                            <a:pt x="247" y="9"/>
                          </a:lnTo>
                          <a:lnTo>
                            <a:pt x="272" y="43"/>
                          </a:lnTo>
                          <a:lnTo>
                            <a:pt x="289" y="90"/>
                          </a:lnTo>
                          <a:lnTo>
                            <a:pt x="284" y="140"/>
                          </a:lnTo>
                          <a:lnTo>
                            <a:pt x="258" y="184"/>
                          </a:lnTo>
                          <a:lnTo>
                            <a:pt x="240" y="217"/>
                          </a:lnTo>
                          <a:lnTo>
                            <a:pt x="187" y="249"/>
                          </a:lnTo>
                          <a:lnTo>
                            <a:pt x="121" y="265"/>
                          </a:lnTo>
                          <a:lnTo>
                            <a:pt x="63" y="279"/>
                          </a:lnTo>
                          <a:lnTo>
                            <a:pt x="24" y="265"/>
                          </a:lnTo>
                          <a:lnTo>
                            <a:pt x="4" y="238"/>
                          </a:lnTo>
                          <a:lnTo>
                            <a:pt x="0" y="192"/>
                          </a:lnTo>
                          <a:lnTo>
                            <a:pt x="21" y="111"/>
                          </a:lnTo>
                          <a:close/>
                        </a:path>
                      </a:pathLst>
                    </a:custGeom>
                    <a:solidFill>
                      <a:srgbClr val="F0F0FF"/>
                    </a:solidFill>
                    <a:ln w="9525">
                      <a:solidFill>
                        <a:srgbClr val="000000"/>
                      </a:solidFill>
                      <a:prstDash val="solid"/>
                      <a:round/>
                    </a:ln>
                  </p:spPr>
                  <p:txBody>
                    <a:bodyPr/>
                    <a:lstStyle/>
                    <a:p>
                      <a:endParaRPr lang="zh-CN" altLang="en-US"/>
                    </a:p>
                  </p:txBody>
                </p:sp>
                <p:sp>
                  <p:nvSpPr>
                    <p:cNvPr id="346572" name="Freeform 460"/>
                    <p:cNvSpPr/>
                    <p:nvPr/>
                  </p:nvSpPr>
                  <p:spPr bwMode="auto">
                    <a:xfrm>
                      <a:off x="4657" y="2186"/>
                      <a:ext cx="107" cy="86"/>
                    </a:xfrm>
                    <a:custGeom>
                      <a:avLst/>
                      <a:gdLst>
                        <a:gd name="T0" fmla="*/ 27 w 214"/>
                        <a:gd name="T1" fmla="*/ 0 h 173"/>
                        <a:gd name="T2" fmla="*/ 206 w 214"/>
                        <a:gd name="T3" fmla="*/ 102 h 173"/>
                        <a:gd name="T4" fmla="*/ 213 w 214"/>
                        <a:gd name="T5" fmla="*/ 116 h 173"/>
                        <a:gd name="T6" fmla="*/ 214 w 214"/>
                        <a:gd name="T7" fmla="*/ 137 h 173"/>
                        <a:gd name="T8" fmla="*/ 211 w 214"/>
                        <a:gd name="T9" fmla="*/ 153 h 173"/>
                        <a:gd name="T10" fmla="*/ 206 w 214"/>
                        <a:gd name="T11" fmla="*/ 167 h 173"/>
                        <a:gd name="T12" fmla="*/ 197 w 214"/>
                        <a:gd name="T13" fmla="*/ 173 h 173"/>
                        <a:gd name="T14" fmla="*/ 180 w 214"/>
                        <a:gd name="T15" fmla="*/ 173 h 173"/>
                        <a:gd name="T16" fmla="*/ 17 w 214"/>
                        <a:gd name="T17" fmla="*/ 76 h 173"/>
                        <a:gd name="T18" fmla="*/ 4 w 214"/>
                        <a:gd name="T19" fmla="*/ 62 h 173"/>
                        <a:gd name="T20" fmla="*/ 0 w 214"/>
                        <a:gd name="T21" fmla="*/ 42 h 173"/>
                        <a:gd name="T22" fmla="*/ 4 w 214"/>
                        <a:gd name="T23" fmla="*/ 21 h 173"/>
                        <a:gd name="T24" fmla="*/ 10 w 214"/>
                        <a:gd name="T25" fmla="*/ 11 h 173"/>
                        <a:gd name="T26" fmla="*/ 19 w 214"/>
                        <a:gd name="T27" fmla="*/ 2 h 173"/>
                        <a:gd name="T28" fmla="*/ 27 w 214"/>
                        <a:gd name="T29" fmla="*/ 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4" h="173">
                          <a:moveTo>
                            <a:pt x="27" y="0"/>
                          </a:moveTo>
                          <a:lnTo>
                            <a:pt x="206" y="102"/>
                          </a:lnTo>
                          <a:lnTo>
                            <a:pt x="213" y="116"/>
                          </a:lnTo>
                          <a:lnTo>
                            <a:pt x="214" y="137"/>
                          </a:lnTo>
                          <a:lnTo>
                            <a:pt x="211" y="153"/>
                          </a:lnTo>
                          <a:lnTo>
                            <a:pt x="206" y="167"/>
                          </a:lnTo>
                          <a:lnTo>
                            <a:pt x="197" y="173"/>
                          </a:lnTo>
                          <a:lnTo>
                            <a:pt x="180" y="173"/>
                          </a:lnTo>
                          <a:lnTo>
                            <a:pt x="17" y="76"/>
                          </a:lnTo>
                          <a:lnTo>
                            <a:pt x="4" y="62"/>
                          </a:lnTo>
                          <a:lnTo>
                            <a:pt x="0" y="42"/>
                          </a:lnTo>
                          <a:lnTo>
                            <a:pt x="4" y="21"/>
                          </a:lnTo>
                          <a:lnTo>
                            <a:pt x="10" y="11"/>
                          </a:lnTo>
                          <a:lnTo>
                            <a:pt x="19" y="2"/>
                          </a:lnTo>
                          <a:lnTo>
                            <a:pt x="27" y="0"/>
                          </a:lnTo>
                          <a:close/>
                        </a:path>
                      </a:pathLst>
                    </a:custGeom>
                    <a:solidFill>
                      <a:srgbClr val="C08040"/>
                    </a:solidFill>
                    <a:ln w="9525">
                      <a:solidFill>
                        <a:srgbClr val="000000"/>
                      </a:solidFill>
                      <a:prstDash val="solid"/>
                      <a:round/>
                    </a:ln>
                  </p:spPr>
                  <p:txBody>
                    <a:bodyPr/>
                    <a:lstStyle/>
                    <a:p>
                      <a:endParaRPr lang="zh-CN" altLang="en-US"/>
                    </a:p>
                  </p:txBody>
                </p:sp>
                <p:sp>
                  <p:nvSpPr>
                    <p:cNvPr id="346573" name="Freeform 461"/>
                    <p:cNvSpPr/>
                    <p:nvPr/>
                  </p:nvSpPr>
                  <p:spPr bwMode="auto">
                    <a:xfrm>
                      <a:off x="4560" y="2191"/>
                      <a:ext cx="196" cy="210"/>
                    </a:xfrm>
                    <a:custGeom>
                      <a:avLst/>
                      <a:gdLst>
                        <a:gd name="T0" fmla="*/ 120 w 390"/>
                        <a:gd name="T1" fmla="*/ 0 h 421"/>
                        <a:gd name="T2" fmla="*/ 234 w 390"/>
                        <a:gd name="T3" fmla="*/ 97 h 421"/>
                        <a:gd name="T4" fmla="*/ 282 w 390"/>
                        <a:gd name="T5" fmla="*/ 141 h 421"/>
                        <a:gd name="T6" fmla="*/ 329 w 390"/>
                        <a:gd name="T7" fmla="*/ 192 h 421"/>
                        <a:gd name="T8" fmla="*/ 358 w 390"/>
                        <a:gd name="T9" fmla="*/ 232 h 421"/>
                        <a:gd name="T10" fmla="*/ 383 w 390"/>
                        <a:gd name="T11" fmla="*/ 273 h 421"/>
                        <a:gd name="T12" fmla="*/ 390 w 390"/>
                        <a:gd name="T13" fmla="*/ 320 h 421"/>
                        <a:gd name="T14" fmla="*/ 385 w 390"/>
                        <a:gd name="T15" fmla="*/ 370 h 421"/>
                        <a:gd name="T16" fmla="*/ 365 w 390"/>
                        <a:gd name="T17" fmla="*/ 399 h 421"/>
                        <a:gd name="T18" fmla="*/ 329 w 390"/>
                        <a:gd name="T19" fmla="*/ 421 h 421"/>
                        <a:gd name="T20" fmla="*/ 242 w 390"/>
                        <a:gd name="T21" fmla="*/ 421 h 421"/>
                        <a:gd name="T22" fmla="*/ 181 w 390"/>
                        <a:gd name="T23" fmla="*/ 412 h 421"/>
                        <a:gd name="T24" fmla="*/ 90 w 390"/>
                        <a:gd name="T25" fmla="*/ 385 h 421"/>
                        <a:gd name="T26" fmla="*/ 73 w 390"/>
                        <a:gd name="T27" fmla="*/ 357 h 421"/>
                        <a:gd name="T28" fmla="*/ 45 w 390"/>
                        <a:gd name="T29" fmla="*/ 320 h 421"/>
                        <a:gd name="T30" fmla="*/ 0 w 390"/>
                        <a:gd name="T31" fmla="*/ 301 h 421"/>
                        <a:gd name="T32" fmla="*/ 40 w 390"/>
                        <a:gd name="T33" fmla="*/ 239 h 421"/>
                        <a:gd name="T34" fmla="*/ 40 w 390"/>
                        <a:gd name="T35" fmla="*/ 97 h 421"/>
                        <a:gd name="T36" fmla="*/ 120 w 390"/>
                        <a:gd name="T37" fmla="*/ 0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0" h="421">
                          <a:moveTo>
                            <a:pt x="120" y="0"/>
                          </a:moveTo>
                          <a:lnTo>
                            <a:pt x="234" y="97"/>
                          </a:lnTo>
                          <a:lnTo>
                            <a:pt x="282" y="141"/>
                          </a:lnTo>
                          <a:lnTo>
                            <a:pt x="329" y="192"/>
                          </a:lnTo>
                          <a:lnTo>
                            <a:pt x="358" y="232"/>
                          </a:lnTo>
                          <a:lnTo>
                            <a:pt x="383" y="273"/>
                          </a:lnTo>
                          <a:lnTo>
                            <a:pt x="390" y="320"/>
                          </a:lnTo>
                          <a:lnTo>
                            <a:pt x="385" y="370"/>
                          </a:lnTo>
                          <a:lnTo>
                            <a:pt x="365" y="399"/>
                          </a:lnTo>
                          <a:lnTo>
                            <a:pt x="329" y="421"/>
                          </a:lnTo>
                          <a:lnTo>
                            <a:pt x="242" y="421"/>
                          </a:lnTo>
                          <a:lnTo>
                            <a:pt x="181" y="412"/>
                          </a:lnTo>
                          <a:lnTo>
                            <a:pt x="90" y="385"/>
                          </a:lnTo>
                          <a:lnTo>
                            <a:pt x="73" y="357"/>
                          </a:lnTo>
                          <a:lnTo>
                            <a:pt x="45" y="320"/>
                          </a:lnTo>
                          <a:lnTo>
                            <a:pt x="0" y="301"/>
                          </a:lnTo>
                          <a:lnTo>
                            <a:pt x="40" y="239"/>
                          </a:lnTo>
                          <a:lnTo>
                            <a:pt x="40" y="97"/>
                          </a:lnTo>
                          <a:lnTo>
                            <a:pt x="120" y="0"/>
                          </a:lnTo>
                          <a:close/>
                        </a:path>
                      </a:pathLst>
                    </a:custGeom>
                    <a:solidFill>
                      <a:srgbClr val="E0A080"/>
                    </a:solidFill>
                    <a:ln w="9525">
                      <a:solidFill>
                        <a:srgbClr val="000000"/>
                      </a:solidFill>
                      <a:prstDash val="solid"/>
                      <a:round/>
                    </a:ln>
                  </p:spPr>
                  <p:txBody>
                    <a:bodyPr/>
                    <a:lstStyle/>
                    <a:p>
                      <a:endParaRPr lang="zh-CN" altLang="en-US"/>
                    </a:p>
                  </p:txBody>
                </p:sp>
                <p:grpSp>
                  <p:nvGrpSpPr>
                    <p:cNvPr id="346577" name="Group 465"/>
                    <p:cNvGrpSpPr/>
                    <p:nvPr/>
                  </p:nvGrpSpPr>
                  <p:grpSpPr bwMode="auto">
                    <a:xfrm>
                      <a:off x="4462" y="2131"/>
                      <a:ext cx="183" cy="184"/>
                      <a:chOff x="4462" y="2131"/>
                      <a:chExt cx="183" cy="184"/>
                    </a:xfrm>
                  </p:grpSpPr>
                  <p:sp>
                    <p:nvSpPr>
                      <p:cNvPr id="346574" name="Freeform 462"/>
                      <p:cNvSpPr/>
                      <p:nvPr/>
                    </p:nvSpPr>
                    <p:spPr bwMode="auto">
                      <a:xfrm>
                        <a:off x="4462" y="2176"/>
                        <a:ext cx="145" cy="139"/>
                      </a:xfrm>
                      <a:custGeom>
                        <a:avLst/>
                        <a:gdLst>
                          <a:gd name="T0" fmla="*/ 20 w 290"/>
                          <a:gd name="T1" fmla="*/ 112 h 278"/>
                          <a:gd name="T2" fmla="*/ 54 w 290"/>
                          <a:gd name="T3" fmla="*/ 58 h 278"/>
                          <a:gd name="T4" fmla="*/ 74 w 290"/>
                          <a:gd name="T5" fmla="*/ 35 h 278"/>
                          <a:gd name="T6" fmla="*/ 120 w 290"/>
                          <a:gd name="T7" fmla="*/ 10 h 278"/>
                          <a:gd name="T8" fmla="*/ 174 w 290"/>
                          <a:gd name="T9" fmla="*/ 0 h 278"/>
                          <a:gd name="T10" fmla="*/ 220 w 290"/>
                          <a:gd name="T11" fmla="*/ 0 h 278"/>
                          <a:gd name="T12" fmla="*/ 249 w 290"/>
                          <a:gd name="T13" fmla="*/ 8 h 278"/>
                          <a:gd name="T14" fmla="*/ 276 w 290"/>
                          <a:gd name="T15" fmla="*/ 42 h 278"/>
                          <a:gd name="T16" fmla="*/ 290 w 290"/>
                          <a:gd name="T17" fmla="*/ 90 h 278"/>
                          <a:gd name="T18" fmla="*/ 287 w 290"/>
                          <a:gd name="T19" fmla="*/ 142 h 278"/>
                          <a:gd name="T20" fmla="*/ 261 w 290"/>
                          <a:gd name="T21" fmla="*/ 186 h 278"/>
                          <a:gd name="T22" fmla="*/ 241 w 290"/>
                          <a:gd name="T23" fmla="*/ 216 h 278"/>
                          <a:gd name="T24" fmla="*/ 188 w 290"/>
                          <a:gd name="T25" fmla="*/ 246 h 278"/>
                          <a:gd name="T26" fmla="*/ 120 w 290"/>
                          <a:gd name="T27" fmla="*/ 264 h 278"/>
                          <a:gd name="T28" fmla="*/ 66 w 290"/>
                          <a:gd name="T29" fmla="*/ 278 h 278"/>
                          <a:gd name="T30" fmla="*/ 27 w 290"/>
                          <a:gd name="T31" fmla="*/ 264 h 278"/>
                          <a:gd name="T32" fmla="*/ 6 w 290"/>
                          <a:gd name="T33" fmla="*/ 237 h 278"/>
                          <a:gd name="T34" fmla="*/ 0 w 290"/>
                          <a:gd name="T35" fmla="*/ 193 h 278"/>
                          <a:gd name="T36" fmla="*/ 20 w 290"/>
                          <a:gd name="T37" fmla="*/ 112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0" h="278">
                            <a:moveTo>
                              <a:pt x="20" y="112"/>
                            </a:moveTo>
                            <a:lnTo>
                              <a:pt x="54" y="58"/>
                            </a:lnTo>
                            <a:lnTo>
                              <a:pt x="74" y="35"/>
                            </a:lnTo>
                            <a:lnTo>
                              <a:pt x="120" y="10"/>
                            </a:lnTo>
                            <a:lnTo>
                              <a:pt x="174" y="0"/>
                            </a:lnTo>
                            <a:lnTo>
                              <a:pt x="220" y="0"/>
                            </a:lnTo>
                            <a:lnTo>
                              <a:pt x="249" y="8"/>
                            </a:lnTo>
                            <a:lnTo>
                              <a:pt x="276" y="42"/>
                            </a:lnTo>
                            <a:lnTo>
                              <a:pt x="290" y="90"/>
                            </a:lnTo>
                            <a:lnTo>
                              <a:pt x="287" y="142"/>
                            </a:lnTo>
                            <a:lnTo>
                              <a:pt x="261" y="186"/>
                            </a:lnTo>
                            <a:lnTo>
                              <a:pt x="241" y="216"/>
                            </a:lnTo>
                            <a:lnTo>
                              <a:pt x="188" y="246"/>
                            </a:lnTo>
                            <a:lnTo>
                              <a:pt x="120" y="264"/>
                            </a:lnTo>
                            <a:lnTo>
                              <a:pt x="66" y="278"/>
                            </a:lnTo>
                            <a:lnTo>
                              <a:pt x="27" y="264"/>
                            </a:lnTo>
                            <a:lnTo>
                              <a:pt x="6" y="237"/>
                            </a:lnTo>
                            <a:lnTo>
                              <a:pt x="0" y="193"/>
                            </a:lnTo>
                            <a:lnTo>
                              <a:pt x="20" y="112"/>
                            </a:lnTo>
                            <a:close/>
                          </a:path>
                        </a:pathLst>
                      </a:custGeom>
                      <a:solidFill>
                        <a:srgbClr val="F0F0FF"/>
                      </a:solidFill>
                      <a:ln w="9525">
                        <a:solidFill>
                          <a:srgbClr val="000000"/>
                        </a:solidFill>
                        <a:prstDash val="solid"/>
                        <a:round/>
                      </a:ln>
                    </p:spPr>
                    <p:txBody>
                      <a:bodyPr/>
                      <a:lstStyle/>
                      <a:p>
                        <a:endParaRPr lang="zh-CN" altLang="en-US"/>
                      </a:p>
                    </p:txBody>
                  </p:sp>
                  <p:sp>
                    <p:nvSpPr>
                      <p:cNvPr id="346575" name="Oval 463"/>
                      <p:cNvSpPr>
                        <a:spLocks noChangeArrowheads="1"/>
                      </p:cNvSpPr>
                      <p:nvPr/>
                    </p:nvSpPr>
                    <p:spPr bwMode="auto">
                      <a:xfrm>
                        <a:off x="4479" y="2275"/>
                        <a:ext cx="40" cy="40"/>
                      </a:xfrm>
                      <a:prstGeom prst="ellipse">
                        <a:avLst/>
                      </a:prstGeom>
                      <a:solidFill>
                        <a:srgbClr val="008080"/>
                      </a:solidFill>
                      <a:ln w="9525">
                        <a:solidFill>
                          <a:srgbClr val="000000"/>
                        </a:solidFill>
                        <a:round/>
                      </a:ln>
                    </p:spPr>
                    <p:txBody>
                      <a:bodyPr/>
                      <a:lstStyle/>
                      <a:p>
                        <a:endParaRPr lang="zh-CN" altLang="en-US"/>
                      </a:p>
                    </p:txBody>
                  </p:sp>
                  <p:sp>
                    <p:nvSpPr>
                      <p:cNvPr id="346576" name="Freeform 464"/>
                      <p:cNvSpPr/>
                      <p:nvPr/>
                    </p:nvSpPr>
                    <p:spPr bwMode="auto">
                      <a:xfrm>
                        <a:off x="4495" y="2131"/>
                        <a:ext cx="150" cy="91"/>
                      </a:xfrm>
                      <a:custGeom>
                        <a:avLst/>
                        <a:gdLst>
                          <a:gd name="T0" fmla="*/ 42 w 300"/>
                          <a:gd name="T1" fmla="*/ 0 h 181"/>
                          <a:gd name="T2" fmla="*/ 289 w 300"/>
                          <a:gd name="T3" fmla="*/ 107 h 181"/>
                          <a:gd name="T4" fmla="*/ 297 w 300"/>
                          <a:gd name="T5" fmla="*/ 121 h 181"/>
                          <a:gd name="T6" fmla="*/ 300 w 300"/>
                          <a:gd name="T7" fmla="*/ 144 h 181"/>
                          <a:gd name="T8" fmla="*/ 295 w 300"/>
                          <a:gd name="T9" fmla="*/ 160 h 181"/>
                          <a:gd name="T10" fmla="*/ 287 w 300"/>
                          <a:gd name="T11" fmla="*/ 174 h 181"/>
                          <a:gd name="T12" fmla="*/ 275 w 300"/>
                          <a:gd name="T13" fmla="*/ 180 h 181"/>
                          <a:gd name="T14" fmla="*/ 253 w 300"/>
                          <a:gd name="T15" fmla="*/ 181 h 181"/>
                          <a:gd name="T16" fmla="*/ 24 w 300"/>
                          <a:gd name="T17" fmla="*/ 79 h 181"/>
                          <a:gd name="T18" fmla="*/ 5 w 300"/>
                          <a:gd name="T19" fmla="*/ 65 h 181"/>
                          <a:gd name="T20" fmla="*/ 0 w 300"/>
                          <a:gd name="T21" fmla="*/ 44 h 181"/>
                          <a:gd name="T22" fmla="*/ 5 w 300"/>
                          <a:gd name="T23" fmla="*/ 23 h 181"/>
                          <a:gd name="T24" fmla="*/ 13 w 300"/>
                          <a:gd name="T25" fmla="*/ 12 h 181"/>
                          <a:gd name="T26" fmla="*/ 25 w 300"/>
                          <a:gd name="T27" fmla="*/ 3 h 181"/>
                          <a:gd name="T28" fmla="*/ 42 w 300"/>
                          <a:gd name="T2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0" h="181">
                            <a:moveTo>
                              <a:pt x="42" y="0"/>
                            </a:moveTo>
                            <a:lnTo>
                              <a:pt x="289" y="107"/>
                            </a:lnTo>
                            <a:lnTo>
                              <a:pt x="297" y="121"/>
                            </a:lnTo>
                            <a:lnTo>
                              <a:pt x="300" y="144"/>
                            </a:lnTo>
                            <a:lnTo>
                              <a:pt x="295" y="160"/>
                            </a:lnTo>
                            <a:lnTo>
                              <a:pt x="287" y="174"/>
                            </a:lnTo>
                            <a:lnTo>
                              <a:pt x="275" y="180"/>
                            </a:lnTo>
                            <a:lnTo>
                              <a:pt x="253" y="181"/>
                            </a:lnTo>
                            <a:lnTo>
                              <a:pt x="24" y="79"/>
                            </a:lnTo>
                            <a:lnTo>
                              <a:pt x="5" y="65"/>
                            </a:lnTo>
                            <a:lnTo>
                              <a:pt x="0" y="44"/>
                            </a:lnTo>
                            <a:lnTo>
                              <a:pt x="5" y="23"/>
                            </a:lnTo>
                            <a:lnTo>
                              <a:pt x="13" y="12"/>
                            </a:lnTo>
                            <a:lnTo>
                              <a:pt x="25" y="3"/>
                            </a:lnTo>
                            <a:lnTo>
                              <a:pt x="42" y="0"/>
                            </a:lnTo>
                            <a:close/>
                          </a:path>
                        </a:pathLst>
                      </a:custGeom>
                      <a:solidFill>
                        <a:srgbClr val="C08040"/>
                      </a:solidFill>
                      <a:ln w="9525">
                        <a:solidFill>
                          <a:srgbClr val="000000"/>
                        </a:solidFill>
                        <a:prstDash val="solid"/>
                        <a:round/>
                      </a:ln>
                    </p:spPr>
                    <p:txBody>
                      <a:bodyPr/>
                      <a:lstStyle/>
                      <a:p>
                        <a:endParaRPr lang="zh-CN" altLang="en-US"/>
                      </a:p>
                    </p:txBody>
                  </p:sp>
                </p:grpSp>
              </p:grpSp>
              <p:grpSp>
                <p:nvGrpSpPr>
                  <p:cNvPr id="346581" name="Group 469"/>
                  <p:cNvGrpSpPr/>
                  <p:nvPr/>
                </p:nvGrpSpPr>
                <p:grpSpPr bwMode="auto">
                  <a:xfrm>
                    <a:off x="4078" y="2267"/>
                    <a:ext cx="145" cy="174"/>
                    <a:chOff x="4078" y="2267"/>
                    <a:chExt cx="145" cy="174"/>
                  </a:xfrm>
                </p:grpSpPr>
                <p:sp>
                  <p:nvSpPr>
                    <p:cNvPr id="346579" name="Freeform 467"/>
                    <p:cNvSpPr/>
                    <p:nvPr/>
                  </p:nvSpPr>
                  <p:spPr bwMode="auto">
                    <a:xfrm>
                      <a:off x="4078" y="2267"/>
                      <a:ext cx="128" cy="170"/>
                    </a:xfrm>
                    <a:custGeom>
                      <a:avLst/>
                      <a:gdLst>
                        <a:gd name="T0" fmla="*/ 209 w 256"/>
                        <a:gd name="T1" fmla="*/ 53 h 340"/>
                        <a:gd name="T2" fmla="*/ 168 w 256"/>
                        <a:gd name="T3" fmla="*/ 9 h 340"/>
                        <a:gd name="T4" fmla="*/ 139 w 256"/>
                        <a:gd name="T5" fmla="*/ 2 h 340"/>
                        <a:gd name="T6" fmla="*/ 90 w 256"/>
                        <a:gd name="T7" fmla="*/ 0 h 340"/>
                        <a:gd name="T8" fmla="*/ 47 w 256"/>
                        <a:gd name="T9" fmla="*/ 25 h 340"/>
                        <a:gd name="T10" fmla="*/ 24 w 256"/>
                        <a:gd name="T11" fmla="*/ 53 h 340"/>
                        <a:gd name="T12" fmla="*/ 7 w 256"/>
                        <a:gd name="T13" fmla="*/ 86 h 340"/>
                        <a:gd name="T14" fmla="*/ 0 w 256"/>
                        <a:gd name="T15" fmla="*/ 125 h 340"/>
                        <a:gd name="T16" fmla="*/ 1 w 256"/>
                        <a:gd name="T17" fmla="*/ 169 h 340"/>
                        <a:gd name="T18" fmla="*/ 15 w 256"/>
                        <a:gd name="T19" fmla="*/ 219 h 340"/>
                        <a:gd name="T20" fmla="*/ 44 w 256"/>
                        <a:gd name="T21" fmla="*/ 257 h 340"/>
                        <a:gd name="T22" fmla="*/ 74 w 256"/>
                        <a:gd name="T23" fmla="*/ 278 h 340"/>
                        <a:gd name="T24" fmla="*/ 114 w 256"/>
                        <a:gd name="T25" fmla="*/ 294 h 340"/>
                        <a:gd name="T26" fmla="*/ 134 w 256"/>
                        <a:gd name="T27" fmla="*/ 326 h 340"/>
                        <a:gd name="T28" fmla="*/ 154 w 256"/>
                        <a:gd name="T29" fmla="*/ 337 h 340"/>
                        <a:gd name="T30" fmla="*/ 178 w 256"/>
                        <a:gd name="T31" fmla="*/ 340 h 340"/>
                        <a:gd name="T32" fmla="*/ 207 w 256"/>
                        <a:gd name="T33" fmla="*/ 333 h 340"/>
                        <a:gd name="T34" fmla="*/ 236 w 256"/>
                        <a:gd name="T35" fmla="*/ 314 h 340"/>
                        <a:gd name="T36" fmla="*/ 249 w 256"/>
                        <a:gd name="T37" fmla="*/ 285 h 340"/>
                        <a:gd name="T38" fmla="*/ 256 w 256"/>
                        <a:gd name="T39" fmla="*/ 243 h 340"/>
                        <a:gd name="T40" fmla="*/ 241 w 256"/>
                        <a:gd name="T41" fmla="*/ 203 h 340"/>
                        <a:gd name="T42" fmla="*/ 239 w 256"/>
                        <a:gd name="T43" fmla="*/ 160 h 340"/>
                        <a:gd name="T44" fmla="*/ 227 w 256"/>
                        <a:gd name="T45" fmla="*/ 102 h 340"/>
                        <a:gd name="T46" fmla="*/ 209 w 256"/>
                        <a:gd name="T47" fmla="*/ 53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6" h="340">
                          <a:moveTo>
                            <a:pt x="209" y="53"/>
                          </a:moveTo>
                          <a:lnTo>
                            <a:pt x="168" y="9"/>
                          </a:lnTo>
                          <a:lnTo>
                            <a:pt x="139" y="2"/>
                          </a:lnTo>
                          <a:lnTo>
                            <a:pt x="90" y="0"/>
                          </a:lnTo>
                          <a:lnTo>
                            <a:pt x="47" y="25"/>
                          </a:lnTo>
                          <a:lnTo>
                            <a:pt x="24" y="53"/>
                          </a:lnTo>
                          <a:lnTo>
                            <a:pt x="7" y="86"/>
                          </a:lnTo>
                          <a:lnTo>
                            <a:pt x="0" y="125"/>
                          </a:lnTo>
                          <a:lnTo>
                            <a:pt x="1" y="169"/>
                          </a:lnTo>
                          <a:lnTo>
                            <a:pt x="15" y="219"/>
                          </a:lnTo>
                          <a:lnTo>
                            <a:pt x="44" y="257"/>
                          </a:lnTo>
                          <a:lnTo>
                            <a:pt x="74" y="278"/>
                          </a:lnTo>
                          <a:lnTo>
                            <a:pt x="114" y="294"/>
                          </a:lnTo>
                          <a:lnTo>
                            <a:pt x="134" y="326"/>
                          </a:lnTo>
                          <a:lnTo>
                            <a:pt x="154" y="337"/>
                          </a:lnTo>
                          <a:lnTo>
                            <a:pt x="178" y="340"/>
                          </a:lnTo>
                          <a:lnTo>
                            <a:pt x="207" y="333"/>
                          </a:lnTo>
                          <a:lnTo>
                            <a:pt x="236" y="314"/>
                          </a:lnTo>
                          <a:lnTo>
                            <a:pt x="249" y="285"/>
                          </a:lnTo>
                          <a:lnTo>
                            <a:pt x="256" y="243"/>
                          </a:lnTo>
                          <a:lnTo>
                            <a:pt x="241" y="203"/>
                          </a:lnTo>
                          <a:lnTo>
                            <a:pt x="239" y="160"/>
                          </a:lnTo>
                          <a:lnTo>
                            <a:pt x="227" y="102"/>
                          </a:lnTo>
                          <a:lnTo>
                            <a:pt x="209" y="53"/>
                          </a:lnTo>
                          <a:close/>
                        </a:path>
                      </a:pathLst>
                    </a:custGeom>
                    <a:solidFill>
                      <a:srgbClr val="E0A080"/>
                    </a:solidFill>
                    <a:ln w="9525">
                      <a:solidFill>
                        <a:srgbClr val="000000"/>
                      </a:solidFill>
                      <a:prstDash val="solid"/>
                      <a:round/>
                    </a:ln>
                  </p:spPr>
                  <p:txBody>
                    <a:bodyPr/>
                    <a:lstStyle/>
                    <a:p>
                      <a:endParaRPr lang="zh-CN" altLang="en-US"/>
                    </a:p>
                  </p:txBody>
                </p:sp>
                <p:sp>
                  <p:nvSpPr>
                    <p:cNvPr id="346580" name="Freeform 468"/>
                    <p:cNvSpPr/>
                    <p:nvPr/>
                  </p:nvSpPr>
                  <p:spPr bwMode="auto">
                    <a:xfrm>
                      <a:off x="4091" y="2276"/>
                      <a:ext cx="132" cy="165"/>
                    </a:xfrm>
                    <a:custGeom>
                      <a:avLst/>
                      <a:gdLst>
                        <a:gd name="T0" fmla="*/ 216 w 263"/>
                        <a:gd name="T1" fmla="*/ 50 h 330"/>
                        <a:gd name="T2" fmla="*/ 171 w 263"/>
                        <a:gd name="T3" fmla="*/ 9 h 330"/>
                        <a:gd name="T4" fmla="*/ 143 w 263"/>
                        <a:gd name="T5" fmla="*/ 2 h 330"/>
                        <a:gd name="T6" fmla="*/ 92 w 263"/>
                        <a:gd name="T7" fmla="*/ 0 h 330"/>
                        <a:gd name="T8" fmla="*/ 47 w 263"/>
                        <a:gd name="T9" fmla="*/ 22 h 330"/>
                        <a:gd name="T10" fmla="*/ 24 w 263"/>
                        <a:gd name="T11" fmla="*/ 50 h 330"/>
                        <a:gd name="T12" fmla="*/ 7 w 263"/>
                        <a:gd name="T13" fmla="*/ 85 h 330"/>
                        <a:gd name="T14" fmla="*/ 0 w 263"/>
                        <a:gd name="T15" fmla="*/ 122 h 330"/>
                        <a:gd name="T16" fmla="*/ 2 w 263"/>
                        <a:gd name="T17" fmla="*/ 164 h 330"/>
                        <a:gd name="T18" fmla="*/ 15 w 263"/>
                        <a:gd name="T19" fmla="*/ 212 h 330"/>
                        <a:gd name="T20" fmla="*/ 44 w 263"/>
                        <a:gd name="T21" fmla="*/ 251 h 330"/>
                        <a:gd name="T22" fmla="*/ 78 w 263"/>
                        <a:gd name="T23" fmla="*/ 272 h 330"/>
                        <a:gd name="T24" fmla="*/ 115 w 263"/>
                        <a:gd name="T25" fmla="*/ 286 h 330"/>
                        <a:gd name="T26" fmla="*/ 137 w 263"/>
                        <a:gd name="T27" fmla="*/ 316 h 330"/>
                        <a:gd name="T28" fmla="*/ 158 w 263"/>
                        <a:gd name="T29" fmla="*/ 326 h 330"/>
                        <a:gd name="T30" fmla="*/ 182 w 263"/>
                        <a:gd name="T31" fmla="*/ 330 h 330"/>
                        <a:gd name="T32" fmla="*/ 214 w 263"/>
                        <a:gd name="T33" fmla="*/ 321 h 330"/>
                        <a:gd name="T34" fmla="*/ 243 w 263"/>
                        <a:gd name="T35" fmla="*/ 305 h 330"/>
                        <a:gd name="T36" fmla="*/ 256 w 263"/>
                        <a:gd name="T37" fmla="*/ 279 h 330"/>
                        <a:gd name="T38" fmla="*/ 263 w 263"/>
                        <a:gd name="T39" fmla="*/ 235 h 330"/>
                        <a:gd name="T40" fmla="*/ 248 w 263"/>
                        <a:gd name="T41" fmla="*/ 196 h 330"/>
                        <a:gd name="T42" fmla="*/ 246 w 263"/>
                        <a:gd name="T43" fmla="*/ 155 h 330"/>
                        <a:gd name="T44" fmla="*/ 234 w 263"/>
                        <a:gd name="T45" fmla="*/ 101 h 330"/>
                        <a:gd name="T46" fmla="*/ 216 w 263"/>
                        <a:gd name="T47" fmla="*/ 5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3" h="330">
                          <a:moveTo>
                            <a:pt x="216" y="50"/>
                          </a:moveTo>
                          <a:lnTo>
                            <a:pt x="171" y="9"/>
                          </a:lnTo>
                          <a:lnTo>
                            <a:pt x="143" y="2"/>
                          </a:lnTo>
                          <a:lnTo>
                            <a:pt x="92" y="0"/>
                          </a:lnTo>
                          <a:lnTo>
                            <a:pt x="47" y="22"/>
                          </a:lnTo>
                          <a:lnTo>
                            <a:pt x="24" y="50"/>
                          </a:lnTo>
                          <a:lnTo>
                            <a:pt x="7" y="85"/>
                          </a:lnTo>
                          <a:lnTo>
                            <a:pt x="0" y="122"/>
                          </a:lnTo>
                          <a:lnTo>
                            <a:pt x="2" y="164"/>
                          </a:lnTo>
                          <a:lnTo>
                            <a:pt x="15" y="212"/>
                          </a:lnTo>
                          <a:lnTo>
                            <a:pt x="44" y="251"/>
                          </a:lnTo>
                          <a:lnTo>
                            <a:pt x="78" y="272"/>
                          </a:lnTo>
                          <a:lnTo>
                            <a:pt x="115" y="286"/>
                          </a:lnTo>
                          <a:lnTo>
                            <a:pt x="137" y="316"/>
                          </a:lnTo>
                          <a:lnTo>
                            <a:pt x="158" y="326"/>
                          </a:lnTo>
                          <a:lnTo>
                            <a:pt x="182" y="330"/>
                          </a:lnTo>
                          <a:lnTo>
                            <a:pt x="214" y="321"/>
                          </a:lnTo>
                          <a:lnTo>
                            <a:pt x="243" y="305"/>
                          </a:lnTo>
                          <a:lnTo>
                            <a:pt x="256" y="279"/>
                          </a:lnTo>
                          <a:lnTo>
                            <a:pt x="263" y="235"/>
                          </a:lnTo>
                          <a:lnTo>
                            <a:pt x="248" y="196"/>
                          </a:lnTo>
                          <a:lnTo>
                            <a:pt x="246" y="155"/>
                          </a:lnTo>
                          <a:lnTo>
                            <a:pt x="234" y="101"/>
                          </a:lnTo>
                          <a:lnTo>
                            <a:pt x="216" y="50"/>
                          </a:lnTo>
                          <a:close/>
                        </a:path>
                      </a:pathLst>
                    </a:custGeom>
                    <a:solidFill>
                      <a:srgbClr val="E0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346602" name="Group 490"/>
                <p:cNvGrpSpPr/>
                <p:nvPr/>
              </p:nvGrpSpPr>
              <p:grpSpPr bwMode="auto">
                <a:xfrm>
                  <a:off x="3848" y="2430"/>
                  <a:ext cx="944" cy="863"/>
                  <a:chOff x="3848" y="2430"/>
                  <a:chExt cx="944" cy="863"/>
                </a:xfrm>
              </p:grpSpPr>
              <p:sp>
                <p:nvSpPr>
                  <p:cNvPr id="346583" name="Freeform 471"/>
                  <p:cNvSpPr/>
                  <p:nvPr/>
                </p:nvSpPr>
                <p:spPr bwMode="auto">
                  <a:xfrm>
                    <a:off x="3848" y="2430"/>
                    <a:ext cx="762" cy="783"/>
                  </a:xfrm>
                  <a:custGeom>
                    <a:avLst/>
                    <a:gdLst>
                      <a:gd name="T0" fmla="*/ 415 w 1524"/>
                      <a:gd name="T1" fmla="*/ 0 h 1566"/>
                      <a:gd name="T2" fmla="*/ 512 w 1524"/>
                      <a:gd name="T3" fmla="*/ 67 h 1566"/>
                      <a:gd name="T4" fmla="*/ 610 w 1524"/>
                      <a:gd name="T5" fmla="*/ 134 h 1566"/>
                      <a:gd name="T6" fmla="*/ 697 w 1524"/>
                      <a:gd name="T7" fmla="*/ 176 h 1566"/>
                      <a:gd name="T8" fmla="*/ 991 w 1524"/>
                      <a:gd name="T9" fmla="*/ 303 h 1566"/>
                      <a:gd name="T10" fmla="*/ 1035 w 1524"/>
                      <a:gd name="T11" fmla="*/ 495 h 1566"/>
                      <a:gd name="T12" fmla="*/ 1072 w 1524"/>
                      <a:gd name="T13" fmla="*/ 595 h 1566"/>
                      <a:gd name="T14" fmla="*/ 1105 w 1524"/>
                      <a:gd name="T15" fmla="*/ 669 h 1566"/>
                      <a:gd name="T16" fmla="*/ 1128 w 1524"/>
                      <a:gd name="T17" fmla="*/ 743 h 1566"/>
                      <a:gd name="T18" fmla="*/ 1144 w 1524"/>
                      <a:gd name="T19" fmla="*/ 819 h 1566"/>
                      <a:gd name="T20" fmla="*/ 1142 w 1524"/>
                      <a:gd name="T21" fmla="*/ 866 h 1566"/>
                      <a:gd name="T22" fmla="*/ 1132 w 1524"/>
                      <a:gd name="T23" fmla="*/ 923 h 1566"/>
                      <a:gd name="T24" fmla="*/ 1139 w 1524"/>
                      <a:gd name="T25" fmla="*/ 990 h 1566"/>
                      <a:gd name="T26" fmla="*/ 1162 w 1524"/>
                      <a:gd name="T27" fmla="*/ 1058 h 1566"/>
                      <a:gd name="T28" fmla="*/ 1223 w 1524"/>
                      <a:gd name="T29" fmla="*/ 1085 h 1566"/>
                      <a:gd name="T30" fmla="*/ 1317 w 1524"/>
                      <a:gd name="T31" fmla="*/ 1109 h 1566"/>
                      <a:gd name="T32" fmla="*/ 1381 w 1524"/>
                      <a:gd name="T33" fmla="*/ 1131 h 1566"/>
                      <a:gd name="T34" fmla="*/ 1446 w 1524"/>
                      <a:gd name="T35" fmla="*/ 1182 h 1566"/>
                      <a:gd name="T36" fmla="*/ 1487 w 1524"/>
                      <a:gd name="T37" fmla="*/ 1238 h 1566"/>
                      <a:gd name="T38" fmla="*/ 1512 w 1524"/>
                      <a:gd name="T39" fmla="*/ 1307 h 1566"/>
                      <a:gd name="T40" fmla="*/ 1524 w 1524"/>
                      <a:gd name="T41" fmla="*/ 1386 h 1566"/>
                      <a:gd name="T42" fmla="*/ 1509 w 1524"/>
                      <a:gd name="T43" fmla="*/ 1506 h 1566"/>
                      <a:gd name="T44" fmla="*/ 362 w 1524"/>
                      <a:gd name="T45" fmla="*/ 1566 h 1566"/>
                      <a:gd name="T46" fmla="*/ 152 w 1524"/>
                      <a:gd name="T47" fmla="*/ 1562 h 1566"/>
                      <a:gd name="T48" fmla="*/ 111 w 1524"/>
                      <a:gd name="T49" fmla="*/ 1506 h 1566"/>
                      <a:gd name="T50" fmla="*/ 72 w 1524"/>
                      <a:gd name="T51" fmla="*/ 1418 h 1566"/>
                      <a:gd name="T52" fmla="*/ 39 w 1524"/>
                      <a:gd name="T53" fmla="*/ 1319 h 1566"/>
                      <a:gd name="T54" fmla="*/ 21 w 1524"/>
                      <a:gd name="T55" fmla="*/ 1236 h 1566"/>
                      <a:gd name="T56" fmla="*/ 5 w 1524"/>
                      <a:gd name="T57" fmla="*/ 1146 h 1566"/>
                      <a:gd name="T58" fmla="*/ 0 w 1524"/>
                      <a:gd name="T59" fmla="*/ 1064 h 1566"/>
                      <a:gd name="T60" fmla="*/ 16 w 1524"/>
                      <a:gd name="T61" fmla="*/ 928 h 1566"/>
                      <a:gd name="T62" fmla="*/ 39 w 1524"/>
                      <a:gd name="T63" fmla="*/ 819 h 1566"/>
                      <a:gd name="T64" fmla="*/ 75 w 1524"/>
                      <a:gd name="T65" fmla="*/ 699 h 1566"/>
                      <a:gd name="T66" fmla="*/ 116 w 1524"/>
                      <a:gd name="T67" fmla="*/ 584 h 1566"/>
                      <a:gd name="T68" fmla="*/ 162 w 1524"/>
                      <a:gd name="T69" fmla="*/ 491 h 1566"/>
                      <a:gd name="T70" fmla="*/ 223 w 1524"/>
                      <a:gd name="T71" fmla="*/ 387 h 1566"/>
                      <a:gd name="T72" fmla="*/ 299 w 1524"/>
                      <a:gd name="T73" fmla="*/ 303 h 1566"/>
                      <a:gd name="T74" fmla="*/ 371 w 1524"/>
                      <a:gd name="T75" fmla="*/ 229 h 1566"/>
                      <a:gd name="T76" fmla="*/ 420 w 1524"/>
                      <a:gd name="T77" fmla="*/ 192 h 1566"/>
                      <a:gd name="T78" fmla="*/ 304 w 1524"/>
                      <a:gd name="T79" fmla="*/ 134 h 1566"/>
                      <a:gd name="T80" fmla="*/ 415 w 1524"/>
                      <a:gd name="T81" fmla="*/ 0 h 1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24" h="1566">
                        <a:moveTo>
                          <a:pt x="415" y="0"/>
                        </a:moveTo>
                        <a:lnTo>
                          <a:pt x="512" y="67"/>
                        </a:lnTo>
                        <a:lnTo>
                          <a:pt x="610" y="134"/>
                        </a:lnTo>
                        <a:lnTo>
                          <a:pt x="697" y="176"/>
                        </a:lnTo>
                        <a:lnTo>
                          <a:pt x="991" y="303"/>
                        </a:lnTo>
                        <a:lnTo>
                          <a:pt x="1035" y="495"/>
                        </a:lnTo>
                        <a:lnTo>
                          <a:pt x="1072" y="595"/>
                        </a:lnTo>
                        <a:lnTo>
                          <a:pt x="1105" y="669"/>
                        </a:lnTo>
                        <a:lnTo>
                          <a:pt x="1128" y="743"/>
                        </a:lnTo>
                        <a:lnTo>
                          <a:pt x="1144" y="819"/>
                        </a:lnTo>
                        <a:lnTo>
                          <a:pt x="1142" y="866"/>
                        </a:lnTo>
                        <a:lnTo>
                          <a:pt x="1132" y="923"/>
                        </a:lnTo>
                        <a:lnTo>
                          <a:pt x="1139" y="990"/>
                        </a:lnTo>
                        <a:lnTo>
                          <a:pt x="1162" y="1058"/>
                        </a:lnTo>
                        <a:lnTo>
                          <a:pt x="1223" y="1085"/>
                        </a:lnTo>
                        <a:lnTo>
                          <a:pt x="1317" y="1109"/>
                        </a:lnTo>
                        <a:lnTo>
                          <a:pt x="1381" y="1131"/>
                        </a:lnTo>
                        <a:lnTo>
                          <a:pt x="1446" y="1182"/>
                        </a:lnTo>
                        <a:lnTo>
                          <a:pt x="1487" y="1238"/>
                        </a:lnTo>
                        <a:lnTo>
                          <a:pt x="1512" y="1307"/>
                        </a:lnTo>
                        <a:lnTo>
                          <a:pt x="1524" y="1386"/>
                        </a:lnTo>
                        <a:lnTo>
                          <a:pt x="1509" y="1506"/>
                        </a:lnTo>
                        <a:lnTo>
                          <a:pt x="362" y="1566"/>
                        </a:lnTo>
                        <a:lnTo>
                          <a:pt x="152" y="1562"/>
                        </a:lnTo>
                        <a:lnTo>
                          <a:pt x="111" y="1506"/>
                        </a:lnTo>
                        <a:lnTo>
                          <a:pt x="72" y="1418"/>
                        </a:lnTo>
                        <a:lnTo>
                          <a:pt x="39" y="1319"/>
                        </a:lnTo>
                        <a:lnTo>
                          <a:pt x="21" y="1236"/>
                        </a:lnTo>
                        <a:lnTo>
                          <a:pt x="5" y="1146"/>
                        </a:lnTo>
                        <a:lnTo>
                          <a:pt x="0" y="1064"/>
                        </a:lnTo>
                        <a:lnTo>
                          <a:pt x="16" y="928"/>
                        </a:lnTo>
                        <a:lnTo>
                          <a:pt x="39" y="819"/>
                        </a:lnTo>
                        <a:lnTo>
                          <a:pt x="75" y="699"/>
                        </a:lnTo>
                        <a:lnTo>
                          <a:pt x="116" y="584"/>
                        </a:lnTo>
                        <a:lnTo>
                          <a:pt x="162" y="491"/>
                        </a:lnTo>
                        <a:lnTo>
                          <a:pt x="223" y="387"/>
                        </a:lnTo>
                        <a:lnTo>
                          <a:pt x="299" y="303"/>
                        </a:lnTo>
                        <a:lnTo>
                          <a:pt x="371" y="229"/>
                        </a:lnTo>
                        <a:lnTo>
                          <a:pt x="420" y="192"/>
                        </a:lnTo>
                        <a:lnTo>
                          <a:pt x="304" y="134"/>
                        </a:lnTo>
                        <a:lnTo>
                          <a:pt x="415" y="0"/>
                        </a:lnTo>
                        <a:close/>
                      </a:path>
                    </a:pathLst>
                  </a:custGeom>
                  <a:solidFill>
                    <a:srgbClr val="FF60C0"/>
                  </a:solidFill>
                  <a:ln w="9525">
                    <a:solidFill>
                      <a:srgbClr val="000000"/>
                    </a:solidFill>
                    <a:prstDash val="solid"/>
                    <a:round/>
                  </a:ln>
                </p:spPr>
                <p:txBody>
                  <a:bodyPr/>
                  <a:lstStyle/>
                  <a:p>
                    <a:endParaRPr lang="zh-CN" altLang="en-US"/>
                  </a:p>
                </p:txBody>
              </p:sp>
              <p:sp>
                <p:nvSpPr>
                  <p:cNvPr id="346584" name="Freeform 472"/>
                  <p:cNvSpPr/>
                  <p:nvPr/>
                </p:nvSpPr>
                <p:spPr bwMode="auto">
                  <a:xfrm>
                    <a:off x="4356" y="2844"/>
                    <a:ext cx="213" cy="287"/>
                  </a:xfrm>
                  <a:custGeom>
                    <a:avLst/>
                    <a:gdLst>
                      <a:gd name="T0" fmla="*/ 0 w 427"/>
                      <a:gd name="T1" fmla="*/ 0 h 574"/>
                      <a:gd name="T2" fmla="*/ 15 w 427"/>
                      <a:gd name="T3" fmla="*/ 107 h 574"/>
                      <a:gd name="T4" fmla="*/ 32 w 427"/>
                      <a:gd name="T5" fmla="*/ 193 h 574"/>
                      <a:gd name="T6" fmla="*/ 66 w 427"/>
                      <a:gd name="T7" fmla="*/ 262 h 574"/>
                      <a:gd name="T8" fmla="*/ 94 w 427"/>
                      <a:gd name="T9" fmla="*/ 301 h 574"/>
                      <a:gd name="T10" fmla="*/ 146 w 427"/>
                      <a:gd name="T11" fmla="*/ 331 h 574"/>
                      <a:gd name="T12" fmla="*/ 241 w 427"/>
                      <a:gd name="T13" fmla="*/ 368 h 574"/>
                      <a:gd name="T14" fmla="*/ 321 w 427"/>
                      <a:gd name="T15" fmla="*/ 401 h 574"/>
                      <a:gd name="T16" fmla="*/ 360 w 427"/>
                      <a:gd name="T17" fmla="*/ 419 h 574"/>
                      <a:gd name="T18" fmla="*/ 396 w 427"/>
                      <a:gd name="T19" fmla="*/ 458 h 574"/>
                      <a:gd name="T20" fmla="*/ 416 w 427"/>
                      <a:gd name="T21" fmla="*/ 510 h 574"/>
                      <a:gd name="T22" fmla="*/ 427 w 427"/>
                      <a:gd name="T23" fmla="*/ 574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7" h="574">
                        <a:moveTo>
                          <a:pt x="0" y="0"/>
                        </a:moveTo>
                        <a:lnTo>
                          <a:pt x="15" y="107"/>
                        </a:lnTo>
                        <a:lnTo>
                          <a:pt x="32" y="193"/>
                        </a:lnTo>
                        <a:lnTo>
                          <a:pt x="66" y="262"/>
                        </a:lnTo>
                        <a:lnTo>
                          <a:pt x="94" y="301"/>
                        </a:lnTo>
                        <a:lnTo>
                          <a:pt x="146" y="331"/>
                        </a:lnTo>
                        <a:lnTo>
                          <a:pt x="241" y="368"/>
                        </a:lnTo>
                        <a:lnTo>
                          <a:pt x="321" y="401"/>
                        </a:lnTo>
                        <a:lnTo>
                          <a:pt x="360" y="419"/>
                        </a:lnTo>
                        <a:lnTo>
                          <a:pt x="396" y="458"/>
                        </a:lnTo>
                        <a:lnTo>
                          <a:pt x="416" y="510"/>
                        </a:lnTo>
                        <a:lnTo>
                          <a:pt x="427" y="574"/>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85" name="Freeform 473"/>
                  <p:cNvSpPr/>
                  <p:nvPr/>
                </p:nvSpPr>
                <p:spPr bwMode="auto">
                  <a:xfrm>
                    <a:off x="4052" y="2531"/>
                    <a:ext cx="314" cy="316"/>
                  </a:xfrm>
                  <a:custGeom>
                    <a:avLst/>
                    <a:gdLst>
                      <a:gd name="T0" fmla="*/ 0 w 627"/>
                      <a:gd name="T1" fmla="*/ 10 h 632"/>
                      <a:gd name="T2" fmla="*/ 20 w 627"/>
                      <a:gd name="T3" fmla="*/ 0 h 632"/>
                      <a:gd name="T4" fmla="*/ 85 w 627"/>
                      <a:gd name="T5" fmla="*/ 49 h 632"/>
                      <a:gd name="T6" fmla="*/ 170 w 627"/>
                      <a:gd name="T7" fmla="*/ 102 h 632"/>
                      <a:gd name="T8" fmla="*/ 239 w 627"/>
                      <a:gd name="T9" fmla="*/ 133 h 632"/>
                      <a:gd name="T10" fmla="*/ 311 w 627"/>
                      <a:gd name="T11" fmla="*/ 174 h 632"/>
                      <a:gd name="T12" fmla="*/ 411 w 627"/>
                      <a:gd name="T13" fmla="*/ 227 h 632"/>
                      <a:gd name="T14" fmla="*/ 472 w 627"/>
                      <a:gd name="T15" fmla="*/ 327 h 632"/>
                      <a:gd name="T16" fmla="*/ 520 w 627"/>
                      <a:gd name="T17" fmla="*/ 503 h 632"/>
                      <a:gd name="T18" fmla="*/ 565 w 627"/>
                      <a:gd name="T19" fmla="*/ 359 h 632"/>
                      <a:gd name="T20" fmla="*/ 601 w 627"/>
                      <a:gd name="T21" fmla="*/ 264 h 632"/>
                      <a:gd name="T22" fmla="*/ 594 w 627"/>
                      <a:gd name="T23" fmla="*/ 206 h 632"/>
                      <a:gd name="T24" fmla="*/ 615 w 627"/>
                      <a:gd name="T25" fmla="*/ 294 h 632"/>
                      <a:gd name="T26" fmla="*/ 627 w 627"/>
                      <a:gd name="T27" fmla="*/ 339 h 632"/>
                      <a:gd name="T28" fmla="*/ 606 w 627"/>
                      <a:gd name="T29" fmla="*/ 380 h 632"/>
                      <a:gd name="T30" fmla="*/ 576 w 627"/>
                      <a:gd name="T31" fmla="*/ 456 h 632"/>
                      <a:gd name="T32" fmla="*/ 540 w 627"/>
                      <a:gd name="T33" fmla="*/ 549 h 632"/>
                      <a:gd name="T34" fmla="*/ 511 w 627"/>
                      <a:gd name="T35" fmla="*/ 632 h 632"/>
                      <a:gd name="T36" fmla="*/ 472 w 627"/>
                      <a:gd name="T37" fmla="*/ 491 h 632"/>
                      <a:gd name="T38" fmla="*/ 436 w 627"/>
                      <a:gd name="T39" fmla="*/ 394 h 632"/>
                      <a:gd name="T40" fmla="*/ 416 w 627"/>
                      <a:gd name="T41" fmla="*/ 301 h 632"/>
                      <a:gd name="T42" fmla="*/ 316 w 627"/>
                      <a:gd name="T43" fmla="*/ 206 h 632"/>
                      <a:gd name="T44" fmla="*/ 141 w 627"/>
                      <a:gd name="T45" fmla="*/ 110 h 632"/>
                      <a:gd name="T46" fmla="*/ 0 w 627"/>
                      <a:gd name="T47" fmla="*/ 10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27" h="632">
                        <a:moveTo>
                          <a:pt x="0" y="10"/>
                        </a:moveTo>
                        <a:lnTo>
                          <a:pt x="20" y="0"/>
                        </a:lnTo>
                        <a:lnTo>
                          <a:pt x="85" y="49"/>
                        </a:lnTo>
                        <a:lnTo>
                          <a:pt x="170" y="102"/>
                        </a:lnTo>
                        <a:lnTo>
                          <a:pt x="239" y="133"/>
                        </a:lnTo>
                        <a:lnTo>
                          <a:pt x="311" y="174"/>
                        </a:lnTo>
                        <a:lnTo>
                          <a:pt x="411" y="227"/>
                        </a:lnTo>
                        <a:lnTo>
                          <a:pt x="472" y="327"/>
                        </a:lnTo>
                        <a:lnTo>
                          <a:pt x="520" y="503"/>
                        </a:lnTo>
                        <a:lnTo>
                          <a:pt x="565" y="359"/>
                        </a:lnTo>
                        <a:lnTo>
                          <a:pt x="601" y="264"/>
                        </a:lnTo>
                        <a:lnTo>
                          <a:pt x="594" y="206"/>
                        </a:lnTo>
                        <a:lnTo>
                          <a:pt x="615" y="294"/>
                        </a:lnTo>
                        <a:lnTo>
                          <a:pt x="627" y="339"/>
                        </a:lnTo>
                        <a:lnTo>
                          <a:pt x="606" y="380"/>
                        </a:lnTo>
                        <a:lnTo>
                          <a:pt x="576" y="456"/>
                        </a:lnTo>
                        <a:lnTo>
                          <a:pt x="540" y="549"/>
                        </a:lnTo>
                        <a:lnTo>
                          <a:pt x="511" y="632"/>
                        </a:lnTo>
                        <a:lnTo>
                          <a:pt x="472" y="491"/>
                        </a:lnTo>
                        <a:lnTo>
                          <a:pt x="436" y="394"/>
                        </a:lnTo>
                        <a:lnTo>
                          <a:pt x="416" y="301"/>
                        </a:lnTo>
                        <a:lnTo>
                          <a:pt x="316" y="206"/>
                        </a:lnTo>
                        <a:lnTo>
                          <a:pt x="141" y="110"/>
                        </a:lnTo>
                        <a:lnTo>
                          <a:pt x="0" y="10"/>
                        </a:lnTo>
                        <a:close/>
                      </a:path>
                    </a:pathLst>
                  </a:custGeom>
                  <a:solidFill>
                    <a:srgbClr val="E040A0"/>
                  </a:solidFill>
                  <a:ln w="9525">
                    <a:solidFill>
                      <a:srgbClr val="E040A0"/>
                    </a:solidFill>
                    <a:prstDash val="solid"/>
                    <a:round/>
                  </a:ln>
                </p:spPr>
                <p:txBody>
                  <a:bodyPr/>
                  <a:lstStyle/>
                  <a:p>
                    <a:endParaRPr lang="zh-CN" altLang="en-US"/>
                  </a:p>
                </p:txBody>
              </p:sp>
              <p:sp>
                <p:nvSpPr>
                  <p:cNvPr id="346586" name="Freeform 474"/>
                  <p:cNvSpPr/>
                  <p:nvPr/>
                </p:nvSpPr>
                <p:spPr bwMode="auto">
                  <a:xfrm>
                    <a:off x="4071" y="2697"/>
                    <a:ext cx="132" cy="265"/>
                  </a:xfrm>
                  <a:custGeom>
                    <a:avLst/>
                    <a:gdLst>
                      <a:gd name="T0" fmla="*/ 138 w 263"/>
                      <a:gd name="T1" fmla="*/ 425 h 531"/>
                      <a:gd name="T2" fmla="*/ 70 w 263"/>
                      <a:gd name="T3" fmla="*/ 358 h 531"/>
                      <a:gd name="T4" fmla="*/ 48 w 263"/>
                      <a:gd name="T5" fmla="*/ 289 h 531"/>
                      <a:gd name="T6" fmla="*/ 39 w 263"/>
                      <a:gd name="T7" fmla="*/ 217 h 531"/>
                      <a:gd name="T8" fmla="*/ 29 w 263"/>
                      <a:gd name="T9" fmla="*/ 118 h 531"/>
                      <a:gd name="T10" fmla="*/ 66 w 263"/>
                      <a:gd name="T11" fmla="*/ 87 h 531"/>
                      <a:gd name="T12" fmla="*/ 83 w 263"/>
                      <a:gd name="T13" fmla="*/ 159 h 531"/>
                      <a:gd name="T14" fmla="*/ 114 w 263"/>
                      <a:gd name="T15" fmla="*/ 194 h 531"/>
                      <a:gd name="T16" fmla="*/ 126 w 263"/>
                      <a:gd name="T17" fmla="*/ 273 h 531"/>
                      <a:gd name="T18" fmla="*/ 146 w 263"/>
                      <a:gd name="T19" fmla="*/ 333 h 531"/>
                      <a:gd name="T20" fmla="*/ 194 w 263"/>
                      <a:gd name="T21" fmla="*/ 384 h 531"/>
                      <a:gd name="T22" fmla="*/ 229 w 263"/>
                      <a:gd name="T23" fmla="*/ 448 h 531"/>
                      <a:gd name="T24" fmla="*/ 263 w 263"/>
                      <a:gd name="T25" fmla="*/ 531 h 531"/>
                      <a:gd name="T26" fmla="*/ 260 w 263"/>
                      <a:gd name="T27" fmla="*/ 460 h 531"/>
                      <a:gd name="T28" fmla="*/ 250 w 263"/>
                      <a:gd name="T29" fmla="*/ 402 h 531"/>
                      <a:gd name="T30" fmla="*/ 204 w 263"/>
                      <a:gd name="T31" fmla="*/ 356 h 531"/>
                      <a:gd name="T32" fmla="*/ 173 w 263"/>
                      <a:gd name="T33" fmla="*/ 295 h 531"/>
                      <a:gd name="T34" fmla="*/ 148 w 263"/>
                      <a:gd name="T35" fmla="*/ 226 h 531"/>
                      <a:gd name="T36" fmla="*/ 129 w 263"/>
                      <a:gd name="T37" fmla="*/ 164 h 531"/>
                      <a:gd name="T38" fmla="*/ 104 w 263"/>
                      <a:gd name="T39" fmla="*/ 118 h 531"/>
                      <a:gd name="T40" fmla="*/ 95 w 263"/>
                      <a:gd name="T41" fmla="*/ 57 h 531"/>
                      <a:gd name="T42" fmla="*/ 80 w 263"/>
                      <a:gd name="T43" fmla="*/ 25 h 531"/>
                      <a:gd name="T44" fmla="*/ 61 w 263"/>
                      <a:gd name="T45" fmla="*/ 0 h 531"/>
                      <a:gd name="T46" fmla="*/ 27 w 263"/>
                      <a:gd name="T47" fmla="*/ 60 h 531"/>
                      <a:gd name="T48" fmla="*/ 0 w 263"/>
                      <a:gd name="T49" fmla="*/ 143 h 531"/>
                      <a:gd name="T50" fmla="*/ 21 w 263"/>
                      <a:gd name="T51" fmla="*/ 159 h 531"/>
                      <a:gd name="T52" fmla="*/ 21 w 263"/>
                      <a:gd name="T53" fmla="*/ 221 h 531"/>
                      <a:gd name="T54" fmla="*/ 32 w 263"/>
                      <a:gd name="T55" fmla="*/ 300 h 531"/>
                      <a:gd name="T56" fmla="*/ 49 w 263"/>
                      <a:gd name="T57" fmla="*/ 356 h 531"/>
                      <a:gd name="T58" fmla="*/ 83 w 263"/>
                      <a:gd name="T59" fmla="*/ 393 h 531"/>
                      <a:gd name="T60" fmla="*/ 138 w 263"/>
                      <a:gd name="T61" fmla="*/ 425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3" h="531">
                        <a:moveTo>
                          <a:pt x="138" y="425"/>
                        </a:moveTo>
                        <a:lnTo>
                          <a:pt x="70" y="358"/>
                        </a:lnTo>
                        <a:lnTo>
                          <a:pt x="48" y="289"/>
                        </a:lnTo>
                        <a:lnTo>
                          <a:pt x="39" y="217"/>
                        </a:lnTo>
                        <a:lnTo>
                          <a:pt x="29" y="118"/>
                        </a:lnTo>
                        <a:lnTo>
                          <a:pt x="66" y="87"/>
                        </a:lnTo>
                        <a:lnTo>
                          <a:pt x="83" y="159"/>
                        </a:lnTo>
                        <a:lnTo>
                          <a:pt x="114" y="194"/>
                        </a:lnTo>
                        <a:lnTo>
                          <a:pt x="126" y="273"/>
                        </a:lnTo>
                        <a:lnTo>
                          <a:pt x="146" y="333"/>
                        </a:lnTo>
                        <a:lnTo>
                          <a:pt x="194" y="384"/>
                        </a:lnTo>
                        <a:lnTo>
                          <a:pt x="229" y="448"/>
                        </a:lnTo>
                        <a:lnTo>
                          <a:pt x="263" y="531"/>
                        </a:lnTo>
                        <a:lnTo>
                          <a:pt x="260" y="460"/>
                        </a:lnTo>
                        <a:lnTo>
                          <a:pt x="250" y="402"/>
                        </a:lnTo>
                        <a:lnTo>
                          <a:pt x="204" y="356"/>
                        </a:lnTo>
                        <a:lnTo>
                          <a:pt x="173" y="295"/>
                        </a:lnTo>
                        <a:lnTo>
                          <a:pt x="148" y="226"/>
                        </a:lnTo>
                        <a:lnTo>
                          <a:pt x="129" y="164"/>
                        </a:lnTo>
                        <a:lnTo>
                          <a:pt x="104" y="118"/>
                        </a:lnTo>
                        <a:lnTo>
                          <a:pt x="95" y="57"/>
                        </a:lnTo>
                        <a:lnTo>
                          <a:pt x="80" y="25"/>
                        </a:lnTo>
                        <a:lnTo>
                          <a:pt x="61" y="0"/>
                        </a:lnTo>
                        <a:lnTo>
                          <a:pt x="27" y="60"/>
                        </a:lnTo>
                        <a:lnTo>
                          <a:pt x="0" y="143"/>
                        </a:lnTo>
                        <a:lnTo>
                          <a:pt x="21" y="159"/>
                        </a:lnTo>
                        <a:lnTo>
                          <a:pt x="21" y="221"/>
                        </a:lnTo>
                        <a:lnTo>
                          <a:pt x="32" y="300"/>
                        </a:lnTo>
                        <a:lnTo>
                          <a:pt x="49" y="356"/>
                        </a:lnTo>
                        <a:lnTo>
                          <a:pt x="83" y="393"/>
                        </a:lnTo>
                        <a:lnTo>
                          <a:pt x="138" y="425"/>
                        </a:lnTo>
                        <a:close/>
                      </a:path>
                    </a:pathLst>
                  </a:custGeom>
                  <a:solidFill>
                    <a:srgbClr val="E040A0"/>
                  </a:solidFill>
                  <a:ln w="9525">
                    <a:solidFill>
                      <a:srgbClr val="E040A0"/>
                    </a:solidFill>
                    <a:prstDash val="solid"/>
                    <a:round/>
                  </a:ln>
                </p:spPr>
                <p:txBody>
                  <a:bodyPr/>
                  <a:lstStyle/>
                  <a:p>
                    <a:endParaRPr lang="zh-CN" altLang="en-US"/>
                  </a:p>
                </p:txBody>
              </p:sp>
              <p:sp>
                <p:nvSpPr>
                  <p:cNvPr id="346587" name="Freeform 475"/>
                  <p:cNvSpPr/>
                  <p:nvPr/>
                </p:nvSpPr>
                <p:spPr bwMode="auto">
                  <a:xfrm>
                    <a:off x="3868" y="2843"/>
                    <a:ext cx="74" cy="181"/>
                  </a:xfrm>
                  <a:custGeom>
                    <a:avLst/>
                    <a:gdLst>
                      <a:gd name="T0" fmla="*/ 148 w 148"/>
                      <a:gd name="T1" fmla="*/ 361 h 361"/>
                      <a:gd name="T2" fmla="*/ 109 w 148"/>
                      <a:gd name="T3" fmla="*/ 347 h 361"/>
                      <a:gd name="T4" fmla="*/ 71 w 148"/>
                      <a:gd name="T5" fmla="*/ 306 h 361"/>
                      <a:gd name="T6" fmla="*/ 54 w 148"/>
                      <a:gd name="T7" fmla="*/ 278 h 361"/>
                      <a:gd name="T8" fmla="*/ 38 w 148"/>
                      <a:gd name="T9" fmla="*/ 211 h 361"/>
                      <a:gd name="T10" fmla="*/ 27 w 148"/>
                      <a:gd name="T11" fmla="*/ 167 h 361"/>
                      <a:gd name="T12" fmla="*/ 7 w 148"/>
                      <a:gd name="T13" fmla="*/ 121 h 361"/>
                      <a:gd name="T14" fmla="*/ 0 w 148"/>
                      <a:gd name="T15" fmla="*/ 70 h 361"/>
                      <a:gd name="T16" fmla="*/ 14 w 148"/>
                      <a:gd name="T17" fmla="*/ 37 h 361"/>
                      <a:gd name="T18" fmla="*/ 51 w 148"/>
                      <a:gd name="T19" fmla="*/ 0 h 361"/>
                      <a:gd name="T20" fmla="*/ 14 w 148"/>
                      <a:gd name="T21" fmla="*/ 35 h 361"/>
                      <a:gd name="T22" fmla="*/ 4 w 148"/>
                      <a:gd name="T23" fmla="*/ 72 h 361"/>
                      <a:gd name="T24" fmla="*/ 5 w 148"/>
                      <a:gd name="T25" fmla="*/ 120 h 361"/>
                      <a:gd name="T26" fmla="*/ 24 w 148"/>
                      <a:gd name="T27" fmla="*/ 160 h 361"/>
                      <a:gd name="T28" fmla="*/ 43 w 148"/>
                      <a:gd name="T29" fmla="*/ 227 h 361"/>
                      <a:gd name="T30" fmla="*/ 53 w 148"/>
                      <a:gd name="T31" fmla="*/ 266 h 361"/>
                      <a:gd name="T32" fmla="*/ 71 w 148"/>
                      <a:gd name="T33" fmla="*/ 310 h 361"/>
                      <a:gd name="T34" fmla="*/ 112 w 148"/>
                      <a:gd name="T35" fmla="*/ 345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8" h="361">
                        <a:moveTo>
                          <a:pt x="148" y="361"/>
                        </a:moveTo>
                        <a:lnTo>
                          <a:pt x="109" y="347"/>
                        </a:lnTo>
                        <a:lnTo>
                          <a:pt x="71" y="306"/>
                        </a:lnTo>
                        <a:lnTo>
                          <a:pt x="54" y="278"/>
                        </a:lnTo>
                        <a:lnTo>
                          <a:pt x="38" y="211"/>
                        </a:lnTo>
                        <a:lnTo>
                          <a:pt x="27" y="167"/>
                        </a:lnTo>
                        <a:lnTo>
                          <a:pt x="7" y="121"/>
                        </a:lnTo>
                        <a:lnTo>
                          <a:pt x="0" y="70"/>
                        </a:lnTo>
                        <a:lnTo>
                          <a:pt x="14" y="37"/>
                        </a:lnTo>
                        <a:lnTo>
                          <a:pt x="51" y="0"/>
                        </a:lnTo>
                        <a:lnTo>
                          <a:pt x="14" y="35"/>
                        </a:lnTo>
                        <a:lnTo>
                          <a:pt x="4" y="72"/>
                        </a:lnTo>
                        <a:lnTo>
                          <a:pt x="5" y="120"/>
                        </a:lnTo>
                        <a:lnTo>
                          <a:pt x="24" y="160"/>
                        </a:lnTo>
                        <a:lnTo>
                          <a:pt x="43" y="227"/>
                        </a:lnTo>
                        <a:lnTo>
                          <a:pt x="53" y="266"/>
                        </a:lnTo>
                        <a:lnTo>
                          <a:pt x="71" y="310"/>
                        </a:lnTo>
                        <a:lnTo>
                          <a:pt x="112" y="345"/>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88" name="Freeform 476"/>
                  <p:cNvSpPr/>
                  <p:nvPr/>
                </p:nvSpPr>
                <p:spPr bwMode="auto">
                  <a:xfrm>
                    <a:off x="3875" y="2843"/>
                    <a:ext cx="72" cy="181"/>
                  </a:xfrm>
                  <a:custGeom>
                    <a:avLst/>
                    <a:gdLst>
                      <a:gd name="T0" fmla="*/ 144 w 144"/>
                      <a:gd name="T1" fmla="*/ 361 h 361"/>
                      <a:gd name="T2" fmla="*/ 90 w 144"/>
                      <a:gd name="T3" fmla="*/ 313 h 361"/>
                      <a:gd name="T4" fmla="*/ 66 w 144"/>
                      <a:gd name="T5" fmla="*/ 273 h 361"/>
                      <a:gd name="T6" fmla="*/ 56 w 144"/>
                      <a:gd name="T7" fmla="*/ 234 h 361"/>
                      <a:gd name="T8" fmla="*/ 34 w 144"/>
                      <a:gd name="T9" fmla="*/ 164 h 361"/>
                      <a:gd name="T10" fmla="*/ 20 w 144"/>
                      <a:gd name="T11" fmla="*/ 118 h 361"/>
                      <a:gd name="T12" fmla="*/ 12 w 144"/>
                      <a:gd name="T13" fmla="*/ 83 h 361"/>
                      <a:gd name="T14" fmla="*/ 24 w 144"/>
                      <a:gd name="T15" fmla="*/ 42 h 361"/>
                      <a:gd name="T16" fmla="*/ 47 w 144"/>
                      <a:gd name="T17" fmla="*/ 0 h 361"/>
                      <a:gd name="T18" fmla="*/ 10 w 144"/>
                      <a:gd name="T19" fmla="*/ 35 h 361"/>
                      <a:gd name="T20" fmla="*/ 0 w 144"/>
                      <a:gd name="T21" fmla="*/ 72 h 361"/>
                      <a:gd name="T22" fmla="*/ 1 w 144"/>
                      <a:gd name="T23" fmla="*/ 120 h 361"/>
                      <a:gd name="T24" fmla="*/ 20 w 144"/>
                      <a:gd name="T25" fmla="*/ 160 h 361"/>
                      <a:gd name="T26" fmla="*/ 39 w 144"/>
                      <a:gd name="T27" fmla="*/ 227 h 361"/>
                      <a:gd name="T28" fmla="*/ 49 w 144"/>
                      <a:gd name="T29" fmla="*/ 266 h 361"/>
                      <a:gd name="T30" fmla="*/ 68 w 144"/>
                      <a:gd name="T31" fmla="*/ 310 h 361"/>
                      <a:gd name="T32" fmla="*/ 108 w 144"/>
                      <a:gd name="T33" fmla="*/ 345 h 361"/>
                      <a:gd name="T34" fmla="*/ 144 w 144"/>
                      <a:gd name="T35" fmla="*/ 361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4" h="361">
                        <a:moveTo>
                          <a:pt x="144" y="361"/>
                        </a:moveTo>
                        <a:lnTo>
                          <a:pt x="90" y="313"/>
                        </a:lnTo>
                        <a:lnTo>
                          <a:pt x="66" y="273"/>
                        </a:lnTo>
                        <a:lnTo>
                          <a:pt x="56" y="234"/>
                        </a:lnTo>
                        <a:lnTo>
                          <a:pt x="34" y="164"/>
                        </a:lnTo>
                        <a:lnTo>
                          <a:pt x="20" y="118"/>
                        </a:lnTo>
                        <a:lnTo>
                          <a:pt x="12" y="83"/>
                        </a:lnTo>
                        <a:lnTo>
                          <a:pt x="24" y="42"/>
                        </a:lnTo>
                        <a:lnTo>
                          <a:pt x="47" y="0"/>
                        </a:lnTo>
                        <a:lnTo>
                          <a:pt x="10" y="35"/>
                        </a:lnTo>
                        <a:lnTo>
                          <a:pt x="0" y="72"/>
                        </a:lnTo>
                        <a:lnTo>
                          <a:pt x="1" y="120"/>
                        </a:lnTo>
                        <a:lnTo>
                          <a:pt x="20" y="160"/>
                        </a:lnTo>
                        <a:lnTo>
                          <a:pt x="39" y="227"/>
                        </a:lnTo>
                        <a:lnTo>
                          <a:pt x="49" y="266"/>
                        </a:lnTo>
                        <a:lnTo>
                          <a:pt x="68" y="310"/>
                        </a:lnTo>
                        <a:lnTo>
                          <a:pt x="108" y="345"/>
                        </a:lnTo>
                        <a:lnTo>
                          <a:pt x="144" y="361"/>
                        </a:lnTo>
                        <a:close/>
                      </a:path>
                    </a:pathLst>
                  </a:custGeom>
                  <a:solidFill>
                    <a:srgbClr val="E040A0"/>
                  </a:solidFill>
                  <a:ln w="9525">
                    <a:solidFill>
                      <a:srgbClr val="E040A0"/>
                    </a:solidFill>
                    <a:prstDash val="solid"/>
                    <a:round/>
                  </a:ln>
                </p:spPr>
                <p:txBody>
                  <a:bodyPr/>
                  <a:lstStyle/>
                  <a:p>
                    <a:endParaRPr lang="zh-CN" altLang="en-US"/>
                  </a:p>
                </p:txBody>
              </p:sp>
              <p:grpSp>
                <p:nvGrpSpPr>
                  <p:cNvPr id="346598" name="Group 486"/>
                  <p:cNvGrpSpPr/>
                  <p:nvPr/>
                </p:nvGrpSpPr>
                <p:grpSpPr bwMode="auto">
                  <a:xfrm>
                    <a:off x="3997" y="2996"/>
                    <a:ext cx="795" cy="297"/>
                    <a:chOff x="3997" y="2996"/>
                    <a:chExt cx="795" cy="297"/>
                  </a:xfrm>
                </p:grpSpPr>
                <p:sp>
                  <p:nvSpPr>
                    <p:cNvPr id="346589" name="Freeform 477"/>
                    <p:cNvSpPr/>
                    <p:nvPr/>
                  </p:nvSpPr>
                  <p:spPr bwMode="auto">
                    <a:xfrm>
                      <a:off x="3997" y="2996"/>
                      <a:ext cx="791" cy="297"/>
                    </a:xfrm>
                    <a:custGeom>
                      <a:avLst/>
                      <a:gdLst>
                        <a:gd name="T0" fmla="*/ 381 w 1582"/>
                        <a:gd name="T1" fmla="*/ 0 h 595"/>
                        <a:gd name="T2" fmla="*/ 406 w 1582"/>
                        <a:gd name="T3" fmla="*/ 63 h 595"/>
                        <a:gd name="T4" fmla="*/ 466 w 1582"/>
                        <a:gd name="T5" fmla="*/ 144 h 595"/>
                        <a:gd name="T6" fmla="*/ 566 w 1582"/>
                        <a:gd name="T7" fmla="*/ 202 h 595"/>
                        <a:gd name="T8" fmla="*/ 705 w 1582"/>
                        <a:gd name="T9" fmla="*/ 243 h 595"/>
                        <a:gd name="T10" fmla="*/ 867 w 1582"/>
                        <a:gd name="T11" fmla="*/ 280 h 595"/>
                        <a:gd name="T12" fmla="*/ 997 w 1582"/>
                        <a:gd name="T13" fmla="*/ 285 h 595"/>
                        <a:gd name="T14" fmla="*/ 1132 w 1582"/>
                        <a:gd name="T15" fmla="*/ 280 h 595"/>
                        <a:gd name="T16" fmla="*/ 1157 w 1582"/>
                        <a:gd name="T17" fmla="*/ 264 h 595"/>
                        <a:gd name="T18" fmla="*/ 1195 w 1582"/>
                        <a:gd name="T19" fmla="*/ 218 h 595"/>
                        <a:gd name="T20" fmla="*/ 1227 w 1582"/>
                        <a:gd name="T21" fmla="*/ 183 h 595"/>
                        <a:gd name="T22" fmla="*/ 1271 w 1582"/>
                        <a:gd name="T23" fmla="*/ 153 h 595"/>
                        <a:gd name="T24" fmla="*/ 1285 w 1582"/>
                        <a:gd name="T25" fmla="*/ 118 h 595"/>
                        <a:gd name="T26" fmla="*/ 1307 w 1582"/>
                        <a:gd name="T27" fmla="*/ 88 h 595"/>
                        <a:gd name="T28" fmla="*/ 1337 w 1582"/>
                        <a:gd name="T29" fmla="*/ 72 h 595"/>
                        <a:gd name="T30" fmla="*/ 1375 w 1582"/>
                        <a:gd name="T31" fmla="*/ 58 h 595"/>
                        <a:gd name="T32" fmla="*/ 1431 w 1582"/>
                        <a:gd name="T33" fmla="*/ 52 h 595"/>
                        <a:gd name="T34" fmla="*/ 1488 w 1582"/>
                        <a:gd name="T35" fmla="*/ 66 h 595"/>
                        <a:gd name="T36" fmla="*/ 1539 w 1582"/>
                        <a:gd name="T37" fmla="*/ 91 h 595"/>
                        <a:gd name="T38" fmla="*/ 1567 w 1582"/>
                        <a:gd name="T39" fmla="*/ 123 h 595"/>
                        <a:gd name="T40" fmla="*/ 1578 w 1582"/>
                        <a:gd name="T41" fmla="*/ 165 h 595"/>
                        <a:gd name="T42" fmla="*/ 1558 w 1582"/>
                        <a:gd name="T43" fmla="*/ 250 h 595"/>
                        <a:gd name="T44" fmla="*/ 1577 w 1582"/>
                        <a:gd name="T45" fmla="*/ 281 h 595"/>
                        <a:gd name="T46" fmla="*/ 1582 w 1582"/>
                        <a:gd name="T47" fmla="*/ 320 h 595"/>
                        <a:gd name="T48" fmla="*/ 1570 w 1582"/>
                        <a:gd name="T49" fmla="*/ 350 h 595"/>
                        <a:gd name="T50" fmla="*/ 1541 w 1582"/>
                        <a:gd name="T51" fmla="*/ 383 h 595"/>
                        <a:gd name="T52" fmla="*/ 1522 w 1582"/>
                        <a:gd name="T53" fmla="*/ 408 h 595"/>
                        <a:gd name="T54" fmla="*/ 1538 w 1582"/>
                        <a:gd name="T55" fmla="*/ 442 h 595"/>
                        <a:gd name="T56" fmla="*/ 1533 w 1582"/>
                        <a:gd name="T57" fmla="*/ 479 h 595"/>
                        <a:gd name="T58" fmla="*/ 1516 w 1582"/>
                        <a:gd name="T59" fmla="*/ 505 h 595"/>
                        <a:gd name="T60" fmla="*/ 1500 w 1582"/>
                        <a:gd name="T61" fmla="*/ 530 h 595"/>
                        <a:gd name="T62" fmla="*/ 1490 w 1582"/>
                        <a:gd name="T63" fmla="*/ 572 h 595"/>
                        <a:gd name="T64" fmla="*/ 1473 w 1582"/>
                        <a:gd name="T65" fmla="*/ 590 h 595"/>
                        <a:gd name="T66" fmla="*/ 1427 w 1582"/>
                        <a:gd name="T67" fmla="*/ 595 h 595"/>
                        <a:gd name="T68" fmla="*/ 1359 w 1582"/>
                        <a:gd name="T69" fmla="*/ 593 h 595"/>
                        <a:gd name="T70" fmla="*/ 1298 w 1582"/>
                        <a:gd name="T71" fmla="*/ 579 h 595"/>
                        <a:gd name="T72" fmla="*/ 1227 w 1582"/>
                        <a:gd name="T73" fmla="*/ 558 h 595"/>
                        <a:gd name="T74" fmla="*/ 1179 w 1582"/>
                        <a:gd name="T75" fmla="*/ 533 h 595"/>
                        <a:gd name="T76" fmla="*/ 1147 w 1582"/>
                        <a:gd name="T77" fmla="*/ 512 h 595"/>
                        <a:gd name="T78" fmla="*/ 1031 w 1582"/>
                        <a:gd name="T79" fmla="*/ 528 h 595"/>
                        <a:gd name="T80" fmla="*/ 877 w 1582"/>
                        <a:gd name="T81" fmla="*/ 549 h 595"/>
                        <a:gd name="T82" fmla="*/ 761 w 1582"/>
                        <a:gd name="T83" fmla="*/ 558 h 595"/>
                        <a:gd name="T84" fmla="*/ 644 w 1582"/>
                        <a:gd name="T85" fmla="*/ 558 h 595"/>
                        <a:gd name="T86" fmla="*/ 491 w 1582"/>
                        <a:gd name="T87" fmla="*/ 554 h 595"/>
                        <a:gd name="T88" fmla="*/ 400 w 1582"/>
                        <a:gd name="T89" fmla="*/ 538 h 595"/>
                        <a:gd name="T90" fmla="*/ 240 w 1582"/>
                        <a:gd name="T91" fmla="*/ 475 h 595"/>
                        <a:gd name="T92" fmla="*/ 140 w 1582"/>
                        <a:gd name="T93" fmla="*/ 419 h 595"/>
                        <a:gd name="T94" fmla="*/ 80 w 1582"/>
                        <a:gd name="T95" fmla="*/ 332 h 595"/>
                        <a:gd name="T96" fmla="*/ 39 w 1582"/>
                        <a:gd name="T97" fmla="*/ 297 h 595"/>
                        <a:gd name="T98" fmla="*/ 0 w 1582"/>
                        <a:gd name="T99" fmla="*/ 209 h 595"/>
                        <a:gd name="T100" fmla="*/ 72 w 1582"/>
                        <a:gd name="T101" fmla="*/ 158 h 595"/>
                        <a:gd name="T102" fmla="*/ 169 w 1582"/>
                        <a:gd name="T103" fmla="*/ 140 h 595"/>
                        <a:gd name="T104" fmla="*/ 277 w 1582"/>
                        <a:gd name="T105" fmla="*/ 42 h 595"/>
                        <a:gd name="T106" fmla="*/ 340 w 1582"/>
                        <a:gd name="T107" fmla="*/ 24 h 595"/>
                        <a:gd name="T108" fmla="*/ 381 w 1582"/>
                        <a:gd name="T109" fmla="*/ 0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82" h="595">
                          <a:moveTo>
                            <a:pt x="381" y="0"/>
                          </a:moveTo>
                          <a:lnTo>
                            <a:pt x="406" y="63"/>
                          </a:lnTo>
                          <a:lnTo>
                            <a:pt x="466" y="144"/>
                          </a:lnTo>
                          <a:lnTo>
                            <a:pt x="566" y="202"/>
                          </a:lnTo>
                          <a:lnTo>
                            <a:pt x="705" y="243"/>
                          </a:lnTo>
                          <a:lnTo>
                            <a:pt x="867" y="280"/>
                          </a:lnTo>
                          <a:lnTo>
                            <a:pt x="997" y="285"/>
                          </a:lnTo>
                          <a:lnTo>
                            <a:pt x="1132" y="280"/>
                          </a:lnTo>
                          <a:lnTo>
                            <a:pt x="1157" y="264"/>
                          </a:lnTo>
                          <a:lnTo>
                            <a:pt x="1195" y="218"/>
                          </a:lnTo>
                          <a:lnTo>
                            <a:pt x="1227" y="183"/>
                          </a:lnTo>
                          <a:lnTo>
                            <a:pt x="1271" y="153"/>
                          </a:lnTo>
                          <a:lnTo>
                            <a:pt x="1285" y="118"/>
                          </a:lnTo>
                          <a:lnTo>
                            <a:pt x="1307" y="88"/>
                          </a:lnTo>
                          <a:lnTo>
                            <a:pt x="1337" y="72"/>
                          </a:lnTo>
                          <a:lnTo>
                            <a:pt x="1375" y="58"/>
                          </a:lnTo>
                          <a:lnTo>
                            <a:pt x="1431" y="52"/>
                          </a:lnTo>
                          <a:lnTo>
                            <a:pt x="1488" y="66"/>
                          </a:lnTo>
                          <a:lnTo>
                            <a:pt x="1539" y="91"/>
                          </a:lnTo>
                          <a:lnTo>
                            <a:pt x="1567" y="123"/>
                          </a:lnTo>
                          <a:lnTo>
                            <a:pt x="1578" y="165"/>
                          </a:lnTo>
                          <a:lnTo>
                            <a:pt x="1558" y="250"/>
                          </a:lnTo>
                          <a:lnTo>
                            <a:pt x="1577" y="281"/>
                          </a:lnTo>
                          <a:lnTo>
                            <a:pt x="1582" y="320"/>
                          </a:lnTo>
                          <a:lnTo>
                            <a:pt x="1570" y="350"/>
                          </a:lnTo>
                          <a:lnTo>
                            <a:pt x="1541" y="383"/>
                          </a:lnTo>
                          <a:lnTo>
                            <a:pt x="1522" y="408"/>
                          </a:lnTo>
                          <a:lnTo>
                            <a:pt x="1538" y="442"/>
                          </a:lnTo>
                          <a:lnTo>
                            <a:pt x="1533" y="479"/>
                          </a:lnTo>
                          <a:lnTo>
                            <a:pt x="1516" y="505"/>
                          </a:lnTo>
                          <a:lnTo>
                            <a:pt x="1500" y="530"/>
                          </a:lnTo>
                          <a:lnTo>
                            <a:pt x="1490" y="572"/>
                          </a:lnTo>
                          <a:lnTo>
                            <a:pt x="1473" y="590"/>
                          </a:lnTo>
                          <a:lnTo>
                            <a:pt x="1427" y="595"/>
                          </a:lnTo>
                          <a:lnTo>
                            <a:pt x="1359" y="593"/>
                          </a:lnTo>
                          <a:lnTo>
                            <a:pt x="1298" y="579"/>
                          </a:lnTo>
                          <a:lnTo>
                            <a:pt x="1227" y="558"/>
                          </a:lnTo>
                          <a:lnTo>
                            <a:pt x="1179" y="533"/>
                          </a:lnTo>
                          <a:lnTo>
                            <a:pt x="1147" y="512"/>
                          </a:lnTo>
                          <a:lnTo>
                            <a:pt x="1031" y="528"/>
                          </a:lnTo>
                          <a:lnTo>
                            <a:pt x="877" y="549"/>
                          </a:lnTo>
                          <a:lnTo>
                            <a:pt x="761" y="558"/>
                          </a:lnTo>
                          <a:lnTo>
                            <a:pt x="644" y="558"/>
                          </a:lnTo>
                          <a:lnTo>
                            <a:pt x="491" y="554"/>
                          </a:lnTo>
                          <a:lnTo>
                            <a:pt x="400" y="538"/>
                          </a:lnTo>
                          <a:lnTo>
                            <a:pt x="240" y="475"/>
                          </a:lnTo>
                          <a:lnTo>
                            <a:pt x="140" y="419"/>
                          </a:lnTo>
                          <a:lnTo>
                            <a:pt x="80" y="332"/>
                          </a:lnTo>
                          <a:lnTo>
                            <a:pt x="39" y="297"/>
                          </a:lnTo>
                          <a:lnTo>
                            <a:pt x="0" y="209"/>
                          </a:lnTo>
                          <a:lnTo>
                            <a:pt x="72" y="158"/>
                          </a:lnTo>
                          <a:lnTo>
                            <a:pt x="169" y="140"/>
                          </a:lnTo>
                          <a:lnTo>
                            <a:pt x="277" y="42"/>
                          </a:lnTo>
                          <a:lnTo>
                            <a:pt x="340" y="24"/>
                          </a:lnTo>
                          <a:lnTo>
                            <a:pt x="381" y="0"/>
                          </a:lnTo>
                          <a:close/>
                        </a:path>
                      </a:pathLst>
                    </a:custGeom>
                    <a:solidFill>
                      <a:srgbClr val="E0A080"/>
                    </a:solidFill>
                    <a:ln w="9525">
                      <a:solidFill>
                        <a:srgbClr val="000000"/>
                      </a:solidFill>
                      <a:prstDash val="solid"/>
                      <a:round/>
                    </a:ln>
                  </p:spPr>
                  <p:txBody>
                    <a:bodyPr/>
                    <a:lstStyle/>
                    <a:p>
                      <a:endParaRPr lang="zh-CN" altLang="en-US"/>
                    </a:p>
                  </p:txBody>
                </p:sp>
                <p:sp>
                  <p:nvSpPr>
                    <p:cNvPr id="346590" name="Freeform 478"/>
                    <p:cNvSpPr/>
                    <p:nvPr/>
                  </p:nvSpPr>
                  <p:spPr bwMode="auto">
                    <a:xfrm>
                      <a:off x="4677" y="3053"/>
                      <a:ext cx="17" cy="69"/>
                    </a:xfrm>
                    <a:custGeom>
                      <a:avLst/>
                      <a:gdLst>
                        <a:gd name="T0" fmla="*/ 36 w 36"/>
                        <a:gd name="T1" fmla="*/ 0 h 137"/>
                        <a:gd name="T2" fmla="*/ 19 w 36"/>
                        <a:gd name="T3" fmla="*/ 5 h 137"/>
                        <a:gd name="T4" fmla="*/ 7 w 36"/>
                        <a:gd name="T5" fmla="*/ 25 h 137"/>
                        <a:gd name="T6" fmla="*/ 0 w 36"/>
                        <a:gd name="T7" fmla="*/ 44 h 137"/>
                        <a:gd name="T8" fmla="*/ 0 w 36"/>
                        <a:gd name="T9" fmla="*/ 62 h 137"/>
                        <a:gd name="T10" fmla="*/ 9 w 36"/>
                        <a:gd name="T11" fmla="*/ 100 h 137"/>
                        <a:gd name="T12" fmla="*/ 7 w 36"/>
                        <a:gd name="T13" fmla="*/ 137 h 137"/>
                      </a:gdLst>
                      <a:ahLst/>
                      <a:cxnLst>
                        <a:cxn ang="0">
                          <a:pos x="T0" y="T1"/>
                        </a:cxn>
                        <a:cxn ang="0">
                          <a:pos x="T2" y="T3"/>
                        </a:cxn>
                        <a:cxn ang="0">
                          <a:pos x="T4" y="T5"/>
                        </a:cxn>
                        <a:cxn ang="0">
                          <a:pos x="T6" y="T7"/>
                        </a:cxn>
                        <a:cxn ang="0">
                          <a:pos x="T8" y="T9"/>
                        </a:cxn>
                        <a:cxn ang="0">
                          <a:pos x="T10" y="T11"/>
                        </a:cxn>
                        <a:cxn ang="0">
                          <a:pos x="T12" y="T13"/>
                        </a:cxn>
                      </a:cxnLst>
                      <a:rect l="0" t="0" r="r" b="b"/>
                      <a:pathLst>
                        <a:path w="36" h="137">
                          <a:moveTo>
                            <a:pt x="36" y="0"/>
                          </a:moveTo>
                          <a:lnTo>
                            <a:pt x="19" y="5"/>
                          </a:lnTo>
                          <a:lnTo>
                            <a:pt x="7" y="25"/>
                          </a:lnTo>
                          <a:lnTo>
                            <a:pt x="0" y="44"/>
                          </a:lnTo>
                          <a:lnTo>
                            <a:pt x="0" y="62"/>
                          </a:lnTo>
                          <a:lnTo>
                            <a:pt x="9" y="100"/>
                          </a:lnTo>
                          <a:lnTo>
                            <a:pt x="7" y="137"/>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91" name="Freeform 479"/>
                    <p:cNvSpPr/>
                    <p:nvPr/>
                  </p:nvSpPr>
                  <p:spPr bwMode="auto">
                    <a:xfrm>
                      <a:off x="4760" y="3141"/>
                      <a:ext cx="32" cy="10"/>
                    </a:xfrm>
                    <a:custGeom>
                      <a:avLst/>
                      <a:gdLst>
                        <a:gd name="T0" fmla="*/ 64 w 64"/>
                        <a:gd name="T1" fmla="*/ 9 h 20"/>
                        <a:gd name="T2" fmla="*/ 42 w 64"/>
                        <a:gd name="T3" fmla="*/ 20 h 20"/>
                        <a:gd name="T4" fmla="*/ 15 w 64"/>
                        <a:gd name="T5" fmla="*/ 14 h 20"/>
                        <a:gd name="T6" fmla="*/ 0 w 64"/>
                        <a:gd name="T7" fmla="*/ 0 h 20"/>
                      </a:gdLst>
                      <a:ahLst/>
                      <a:cxnLst>
                        <a:cxn ang="0">
                          <a:pos x="T0" y="T1"/>
                        </a:cxn>
                        <a:cxn ang="0">
                          <a:pos x="T2" y="T3"/>
                        </a:cxn>
                        <a:cxn ang="0">
                          <a:pos x="T4" y="T5"/>
                        </a:cxn>
                        <a:cxn ang="0">
                          <a:pos x="T6" y="T7"/>
                        </a:cxn>
                      </a:cxnLst>
                      <a:rect l="0" t="0" r="r" b="b"/>
                      <a:pathLst>
                        <a:path w="64" h="20">
                          <a:moveTo>
                            <a:pt x="64" y="9"/>
                          </a:moveTo>
                          <a:lnTo>
                            <a:pt x="42" y="20"/>
                          </a:lnTo>
                          <a:lnTo>
                            <a:pt x="15" y="14"/>
                          </a:lnTo>
                          <a:lnTo>
                            <a:pt x="0" y="0"/>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92" name="Freeform 480"/>
                    <p:cNvSpPr/>
                    <p:nvPr/>
                  </p:nvSpPr>
                  <p:spPr bwMode="auto">
                    <a:xfrm>
                      <a:off x="4743" y="3219"/>
                      <a:ext cx="36" cy="12"/>
                    </a:xfrm>
                    <a:custGeom>
                      <a:avLst/>
                      <a:gdLst>
                        <a:gd name="T0" fmla="*/ 71 w 71"/>
                        <a:gd name="T1" fmla="*/ 0 h 23"/>
                        <a:gd name="T2" fmla="*/ 63 w 71"/>
                        <a:gd name="T3" fmla="*/ 18 h 23"/>
                        <a:gd name="T4" fmla="*/ 41 w 71"/>
                        <a:gd name="T5" fmla="*/ 23 h 23"/>
                        <a:gd name="T6" fmla="*/ 20 w 71"/>
                        <a:gd name="T7" fmla="*/ 16 h 23"/>
                        <a:gd name="T8" fmla="*/ 0 w 71"/>
                        <a:gd name="T9" fmla="*/ 3 h 23"/>
                      </a:gdLst>
                      <a:ahLst/>
                      <a:cxnLst>
                        <a:cxn ang="0">
                          <a:pos x="T0" y="T1"/>
                        </a:cxn>
                        <a:cxn ang="0">
                          <a:pos x="T2" y="T3"/>
                        </a:cxn>
                        <a:cxn ang="0">
                          <a:pos x="T4" y="T5"/>
                        </a:cxn>
                        <a:cxn ang="0">
                          <a:pos x="T6" y="T7"/>
                        </a:cxn>
                        <a:cxn ang="0">
                          <a:pos x="T8" y="T9"/>
                        </a:cxn>
                      </a:cxnLst>
                      <a:rect l="0" t="0" r="r" b="b"/>
                      <a:pathLst>
                        <a:path w="71" h="23">
                          <a:moveTo>
                            <a:pt x="71" y="0"/>
                          </a:moveTo>
                          <a:lnTo>
                            <a:pt x="63" y="18"/>
                          </a:lnTo>
                          <a:lnTo>
                            <a:pt x="41" y="23"/>
                          </a:lnTo>
                          <a:lnTo>
                            <a:pt x="20" y="16"/>
                          </a:lnTo>
                          <a:lnTo>
                            <a:pt x="0" y="3"/>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93" name="Freeform 481"/>
                    <p:cNvSpPr/>
                    <p:nvPr/>
                  </p:nvSpPr>
                  <p:spPr bwMode="auto">
                    <a:xfrm>
                      <a:off x="4536" y="3163"/>
                      <a:ext cx="45" cy="89"/>
                    </a:xfrm>
                    <a:custGeom>
                      <a:avLst/>
                      <a:gdLst>
                        <a:gd name="T0" fmla="*/ 0 w 90"/>
                        <a:gd name="T1" fmla="*/ 0 h 178"/>
                        <a:gd name="T2" fmla="*/ 29 w 90"/>
                        <a:gd name="T3" fmla="*/ 25 h 178"/>
                        <a:gd name="T4" fmla="*/ 61 w 90"/>
                        <a:gd name="T5" fmla="*/ 64 h 178"/>
                        <a:gd name="T6" fmla="*/ 77 w 90"/>
                        <a:gd name="T7" fmla="*/ 109 h 178"/>
                        <a:gd name="T8" fmla="*/ 90 w 90"/>
                        <a:gd name="T9" fmla="*/ 138 h 178"/>
                        <a:gd name="T10" fmla="*/ 77 w 90"/>
                        <a:gd name="T11" fmla="*/ 178 h 178"/>
                      </a:gdLst>
                      <a:ahLst/>
                      <a:cxnLst>
                        <a:cxn ang="0">
                          <a:pos x="T0" y="T1"/>
                        </a:cxn>
                        <a:cxn ang="0">
                          <a:pos x="T2" y="T3"/>
                        </a:cxn>
                        <a:cxn ang="0">
                          <a:pos x="T4" y="T5"/>
                        </a:cxn>
                        <a:cxn ang="0">
                          <a:pos x="T6" y="T7"/>
                        </a:cxn>
                        <a:cxn ang="0">
                          <a:pos x="T8" y="T9"/>
                        </a:cxn>
                        <a:cxn ang="0">
                          <a:pos x="T10" y="T11"/>
                        </a:cxn>
                      </a:cxnLst>
                      <a:rect l="0" t="0" r="r" b="b"/>
                      <a:pathLst>
                        <a:path w="90" h="178">
                          <a:moveTo>
                            <a:pt x="0" y="0"/>
                          </a:moveTo>
                          <a:lnTo>
                            <a:pt x="29" y="25"/>
                          </a:lnTo>
                          <a:lnTo>
                            <a:pt x="61" y="64"/>
                          </a:lnTo>
                          <a:lnTo>
                            <a:pt x="77" y="109"/>
                          </a:lnTo>
                          <a:lnTo>
                            <a:pt x="90" y="138"/>
                          </a:lnTo>
                          <a:lnTo>
                            <a:pt x="77" y="178"/>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94" name="Freeform 482"/>
                    <p:cNvSpPr/>
                    <p:nvPr/>
                  </p:nvSpPr>
                  <p:spPr bwMode="auto">
                    <a:xfrm>
                      <a:off x="4681" y="3109"/>
                      <a:ext cx="46" cy="24"/>
                    </a:xfrm>
                    <a:custGeom>
                      <a:avLst/>
                      <a:gdLst>
                        <a:gd name="T0" fmla="*/ 0 w 92"/>
                        <a:gd name="T1" fmla="*/ 47 h 47"/>
                        <a:gd name="T2" fmla="*/ 17 w 92"/>
                        <a:gd name="T3" fmla="*/ 24 h 47"/>
                        <a:gd name="T4" fmla="*/ 37 w 92"/>
                        <a:gd name="T5" fmla="*/ 9 h 47"/>
                        <a:gd name="T6" fmla="*/ 59 w 92"/>
                        <a:gd name="T7" fmla="*/ 0 h 47"/>
                        <a:gd name="T8" fmla="*/ 92 w 92"/>
                        <a:gd name="T9" fmla="*/ 3 h 47"/>
                      </a:gdLst>
                      <a:ahLst/>
                      <a:cxnLst>
                        <a:cxn ang="0">
                          <a:pos x="T0" y="T1"/>
                        </a:cxn>
                        <a:cxn ang="0">
                          <a:pos x="T2" y="T3"/>
                        </a:cxn>
                        <a:cxn ang="0">
                          <a:pos x="T4" y="T5"/>
                        </a:cxn>
                        <a:cxn ang="0">
                          <a:pos x="T6" y="T7"/>
                        </a:cxn>
                        <a:cxn ang="0">
                          <a:pos x="T8" y="T9"/>
                        </a:cxn>
                      </a:cxnLst>
                      <a:rect l="0" t="0" r="r" b="b"/>
                      <a:pathLst>
                        <a:path w="92" h="47">
                          <a:moveTo>
                            <a:pt x="0" y="47"/>
                          </a:moveTo>
                          <a:lnTo>
                            <a:pt x="17" y="24"/>
                          </a:lnTo>
                          <a:lnTo>
                            <a:pt x="37" y="9"/>
                          </a:lnTo>
                          <a:lnTo>
                            <a:pt x="59" y="0"/>
                          </a:lnTo>
                          <a:lnTo>
                            <a:pt x="92" y="3"/>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95" name="Freeform 483"/>
                    <p:cNvSpPr/>
                    <p:nvPr/>
                  </p:nvSpPr>
                  <p:spPr bwMode="auto">
                    <a:xfrm>
                      <a:off x="4717" y="3084"/>
                      <a:ext cx="29" cy="25"/>
                    </a:xfrm>
                    <a:custGeom>
                      <a:avLst/>
                      <a:gdLst>
                        <a:gd name="T0" fmla="*/ 60 w 60"/>
                        <a:gd name="T1" fmla="*/ 0 h 51"/>
                        <a:gd name="T2" fmla="*/ 41 w 60"/>
                        <a:gd name="T3" fmla="*/ 0 h 51"/>
                        <a:gd name="T4" fmla="*/ 26 w 60"/>
                        <a:gd name="T5" fmla="*/ 8 h 51"/>
                        <a:gd name="T6" fmla="*/ 14 w 60"/>
                        <a:gd name="T7" fmla="*/ 17 h 51"/>
                        <a:gd name="T8" fmla="*/ 4 w 60"/>
                        <a:gd name="T9" fmla="*/ 33 h 51"/>
                        <a:gd name="T10" fmla="*/ 0 w 60"/>
                        <a:gd name="T11" fmla="*/ 51 h 51"/>
                      </a:gdLst>
                      <a:ahLst/>
                      <a:cxnLst>
                        <a:cxn ang="0">
                          <a:pos x="T0" y="T1"/>
                        </a:cxn>
                        <a:cxn ang="0">
                          <a:pos x="T2" y="T3"/>
                        </a:cxn>
                        <a:cxn ang="0">
                          <a:pos x="T4" y="T5"/>
                        </a:cxn>
                        <a:cxn ang="0">
                          <a:pos x="T6" y="T7"/>
                        </a:cxn>
                        <a:cxn ang="0">
                          <a:pos x="T8" y="T9"/>
                        </a:cxn>
                        <a:cxn ang="0">
                          <a:pos x="T10" y="T11"/>
                        </a:cxn>
                      </a:cxnLst>
                      <a:rect l="0" t="0" r="r" b="b"/>
                      <a:pathLst>
                        <a:path w="60" h="51">
                          <a:moveTo>
                            <a:pt x="60" y="0"/>
                          </a:moveTo>
                          <a:lnTo>
                            <a:pt x="41" y="0"/>
                          </a:lnTo>
                          <a:lnTo>
                            <a:pt x="26" y="8"/>
                          </a:lnTo>
                          <a:lnTo>
                            <a:pt x="14" y="17"/>
                          </a:lnTo>
                          <a:lnTo>
                            <a:pt x="4" y="33"/>
                          </a:lnTo>
                          <a:lnTo>
                            <a:pt x="0" y="51"/>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96" name="Freeform 484"/>
                    <p:cNvSpPr/>
                    <p:nvPr/>
                  </p:nvSpPr>
                  <p:spPr bwMode="auto">
                    <a:xfrm>
                      <a:off x="4712" y="3049"/>
                      <a:ext cx="12" cy="36"/>
                    </a:xfrm>
                    <a:custGeom>
                      <a:avLst/>
                      <a:gdLst>
                        <a:gd name="T0" fmla="*/ 23 w 23"/>
                        <a:gd name="T1" fmla="*/ 0 h 72"/>
                        <a:gd name="T2" fmla="*/ 13 w 23"/>
                        <a:gd name="T3" fmla="*/ 9 h 72"/>
                        <a:gd name="T4" fmla="*/ 5 w 23"/>
                        <a:gd name="T5" fmla="*/ 30 h 72"/>
                        <a:gd name="T6" fmla="*/ 0 w 23"/>
                        <a:gd name="T7" fmla="*/ 51 h 72"/>
                        <a:gd name="T8" fmla="*/ 0 w 23"/>
                        <a:gd name="T9" fmla="*/ 72 h 72"/>
                      </a:gdLst>
                      <a:ahLst/>
                      <a:cxnLst>
                        <a:cxn ang="0">
                          <a:pos x="T0" y="T1"/>
                        </a:cxn>
                        <a:cxn ang="0">
                          <a:pos x="T2" y="T3"/>
                        </a:cxn>
                        <a:cxn ang="0">
                          <a:pos x="T4" y="T5"/>
                        </a:cxn>
                        <a:cxn ang="0">
                          <a:pos x="T6" y="T7"/>
                        </a:cxn>
                        <a:cxn ang="0">
                          <a:pos x="T8" y="T9"/>
                        </a:cxn>
                      </a:cxnLst>
                      <a:rect l="0" t="0" r="r" b="b"/>
                      <a:pathLst>
                        <a:path w="23" h="72">
                          <a:moveTo>
                            <a:pt x="23" y="0"/>
                          </a:moveTo>
                          <a:lnTo>
                            <a:pt x="13" y="9"/>
                          </a:lnTo>
                          <a:lnTo>
                            <a:pt x="5" y="30"/>
                          </a:lnTo>
                          <a:lnTo>
                            <a:pt x="0" y="51"/>
                          </a:lnTo>
                          <a:lnTo>
                            <a:pt x="0" y="72"/>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597" name="Freeform 485"/>
                    <p:cNvSpPr/>
                    <p:nvPr/>
                  </p:nvSpPr>
                  <p:spPr bwMode="auto">
                    <a:xfrm>
                      <a:off x="4692" y="3064"/>
                      <a:ext cx="20" cy="21"/>
                    </a:xfrm>
                    <a:custGeom>
                      <a:avLst/>
                      <a:gdLst>
                        <a:gd name="T0" fmla="*/ 0 w 41"/>
                        <a:gd name="T1" fmla="*/ 0 h 40"/>
                        <a:gd name="T2" fmla="*/ 19 w 41"/>
                        <a:gd name="T3" fmla="*/ 9 h 40"/>
                        <a:gd name="T4" fmla="*/ 30 w 41"/>
                        <a:gd name="T5" fmla="*/ 23 h 40"/>
                        <a:gd name="T6" fmla="*/ 41 w 41"/>
                        <a:gd name="T7" fmla="*/ 40 h 40"/>
                      </a:gdLst>
                      <a:ahLst/>
                      <a:cxnLst>
                        <a:cxn ang="0">
                          <a:pos x="T0" y="T1"/>
                        </a:cxn>
                        <a:cxn ang="0">
                          <a:pos x="T2" y="T3"/>
                        </a:cxn>
                        <a:cxn ang="0">
                          <a:pos x="T4" y="T5"/>
                        </a:cxn>
                        <a:cxn ang="0">
                          <a:pos x="T6" y="T7"/>
                        </a:cxn>
                      </a:cxnLst>
                      <a:rect l="0" t="0" r="r" b="b"/>
                      <a:pathLst>
                        <a:path w="41" h="40">
                          <a:moveTo>
                            <a:pt x="0" y="0"/>
                          </a:moveTo>
                          <a:lnTo>
                            <a:pt x="19" y="9"/>
                          </a:lnTo>
                          <a:lnTo>
                            <a:pt x="30" y="23"/>
                          </a:lnTo>
                          <a:lnTo>
                            <a:pt x="41" y="40"/>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46599" name="Freeform 487"/>
                  <p:cNvSpPr/>
                  <p:nvPr/>
                </p:nvSpPr>
                <p:spPr bwMode="auto">
                  <a:xfrm>
                    <a:off x="3939" y="2910"/>
                    <a:ext cx="260" cy="218"/>
                  </a:xfrm>
                  <a:custGeom>
                    <a:avLst/>
                    <a:gdLst>
                      <a:gd name="T0" fmla="*/ 0 w 522"/>
                      <a:gd name="T1" fmla="*/ 227 h 435"/>
                      <a:gd name="T2" fmla="*/ 5 w 522"/>
                      <a:gd name="T3" fmla="*/ 276 h 435"/>
                      <a:gd name="T4" fmla="*/ 29 w 522"/>
                      <a:gd name="T5" fmla="*/ 310 h 435"/>
                      <a:gd name="T6" fmla="*/ 31 w 522"/>
                      <a:gd name="T7" fmla="*/ 317 h 435"/>
                      <a:gd name="T8" fmla="*/ 60 w 522"/>
                      <a:gd name="T9" fmla="*/ 361 h 435"/>
                      <a:gd name="T10" fmla="*/ 56 w 522"/>
                      <a:gd name="T11" fmla="*/ 368 h 435"/>
                      <a:gd name="T12" fmla="*/ 87 w 522"/>
                      <a:gd name="T13" fmla="*/ 403 h 435"/>
                      <a:gd name="T14" fmla="*/ 133 w 522"/>
                      <a:gd name="T15" fmla="*/ 435 h 435"/>
                      <a:gd name="T16" fmla="*/ 156 w 522"/>
                      <a:gd name="T17" fmla="*/ 403 h 435"/>
                      <a:gd name="T18" fmla="*/ 189 w 522"/>
                      <a:gd name="T19" fmla="*/ 375 h 435"/>
                      <a:gd name="T20" fmla="*/ 221 w 522"/>
                      <a:gd name="T21" fmla="*/ 350 h 435"/>
                      <a:gd name="T22" fmla="*/ 257 w 522"/>
                      <a:gd name="T23" fmla="*/ 347 h 435"/>
                      <a:gd name="T24" fmla="*/ 308 w 522"/>
                      <a:gd name="T25" fmla="*/ 345 h 435"/>
                      <a:gd name="T26" fmla="*/ 335 w 522"/>
                      <a:gd name="T27" fmla="*/ 308 h 435"/>
                      <a:gd name="T28" fmla="*/ 360 w 522"/>
                      <a:gd name="T29" fmla="*/ 276 h 435"/>
                      <a:gd name="T30" fmla="*/ 393 w 522"/>
                      <a:gd name="T31" fmla="*/ 257 h 435"/>
                      <a:gd name="T32" fmla="*/ 427 w 522"/>
                      <a:gd name="T33" fmla="*/ 243 h 435"/>
                      <a:gd name="T34" fmla="*/ 479 w 522"/>
                      <a:gd name="T35" fmla="*/ 232 h 435"/>
                      <a:gd name="T36" fmla="*/ 513 w 522"/>
                      <a:gd name="T37" fmla="*/ 211 h 435"/>
                      <a:gd name="T38" fmla="*/ 522 w 522"/>
                      <a:gd name="T39" fmla="*/ 190 h 435"/>
                      <a:gd name="T40" fmla="*/ 511 w 522"/>
                      <a:gd name="T41" fmla="*/ 137 h 435"/>
                      <a:gd name="T42" fmla="*/ 506 w 522"/>
                      <a:gd name="T43" fmla="*/ 139 h 435"/>
                      <a:gd name="T44" fmla="*/ 483 w 522"/>
                      <a:gd name="T45" fmla="*/ 93 h 435"/>
                      <a:gd name="T46" fmla="*/ 472 w 522"/>
                      <a:gd name="T47" fmla="*/ 70 h 435"/>
                      <a:gd name="T48" fmla="*/ 472 w 522"/>
                      <a:gd name="T49" fmla="*/ 67 h 435"/>
                      <a:gd name="T50" fmla="*/ 452 w 522"/>
                      <a:gd name="T51" fmla="*/ 37 h 435"/>
                      <a:gd name="T52" fmla="*/ 413 w 522"/>
                      <a:gd name="T53" fmla="*/ 0 h 435"/>
                      <a:gd name="T54" fmla="*/ 345 w 522"/>
                      <a:gd name="T55" fmla="*/ 30 h 435"/>
                      <a:gd name="T56" fmla="*/ 304 w 522"/>
                      <a:gd name="T57" fmla="*/ 88 h 435"/>
                      <a:gd name="T58" fmla="*/ 252 w 522"/>
                      <a:gd name="T59" fmla="*/ 112 h 435"/>
                      <a:gd name="T60" fmla="*/ 172 w 522"/>
                      <a:gd name="T61" fmla="*/ 144 h 435"/>
                      <a:gd name="T62" fmla="*/ 148 w 522"/>
                      <a:gd name="T63" fmla="*/ 186 h 435"/>
                      <a:gd name="T64" fmla="*/ 112 w 522"/>
                      <a:gd name="T65" fmla="*/ 190 h 435"/>
                      <a:gd name="T66" fmla="*/ 63 w 522"/>
                      <a:gd name="T67" fmla="*/ 211 h 435"/>
                      <a:gd name="T68" fmla="*/ 0 w 522"/>
                      <a:gd name="T69" fmla="*/ 227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22" h="435">
                        <a:moveTo>
                          <a:pt x="0" y="227"/>
                        </a:moveTo>
                        <a:lnTo>
                          <a:pt x="5" y="276"/>
                        </a:lnTo>
                        <a:lnTo>
                          <a:pt x="29" y="310"/>
                        </a:lnTo>
                        <a:lnTo>
                          <a:pt x="31" y="317"/>
                        </a:lnTo>
                        <a:lnTo>
                          <a:pt x="60" y="361"/>
                        </a:lnTo>
                        <a:lnTo>
                          <a:pt x="56" y="368"/>
                        </a:lnTo>
                        <a:lnTo>
                          <a:pt x="87" y="403"/>
                        </a:lnTo>
                        <a:lnTo>
                          <a:pt x="133" y="435"/>
                        </a:lnTo>
                        <a:lnTo>
                          <a:pt x="156" y="403"/>
                        </a:lnTo>
                        <a:lnTo>
                          <a:pt x="189" y="375"/>
                        </a:lnTo>
                        <a:lnTo>
                          <a:pt x="221" y="350"/>
                        </a:lnTo>
                        <a:lnTo>
                          <a:pt x="257" y="347"/>
                        </a:lnTo>
                        <a:lnTo>
                          <a:pt x="308" y="345"/>
                        </a:lnTo>
                        <a:lnTo>
                          <a:pt x="335" y="308"/>
                        </a:lnTo>
                        <a:lnTo>
                          <a:pt x="360" y="276"/>
                        </a:lnTo>
                        <a:lnTo>
                          <a:pt x="393" y="257"/>
                        </a:lnTo>
                        <a:lnTo>
                          <a:pt x="427" y="243"/>
                        </a:lnTo>
                        <a:lnTo>
                          <a:pt x="479" y="232"/>
                        </a:lnTo>
                        <a:lnTo>
                          <a:pt x="513" y="211"/>
                        </a:lnTo>
                        <a:lnTo>
                          <a:pt x="522" y="190"/>
                        </a:lnTo>
                        <a:lnTo>
                          <a:pt x="511" y="137"/>
                        </a:lnTo>
                        <a:lnTo>
                          <a:pt x="506" y="139"/>
                        </a:lnTo>
                        <a:lnTo>
                          <a:pt x="483" y="93"/>
                        </a:lnTo>
                        <a:lnTo>
                          <a:pt x="472" y="70"/>
                        </a:lnTo>
                        <a:lnTo>
                          <a:pt x="472" y="67"/>
                        </a:lnTo>
                        <a:lnTo>
                          <a:pt x="452" y="37"/>
                        </a:lnTo>
                        <a:lnTo>
                          <a:pt x="413" y="0"/>
                        </a:lnTo>
                        <a:lnTo>
                          <a:pt x="345" y="30"/>
                        </a:lnTo>
                        <a:lnTo>
                          <a:pt x="304" y="88"/>
                        </a:lnTo>
                        <a:lnTo>
                          <a:pt x="252" y="112"/>
                        </a:lnTo>
                        <a:lnTo>
                          <a:pt x="172" y="144"/>
                        </a:lnTo>
                        <a:lnTo>
                          <a:pt x="148" y="186"/>
                        </a:lnTo>
                        <a:lnTo>
                          <a:pt x="112" y="190"/>
                        </a:lnTo>
                        <a:lnTo>
                          <a:pt x="63" y="211"/>
                        </a:lnTo>
                        <a:lnTo>
                          <a:pt x="0" y="227"/>
                        </a:lnTo>
                        <a:close/>
                      </a:path>
                    </a:pathLst>
                  </a:custGeom>
                  <a:solidFill>
                    <a:srgbClr val="E040A0"/>
                  </a:solidFill>
                  <a:ln w="9525">
                    <a:solidFill>
                      <a:srgbClr val="000000"/>
                    </a:solidFill>
                    <a:prstDash val="solid"/>
                    <a:round/>
                  </a:ln>
                </p:spPr>
                <p:txBody>
                  <a:bodyPr/>
                  <a:lstStyle/>
                  <a:p>
                    <a:endParaRPr lang="zh-CN" altLang="en-US"/>
                  </a:p>
                </p:txBody>
              </p:sp>
              <p:sp>
                <p:nvSpPr>
                  <p:cNvPr id="346600" name="Freeform 488"/>
                  <p:cNvSpPr/>
                  <p:nvPr/>
                </p:nvSpPr>
                <p:spPr bwMode="auto">
                  <a:xfrm>
                    <a:off x="4049" y="2520"/>
                    <a:ext cx="304" cy="256"/>
                  </a:xfrm>
                  <a:custGeom>
                    <a:avLst/>
                    <a:gdLst>
                      <a:gd name="T0" fmla="*/ 0 w 608"/>
                      <a:gd name="T1" fmla="*/ 0 h 513"/>
                      <a:gd name="T2" fmla="*/ 92 w 608"/>
                      <a:gd name="T3" fmla="*/ 53 h 513"/>
                      <a:gd name="T4" fmla="*/ 177 w 608"/>
                      <a:gd name="T5" fmla="*/ 106 h 513"/>
                      <a:gd name="T6" fmla="*/ 246 w 608"/>
                      <a:gd name="T7" fmla="*/ 140 h 513"/>
                      <a:gd name="T8" fmla="*/ 318 w 608"/>
                      <a:gd name="T9" fmla="*/ 178 h 513"/>
                      <a:gd name="T10" fmla="*/ 418 w 608"/>
                      <a:gd name="T11" fmla="*/ 231 h 513"/>
                      <a:gd name="T12" fmla="*/ 479 w 608"/>
                      <a:gd name="T13" fmla="*/ 332 h 513"/>
                      <a:gd name="T14" fmla="*/ 527 w 608"/>
                      <a:gd name="T15" fmla="*/ 508 h 513"/>
                      <a:gd name="T16" fmla="*/ 572 w 608"/>
                      <a:gd name="T17" fmla="*/ 363 h 513"/>
                      <a:gd name="T18" fmla="*/ 608 w 608"/>
                      <a:gd name="T19" fmla="*/ 268 h 513"/>
                      <a:gd name="T20" fmla="*/ 603 w 608"/>
                      <a:gd name="T21" fmla="*/ 194 h 513"/>
                      <a:gd name="T22" fmla="*/ 606 w 608"/>
                      <a:gd name="T23" fmla="*/ 268 h 513"/>
                      <a:gd name="T24" fmla="*/ 567 w 608"/>
                      <a:gd name="T25" fmla="*/ 361 h 513"/>
                      <a:gd name="T26" fmla="*/ 533 w 608"/>
                      <a:gd name="T27" fmla="*/ 513 h 513"/>
                      <a:gd name="T28" fmla="*/ 481 w 608"/>
                      <a:gd name="T29" fmla="*/ 328 h 513"/>
                      <a:gd name="T30" fmla="*/ 418 w 608"/>
                      <a:gd name="T31" fmla="*/ 233 h 513"/>
                      <a:gd name="T32" fmla="*/ 316 w 608"/>
                      <a:gd name="T33" fmla="*/ 178 h 513"/>
                      <a:gd name="T34" fmla="*/ 245 w 608"/>
                      <a:gd name="T35" fmla="*/ 143 h 513"/>
                      <a:gd name="T36" fmla="*/ 175 w 608"/>
                      <a:gd name="T37" fmla="*/ 106 h 513"/>
                      <a:gd name="T38" fmla="*/ 88 w 608"/>
                      <a:gd name="T39" fmla="*/ 53 h 513"/>
                      <a:gd name="T40" fmla="*/ 0 w 608"/>
                      <a:gd name="T41" fmla="*/ 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8" h="513">
                        <a:moveTo>
                          <a:pt x="0" y="0"/>
                        </a:moveTo>
                        <a:lnTo>
                          <a:pt x="92" y="53"/>
                        </a:lnTo>
                        <a:lnTo>
                          <a:pt x="177" y="106"/>
                        </a:lnTo>
                        <a:lnTo>
                          <a:pt x="246" y="140"/>
                        </a:lnTo>
                        <a:lnTo>
                          <a:pt x="318" y="178"/>
                        </a:lnTo>
                        <a:lnTo>
                          <a:pt x="418" y="231"/>
                        </a:lnTo>
                        <a:lnTo>
                          <a:pt x="479" y="332"/>
                        </a:lnTo>
                        <a:lnTo>
                          <a:pt x="527" y="508"/>
                        </a:lnTo>
                        <a:lnTo>
                          <a:pt x="572" y="363"/>
                        </a:lnTo>
                        <a:lnTo>
                          <a:pt x="608" y="268"/>
                        </a:lnTo>
                        <a:lnTo>
                          <a:pt x="603" y="194"/>
                        </a:lnTo>
                        <a:lnTo>
                          <a:pt x="606" y="268"/>
                        </a:lnTo>
                        <a:lnTo>
                          <a:pt x="567" y="361"/>
                        </a:lnTo>
                        <a:lnTo>
                          <a:pt x="533" y="513"/>
                        </a:lnTo>
                        <a:lnTo>
                          <a:pt x="481" y="328"/>
                        </a:lnTo>
                        <a:lnTo>
                          <a:pt x="418" y="233"/>
                        </a:lnTo>
                        <a:lnTo>
                          <a:pt x="316" y="178"/>
                        </a:lnTo>
                        <a:lnTo>
                          <a:pt x="245" y="143"/>
                        </a:lnTo>
                        <a:lnTo>
                          <a:pt x="175" y="106"/>
                        </a:lnTo>
                        <a:lnTo>
                          <a:pt x="88" y="53"/>
                        </a:lnTo>
                        <a:lnTo>
                          <a:pt x="0" y="0"/>
                        </a:lnTo>
                        <a:close/>
                      </a:path>
                    </a:pathLst>
                  </a:custGeom>
                  <a:solidFill>
                    <a:srgbClr val="E040A0"/>
                  </a:solidFill>
                  <a:ln w="9525">
                    <a:solidFill>
                      <a:srgbClr val="000000"/>
                    </a:solidFill>
                    <a:prstDash val="solid"/>
                    <a:round/>
                  </a:ln>
                </p:spPr>
                <p:txBody>
                  <a:bodyPr/>
                  <a:lstStyle/>
                  <a:p>
                    <a:endParaRPr lang="zh-CN" altLang="en-US"/>
                  </a:p>
                </p:txBody>
              </p:sp>
              <p:sp>
                <p:nvSpPr>
                  <p:cNvPr id="346601" name="Freeform 489"/>
                  <p:cNvSpPr/>
                  <p:nvPr/>
                </p:nvSpPr>
                <p:spPr bwMode="auto">
                  <a:xfrm>
                    <a:off x="4082" y="2743"/>
                    <a:ext cx="118" cy="219"/>
                  </a:xfrm>
                  <a:custGeom>
                    <a:avLst/>
                    <a:gdLst>
                      <a:gd name="T0" fmla="*/ 111 w 236"/>
                      <a:gd name="T1" fmla="*/ 333 h 439"/>
                      <a:gd name="T2" fmla="*/ 43 w 236"/>
                      <a:gd name="T3" fmla="*/ 266 h 439"/>
                      <a:gd name="T4" fmla="*/ 21 w 236"/>
                      <a:gd name="T5" fmla="*/ 197 h 439"/>
                      <a:gd name="T6" fmla="*/ 12 w 236"/>
                      <a:gd name="T7" fmla="*/ 125 h 439"/>
                      <a:gd name="T8" fmla="*/ 2 w 236"/>
                      <a:gd name="T9" fmla="*/ 26 h 439"/>
                      <a:gd name="T10" fmla="*/ 24 w 236"/>
                      <a:gd name="T11" fmla="*/ 9 h 439"/>
                      <a:gd name="T12" fmla="*/ 43 w 236"/>
                      <a:gd name="T13" fmla="*/ 7 h 439"/>
                      <a:gd name="T14" fmla="*/ 56 w 236"/>
                      <a:gd name="T15" fmla="*/ 67 h 439"/>
                      <a:gd name="T16" fmla="*/ 87 w 236"/>
                      <a:gd name="T17" fmla="*/ 102 h 439"/>
                      <a:gd name="T18" fmla="*/ 99 w 236"/>
                      <a:gd name="T19" fmla="*/ 181 h 439"/>
                      <a:gd name="T20" fmla="*/ 119 w 236"/>
                      <a:gd name="T21" fmla="*/ 241 h 439"/>
                      <a:gd name="T22" fmla="*/ 167 w 236"/>
                      <a:gd name="T23" fmla="*/ 292 h 439"/>
                      <a:gd name="T24" fmla="*/ 202 w 236"/>
                      <a:gd name="T25" fmla="*/ 356 h 439"/>
                      <a:gd name="T26" fmla="*/ 236 w 236"/>
                      <a:gd name="T27" fmla="*/ 439 h 439"/>
                      <a:gd name="T28" fmla="*/ 197 w 236"/>
                      <a:gd name="T29" fmla="*/ 356 h 439"/>
                      <a:gd name="T30" fmla="*/ 162 w 236"/>
                      <a:gd name="T31" fmla="*/ 291 h 439"/>
                      <a:gd name="T32" fmla="*/ 116 w 236"/>
                      <a:gd name="T33" fmla="*/ 240 h 439"/>
                      <a:gd name="T34" fmla="*/ 97 w 236"/>
                      <a:gd name="T35" fmla="*/ 181 h 439"/>
                      <a:gd name="T36" fmla="*/ 92 w 236"/>
                      <a:gd name="T37" fmla="*/ 104 h 439"/>
                      <a:gd name="T38" fmla="*/ 56 w 236"/>
                      <a:gd name="T39" fmla="*/ 74 h 439"/>
                      <a:gd name="T40" fmla="*/ 49 w 236"/>
                      <a:gd name="T41" fmla="*/ 0 h 439"/>
                      <a:gd name="T42" fmla="*/ 27 w 236"/>
                      <a:gd name="T43" fmla="*/ 7 h 439"/>
                      <a:gd name="T44" fmla="*/ 0 w 236"/>
                      <a:gd name="T45" fmla="*/ 26 h 439"/>
                      <a:gd name="T46" fmla="*/ 4 w 236"/>
                      <a:gd name="T47" fmla="*/ 67 h 439"/>
                      <a:gd name="T48" fmla="*/ 12 w 236"/>
                      <a:gd name="T49" fmla="*/ 129 h 439"/>
                      <a:gd name="T50" fmla="*/ 21 w 236"/>
                      <a:gd name="T51" fmla="*/ 187 h 439"/>
                      <a:gd name="T52" fmla="*/ 43 w 236"/>
                      <a:gd name="T53" fmla="*/ 262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6" h="439">
                        <a:moveTo>
                          <a:pt x="111" y="333"/>
                        </a:moveTo>
                        <a:lnTo>
                          <a:pt x="43" y="266"/>
                        </a:lnTo>
                        <a:lnTo>
                          <a:pt x="21" y="197"/>
                        </a:lnTo>
                        <a:lnTo>
                          <a:pt x="12" y="125"/>
                        </a:lnTo>
                        <a:lnTo>
                          <a:pt x="2" y="26"/>
                        </a:lnTo>
                        <a:lnTo>
                          <a:pt x="24" y="9"/>
                        </a:lnTo>
                        <a:lnTo>
                          <a:pt x="43" y="7"/>
                        </a:lnTo>
                        <a:lnTo>
                          <a:pt x="56" y="67"/>
                        </a:lnTo>
                        <a:lnTo>
                          <a:pt x="87" y="102"/>
                        </a:lnTo>
                        <a:lnTo>
                          <a:pt x="99" y="181"/>
                        </a:lnTo>
                        <a:lnTo>
                          <a:pt x="119" y="241"/>
                        </a:lnTo>
                        <a:lnTo>
                          <a:pt x="167" y="292"/>
                        </a:lnTo>
                        <a:lnTo>
                          <a:pt x="202" y="356"/>
                        </a:lnTo>
                        <a:lnTo>
                          <a:pt x="236" y="439"/>
                        </a:lnTo>
                        <a:lnTo>
                          <a:pt x="197" y="356"/>
                        </a:lnTo>
                        <a:lnTo>
                          <a:pt x="162" y="291"/>
                        </a:lnTo>
                        <a:lnTo>
                          <a:pt x="116" y="240"/>
                        </a:lnTo>
                        <a:lnTo>
                          <a:pt x="97" y="181"/>
                        </a:lnTo>
                        <a:lnTo>
                          <a:pt x="92" y="104"/>
                        </a:lnTo>
                        <a:lnTo>
                          <a:pt x="56" y="74"/>
                        </a:lnTo>
                        <a:lnTo>
                          <a:pt x="49" y="0"/>
                        </a:lnTo>
                        <a:lnTo>
                          <a:pt x="27" y="7"/>
                        </a:lnTo>
                        <a:lnTo>
                          <a:pt x="0" y="26"/>
                        </a:lnTo>
                        <a:lnTo>
                          <a:pt x="4" y="67"/>
                        </a:lnTo>
                        <a:lnTo>
                          <a:pt x="12" y="129"/>
                        </a:lnTo>
                        <a:lnTo>
                          <a:pt x="21" y="187"/>
                        </a:lnTo>
                        <a:lnTo>
                          <a:pt x="43" y="262"/>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grpSp>
          <p:nvGrpSpPr>
            <p:cNvPr id="346605" name="Group 493"/>
            <p:cNvGrpSpPr/>
            <p:nvPr/>
          </p:nvGrpSpPr>
          <p:grpSpPr bwMode="auto">
            <a:xfrm flipH="1">
              <a:off x="4232" y="2660"/>
              <a:ext cx="764" cy="1233"/>
              <a:chOff x="3848" y="1976"/>
              <a:chExt cx="944" cy="1317"/>
            </a:xfrm>
          </p:grpSpPr>
          <p:grpSp>
            <p:nvGrpSpPr>
              <p:cNvPr id="346606" name="Group 494"/>
              <p:cNvGrpSpPr/>
              <p:nvPr/>
            </p:nvGrpSpPr>
            <p:grpSpPr bwMode="auto">
              <a:xfrm>
                <a:off x="4057" y="2424"/>
                <a:ext cx="673" cy="582"/>
                <a:chOff x="4057" y="2424"/>
                <a:chExt cx="673" cy="582"/>
              </a:xfrm>
            </p:grpSpPr>
            <p:sp>
              <p:nvSpPr>
                <p:cNvPr id="346607" name="Freeform 495"/>
                <p:cNvSpPr/>
                <p:nvPr/>
              </p:nvSpPr>
              <p:spPr bwMode="auto">
                <a:xfrm>
                  <a:off x="4057" y="2424"/>
                  <a:ext cx="437" cy="363"/>
                </a:xfrm>
                <a:custGeom>
                  <a:avLst/>
                  <a:gdLst>
                    <a:gd name="T0" fmla="*/ 600 w 873"/>
                    <a:gd name="T1" fmla="*/ 287 h 726"/>
                    <a:gd name="T2" fmla="*/ 722 w 873"/>
                    <a:gd name="T3" fmla="*/ 347 h 726"/>
                    <a:gd name="T4" fmla="*/ 758 w 873"/>
                    <a:gd name="T5" fmla="*/ 400 h 726"/>
                    <a:gd name="T6" fmla="*/ 786 w 873"/>
                    <a:gd name="T7" fmla="*/ 536 h 726"/>
                    <a:gd name="T8" fmla="*/ 834 w 873"/>
                    <a:gd name="T9" fmla="*/ 634 h 726"/>
                    <a:gd name="T10" fmla="*/ 873 w 873"/>
                    <a:gd name="T11" fmla="*/ 726 h 726"/>
                    <a:gd name="T12" fmla="*/ 778 w 873"/>
                    <a:gd name="T13" fmla="*/ 643 h 726"/>
                    <a:gd name="T14" fmla="*/ 702 w 873"/>
                    <a:gd name="T15" fmla="*/ 603 h 726"/>
                    <a:gd name="T16" fmla="*/ 591 w 873"/>
                    <a:gd name="T17" fmla="*/ 520 h 726"/>
                    <a:gd name="T18" fmla="*/ 547 w 873"/>
                    <a:gd name="T19" fmla="*/ 441 h 726"/>
                    <a:gd name="T20" fmla="*/ 520 w 873"/>
                    <a:gd name="T21" fmla="*/ 328 h 726"/>
                    <a:gd name="T22" fmla="*/ 122 w 873"/>
                    <a:gd name="T23" fmla="*/ 161 h 726"/>
                    <a:gd name="T24" fmla="*/ 0 w 873"/>
                    <a:gd name="T25" fmla="*/ 6 h 726"/>
                    <a:gd name="T26" fmla="*/ 59 w 873"/>
                    <a:gd name="T27" fmla="*/ 0 h 726"/>
                    <a:gd name="T28" fmla="*/ 190 w 873"/>
                    <a:gd name="T29" fmla="*/ 50 h 726"/>
                    <a:gd name="T30" fmla="*/ 600 w 873"/>
                    <a:gd name="T31" fmla="*/ 287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3" h="726">
                      <a:moveTo>
                        <a:pt x="600" y="287"/>
                      </a:moveTo>
                      <a:lnTo>
                        <a:pt x="722" y="347"/>
                      </a:lnTo>
                      <a:lnTo>
                        <a:pt x="758" y="400"/>
                      </a:lnTo>
                      <a:lnTo>
                        <a:pt x="786" y="536"/>
                      </a:lnTo>
                      <a:lnTo>
                        <a:pt x="834" y="634"/>
                      </a:lnTo>
                      <a:lnTo>
                        <a:pt x="873" y="726"/>
                      </a:lnTo>
                      <a:lnTo>
                        <a:pt x="778" y="643"/>
                      </a:lnTo>
                      <a:lnTo>
                        <a:pt x="702" y="603"/>
                      </a:lnTo>
                      <a:lnTo>
                        <a:pt x="591" y="520"/>
                      </a:lnTo>
                      <a:lnTo>
                        <a:pt x="547" y="441"/>
                      </a:lnTo>
                      <a:lnTo>
                        <a:pt x="520" y="328"/>
                      </a:lnTo>
                      <a:lnTo>
                        <a:pt x="122" y="161"/>
                      </a:lnTo>
                      <a:lnTo>
                        <a:pt x="0" y="6"/>
                      </a:lnTo>
                      <a:lnTo>
                        <a:pt x="59" y="0"/>
                      </a:lnTo>
                      <a:lnTo>
                        <a:pt x="190" y="50"/>
                      </a:lnTo>
                      <a:lnTo>
                        <a:pt x="600" y="287"/>
                      </a:lnTo>
                      <a:close/>
                    </a:path>
                  </a:pathLst>
                </a:custGeom>
                <a:solidFill>
                  <a:srgbClr val="E040A0"/>
                </a:solidFill>
                <a:ln w="9525">
                  <a:solidFill>
                    <a:srgbClr val="000000"/>
                  </a:solidFill>
                  <a:prstDash val="solid"/>
                  <a:round/>
                </a:ln>
              </p:spPr>
              <p:txBody>
                <a:bodyPr/>
                <a:lstStyle/>
                <a:p>
                  <a:endParaRPr lang="zh-CN" altLang="en-US"/>
                </a:p>
              </p:txBody>
            </p:sp>
            <p:grpSp>
              <p:nvGrpSpPr>
                <p:cNvPr id="346608" name="Group 496"/>
                <p:cNvGrpSpPr/>
                <p:nvPr/>
              </p:nvGrpSpPr>
              <p:grpSpPr bwMode="auto">
                <a:xfrm>
                  <a:off x="4370" y="2632"/>
                  <a:ext cx="360" cy="374"/>
                  <a:chOff x="4370" y="2632"/>
                  <a:chExt cx="360" cy="374"/>
                </a:xfrm>
              </p:grpSpPr>
              <p:sp>
                <p:nvSpPr>
                  <p:cNvPr id="346609" name="Freeform 497"/>
                  <p:cNvSpPr/>
                  <p:nvPr/>
                </p:nvSpPr>
                <p:spPr bwMode="auto">
                  <a:xfrm>
                    <a:off x="4370" y="2632"/>
                    <a:ext cx="360" cy="374"/>
                  </a:xfrm>
                  <a:custGeom>
                    <a:avLst/>
                    <a:gdLst>
                      <a:gd name="T0" fmla="*/ 0 w 720"/>
                      <a:gd name="T1" fmla="*/ 608 h 749"/>
                      <a:gd name="T2" fmla="*/ 97 w 720"/>
                      <a:gd name="T3" fmla="*/ 565 h 749"/>
                      <a:gd name="T4" fmla="*/ 124 w 720"/>
                      <a:gd name="T5" fmla="*/ 500 h 749"/>
                      <a:gd name="T6" fmla="*/ 148 w 720"/>
                      <a:gd name="T7" fmla="*/ 440 h 749"/>
                      <a:gd name="T8" fmla="*/ 151 w 720"/>
                      <a:gd name="T9" fmla="*/ 366 h 749"/>
                      <a:gd name="T10" fmla="*/ 133 w 720"/>
                      <a:gd name="T11" fmla="*/ 273 h 749"/>
                      <a:gd name="T12" fmla="*/ 116 w 720"/>
                      <a:gd name="T13" fmla="*/ 176 h 749"/>
                      <a:gd name="T14" fmla="*/ 141 w 720"/>
                      <a:gd name="T15" fmla="*/ 159 h 749"/>
                      <a:gd name="T16" fmla="*/ 173 w 720"/>
                      <a:gd name="T17" fmla="*/ 155 h 749"/>
                      <a:gd name="T18" fmla="*/ 212 w 720"/>
                      <a:gd name="T19" fmla="*/ 176 h 749"/>
                      <a:gd name="T20" fmla="*/ 251 w 720"/>
                      <a:gd name="T21" fmla="*/ 229 h 749"/>
                      <a:gd name="T22" fmla="*/ 296 w 720"/>
                      <a:gd name="T23" fmla="*/ 340 h 749"/>
                      <a:gd name="T24" fmla="*/ 335 w 720"/>
                      <a:gd name="T25" fmla="*/ 247 h 749"/>
                      <a:gd name="T26" fmla="*/ 394 w 720"/>
                      <a:gd name="T27" fmla="*/ 173 h 749"/>
                      <a:gd name="T28" fmla="*/ 452 w 720"/>
                      <a:gd name="T29" fmla="*/ 125 h 749"/>
                      <a:gd name="T30" fmla="*/ 532 w 720"/>
                      <a:gd name="T31" fmla="*/ 51 h 749"/>
                      <a:gd name="T32" fmla="*/ 591 w 720"/>
                      <a:gd name="T33" fmla="*/ 4 h 749"/>
                      <a:gd name="T34" fmla="*/ 630 w 720"/>
                      <a:gd name="T35" fmla="*/ 0 h 749"/>
                      <a:gd name="T36" fmla="*/ 656 w 720"/>
                      <a:gd name="T37" fmla="*/ 25 h 749"/>
                      <a:gd name="T38" fmla="*/ 644 w 720"/>
                      <a:gd name="T39" fmla="*/ 62 h 749"/>
                      <a:gd name="T40" fmla="*/ 610 w 720"/>
                      <a:gd name="T41" fmla="*/ 125 h 749"/>
                      <a:gd name="T42" fmla="*/ 561 w 720"/>
                      <a:gd name="T43" fmla="*/ 203 h 749"/>
                      <a:gd name="T44" fmla="*/ 498 w 720"/>
                      <a:gd name="T45" fmla="*/ 284 h 749"/>
                      <a:gd name="T46" fmla="*/ 584 w 720"/>
                      <a:gd name="T47" fmla="*/ 263 h 749"/>
                      <a:gd name="T48" fmla="*/ 654 w 720"/>
                      <a:gd name="T49" fmla="*/ 264 h 749"/>
                      <a:gd name="T50" fmla="*/ 690 w 720"/>
                      <a:gd name="T51" fmla="*/ 284 h 749"/>
                      <a:gd name="T52" fmla="*/ 690 w 720"/>
                      <a:gd name="T53" fmla="*/ 322 h 749"/>
                      <a:gd name="T54" fmla="*/ 671 w 720"/>
                      <a:gd name="T55" fmla="*/ 358 h 749"/>
                      <a:gd name="T56" fmla="*/ 635 w 720"/>
                      <a:gd name="T57" fmla="*/ 395 h 749"/>
                      <a:gd name="T58" fmla="*/ 576 w 720"/>
                      <a:gd name="T59" fmla="*/ 416 h 749"/>
                      <a:gd name="T60" fmla="*/ 644 w 720"/>
                      <a:gd name="T61" fmla="*/ 410 h 749"/>
                      <a:gd name="T62" fmla="*/ 700 w 720"/>
                      <a:gd name="T63" fmla="*/ 428 h 749"/>
                      <a:gd name="T64" fmla="*/ 720 w 720"/>
                      <a:gd name="T65" fmla="*/ 477 h 749"/>
                      <a:gd name="T66" fmla="*/ 702 w 720"/>
                      <a:gd name="T67" fmla="*/ 518 h 749"/>
                      <a:gd name="T68" fmla="*/ 657 w 720"/>
                      <a:gd name="T69" fmla="*/ 539 h 749"/>
                      <a:gd name="T70" fmla="*/ 542 w 720"/>
                      <a:gd name="T71" fmla="*/ 532 h 749"/>
                      <a:gd name="T72" fmla="*/ 598 w 720"/>
                      <a:gd name="T73" fmla="*/ 553 h 749"/>
                      <a:gd name="T74" fmla="*/ 625 w 720"/>
                      <a:gd name="T75" fmla="*/ 576 h 749"/>
                      <a:gd name="T76" fmla="*/ 646 w 720"/>
                      <a:gd name="T77" fmla="*/ 608 h 749"/>
                      <a:gd name="T78" fmla="*/ 639 w 720"/>
                      <a:gd name="T79" fmla="*/ 655 h 749"/>
                      <a:gd name="T80" fmla="*/ 605 w 720"/>
                      <a:gd name="T81" fmla="*/ 683 h 749"/>
                      <a:gd name="T82" fmla="*/ 567 w 720"/>
                      <a:gd name="T83" fmla="*/ 682 h 749"/>
                      <a:gd name="T84" fmla="*/ 516 w 720"/>
                      <a:gd name="T85" fmla="*/ 666 h 749"/>
                      <a:gd name="T86" fmla="*/ 467 w 720"/>
                      <a:gd name="T87" fmla="*/ 639 h 749"/>
                      <a:gd name="T88" fmla="*/ 437 w 720"/>
                      <a:gd name="T89" fmla="*/ 687 h 749"/>
                      <a:gd name="T90" fmla="*/ 404 w 720"/>
                      <a:gd name="T91" fmla="*/ 722 h 749"/>
                      <a:gd name="T92" fmla="*/ 367 w 720"/>
                      <a:gd name="T93" fmla="*/ 740 h 749"/>
                      <a:gd name="T94" fmla="*/ 319 w 720"/>
                      <a:gd name="T95" fmla="*/ 749 h 749"/>
                      <a:gd name="T96" fmla="*/ 121 w 720"/>
                      <a:gd name="T97" fmla="*/ 698 h 749"/>
                      <a:gd name="T98" fmla="*/ 0 w 720"/>
                      <a:gd name="T99" fmla="*/ 608 h 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20" h="749">
                        <a:moveTo>
                          <a:pt x="0" y="608"/>
                        </a:moveTo>
                        <a:lnTo>
                          <a:pt x="97" y="565"/>
                        </a:lnTo>
                        <a:lnTo>
                          <a:pt x="124" y="500"/>
                        </a:lnTo>
                        <a:lnTo>
                          <a:pt x="148" y="440"/>
                        </a:lnTo>
                        <a:lnTo>
                          <a:pt x="151" y="366"/>
                        </a:lnTo>
                        <a:lnTo>
                          <a:pt x="133" y="273"/>
                        </a:lnTo>
                        <a:lnTo>
                          <a:pt x="116" y="176"/>
                        </a:lnTo>
                        <a:lnTo>
                          <a:pt x="141" y="159"/>
                        </a:lnTo>
                        <a:lnTo>
                          <a:pt x="173" y="155"/>
                        </a:lnTo>
                        <a:lnTo>
                          <a:pt x="212" y="176"/>
                        </a:lnTo>
                        <a:lnTo>
                          <a:pt x="251" y="229"/>
                        </a:lnTo>
                        <a:lnTo>
                          <a:pt x="296" y="340"/>
                        </a:lnTo>
                        <a:lnTo>
                          <a:pt x="335" y="247"/>
                        </a:lnTo>
                        <a:lnTo>
                          <a:pt x="394" y="173"/>
                        </a:lnTo>
                        <a:lnTo>
                          <a:pt x="452" y="125"/>
                        </a:lnTo>
                        <a:lnTo>
                          <a:pt x="532" y="51"/>
                        </a:lnTo>
                        <a:lnTo>
                          <a:pt x="591" y="4"/>
                        </a:lnTo>
                        <a:lnTo>
                          <a:pt x="630" y="0"/>
                        </a:lnTo>
                        <a:lnTo>
                          <a:pt x="656" y="25"/>
                        </a:lnTo>
                        <a:lnTo>
                          <a:pt x="644" y="62"/>
                        </a:lnTo>
                        <a:lnTo>
                          <a:pt x="610" y="125"/>
                        </a:lnTo>
                        <a:lnTo>
                          <a:pt x="561" y="203"/>
                        </a:lnTo>
                        <a:lnTo>
                          <a:pt x="498" y="284"/>
                        </a:lnTo>
                        <a:lnTo>
                          <a:pt x="584" y="263"/>
                        </a:lnTo>
                        <a:lnTo>
                          <a:pt x="654" y="264"/>
                        </a:lnTo>
                        <a:lnTo>
                          <a:pt x="690" y="284"/>
                        </a:lnTo>
                        <a:lnTo>
                          <a:pt x="690" y="322"/>
                        </a:lnTo>
                        <a:lnTo>
                          <a:pt x="671" y="358"/>
                        </a:lnTo>
                        <a:lnTo>
                          <a:pt x="635" y="395"/>
                        </a:lnTo>
                        <a:lnTo>
                          <a:pt x="576" y="416"/>
                        </a:lnTo>
                        <a:lnTo>
                          <a:pt x="644" y="410"/>
                        </a:lnTo>
                        <a:lnTo>
                          <a:pt x="700" y="428"/>
                        </a:lnTo>
                        <a:lnTo>
                          <a:pt x="720" y="477"/>
                        </a:lnTo>
                        <a:lnTo>
                          <a:pt x="702" y="518"/>
                        </a:lnTo>
                        <a:lnTo>
                          <a:pt x="657" y="539"/>
                        </a:lnTo>
                        <a:lnTo>
                          <a:pt x="542" y="532"/>
                        </a:lnTo>
                        <a:lnTo>
                          <a:pt x="598" y="553"/>
                        </a:lnTo>
                        <a:lnTo>
                          <a:pt x="625" y="576"/>
                        </a:lnTo>
                        <a:lnTo>
                          <a:pt x="646" y="608"/>
                        </a:lnTo>
                        <a:lnTo>
                          <a:pt x="639" y="655"/>
                        </a:lnTo>
                        <a:lnTo>
                          <a:pt x="605" y="683"/>
                        </a:lnTo>
                        <a:lnTo>
                          <a:pt x="567" y="682"/>
                        </a:lnTo>
                        <a:lnTo>
                          <a:pt x="516" y="666"/>
                        </a:lnTo>
                        <a:lnTo>
                          <a:pt x="467" y="639"/>
                        </a:lnTo>
                        <a:lnTo>
                          <a:pt x="437" y="687"/>
                        </a:lnTo>
                        <a:lnTo>
                          <a:pt x="404" y="722"/>
                        </a:lnTo>
                        <a:lnTo>
                          <a:pt x="367" y="740"/>
                        </a:lnTo>
                        <a:lnTo>
                          <a:pt x="319" y="749"/>
                        </a:lnTo>
                        <a:lnTo>
                          <a:pt x="121" y="698"/>
                        </a:lnTo>
                        <a:lnTo>
                          <a:pt x="0" y="608"/>
                        </a:lnTo>
                        <a:close/>
                      </a:path>
                    </a:pathLst>
                  </a:custGeom>
                  <a:solidFill>
                    <a:srgbClr val="E0A080"/>
                  </a:solidFill>
                  <a:ln w="9525">
                    <a:solidFill>
                      <a:srgbClr val="000000"/>
                    </a:solidFill>
                    <a:prstDash val="solid"/>
                    <a:round/>
                  </a:ln>
                </p:spPr>
                <p:txBody>
                  <a:bodyPr/>
                  <a:lstStyle/>
                  <a:p>
                    <a:endParaRPr lang="zh-CN" altLang="en-US"/>
                  </a:p>
                </p:txBody>
              </p:sp>
              <p:grpSp>
                <p:nvGrpSpPr>
                  <p:cNvPr id="346610" name="Group 498"/>
                  <p:cNvGrpSpPr/>
                  <p:nvPr/>
                </p:nvGrpSpPr>
                <p:grpSpPr bwMode="auto">
                  <a:xfrm>
                    <a:off x="4419" y="2791"/>
                    <a:ext cx="250" cy="190"/>
                    <a:chOff x="4419" y="2791"/>
                    <a:chExt cx="250" cy="190"/>
                  </a:xfrm>
                </p:grpSpPr>
                <p:sp>
                  <p:nvSpPr>
                    <p:cNvPr id="346611" name="Freeform 499"/>
                    <p:cNvSpPr/>
                    <p:nvPr/>
                  </p:nvSpPr>
                  <p:spPr bwMode="auto">
                    <a:xfrm>
                      <a:off x="4587" y="2793"/>
                      <a:ext cx="82" cy="54"/>
                    </a:xfrm>
                    <a:custGeom>
                      <a:avLst/>
                      <a:gdLst>
                        <a:gd name="T0" fmla="*/ 163 w 163"/>
                        <a:gd name="T1" fmla="*/ 96 h 108"/>
                        <a:gd name="T2" fmla="*/ 102 w 163"/>
                        <a:gd name="T3" fmla="*/ 108 h 108"/>
                        <a:gd name="T4" fmla="*/ 51 w 163"/>
                        <a:gd name="T5" fmla="*/ 104 h 108"/>
                        <a:gd name="T6" fmla="*/ 15 w 163"/>
                        <a:gd name="T7" fmla="*/ 87 h 108"/>
                        <a:gd name="T8" fmla="*/ 0 w 163"/>
                        <a:gd name="T9" fmla="*/ 55 h 108"/>
                        <a:gd name="T10" fmla="*/ 10 w 163"/>
                        <a:gd name="T11" fmla="*/ 22 h 108"/>
                        <a:gd name="T12" fmla="*/ 44 w 163"/>
                        <a:gd name="T13" fmla="*/ 0 h 108"/>
                      </a:gdLst>
                      <a:ahLst/>
                      <a:cxnLst>
                        <a:cxn ang="0">
                          <a:pos x="T0" y="T1"/>
                        </a:cxn>
                        <a:cxn ang="0">
                          <a:pos x="T2" y="T3"/>
                        </a:cxn>
                        <a:cxn ang="0">
                          <a:pos x="T4" y="T5"/>
                        </a:cxn>
                        <a:cxn ang="0">
                          <a:pos x="T6" y="T7"/>
                        </a:cxn>
                        <a:cxn ang="0">
                          <a:pos x="T8" y="T9"/>
                        </a:cxn>
                        <a:cxn ang="0">
                          <a:pos x="T10" y="T11"/>
                        </a:cxn>
                        <a:cxn ang="0">
                          <a:pos x="T12" y="T13"/>
                        </a:cxn>
                      </a:cxnLst>
                      <a:rect l="0" t="0" r="r" b="b"/>
                      <a:pathLst>
                        <a:path w="163" h="108">
                          <a:moveTo>
                            <a:pt x="163" y="96"/>
                          </a:moveTo>
                          <a:lnTo>
                            <a:pt x="102" y="108"/>
                          </a:lnTo>
                          <a:lnTo>
                            <a:pt x="51" y="104"/>
                          </a:lnTo>
                          <a:lnTo>
                            <a:pt x="15" y="87"/>
                          </a:lnTo>
                          <a:lnTo>
                            <a:pt x="0" y="55"/>
                          </a:lnTo>
                          <a:lnTo>
                            <a:pt x="10" y="22"/>
                          </a:lnTo>
                          <a:lnTo>
                            <a:pt x="44" y="0"/>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12" name="Freeform 500"/>
                    <p:cNvSpPr/>
                    <p:nvPr/>
                  </p:nvSpPr>
                  <p:spPr bwMode="auto">
                    <a:xfrm>
                      <a:off x="4573" y="2847"/>
                      <a:ext cx="88" cy="56"/>
                    </a:xfrm>
                    <a:custGeom>
                      <a:avLst/>
                      <a:gdLst>
                        <a:gd name="T0" fmla="*/ 175 w 175"/>
                        <a:gd name="T1" fmla="*/ 109 h 113"/>
                        <a:gd name="T2" fmla="*/ 114 w 175"/>
                        <a:gd name="T3" fmla="*/ 113 h 113"/>
                        <a:gd name="T4" fmla="*/ 60 w 175"/>
                        <a:gd name="T5" fmla="*/ 106 h 113"/>
                        <a:gd name="T6" fmla="*/ 22 w 175"/>
                        <a:gd name="T7" fmla="*/ 90 h 113"/>
                        <a:gd name="T8" fmla="*/ 0 w 175"/>
                        <a:gd name="T9" fmla="*/ 58 h 113"/>
                        <a:gd name="T10" fmla="*/ 9 w 175"/>
                        <a:gd name="T11" fmla="*/ 30 h 113"/>
                        <a:gd name="T12" fmla="*/ 36 w 175"/>
                        <a:gd name="T13" fmla="*/ 0 h 113"/>
                      </a:gdLst>
                      <a:ahLst/>
                      <a:cxnLst>
                        <a:cxn ang="0">
                          <a:pos x="T0" y="T1"/>
                        </a:cxn>
                        <a:cxn ang="0">
                          <a:pos x="T2" y="T3"/>
                        </a:cxn>
                        <a:cxn ang="0">
                          <a:pos x="T4" y="T5"/>
                        </a:cxn>
                        <a:cxn ang="0">
                          <a:pos x="T6" y="T7"/>
                        </a:cxn>
                        <a:cxn ang="0">
                          <a:pos x="T8" y="T9"/>
                        </a:cxn>
                        <a:cxn ang="0">
                          <a:pos x="T10" y="T11"/>
                        </a:cxn>
                        <a:cxn ang="0">
                          <a:pos x="T12" y="T13"/>
                        </a:cxn>
                      </a:cxnLst>
                      <a:rect l="0" t="0" r="r" b="b"/>
                      <a:pathLst>
                        <a:path w="175" h="113">
                          <a:moveTo>
                            <a:pt x="175" y="109"/>
                          </a:moveTo>
                          <a:lnTo>
                            <a:pt x="114" y="113"/>
                          </a:lnTo>
                          <a:lnTo>
                            <a:pt x="60" y="106"/>
                          </a:lnTo>
                          <a:lnTo>
                            <a:pt x="22" y="90"/>
                          </a:lnTo>
                          <a:lnTo>
                            <a:pt x="0" y="58"/>
                          </a:lnTo>
                          <a:lnTo>
                            <a:pt x="9" y="30"/>
                          </a:lnTo>
                          <a:lnTo>
                            <a:pt x="36" y="0"/>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13" name="Freeform 501"/>
                    <p:cNvSpPr/>
                    <p:nvPr/>
                  </p:nvSpPr>
                  <p:spPr bwMode="auto">
                    <a:xfrm>
                      <a:off x="4547" y="2887"/>
                      <a:ext cx="56" cy="68"/>
                    </a:xfrm>
                    <a:custGeom>
                      <a:avLst/>
                      <a:gdLst>
                        <a:gd name="T0" fmla="*/ 113 w 113"/>
                        <a:gd name="T1" fmla="*/ 137 h 137"/>
                        <a:gd name="T2" fmla="*/ 56 w 113"/>
                        <a:gd name="T3" fmla="*/ 115 h 137"/>
                        <a:gd name="T4" fmla="*/ 22 w 113"/>
                        <a:gd name="T5" fmla="*/ 88 h 137"/>
                        <a:gd name="T6" fmla="*/ 0 w 113"/>
                        <a:gd name="T7" fmla="*/ 49 h 137"/>
                        <a:gd name="T8" fmla="*/ 12 w 113"/>
                        <a:gd name="T9" fmla="*/ 12 h 137"/>
                        <a:gd name="T10" fmla="*/ 39 w 113"/>
                        <a:gd name="T11" fmla="*/ 0 h 137"/>
                      </a:gdLst>
                      <a:ahLst/>
                      <a:cxnLst>
                        <a:cxn ang="0">
                          <a:pos x="T0" y="T1"/>
                        </a:cxn>
                        <a:cxn ang="0">
                          <a:pos x="T2" y="T3"/>
                        </a:cxn>
                        <a:cxn ang="0">
                          <a:pos x="T4" y="T5"/>
                        </a:cxn>
                        <a:cxn ang="0">
                          <a:pos x="T6" y="T7"/>
                        </a:cxn>
                        <a:cxn ang="0">
                          <a:pos x="T8" y="T9"/>
                        </a:cxn>
                        <a:cxn ang="0">
                          <a:pos x="T10" y="T11"/>
                        </a:cxn>
                      </a:cxnLst>
                      <a:rect l="0" t="0" r="r" b="b"/>
                      <a:pathLst>
                        <a:path w="113" h="137">
                          <a:moveTo>
                            <a:pt x="113" y="137"/>
                          </a:moveTo>
                          <a:lnTo>
                            <a:pt x="56" y="115"/>
                          </a:lnTo>
                          <a:lnTo>
                            <a:pt x="22" y="88"/>
                          </a:lnTo>
                          <a:lnTo>
                            <a:pt x="0" y="49"/>
                          </a:lnTo>
                          <a:lnTo>
                            <a:pt x="12" y="12"/>
                          </a:lnTo>
                          <a:lnTo>
                            <a:pt x="39" y="0"/>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14" name="Freeform 502"/>
                    <p:cNvSpPr/>
                    <p:nvPr/>
                  </p:nvSpPr>
                  <p:spPr bwMode="auto">
                    <a:xfrm>
                      <a:off x="4518" y="2791"/>
                      <a:ext cx="12" cy="66"/>
                    </a:xfrm>
                    <a:custGeom>
                      <a:avLst/>
                      <a:gdLst>
                        <a:gd name="T0" fmla="*/ 0 w 23"/>
                        <a:gd name="T1" fmla="*/ 0 h 130"/>
                        <a:gd name="T2" fmla="*/ 20 w 23"/>
                        <a:gd name="T3" fmla="*/ 58 h 130"/>
                        <a:gd name="T4" fmla="*/ 23 w 23"/>
                        <a:gd name="T5" fmla="*/ 91 h 130"/>
                        <a:gd name="T6" fmla="*/ 20 w 23"/>
                        <a:gd name="T7" fmla="*/ 130 h 130"/>
                      </a:gdLst>
                      <a:ahLst/>
                      <a:cxnLst>
                        <a:cxn ang="0">
                          <a:pos x="T0" y="T1"/>
                        </a:cxn>
                        <a:cxn ang="0">
                          <a:pos x="T2" y="T3"/>
                        </a:cxn>
                        <a:cxn ang="0">
                          <a:pos x="T4" y="T5"/>
                        </a:cxn>
                        <a:cxn ang="0">
                          <a:pos x="T6" y="T7"/>
                        </a:cxn>
                      </a:cxnLst>
                      <a:rect l="0" t="0" r="r" b="b"/>
                      <a:pathLst>
                        <a:path w="23" h="130">
                          <a:moveTo>
                            <a:pt x="0" y="0"/>
                          </a:moveTo>
                          <a:lnTo>
                            <a:pt x="20" y="58"/>
                          </a:lnTo>
                          <a:lnTo>
                            <a:pt x="23" y="91"/>
                          </a:lnTo>
                          <a:lnTo>
                            <a:pt x="20" y="130"/>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15" name="Freeform 503"/>
                    <p:cNvSpPr/>
                    <p:nvPr/>
                  </p:nvSpPr>
                  <p:spPr bwMode="auto">
                    <a:xfrm>
                      <a:off x="4515" y="2791"/>
                      <a:ext cx="48" cy="26"/>
                    </a:xfrm>
                    <a:custGeom>
                      <a:avLst/>
                      <a:gdLst>
                        <a:gd name="T0" fmla="*/ 0 w 95"/>
                        <a:gd name="T1" fmla="*/ 0 h 51"/>
                        <a:gd name="T2" fmla="*/ 40 w 95"/>
                        <a:gd name="T3" fmla="*/ 5 h 51"/>
                        <a:gd name="T4" fmla="*/ 71 w 95"/>
                        <a:gd name="T5" fmla="*/ 21 h 51"/>
                        <a:gd name="T6" fmla="*/ 95 w 95"/>
                        <a:gd name="T7" fmla="*/ 51 h 51"/>
                      </a:gdLst>
                      <a:ahLst/>
                      <a:cxnLst>
                        <a:cxn ang="0">
                          <a:pos x="T0" y="T1"/>
                        </a:cxn>
                        <a:cxn ang="0">
                          <a:pos x="T2" y="T3"/>
                        </a:cxn>
                        <a:cxn ang="0">
                          <a:pos x="T4" y="T5"/>
                        </a:cxn>
                        <a:cxn ang="0">
                          <a:pos x="T6" y="T7"/>
                        </a:cxn>
                      </a:cxnLst>
                      <a:rect l="0" t="0" r="r" b="b"/>
                      <a:pathLst>
                        <a:path w="95" h="51">
                          <a:moveTo>
                            <a:pt x="0" y="0"/>
                          </a:moveTo>
                          <a:lnTo>
                            <a:pt x="40" y="5"/>
                          </a:lnTo>
                          <a:lnTo>
                            <a:pt x="71" y="21"/>
                          </a:lnTo>
                          <a:lnTo>
                            <a:pt x="95" y="51"/>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16" name="Freeform 504"/>
                    <p:cNvSpPr/>
                    <p:nvPr/>
                  </p:nvSpPr>
                  <p:spPr bwMode="auto">
                    <a:xfrm>
                      <a:off x="4419" y="2910"/>
                      <a:ext cx="82" cy="71"/>
                    </a:xfrm>
                    <a:custGeom>
                      <a:avLst/>
                      <a:gdLst>
                        <a:gd name="T0" fmla="*/ 0 w 163"/>
                        <a:gd name="T1" fmla="*/ 0 h 141"/>
                        <a:gd name="T2" fmla="*/ 3 w 163"/>
                        <a:gd name="T3" fmla="*/ 21 h 141"/>
                        <a:gd name="T4" fmla="*/ 10 w 163"/>
                        <a:gd name="T5" fmla="*/ 45 h 141"/>
                        <a:gd name="T6" fmla="*/ 20 w 163"/>
                        <a:gd name="T7" fmla="*/ 63 h 141"/>
                        <a:gd name="T8" fmla="*/ 45 w 163"/>
                        <a:gd name="T9" fmla="*/ 82 h 141"/>
                        <a:gd name="T10" fmla="*/ 76 w 163"/>
                        <a:gd name="T11" fmla="*/ 97 h 141"/>
                        <a:gd name="T12" fmla="*/ 110 w 163"/>
                        <a:gd name="T13" fmla="*/ 98 h 141"/>
                        <a:gd name="T14" fmla="*/ 135 w 163"/>
                        <a:gd name="T15" fmla="*/ 105 h 141"/>
                        <a:gd name="T16" fmla="*/ 152 w 163"/>
                        <a:gd name="T17" fmla="*/ 123 h 141"/>
                        <a:gd name="T18" fmla="*/ 163 w 163"/>
                        <a:gd name="T19" fmla="*/ 139 h 141"/>
                        <a:gd name="T20" fmla="*/ 163 w 163"/>
                        <a:gd name="T21" fmla="*/ 14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3" h="141">
                          <a:moveTo>
                            <a:pt x="0" y="0"/>
                          </a:moveTo>
                          <a:lnTo>
                            <a:pt x="3" y="21"/>
                          </a:lnTo>
                          <a:lnTo>
                            <a:pt x="10" y="45"/>
                          </a:lnTo>
                          <a:lnTo>
                            <a:pt x="20" y="63"/>
                          </a:lnTo>
                          <a:lnTo>
                            <a:pt x="45" y="82"/>
                          </a:lnTo>
                          <a:lnTo>
                            <a:pt x="76" y="97"/>
                          </a:lnTo>
                          <a:lnTo>
                            <a:pt x="110" y="98"/>
                          </a:lnTo>
                          <a:lnTo>
                            <a:pt x="135" y="105"/>
                          </a:lnTo>
                          <a:lnTo>
                            <a:pt x="152" y="123"/>
                          </a:lnTo>
                          <a:lnTo>
                            <a:pt x="163" y="139"/>
                          </a:lnTo>
                          <a:lnTo>
                            <a:pt x="163" y="141"/>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grpSp>
            <p:nvGrpSpPr>
              <p:cNvPr id="346617" name="Group 505"/>
              <p:cNvGrpSpPr/>
              <p:nvPr/>
            </p:nvGrpSpPr>
            <p:grpSpPr bwMode="auto">
              <a:xfrm>
                <a:off x="3848" y="1976"/>
                <a:ext cx="944" cy="1317"/>
                <a:chOff x="3848" y="1976"/>
                <a:chExt cx="944" cy="1317"/>
              </a:xfrm>
            </p:grpSpPr>
            <p:grpSp>
              <p:nvGrpSpPr>
                <p:cNvPr id="346618" name="Group 506"/>
                <p:cNvGrpSpPr/>
                <p:nvPr/>
              </p:nvGrpSpPr>
              <p:grpSpPr bwMode="auto">
                <a:xfrm>
                  <a:off x="4013" y="1976"/>
                  <a:ext cx="751" cy="730"/>
                  <a:chOff x="4013" y="1976"/>
                  <a:chExt cx="751" cy="730"/>
                </a:xfrm>
              </p:grpSpPr>
              <p:sp>
                <p:nvSpPr>
                  <p:cNvPr id="346619" name="Freeform 507"/>
                  <p:cNvSpPr/>
                  <p:nvPr/>
                </p:nvSpPr>
                <p:spPr bwMode="auto">
                  <a:xfrm>
                    <a:off x="4084" y="1976"/>
                    <a:ext cx="671" cy="730"/>
                  </a:xfrm>
                  <a:custGeom>
                    <a:avLst/>
                    <a:gdLst>
                      <a:gd name="T0" fmla="*/ 164 w 1342"/>
                      <a:gd name="T1" fmla="*/ 1157 h 1460"/>
                      <a:gd name="T2" fmla="*/ 229 w 1342"/>
                      <a:gd name="T3" fmla="*/ 1032 h 1460"/>
                      <a:gd name="T4" fmla="*/ 229 w 1342"/>
                      <a:gd name="T5" fmla="*/ 995 h 1460"/>
                      <a:gd name="T6" fmla="*/ 205 w 1342"/>
                      <a:gd name="T7" fmla="*/ 946 h 1460"/>
                      <a:gd name="T8" fmla="*/ 169 w 1342"/>
                      <a:gd name="T9" fmla="*/ 891 h 1460"/>
                      <a:gd name="T10" fmla="*/ 103 w 1342"/>
                      <a:gd name="T11" fmla="*/ 840 h 1460"/>
                      <a:gd name="T12" fmla="*/ 61 w 1342"/>
                      <a:gd name="T13" fmla="*/ 770 h 1460"/>
                      <a:gd name="T14" fmla="*/ 40 w 1342"/>
                      <a:gd name="T15" fmla="*/ 708 h 1460"/>
                      <a:gd name="T16" fmla="*/ 15 w 1342"/>
                      <a:gd name="T17" fmla="*/ 662 h 1460"/>
                      <a:gd name="T18" fmla="*/ 15 w 1342"/>
                      <a:gd name="T19" fmla="*/ 608 h 1460"/>
                      <a:gd name="T20" fmla="*/ 0 w 1342"/>
                      <a:gd name="T21" fmla="*/ 482 h 1460"/>
                      <a:gd name="T22" fmla="*/ 15 w 1342"/>
                      <a:gd name="T23" fmla="*/ 387 h 1460"/>
                      <a:gd name="T24" fmla="*/ 44 w 1342"/>
                      <a:gd name="T25" fmla="*/ 305 h 1460"/>
                      <a:gd name="T26" fmla="*/ 85 w 1342"/>
                      <a:gd name="T27" fmla="*/ 217 h 1460"/>
                      <a:gd name="T28" fmla="*/ 134 w 1342"/>
                      <a:gd name="T29" fmla="*/ 165 h 1460"/>
                      <a:gd name="T30" fmla="*/ 226 w 1342"/>
                      <a:gd name="T31" fmla="*/ 104 h 1460"/>
                      <a:gd name="T32" fmla="*/ 326 w 1342"/>
                      <a:gd name="T33" fmla="*/ 62 h 1460"/>
                      <a:gd name="T34" fmla="*/ 431 w 1342"/>
                      <a:gd name="T35" fmla="*/ 25 h 1460"/>
                      <a:gd name="T36" fmla="*/ 565 w 1342"/>
                      <a:gd name="T37" fmla="*/ 3 h 1460"/>
                      <a:gd name="T38" fmla="*/ 660 w 1342"/>
                      <a:gd name="T39" fmla="*/ 0 h 1460"/>
                      <a:gd name="T40" fmla="*/ 756 w 1342"/>
                      <a:gd name="T41" fmla="*/ 9 h 1460"/>
                      <a:gd name="T42" fmla="*/ 876 w 1342"/>
                      <a:gd name="T43" fmla="*/ 33 h 1460"/>
                      <a:gd name="T44" fmla="*/ 987 w 1342"/>
                      <a:gd name="T45" fmla="*/ 70 h 1460"/>
                      <a:gd name="T46" fmla="*/ 1066 w 1342"/>
                      <a:gd name="T47" fmla="*/ 113 h 1460"/>
                      <a:gd name="T48" fmla="*/ 1167 w 1342"/>
                      <a:gd name="T49" fmla="*/ 192 h 1460"/>
                      <a:gd name="T50" fmla="*/ 1235 w 1342"/>
                      <a:gd name="T51" fmla="*/ 285 h 1460"/>
                      <a:gd name="T52" fmla="*/ 1286 w 1342"/>
                      <a:gd name="T53" fmla="*/ 372 h 1460"/>
                      <a:gd name="T54" fmla="*/ 1311 w 1342"/>
                      <a:gd name="T55" fmla="*/ 435 h 1460"/>
                      <a:gd name="T56" fmla="*/ 1342 w 1342"/>
                      <a:gd name="T57" fmla="*/ 544 h 1460"/>
                      <a:gd name="T58" fmla="*/ 1342 w 1342"/>
                      <a:gd name="T59" fmla="*/ 629 h 1460"/>
                      <a:gd name="T60" fmla="*/ 1321 w 1342"/>
                      <a:gd name="T61" fmla="*/ 750 h 1460"/>
                      <a:gd name="T62" fmla="*/ 1291 w 1342"/>
                      <a:gd name="T63" fmla="*/ 849 h 1460"/>
                      <a:gd name="T64" fmla="*/ 1245 w 1342"/>
                      <a:gd name="T65" fmla="*/ 932 h 1460"/>
                      <a:gd name="T66" fmla="*/ 1206 w 1342"/>
                      <a:gd name="T67" fmla="*/ 979 h 1460"/>
                      <a:gd name="T68" fmla="*/ 1148 w 1342"/>
                      <a:gd name="T69" fmla="*/ 1032 h 1460"/>
                      <a:gd name="T70" fmla="*/ 1053 w 1342"/>
                      <a:gd name="T71" fmla="*/ 1073 h 1460"/>
                      <a:gd name="T72" fmla="*/ 981 w 1342"/>
                      <a:gd name="T73" fmla="*/ 1099 h 1460"/>
                      <a:gd name="T74" fmla="*/ 902 w 1342"/>
                      <a:gd name="T75" fmla="*/ 1124 h 1460"/>
                      <a:gd name="T76" fmla="*/ 776 w 1342"/>
                      <a:gd name="T77" fmla="*/ 1136 h 1460"/>
                      <a:gd name="T78" fmla="*/ 667 w 1342"/>
                      <a:gd name="T79" fmla="*/ 1157 h 1460"/>
                      <a:gd name="T80" fmla="*/ 596 w 1342"/>
                      <a:gd name="T81" fmla="*/ 1173 h 1460"/>
                      <a:gd name="T82" fmla="*/ 575 w 1342"/>
                      <a:gd name="T83" fmla="*/ 1208 h 1460"/>
                      <a:gd name="T84" fmla="*/ 581 w 1342"/>
                      <a:gd name="T85" fmla="*/ 1252 h 1460"/>
                      <a:gd name="T86" fmla="*/ 575 w 1342"/>
                      <a:gd name="T87" fmla="*/ 1294 h 1460"/>
                      <a:gd name="T88" fmla="*/ 560 w 1342"/>
                      <a:gd name="T89" fmla="*/ 1324 h 1460"/>
                      <a:gd name="T90" fmla="*/ 552 w 1342"/>
                      <a:gd name="T91" fmla="*/ 1383 h 1460"/>
                      <a:gd name="T92" fmla="*/ 555 w 1342"/>
                      <a:gd name="T93" fmla="*/ 1460 h 1460"/>
                      <a:gd name="T94" fmla="*/ 465 w 1342"/>
                      <a:gd name="T95" fmla="*/ 1331 h 1460"/>
                      <a:gd name="T96" fmla="*/ 346 w 1342"/>
                      <a:gd name="T97" fmla="*/ 1226 h 1460"/>
                      <a:gd name="T98" fmla="*/ 246 w 1342"/>
                      <a:gd name="T99" fmla="*/ 1176 h 1460"/>
                      <a:gd name="T100" fmla="*/ 164 w 1342"/>
                      <a:gd name="T101" fmla="*/ 1157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42" h="1460">
                        <a:moveTo>
                          <a:pt x="164" y="1157"/>
                        </a:moveTo>
                        <a:lnTo>
                          <a:pt x="229" y="1032"/>
                        </a:lnTo>
                        <a:lnTo>
                          <a:pt x="229" y="995"/>
                        </a:lnTo>
                        <a:lnTo>
                          <a:pt x="205" y="946"/>
                        </a:lnTo>
                        <a:lnTo>
                          <a:pt x="169" y="891"/>
                        </a:lnTo>
                        <a:lnTo>
                          <a:pt x="103" y="840"/>
                        </a:lnTo>
                        <a:lnTo>
                          <a:pt x="61" y="770"/>
                        </a:lnTo>
                        <a:lnTo>
                          <a:pt x="40" y="708"/>
                        </a:lnTo>
                        <a:lnTo>
                          <a:pt x="15" y="662"/>
                        </a:lnTo>
                        <a:lnTo>
                          <a:pt x="15" y="608"/>
                        </a:lnTo>
                        <a:lnTo>
                          <a:pt x="0" y="482"/>
                        </a:lnTo>
                        <a:lnTo>
                          <a:pt x="15" y="387"/>
                        </a:lnTo>
                        <a:lnTo>
                          <a:pt x="44" y="305"/>
                        </a:lnTo>
                        <a:lnTo>
                          <a:pt x="85" y="217"/>
                        </a:lnTo>
                        <a:lnTo>
                          <a:pt x="134" y="165"/>
                        </a:lnTo>
                        <a:lnTo>
                          <a:pt x="226" y="104"/>
                        </a:lnTo>
                        <a:lnTo>
                          <a:pt x="326" y="62"/>
                        </a:lnTo>
                        <a:lnTo>
                          <a:pt x="431" y="25"/>
                        </a:lnTo>
                        <a:lnTo>
                          <a:pt x="565" y="3"/>
                        </a:lnTo>
                        <a:lnTo>
                          <a:pt x="660" y="0"/>
                        </a:lnTo>
                        <a:lnTo>
                          <a:pt x="756" y="9"/>
                        </a:lnTo>
                        <a:lnTo>
                          <a:pt x="876" y="33"/>
                        </a:lnTo>
                        <a:lnTo>
                          <a:pt x="987" y="70"/>
                        </a:lnTo>
                        <a:lnTo>
                          <a:pt x="1066" y="113"/>
                        </a:lnTo>
                        <a:lnTo>
                          <a:pt x="1167" y="192"/>
                        </a:lnTo>
                        <a:lnTo>
                          <a:pt x="1235" y="285"/>
                        </a:lnTo>
                        <a:lnTo>
                          <a:pt x="1286" y="372"/>
                        </a:lnTo>
                        <a:lnTo>
                          <a:pt x="1311" y="435"/>
                        </a:lnTo>
                        <a:lnTo>
                          <a:pt x="1342" y="544"/>
                        </a:lnTo>
                        <a:lnTo>
                          <a:pt x="1342" y="629"/>
                        </a:lnTo>
                        <a:lnTo>
                          <a:pt x="1321" y="750"/>
                        </a:lnTo>
                        <a:lnTo>
                          <a:pt x="1291" y="849"/>
                        </a:lnTo>
                        <a:lnTo>
                          <a:pt x="1245" y="932"/>
                        </a:lnTo>
                        <a:lnTo>
                          <a:pt x="1206" y="979"/>
                        </a:lnTo>
                        <a:lnTo>
                          <a:pt x="1148" y="1032"/>
                        </a:lnTo>
                        <a:lnTo>
                          <a:pt x="1053" y="1073"/>
                        </a:lnTo>
                        <a:lnTo>
                          <a:pt x="981" y="1099"/>
                        </a:lnTo>
                        <a:lnTo>
                          <a:pt x="902" y="1124"/>
                        </a:lnTo>
                        <a:lnTo>
                          <a:pt x="776" y="1136"/>
                        </a:lnTo>
                        <a:lnTo>
                          <a:pt x="667" y="1157"/>
                        </a:lnTo>
                        <a:lnTo>
                          <a:pt x="596" y="1173"/>
                        </a:lnTo>
                        <a:lnTo>
                          <a:pt x="575" y="1208"/>
                        </a:lnTo>
                        <a:lnTo>
                          <a:pt x="581" y="1252"/>
                        </a:lnTo>
                        <a:lnTo>
                          <a:pt x="575" y="1294"/>
                        </a:lnTo>
                        <a:lnTo>
                          <a:pt x="560" y="1324"/>
                        </a:lnTo>
                        <a:lnTo>
                          <a:pt x="552" y="1383"/>
                        </a:lnTo>
                        <a:lnTo>
                          <a:pt x="555" y="1460"/>
                        </a:lnTo>
                        <a:lnTo>
                          <a:pt x="465" y="1331"/>
                        </a:lnTo>
                        <a:lnTo>
                          <a:pt x="346" y="1226"/>
                        </a:lnTo>
                        <a:lnTo>
                          <a:pt x="246" y="1176"/>
                        </a:lnTo>
                        <a:lnTo>
                          <a:pt x="164" y="1157"/>
                        </a:lnTo>
                        <a:close/>
                      </a:path>
                    </a:pathLst>
                  </a:custGeom>
                  <a:solidFill>
                    <a:srgbClr val="E0A080"/>
                  </a:solidFill>
                  <a:ln w="9525">
                    <a:solidFill>
                      <a:srgbClr val="000000"/>
                    </a:solidFill>
                    <a:prstDash val="solid"/>
                    <a:round/>
                  </a:ln>
                </p:spPr>
                <p:txBody>
                  <a:bodyPr/>
                  <a:lstStyle/>
                  <a:p>
                    <a:endParaRPr lang="zh-CN" altLang="en-US"/>
                  </a:p>
                </p:txBody>
              </p:sp>
              <p:grpSp>
                <p:nvGrpSpPr>
                  <p:cNvPr id="346620" name="Group 508"/>
                  <p:cNvGrpSpPr/>
                  <p:nvPr/>
                </p:nvGrpSpPr>
                <p:grpSpPr bwMode="auto">
                  <a:xfrm>
                    <a:off x="4013" y="1976"/>
                    <a:ext cx="630" cy="505"/>
                    <a:chOff x="4013" y="1976"/>
                    <a:chExt cx="630" cy="505"/>
                  </a:xfrm>
                </p:grpSpPr>
                <p:grpSp>
                  <p:nvGrpSpPr>
                    <p:cNvPr id="346621" name="Group 509"/>
                    <p:cNvGrpSpPr/>
                    <p:nvPr/>
                  </p:nvGrpSpPr>
                  <p:grpSpPr bwMode="auto">
                    <a:xfrm>
                      <a:off x="4181" y="1976"/>
                      <a:ext cx="434" cy="152"/>
                      <a:chOff x="4181" y="1976"/>
                      <a:chExt cx="434" cy="152"/>
                    </a:xfrm>
                  </p:grpSpPr>
                  <p:sp>
                    <p:nvSpPr>
                      <p:cNvPr id="346622" name="Freeform 510"/>
                      <p:cNvSpPr/>
                      <p:nvPr/>
                    </p:nvSpPr>
                    <p:spPr bwMode="auto">
                      <a:xfrm>
                        <a:off x="4216" y="1999"/>
                        <a:ext cx="399" cy="129"/>
                      </a:xfrm>
                      <a:custGeom>
                        <a:avLst/>
                        <a:gdLst>
                          <a:gd name="T0" fmla="*/ 0 w 796"/>
                          <a:gd name="T1" fmla="*/ 259 h 259"/>
                          <a:gd name="T2" fmla="*/ 61 w 796"/>
                          <a:gd name="T3" fmla="*/ 178 h 259"/>
                          <a:gd name="T4" fmla="*/ 141 w 796"/>
                          <a:gd name="T5" fmla="*/ 114 h 259"/>
                          <a:gd name="T6" fmla="*/ 236 w 796"/>
                          <a:gd name="T7" fmla="*/ 61 h 259"/>
                          <a:gd name="T8" fmla="*/ 331 w 796"/>
                          <a:gd name="T9" fmla="*/ 30 h 259"/>
                          <a:gd name="T10" fmla="*/ 436 w 796"/>
                          <a:gd name="T11" fmla="*/ 8 h 259"/>
                          <a:gd name="T12" fmla="*/ 572 w 796"/>
                          <a:gd name="T13" fmla="*/ 0 h 259"/>
                          <a:gd name="T14" fmla="*/ 672 w 796"/>
                          <a:gd name="T15" fmla="*/ 16 h 259"/>
                          <a:gd name="T16" fmla="*/ 796 w 796"/>
                          <a:gd name="T17" fmla="*/ 58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6" h="259">
                            <a:moveTo>
                              <a:pt x="0" y="259"/>
                            </a:moveTo>
                            <a:lnTo>
                              <a:pt x="61" y="178"/>
                            </a:lnTo>
                            <a:lnTo>
                              <a:pt x="141" y="114"/>
                            </a:lnTo>
                            <a:lnTo>
                              <a:pt x="236" y="61"/>
                            </a:lnTo>
                            <a:lnTo>
                              <a:pt x="331" y="30"/>
                            </a:lnTo>
                            <a:lnTo>
                              <a:pt x="436" y="8"/>
                            </a:lnTo>
                            <a:lnTo>
                              <a:pt x="572" y="0"/>
                            </a:lnTo>
                            <a:lnTo>
                              <a:pt x="672" y="16"/>
                            </a:lnTo>
                            <a:lnTo>
                              <a:pt x="796" y="58"/>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23" name="Freeform 511"/>
                      <p:cNvSpPr/>
                      <p:nvPr/>
                    </p:nvSpPr>
                    <p:spPr bwMode="auto">
                      <a:xfrm>
                        <a:off x="4181" y="1976"/>
                        <a:ext cx="412" cy="143"/>
                      </a:xfrm>
                      <a:custGeom>
                        <a:avLst/>
                        <a:gdLst>
                          <a:gd name="T0" fmla="*/ 0 w 822"/>
                          <a:gd name="T1" fmla="*/ 285 h 285"/>
                          <a:gd name="T2" fmla="*/ 39 w 822"/>
                          <a:gd name="T3" fmla="*/ 202 h 285"/>
                          <a:gd name="T4" fmla="*/ 87 w 822"/>
                          <a:gd name="T5" fmla="*/ 144 h 285"/>
                          <a:gd name="T6" fmla="*/ 139 w 822"/>
                          <a:gd name="T7" fmla="*/ 97 h 285"/>
                          <a:gd name="T8" fmla="*/ 236 w 822"/>
                          <a:gd name="T9" fmla="*/ 46 h 285"/>
                          <a:gd name="T10" fmla="*/ 360 w 822"/>
                          <a:gd name="T11" fmla="*/ 9 h 285"/>
                          <a:gd name="T12" fmla="*/ 476 w 822"/>
                          <a:gd name="T13" fmla="*/ 0 h 285"/>
                          <a:gd name="T14" fmla="*/ 601 w 822"/>
                          <a:gd name="T15" fmla="*/ 14 h 285"/>
                          <a:gd name="T16" fmla="*/ 715 w 822"/>
                          <a:gd name="T17" fmla="*/ 51 h 285"/>
                          <a:gd name="T18" fmla="*/ 771 w 822"/>
                          <a:gd name="T19" fmla="*/ 67 h 285"/>
                          <a:gd name="T20" fmla="*/ 822 w 822"/>
                          <a:gd name="T21" fmla="*/ 83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22" h="285">
                            <a:moveTo>
                              <a:pt x="0" y="285"/>
                            </a:moveTo>
                            <a:lnTo>
                              <a:pt x="39" y="202"/>
                            </a:lnTo>
                            <a:lnTo>
                              <a:pt x="87" y="144"/>
                            </a:lnTo>
                            <a:lnTo>
                              <a:pt x="139" y="97"/>
                            </a:lnTo>
                            <a:lnTo>
                              <a:pt x="236" y="46"/>
                            </a:lnTo>
                            <a:lnTo>
                              <a:pt x="360" y="9"/>
                            </a:lnTo>
                            <a:lnTo>
                              <a:pt x="476" y="0"/>
                            </a:lnTo>
                            <a:lnTo>
                              <a:pt x="601" y="14"/>
                            </a:lnTo>
                            <a:lnTo>
                              <a:pt x="715" y="51"/>
                            </a:lnTo>
                            <a:lnTo>
                              <a:pt x="771" y="67"/>
                            </a:lnTo>
                            <a:lnTo>
                              <a:pt x="822" y="83"/>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46624" name="Group 512"/>
                    <p:cNvGrpSpPr/>
                    <p:nvPr/>
                  </p:nvGrpSpPr>
                  <p:grpSpPr bwMode="auto">
                    <a:xfrm>
                      <a:off x="4013" y="2070"/>
                      <a:ext cx="236" cy="248"/>
                      <a:chOff x="4013" y="2070"/>
                      <a:chExt cx="236" cy="248"/>
                    </a:xfrm>
                  </p:grpSpPr>
                  <p:sp>
                    <p:nvSpPr>
                      <p:cNvPr id="346625" name="Freeform 513"/>
                      <p:cNvSpPr/>
                      <p:nvPr/>
                    </p:nvSpPr>
                    <p:spPr bwMode="auto">
                      <a:xfrm>
                        <a:off x="4013" y="2070"/>
                        <a:ext cx="236" cy="248"/>
                      </a:xfrm>
                      <a:custGeom>
                        <a:avLst/>
                        <a:gdLst>
                          <a:gd name="T0" fmla="*/ 25 w 472"/>
                          <a:gd name="T1" fmla="*/ 411 h 495"/>
                          <a:gd name="T2" fmla="*/ 13 w 472"/>
                          <a:gd name="T3" fmla="*/ 215 h 495"/>
                          <a:gd name="T4" fmla="*/ 78 w 472"/>
                          <a:gd name="T5" fmla="*/ 94 h 495"/>
                          <a:gd name="T6" fmla="*/ 125 w 472"/>
                          <a:gd name="T7" fmla="*/ 23 h 495"/>
                          <a:gd name="T8" fmla="*/ 171 w 472"/>
                          <a:gd name="T9" fmla="*/ 0 h 495"/>
                          <a:gd name="T10" fmla="*/ 197 w 472"/>
                          <a:gd name="T11" fmla="*/ 44 h 495"/>
                          <a:gd name="T12" fmla="*/ 232 w 472"/>
                          <a:gd name="T13" fmla="*/ 25 h 495"/>
                          <a:gd name="T14" fmla="*/ 254 w 472"/>
                          <a:gd name="T15" fmla="*/ 73 h 495"/>
                          <a:gd name="T16" fmla="*/ 280 w 472"/>
                          <a:gd name="T17" fmla="*/ 102 h 495"/>
                          <a:gd name="T18" fmla="*/ 307 w 472"/>
                          <a:gd name="T19" fmla="*/ 125 h 495"/>
                          <a:gd name="T20" fmla="*/ 302 w 472"/>
                          <a:gd name="T21" fmla="*/ 168 h 495"/>
                          <a:gd name="T22" fmla="*/ 336 w 472"/>
                          <a:gd name="T23" fmla="*/ 143 h 495"/>
                          <a:gd name="T24" fmla="*/ 370 w 472"/>
                          <a:gd name="T25" fmla="*/ 164 h 495"/>
                          <a:gd name="T26" fmla="*/ 372 w 472"/>
                          <a:gd name="T27" fmla="*/ 199 h 495"/>
                          <a:gd name="T28" fmla="*/ 412 w 472"/>
                          <a:gd name="T29" fmla="*/ 205 h 495"/>
                          <a:gd name="T30" fmla="*/ 428 w 472"/>
                          <a:gd name="T31" fmla="*/ 247 h 495"/>
                          <a:gd name="T32" fmla="*/ 457 w 472"/>
                          <a:gd name="T33" fmla="*/ 284 h 495"/>
                          <a:gd name="T34" fmla="*/ 446 w 472"/>
                          <a:gd name="T35" fmla="*/ 370 h 495"/>
                          <a:gd name="T36" fmla="*/ 462 w 472"/>
                          <a:gd name="T37" fmla="*/ 421 h 495"/>
                          <a:gd name="T38" fmla="*/ 472 w 472"/>
                          <a:gd name="T39" fmla="*/ 469 h 495"/>
                          <a:gd name="T40" fmla="*/ 441 w 472"/>
                          <a:gd name="T41" fmla="*/ 495 h 495"/>
                          <a:gd name="T42" fmla="*/ 404 w 472"/>
                          <a:gd name="T43" fmla="*/ 492 h 495"/>
                          <a:gd name="T44" fmla="*/ 370 w 472"/>
                          <a:gd name="T45" fmla="*/ 453 h 495"/>
                          <a:gd name="T46" fmla="*/ 346 w 472"/>
                          <a:gd name="T47" fmla="*/ 449 h 495"/>
                          <a:gd name="T48" fmla="*/ 305 w 472"/>
                          <a:gd name="T49" fmla="*/ 439 h 495"/>
                          <a:gd name="T50" fmla="*/ 280 w 472"/>
                          <a:gd name="T51" fmla="*/ 432 h 495"/>
                          <a:gd name="T52" fmla="*/ 260 w 472"/>
                          <a:gd name="T53" fmla="*/ 423 h 495"/>
                          <a:gd name="T54" fmla="*/ 232 w 472"/>
                          <a:gd name="T55" fmla="*/ 420 h 495"/>
                          <a:gd name="T56" fmla="*/ 214 w 472"/>
                          <a:gd name="T57" fmla="*/ 390 h 495"/>
                          <a:gd name="T58" fmla="*/ 198 w 472"/>
                          <a:gd name="T59" fmla="*/ 420 h 495"/>
                          <a:gd name="T60" fmla="*/ 166 w 472"/>
                          <a:gd name="T61" fmla="*/ 428 h 495"/>
                          <a:gd name="T62" fmla="*/ 153 w 472"/>
                          <a:gd name="T63" fmla="*/ 439 h 495"/>
                          <a:gd name="T64" fmla="*/ 125 w 472"/>
                          <a:gd name="T65" fmla="*/ 471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2" h="495">
                            <a:moveTo>
                              <a:pt x="86" y="471"/>
                            </a:moveTo>
                            <a:lnTo>
                              <a:pt x="25" y="411"/>
                            </a:lnTo>
                            <a:lnTo>
                              <a:pt x="0" y="324"/>
                            </a:lnTo>
                            <a:lnTo>
                              <a:pt x="13" y="215"/>
                            </a:lnTo>
                            <a:lnTo>
                              <a:pt x="49" y="134"/>
                            </a:lnTo>
                            <a:lnTo>
                              <a:pt x="78" y="94"/>
                            </a:lnTo>
                            <a:lnTo>
                              <a:pt x="110" y="41"/>
                            </a:lnTo>
                            <a:lnTo>
                              <a:pt x="125" y="23"/>
                            </a:lnTo>
                            <a:lnTo>
                              <a:pt x="147" y="4"/>
                            </a:lnTo>
                            <a:lnTo>
                              <a:pt x="171" y="0"/>
                            </a:lnTo>
                            <a:lnTo>
                              <a:pt x="185" y="21"/>
                            </a:lnTo>
                            <a:lnTo>
                              <a:pt x="197" y="44"/>
                            </a:lnTo>
                            <a:lnTo>
                              <a:pt x="205" y="29"/>
                            </a:lnTo>
                            <a:lnTo>
                              <a:pt x="232" y="25"/>
                            </a:lnTo>
                            <a:lnTo>
                              <a:pt x="248" y="44"/>
                            </a:lnTo>
                            <a:lnTo>
                              <a:pt x="254" y="73"/>
                            </a:lnTo>
                            <a:lnTo>
                              <a:pt x="260" y="111"/>
                            </a:lnTo>
                            <a:lnTo>
                              <a:pt x="280" y="102"/>
                            </a:lnTo>
                            <a:lnTo>
                              <a:pt x="302" y="113"/>
                            </a:lnTo>
                            <a:lnTo>
                              <a:pt x="307" y="125"/>
                            </a:lnTo>
                            <a:lnTo>
                              <a:pt x="305" y="147"/>
                            </a:lnTo>
                            <a:lnTo>
                              <a:pt x="302" y="168"/>
                            </a:lnTo>
                            <a:lnTo>
                              <a:pt x="316" y="154"/>
                            </a:lnTo>
                            <a:lnTo>
                              <a:pt x="336" y="143"/>
                            </a:lnTo>
                            <a:lnTo>
                              <a:pt x="368" y="147"/>
                            </a:lnTo>
                            <a:lnTo>
                              <a:pt x="370" y="164"/>
                            </a:lnTo>
                            <a:lnTo>
                              <a:pt x="372" y="180"/>
                            </a:lnTo>
                            <a:lnTo>
                              <a:pt x="372" y="199"/>
                            </a:lnTo>
                            <a:lnTo>
                              <a:pt x="392" y="196"/>
                            </a:lnTo>
                            <a:lnTo>
                              <a:pt x="412" y="205"/>
                            </a:lnTo>
                            <a:lnTo>
                              <a:pt x="423" y="220"/>
                            </a:lnTo>
                            <a:lnTo>
                              <a:pt x="428" y="247"/>
                            </a:lnTo>
                            <a:lnTo>
                              <a:pt x="446" y="254"/>
                            </a:lnTo>
                            <a:lnTo>
                              <a:pt x="457" y="284"/>
                            </a:lnTo>
                            <a:lnTo>
                              <a:pt x="453" y="316"/>
                            </a:lnTo>
                            <a:lnTo>
                              <a:pt x="446" y="370"/>
                            </a:lnTo>
                            <a:lnTo>
                              <a:pt x="451" y="400"/>
                            </a:lnTo>
                            <a:lnTo>
                              <a:pt x="462" y="421"/>
                            </a:lnTo>
                            <a:lnTo>
                              <a:pt x="472" y="442"/>
                            </a:lnTo>
                            <a:lnTo>
                              <a:pt x="472" y="469"/>
                            </a:lnTo>
                            <a:lnTo>
                              <a:pt x="457" y="490"/>
                            </a:lnTo>
                            <a:lnTo>
                              <a:pt x="441" y="495"/>
                            </a:lnTo>
                            <a:lnTo>
                              <a:pt x="423" y="495"/>
                            </a:lnTo>
                            <a:lnTo>
                              <a:pt x="404" y="492"/>
                            </a:lnTo>
                            <a:lnTo>
                              <a:pt x="382" y="471"/>
                            </a:lnTo>
                            <a:lnTo>
                              <a:pt x="370" y="453"/>
                            </a:lnTo>
                            <a:lnTo>
                              <a:pt x="367" y="442"/>
                            </a:lnTo>
                            <a:lnTo>
                              <a:pt x="346" y="449"/>
                            </a:lnTo>
                            <a:lnTo>
                              <a:pt x="321" y="448"/>
                            </a:lnTo>
                            <a:lnTo>
                              <a:pt x="305" y="439"/>
                            </a:lnTo>
                            <a:lnTo>
                              <a:pt x="300" y="432"/>
                            </a:lnTo>
                            <a:lnTo>
                              <a:pt x="280" y="432"/>
                            </a:lnTo>
                            <a:lnTo>
                              <a:pt x="268" y="427"/>
                            </a:lnTo>
                            <a:lnTo>
                              <a:pt x="260" y="423"/>
                            </a:lnTo>
                            <a:lnTo>
                              <a:pt x="244" y="423"/>
                            </a:lnTo>
                            <a:lnTo>
                              <a:pt x="232" y="420"/>
                            </a:lnTo>
                            <a:lnTo>
                              <a:pt x="220" y="400"/>
                            </a:lnTo>
                            <a:lnTo>
                              <a:pt x="214" y="390"/>
                            </a:lnTo>
                            <a:lnTo>
                              <a:pt x="205" y="400"/>
                            </a:lnTo>
                            <a:lnTo>
                              <a:pt x="198" y="420"/>
                            </a:lnTo>
                            <a:lnTo>
                              <a:pt x="183" y="427"/>
                            </a:lnTo>
                            <a:lnTo>
                              <a:pt x="166" y="428"/>
                            </a:lnTo>
                            <a:lnTo>
                              <a:pt x="158" y="428"/>
                            </a:lnTo>
                            <a:lnTo>
                              <a:pt x="153" y="439"/>
                            </a:lnTo>
                            <a:lnTo>
                              <a:pt x="141" y="453"/>
                            </a:lnTo>
                            <a:lnTo>
                              <a:pt x="125" y="471"/>
                            </a:lnTo>
                            <a:lnTo>
                              <a:pt x="86" y="471"/>
                            </a:lnTo>
                            <a:close/>
                          </a:path>
                        </a:pathLst>
                      </a:custGeom>
                      <a:solidFill>
                        <a:srgbClr val="C08040"/>
                      </a:solidFill>
                      <a:ln w="9525">
                        <a:solidFill>
                          <a:srgbClr val="000000"/>
                        </a:solidFill>
                        <a:prstDash val="solid"/>
                        <a:round/>
                      </a:ln>
                    </p:spPr>
                    <p:txBody>
                      <a:bodyPr/>
                      <a:lstStyle/>
                      <a:p>
                        <a:endParaRPr lang="zh-CN" altLang="en-US"/>
                      </a:p>
                    </p:txBody>
                  </p:sp>
                  <p:grpSp>
                    <p:nvGrpSpPr>
                      <p:cNvPr id="346626" name="Group 514"/>
                      <p:cNvGrpSpPr/>
                      <p:nvPr/>
                    </p:nvGrpSpPr>
                    <p:grpSpPr bwMode="auto">
                      <a:xfrm>
                        <a:off x="4025" y="2083"/>
                        <a:ext cx="179" cy="216"/>
                        <a:chOff x="4025" y="2083"/>
                        <a:chExt cx="179" cy="216"/>
                      </a:xfrm>
                    </p:grpSpPr>
                    <p:sp>
                      <p:nvSpPr>
                        <p:cNvPr id="346627" name="Freeform 515"/>
                        <p:cNvSpPr/>
                        <p:nvPr/>
                      </p:nvSpPr>
                      <p:spPr bwMode="auto">
                        <a:xfrm>
                          <a:off x="4169" y="2228"/>
                          <a:ext cx="35" cy="46"/>
                        </a:xfrm>
                        <a:custGeom>
                          <a:avLst/>
                          <a:gdLst>
                            <a:gd name="T0" fmla="*/ 21 w 72"/>
                            <a:gd name="T1" fmla="*/ 91 h 91"/>
                            <a:gd name="T2" fmla="*/ 16 w 72"/>
                            <a:gd name="T3" fmla="*/ 44 h 91"/>
                            <a:gd name="T4" fmla="*/ 29 w 72"/>
                            <a:gd name="T5" fmla="*/ 19 h 91"/>
                            <a:gd name="T6" fmla="*/ 72 w 72"/>
                            <a:gd name="T7" fmla="*/ 0 h 91"/>
                            <a:gd name="T8" fmla="*/ 45 w 72"/>
                            <a:gd name="T9" fmla="*/ 3 h 91"/>
                            <a:gd name="T10" fmla="*/ 11 w 72"/>
                            <a:gd name="T11" fmla="*/ 14 h 91"/>
                            <a:gd name="T12" fmla="*/ 0 w 72"/>
                            <a:gd name="T13" fmla="*/ 37 h 91"/>
                            <a:gd name="T14" fmla="*/ 21 w 72"/>
                            <a:gd name="T15" fmla="*/ 91 h 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91">
                              <a:moveTo>
                                <a:pt x="21" y="91"/>
                              </a:moveTo>
                              <a:lnTo>
                                <a:pt x="16" y="44"/>
                              </a:lnTo>
                              <a:lnTo>
                                <a:pt x="29" y="19"/>
                              </a:lnTo>
                              <a:lnTo>
                                <a:pt x="72" y="0"/>
                              </a:lnTo>
                              <a:lnTo>
                                <a:pt x="45" y="3"/>
                              </a:lnTo>
                              <a:lnTo>
                                <a:pt x="11" y="14"/>
                              </a:lnTo>
                              <a:lnTo>
                                <a:pt x="0" y="37"/>
                              </a:lnTo>
                              <a:lnTo>
                                <a:pt x="21" y="91"/>
                              </a:lnTo>
                              <a:close/>
                            </a:path>
                          </a:pathLst>
                        </a:custGeom>
                        <a:solidFill>
                          <a:srgbClr val="804000"/>
                        </a:solidFill>
                        <a:ln w="9525">
                          <a:solidFill>
                            <a:srgbClr val="000000"/>
                          </a:solidFill>
                          <a:prstDash val="solid"/>
                          <a:round/>
                        </a:ln>
                      </p:spPr>
                      <p:txBody>
                        <a:bodyPr/>
                        <a:lstStyle/>
                        <a:p>
                          <a:endParaRPr lang="zh-CN" altLang="en-US"/>
                        </a:p>
                      </p:txBody>
                    </p:sp>
                    <p:sp>
                      <p:nvSpPr>
                        <p:cNvPr id="346628" name="Freeform 516"/>
                        <p:cNvSpPr/>
                        <p:nvPr/>
                      </p:nvSpPr>
                      <p:spPr bwMode="auto">
                        <a:xfrm>
                          <a:off x="4102" y="2154"/>
                          <a:ext cx="57" cy="111"/>
                        </a:xfrm>
                        <a:custGeom>
                          <a:avLst/>
                          <a:gdLst>
                            <a:gd name="T0" fmla="*/ 46 w 114"/>
                            <a:gd name="T1" fmla="*/ 222 h 222"/>
                            <a:gd name="T2" fmla="*/ 26 w 114"/>
                            <a:gd name="T3" fmla="*/ 172 h 222"/>
                            <a:gd name="T4" fmla="*/ 26 w 114"/>
                            <a:gd name="T5" fmla="*/ 105 h 222"/>
                            <a:gd name="T6" fmla="*/ 65 w 114"/>
                            <a:gd name="T7" fmla="*/ 52 h 222"/>
                            <a:gd name="T8" fmla="*/ 114 w 114"/>
                            <a:gd name="T9" fmla="*/ 0 h 222"/>
                            <a:gd name="T10" fmla="*/ 84 w 114"/>
                            <a:gd name="T11" fmla="*/ 30 h 222"/>
                            <a:gd name="T12" fmla="*/ 36 w 114"/>
                            <a:gd name="T13" fmla="*/ 67 h 222"/>
                            <a:gd name="T14" fmla="*/ 0 w 114"/>
                            <a:gd name="T15" fmla="*/ 98 h 222"/>
                            <a:gd name="T16" fmla="*/ 7 w 114"/>
                            <a:gd name="T17" fmla="*/ 125 h 222"/>
                            <a:gd name="T18" fmla="*/ 5 w 114"/>
                            <a:gd name="T19" fmla="*/ 155 h 222"/>
                            <a:gd name="T20" fmla="*/ 5 w 114"/>
                            <a:gd name="T21" fmla="*/ 188 h 222"/>
                            <a:gd name="T22" fmla="*/ 46 w 114"/>
                            <a:gd name="T23"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4" h="222">
                              <a:moveTo>
                                <a:pt x="46" y="222"/>
                              </a:moveTo>
                              <a:lnTo>
                                <a:pt x="26" y="172"/>
                              </a:lnTo>
                              <a:lnTo>
                                <a:pt x="26" y="105"/>
                              </a:lnTo>
                              <a:lnTo>
                                <a:pt x="65" y="52"/>
                              </a:lnTo>
                              <a:lnTo>
                                <a:pt x="114" y="0"/>
                              </a:lnTo>
                              <a:lnTo>
                                <a:pt x="84" y="30"/>
                              </a:lnTo>
                              <a:lnTo>
                                <a:pt x="36" y="67"/>
                              </a:lnTo>
                              <a:lnTo>
                                <a:pt x="0" y="98"/>
                              </a:lnTo>
                              <a:lnTo>
                                <a:pt x="7" y="125"/>
                              </a:lnTo>
                              <a:lnTo>
                                <a:pt x="5" y="155"/>
                              </a:lnTo>
                              <a:lnTo>
                                <a:pt x="5" y="188"/>
                              </a:lnTo>
                              <a:lnTo>
                                <a:pt x="46" y="222"/>
                              </a:lnTo>
                              <a:close/>
                            </a:path>
                          </a:pathLst>
                        </a:custGeom>
                        <a:solidFill>
                          <a:srgbClr val="804000"/>
                        </a:solidFill>
                        <a:ln w="9525">
                          <a:solidFill>
                            <a:srgbClr val="000000"/>
                          </a:solidFill>
                          <a:prstDash val="solid"/>
                          <a:round/>
                        </a:ln>
                      </p:spPr>
                      <p:txBody>
                        <a:bodyPr/>
                        <a:lstStyle/>
                        <a:p>
                          <a:endParaRPr lang="zh-CN" altLang="en-US"/>
                        </a:p>
                      </p:txBody>
                    </p:sp>
                    <p:sp>
                      <p:nvSpPr>
                        <p:cNvPr id="346629" name="Freeform 517"/>
                        <p:cNvSpPr/>
                        <p:nvPr/>
                      </p:nvSpPr>
                      <p:spPr bwMode="auto">
                        <a:xfrm>
                          <a:off x="4025" y="2214"/>
                          <a:ext cx="39" cy="85"/>
                        </a:xfrm>
                        <a:custGeom>
                          <a:avLst/>
                          <a:gdLst>
                            <a:gd name="T0" fmla="*/ 34 w 79"/>
                            <a:gd name="T1" fmla="*/ 143 h 171"/>
                            <a:gd name="T2" fmla="*/ 0 w 79"/>
                            <a:gd name="T3" fmla="*/ 90 h 171"/>
                            <a:gd name="T4" fmla="*/ 14 w 79"/>
                            <a:gd name="T5" fmla="*/ 53 h 171"/>
                            <a:gd name="T6" fmla="*/ 43 w 79"/>
                            <a:gd name="T7" fmla="*/ 0 h 171"/>
                            <a:gd name="T8" fmla="*/ 19 w 79"/>
                            <a:gd name="T9" fmla="*/ 92 h 171"/>
                            <a:gd name="T10" fmla="*/ 38 w 79"/>
                            <a:gd name="T11" fmla="*/ 133 h 171"/>
                            <a:gd name="T12" fmla="*/ 79 w 79"/>
                            <a:gd name="T13" fmla="*/ 171 h 171"/>
                            <a:gd name="T14" fmla="*/ 34 w 79"/>
                            <a:gd name="T15" fmla="*/ 143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9" h="171">
                              <a:moveTo>
                                <a:pt x="34" y="143"/>
                              </a:moveTo>
                              <a:lnTo>
                                <a:pt x="0" y="90"/>
                              </a:lnTo>
                              <a:lnTo>
                                <a:pt x="14" y="53"/>
                              </a:lnTo>
                              <a:lnTo>
                                <a:pt x="43" y="0"/>
                              </a:lnTo>
                              <a:lnTo>
                                <a:pt x="19" y="92"/>
                              </a:lnTo>
                              <a:lnTo>
                                <a:pt x="38" y="133"/>
                              </a:lnTo>
                              <a:lnTo>
                                <a:pt x="79" y="171"/>
                              </a:lnTo>
                              <a:lnTo>
                                <a:pt x="34" y="143"/>
                              </a:lnTo>
                              <a:close/>
                            </a:path>
                          </a:pathLst>
                        </a:custGeom>
                        <a:solidFill>
                          <a:srgbClr val="804000"/>
                        </a:solidFill>
                        <a:ln w="9525">
                          <a:solidFill>
                            <a:srgbClr val="000000"/>
                          </a:solidFill>
                          <a:prstDash val="solid"/>
                          <a:round/>
                        </a:ln>
                      </p:spPr>
                      <p:txBody>
                        <a:bodyPr/>
                        <a:lstStyle/>
                        <a:p>
                          <a:endParaRPr lang="zh-CN" altLang="en-US"/>
                        </a:p>
                      </p:txBody>
                    </p:sp>
                    <p:sp>
                      <p:nvSpPr>
                        <p:cNvPr id="346630" name="Freeform 518"/>
                        <p:cNvSpPr/>
                        <p:nvPr/>
                      </p:nvSpPr>
                      <p:spPr bwMode="auto">
                        <a:xfrm>
                          <a:off x="4057" y="2083"/>
                          <a:ext cx="53" cy="86"/>
                        </a:xfrm>
                        <a:custGeom>
                          <a:avLst/>
                          <a:gdLst>
                            <a:gd name="T0" fmla="*/ 107 w 107"/>
                            <a:gd name="T1" fmla="*/ 0 h 171"/>
                            <a:gd name="T2" fmla="*/ 56 w 107"/>
                            <a:gd name="T3" fmla="*/ 42 h 171"/>
                            <a:gd name="T4" fmla="*/ 16 w 107"/>
                            <a:gd name="T5" fmla="*/ 84 h 171"/>
                            <a:gd name="T6" fmla="*/ 9 w 107"/>
                            <a:gd name="T7" fmla="*/ 120 h 171"/>
                            <a:gd name="T8" fmla="*/ 0 w 107"/>
                            <a:gd name="T9" fmla="*/ 171 h 171"/>
                            <a:gd name="T10" fmla="*/ 17 w 107"/>
                            <a:gd name="T11" fmla="*/ 130 h 171"/>
                            <a:gd name="T12" fmla="*/ 33 w 107"/>
                            <a:gd name="T13" fmla="*/ 88 h 171"/>
                            <a:gd name="T14" fmla="*/ 77 w 107"/>
                            <a:gd name="T15" fmla="*/ 37 h 171"/>
                            <a:gd name="T16" fmla="*/ 107 w 107"/>
                            <a:gd name="T17" fmla="*/ 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71">
                              <a:moveTo>
                                <a:pt x="107" y="0"/>
                              </a:moveTo>
                              <a:lnTo>
                                <a:pt x="56" y="42"/>
                              </a:lnTo>
                              <a:lnTo>
                                <a:pt x="16" y="84"/>
                              </a:lnTo>
                              <a:lnTo>
                                <a:pt x="9" y="120"/>
                              </a:lnTo>
                              <a:lnTo>
                                <a:pt x="0" y="171"/>
                              </a:lnTo>
                              <a:lnTo>
                                <a:pt x="17" y="130"/>
                              </a:lnTo>
                              <a:lnTo>
                                <a:pt x="33" y="88"/>
                              </a:lnTo>
                              <a:lnTo>
                                <a:pt x="77" y="37"/>
                              </a:lnTo>
                              <a:lnTo>
                                <a:pt x="107" y="0"/>
                              </a:lnTo>
                              <a:close/>
                            </a:path>
                          </a:pathLst>
                        </a:custGeom>
                        <a:solidFill>
                          <a:srgbClr val="804000"/>
                        </a:solidFill>
                        <a:ln w="9525">
                          <a:solidFill>
                            <a:srgbClr val="000000"/>
                          </a:solidFill>
                          <a:prstDash val="solid"/>
                          <a:round/>
                        </a:ln>
                      </p:spPr>
                      <p:txBody>
                        <a:bodyPr/>
                        <a:lstStyle/>
                        <a:p>
                          <a:endParaRPr lang="zh-CN" altLang="en-US"/>
                        </a:p>
                      </p:txBody>
                    </p:sp>
                    <p:sp>
                      <p:nvSpPr>
                        <p:cNvPr id="346631" name="Freeform 519"/>
                        <p:cNvSpPr/>
                        <p:nvPr/>
                      </p:nvSpPr>
                      <p:spPr bwMode="auto">
                        <a:xfrm>
                          <a:off x="4051" y="2245"/>
                          <a:ext cx="29" cy="54"/>
                        </a:xfrm>
                        <a:custGeom>
                          <a:avLst/>
                          <a:gdLst>
                            <a:gd name="T0" fmla="*/ 24 w 60"/>
                            <a:gd name="T1" fmla="*/ 107 h 107"/>
                            <a:gd name="T2" fmla="*/ 9 w 60"/>
                            <a:gd name="T3" fmla="*/ 72 h 107"/>
                            <a:gd name="T4" fmla="*/ 0 w 60"/>
                            <a:gd name="T5" fmla="*/ 53 h 107"/>
                            <a:gd name="T6" fmla="*/ 17 w 60"/>
                            <a:gd name="T7" fmla="*/ 23 h 107"/>
                            <a:gd name="T8" fmla="*/ 55 w 60"/>
                            <a:gd name="T9" fmla="*/ 0 h 107"/>
                            <a:gd name="T10" fmla="*/ 33 w 60"/>
                            <a:gd name="T11" fmla="*/ 30 h 107"/>
                            <a:gd name="T12" fmla="*/ 21 w 60"/>
                            <a:gd name="T13" fmla="*/ 63 h 107"/>
                            <a:gd name="T14" fmla="*/ 39 w 60"/>
                            <a:gd name="T15" fmla="*/ 72 h 107"/>
                            <a:gd name="T16" fmla="*/ 60 w 60"/>
                            <a:gd name="T17" fmla="*/ 47 h 107"/>
                            <a:gd name="T18" fmla="*/ 50 w 60"/>
                            <a:gd name="T19" fmla="*/ 70 h 107"/>
                            <a:gd name="T20" fmla="*/ 24 w 60"/>
                            <a:gd name="T21"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107">
                              <a:moveTo>
                                <a:pt x="24" y="107"/>
                              </a:moveTo>
                              <a:lnTo>
                                <a:pt x="9" y="72"/>
                              </a:lnTo>
                              <a:lnTo>
                                <a:pt x="0" y="53"/>
                              </a:lnTo>
                              <a:lnTo>
                                <a:pt x="17" y="23"/>
                              </a:lnTo>
                              <a:lnTo>
                                <a:pt x="55" y="0"/>
                              </a:lnTo>
                              <a:lnTo>
                                <a:pt x="33" y="30"/>
                              </a:lnTo>
                              <a:lnTo>
                                <a:pt x="21" y="63"/>
                              </a:lnTo>
                              <a:lnTo>
                                <a:pt x="39" y="72"/>
                              </a:lnTo>
                              <a:lnTo>
                                <a:pt x="60" y="47"/>
                              </a:lnTo>
                              <a:lnTo>
                                <a:pt x="50" y="70"/>
                              </a:lnTo>
                              <a:lnTo>
                                <a:pt x="24" y="107"/>
                              </a:lnTo>
                              <a:close/>
                            </a:path>
                          </a:pathLst>
                        </a:custGeom>
                        <a:solidFill>
                          <a:srgbClr val="804000"/>
                        </a:solidFill>
                        <a:ln w="9525">
                          <a:solidFill>
                            <a:srgbClr val="000000"/>
                          </a:solidFill>
                          <a:prstDash val="solid"/>
                          <a:round/>
                        </a:ln>
                      </p:spPr>
                      <p:txBody>
                        <a:bodyPr/>
                        <a:lstStyle/>
                        <a:p>
                          <a:endParaRPr lang="zh-CN" altLang="en-US"/>
                        </a:p>
                      </p:txBody>
                    </p:sp>
                  </p:grpSp>
                </p:grpSp>
                <p:grpSp>
                  <p:nvGrpSpPr>
                    <p:cNvPr id="346632" name="Group 520"/>
                    <p:cNvGrpSpPr/>
                    <p:nvPr/>
                  </p:nvGrpSpPr>
                  <p:grpSpPr bwMode="auto">
                    <a:xfrm>
                      <a:off x="4389" y="2351"/>
                      <a:ext cx="254" cy="130"/>
                      <a:chOff x="4389" y="2351"/>
                      <a:chExt cx="254" cy="130"/>
                    </a:xfrm>
                  </p:grpSpPr>
                  <p:sp>
                    <p:nvSpPr>
                      <p:cNvPr id="346633" name="Freeform 521"/>
                      <p:cNvSpPr/>
                      <p:nvPr/>
                    </p:nvSpPr>
                    <p:spPr bwMode="auto">
                      <a:xfrm>
                        <a:off x="4389" y="2351"/>
                        <a:ext cx="254" cy="130"/>
                      </a:xfrm>
                      <a:custGeom>
                        <a:avLst/>
                        <a:gdLst>
                          <a:gd name="T0" fmla="*/ 31 w 508"/>
                          <a:gd name="T1" fmla="*/ 64 h 259"/>
                          <a:gd name="T2" fmla="*/ 123 w 508"/>
                          <a:gd name="T3" fmla="*/ 69 h 259"/>
                          <a:gd name="T4" fmla="*/ 187 w 508"/>
                          <a:gd name="T5" fmla="*/ 67 h 259"/>
                          <a:gd name="T6" fmla="*/ 264 w 508"/>
                          <a:gd name="T7" fmla="*/ 32 h 259"/>
                          <a:gd name="T8" fmla="*/ 328 w 508"/>
                          <a:gd name="T9" fmla="*/ 4 h 259"/>
                          <a:gd name="T10" fmla="*/ 386 w 508"/>
                          <a:gd name="T11" fmla="*/ 0 h 259"/>
                          <a:gd name="T12" fmla="*/ 412 w 508"/>
                          <a:gd name="T13" fmla="*/ 25 h 259"/>
                          <a:gd name="T14" fmla="*/ 451 w 508"/>
                          <a:gd name="T15" fmla="*/ 41 h 259"/>
                          <a:gd name="T16" fmla="*/ 496 w 508"/>
                          <a:gd name="T17" fmla="*/ 46 h 259"/>
                          <a:gd name="T18" fmla="*/ 508 w 508"/>
                          <a:gd name="T19" fmla="*/ 69 h 259"/>
                          <a:gd name="T20" fmla="*/ 503 w 508"/>
                          <a:gd name="T21" fmla="*/ 118 h 259"/>
                          <a:gd name="T22" fmla="*/ 493 w 508"/>
                          <a:gd name="T23" fmla="*/ 150 h 259"/>
                          <a:gd name="T24" fmla="*/ 471 w 508"/>
                          <a:gd name="T25" fmla="*/ 176 h 259"/>
                          <a:gd name="T26" fmla="*/ 437 w 508"/>
                          <a:gd name="T27" fmla="*/ 208 h 259"/>
                          <a:gd name="T28" fmla="*/ 422 w 508"/>
                          <a:gd name="T29" fmla="*/ 236 h 259"/>
                          <a:gd name="T30" fmla="*/ 398 w 508"/>
                          <a:gd name="T31" fmla="*/ 257 h 259"/>
                          <a:gd name="T32" fmla="*/ 378 w 508"/>
                          <a:gd name="T33" fmla="*/ 259 h 259"/>
                          <a:gd name="T34" fmla="*/ 349 w 508"/>
                          <a:gd name="T35" fmla="*/ 233 h 259"/>
                          <a:gd name="T36" fmla="*/ 332 w 508"/>
                          <a:gd name="T37" fmla="*/ 243 h 259"/>
                          <a:gd name="T38" fmla="*/ 301 w 508"/>
                          <a:gd name="T39" fmla="*/ 245 h 259"/>
                          <a:gd name="T40" fmla="*/ 281 w 508"/>
                          <a:gd name="T41" fmla="*/ 206 h 259"/>
                          <a:gd name="T42" fmla="*/ 267 w 508"/>
                          <a:gd name="T43" fmla="*/ 212 h 259"/>
                          <a:gd name="T44" fmla="*/ 248 w 508"/>
                          <a:gd name="T45" fmla="*/ 212 h 259"/>
                          <a:gd name="T46" fmla="*/ 237 w 508"/>
                          <a:gd name="T47" fmla="*/ 192 h 259"/>
                          <a:gd name="T48" fmla="*/ 214 w 508"/>
                          <a:gd name="T49" fmla="*/ 206 h 259"/>
                          <a:gd name="T50" fmla="*/ 194 w 508"/>
                          <a:gd name="T51" fmla="*/ 217 h 259"/>
                          <a:gd name="T52" fmla="*/ 167 w 508"/>
                          <a:gd name="T53" fmla="*/ 206 h 259"/>
                          <a:gd name="T54" fmla="*/ 162 w 508"/>
                          <a:gd name="T55" fmla="*/ 187 h 259"/>
                          <a:gd name="T56" fmla="*/ 158 w 508"/>
                          <a:gd name="T57" fmla="*/ 164 h 259"/>
                          <a:gd name="T58" fmla="*/ 118 w 508"/>
                          <a:gd name="T59" fmla="*/ 169 h 259"/>
                          <a:gd name="T60" fmla="*/ 85 w 508"/>
                          <a:gd name="T61" fmla="*/ 176 h 259"/>
                          <a:gd name="T62" fmla="*/ 79 w 508"/>
                          <a:gd name="T63" fmla="*/ 164 h 259"/>
                          <a:gd name="T64" fmla="*/ 51 w 508"/>
                          <a:gd name="T65" fmla="*/ 164 h 259"/>
                          <a:gd name="T66" fmla="*/ 14 w 508"/>
                          <a:gd name="T67" fmla="*/ 136 h 259"/>
                          <a:gd name="T68" fmla="*/ 0 w 508"/>
                          <a:gd name="T69" fmla="*/ 106 h 259"/>
                          <a:gd name="T70" fmla="*/ 7 w 508"/>
                          <a:gd name="T71" fmla="*/ 92 h 259"/>
                          <a:gd name="T72" fmla="*/ 2 w 508"/>
                          <a:gd name="T73" fmla="*/ 67 h 259"/>
                          <a:gd name="T74" fmla="*/ 31 w 508"/>
                          <a:gd name="T75" fmla="*/ 64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08" h="259">
                            <a:moveTo>
                              <a:pt x="31" y="64"/>
                            </a:moveTo>
                            <a:lnTo>
                              <a:pt x="123" y="69"/>
                            </a:lnTo>
                            <a:lnTo>
                              <a:pt x="187" y="67"/>
                            </a:lnTo>
                            <a:lnTo>
                              <a:pt x="264" y="32"/>
                            </a:lnTo>
                            <a:lnTo>
                              <a:pt x="328" y="4"/>
                            </a:lnTo>
                            <a:lnTo>
                              <a:pt x="386" y="0"/>
                            </a:lnTo>
                            <a:lnTo>
                              <a:pt x="412" y="25"/>
                            </a:lnTo>
                            <a:lnTo>
                              <a:pt x="451" y="41"/>
                            </a:lnTo>
                            <a:lnTo>
                              <a:pt x="496" y="46"/>
                            </a:lnTo>
                            <a:lnTo>
                              <a:pt x="508" y="69"/>
                            </a:lnTo>
                            <a:lnTo>
                              <a:pt x="503" y="118"/>
                            </a:lnTo>
                            <a:lnTo>
                              <a:pt x="493" y="150"/>
                            </a:lnTo>
                            <a:lnTo>
                              <a:pt x="471" y="176"/>
                            </a:lnTo>
                            <a:lnTo>
                              <a:pt x="437" y="208"/>
                            </a:lnTo>
                            <a:lnTo>
                              <a:pt x="422" y="236"/>
                            </a:lnTo>
                            <a:lnTo>
                              <a:pt x="398" y="257"/>
                            </a:lnTo>
                            <a:lnTo>
                              <a:pt x="378" y="259"/>
                            </a:lnTo>
                            <a:lnTo>
                              <a:pt x="349" y="233"/>
                            </a:lnTo>
                            <a:lnTo>
                              <a:pt x="332" y="243"/>
                            </a:lnTo>
                            <a:lnTo>
                              <a:pt x="301" y="245"/>
                            </a:lnTo>
                            <a:lnTo>
                              <a:pt x="281" y="206"/>
                            </a:lnTo>
                            <a:lnTo>
                              <a:pt x="267" y="212"/>
                            </a:lnTo>
                            <a:lnTo>
                              <a:pt x="248" y="212"/>
                            </a:lnTo>
                            <a:lnTo>
                              <a:pt x="237" y="192"/>
                            </a:lnTo>
                            <a:lnTo>
                              <a:pt x="214" y="206"/>
                            </a:lnTo>
                            <a:lnTo>
                              <a:pt x="194" y="217"/>
                            </a:lnTo>
                            <a:lnTo>
                              <a:pt x="167" y="206"/>
                            </a:lnTo>
                            <a:lnTo>
                              <a:pt x="162" y="187"/>
                            </a:lnTo>
                            <a:lnTo>
                              <a:pt x="158" y="164"/>
                            </a:lnTo>
                            <a:lnTo>
                              <a:pt x="118" y="169"/>
                            </a:lnTo>
                            <a:lnTo>
                              <a:pt x="85" y="176"/>
                            </a:lnTo>
                            <a:lnTo>
                              <a:pt x="79" y="164"/>
                            </a:lnTo>
                            <a:lnTo>
                              <a:pt x="51" y="164"/>
                            </a:lnTo>
                            <a:lnTo>
                              <a:pt x="14" y="136"/>
                            </a:lnTo>
                            <a:lnTo>
                              <a:pt x="0" y="106"/>
                            </a:lnTo>
                            <a:lnTo>
                              <a:pt x="7" y="92"/>
                            </a:lnTo>
                            <a:lnTo>
                              <a:pt x="2" y="67"/>
                            </a:lnTo>
                            <a:lnTo>
                              <a:pt x="31" y="64"/>
                            </a:lnTo>
                            <a:close/>
                          </a:path>
                        </a:pathLst>
                      </a:custGeom>
                      <a:solidFill>
                        <a:srgbClr val="C08040"/>
                      </a:solidFill>
                      <a:ln w="9525">
                        <a:solidFill>
                          <a:srgbClr val="000000"/>
                        </a:solidFill>
                        <a:prstDash val="solid"/>
                        <a:round/>
                      </a:ln>
                    </p:spPr>
                    <p:txBody>
                      <a:bodyPr/>
                      <a:lstStyle/>
                      <a:p>
                        <a:endParaRPr lang="zh-CN" altLang="en-US"/>
                      </a:p>
                    </p:txBody>
                  </p:sp>
                  <p:grpSp>
                    <p:nvGrpSpPr>
                      <p:cNvPr id="346634" name="Group 522"/>
                      <p:cNvGrpSpPr/>
                      <p:nvPr/>
                    </p:nvGrpSpPr>
                    <p:grpSpPr bwMode="auto">
                      <a:xfrm>
                        <a:off x="4427" y="2371"/>
                        <a:ext cx="190" cy="99"/>
                        <a:chOff x="4427" y="2371"/>
                        <a:chExt cx="190" cy="99"/>
                      </a:xfrm>
                    </p:grpSpPr>
                    <p:sp>
                      <p:nvSpPr>
                        <p:cNvPr id="346635" name="Freeform 523"/>
                        <p:cNvSpPr/>
                        <p:nvPr/>
                      </p:nvSpPr>
                      <p:spPr bwMode="auto">
                        <a:xfrm>
                          <a:off x="4427" y="2404"/>
                          <a:ext cx="59" cy="29"/>
                        </a:xfrm>
                        <a:custGeom>
                          <a:avLst/>
                          <a:gdLst>
                            <a:gd name="T0" fmla="*/ 0 w 117"/>
                            <a:gd name="T1" fmla="*/ 58 h 58"/>
                            <a:gd name="T2" fmla="*/ 59 w 117"/>
                            <a:gd name="T3" fmla="*/ 39 h 58"/>
                            <a:gd name="T4" fmla="*/ 117 w 117"/>
                            <a:gd name="T5" fmla="*/ 0 h 58"/>
                            <a:gd name="T6" fmla="*/ 95 w 117"/>
                            <a:gd name="T7" fmla="*/ 30 h 58"/>
                            <a:gd name="T8" fmla="*/ 70 w 117"/>
                            <a:gd name="T9" fmla="*/ 49 h 58"/>
                            <a:gd name="T10" fmla="*/ 0 w 117"/>
                            <a:gd name="T11" fmla="*/ 58 h 58"/>
                          </a:gdLst>
                          <a:ahLst/>
                          <a:cxnLst>
                            <a:cxn ang="0">
                              <a:pos x="T0" y="T1"/>
                            </a:cxn>
                            <a:cxn ang="0">
                              <a:pos x="T2" y="T3"/>
                            </a:cxn>
                            <a:cxn ang="0">
                              <a:pos x="T4" y="T5"/>
                            </a:cxn>
                            <a:cxn ang="0">
                              <a:pos x="T6" y="T7"/>
                            </a:cxn>
                            <a:cxn ang="0">
                              <a:pos x="T8" y="T9"/>
                            </a:cxn>
                            <a:cxn ang="0">
                              <a:pos x="T10" y="T11"/>
                            </a:cxn>
                          </a:cxnLst>
                          <a:rect l="0" t="0" r="r" b="b"/>
                          <a:pathLst>
                            <a:path w="117" h="58">
                              <a:moveTo>
                                <a:pt x="0" y="58"/>
                              </a:moveTo>
                              <a:lnTo>
                                <a:pt x="59" y="39"/>
                              </a:lnTo>
                              <a:lnTo>
                                <a:pt x="117" y="0"/>
                              </a:lnTo>
                              <a:lnTo>
                                <a:pt x="95" y="30"/>
                              </a:lnTo>
                              <a:lnTo>
                                <a:pt x="70" y="49"/>
                              </a:lnTo>
                              <a:lnTo>
                                <a:pt x="0" y="58"/>
                              </a:lnTo>
                              <a:close/>
                            </a:path>
                          </a:pathLst>
                        </a:custGeom>
                        <a:solidFill>
                          <a:srgbClr val="804000"/>
                        </a:solidFill>
                        <a:ln w="9525">
                          <a:solidFill>
                            <a:srgbClr val="000000"/>
                          </a:solidFill>
                          <a:prstDash val="solid"/>
                          <a:round/>
                        </a:ln>
                      </p:spPr>
                      <p:txBody>
                        <a:bodyPr/>
                        <a:lstStyle/>
                        <a:p>
                          <a:endParaRPr lang="zh-CN" altLang="en-US"/>
                        </a:p>
                      </p:txBody>
                    </p:sp>
                    <p:sp>
                      <p:nvSpPr>
                        <p:cNvPr id="346636" name="Freeform 524"/>
                        <p:cNvSpPr/>
                        <p:nvPr/>
                      </p:nvSpPr>
                      <p:spPr bwMode="auto">
                        <a:xfrm>
                          <a:off x="4504" y="2371"/>
                          <a:ext cx="48" cy="80"/>
                        </a:xfrm>
                        <a:custGeom>
                          <a:avLst/>
                          <a:gdLst>
                            <a:gd name="T0" fmla="*/ 0 w 96"/>
                            <a:gd name="T1" fmla="*/ 158 h 158"/>
                            <a:gd name="T2" fmla="*/ 33 w 96"/>
                            <a:gd name="T3" fmla="*/ 105 h 158"/>
                            <a:gd name="T4" fmla="*/ 96 w 96"/>
                            <a:gd name="T5" fmla="*/ 0 h 158"/>
                            <a:gd name="T6" fmla="*/ 77 w 96"/>
                            <a:gd name="T7" fmla="*/ 63 h 158"/>
                            <a:gd name="T8" fmla="*/ 65 w 96"/>
                            <a:gd name="T9" fmla="*/ 109 h 158"/>
                            <a:gd name="T10" fmla="*/ 0 w 96"/>
                            <a:gd name="T11" fmla="*/ 158 h 158"/>
                          </a:gdLst>
                          <a:ahLst/>
                          <a:cxnLst>
                            <a:cxn ang="0">
                              <a:pos x="T0" y="T1"/>
                            </a:cxn>
                            <a:cxn ang="0">
                              <a:pos x="T2" y="T3"/>
                            </a:cxn>
                            <a:cxn ang="0">
                              <a:pos x="T4" y="T5"/>
                            </a:cxn>
                            <a:cxn ang="0">
                              <a:pos x="T6" y="T7"/>
                            </a:cxn>
                            <a:cxn ang="0">
                              <a:pos x="T8" y="T9"/>
                            </a:cxn>
                            <a:cxn ang="0">
                              <a:pos x="T10" y="T11"/>
                            </a:cxn>
                          </a:cxnLst>
                          <a:rect l="0" t="0" r="r" b="b"/>
                          <a:pathLst>
                            <a:path w="96" h="158">
                              <a:moveTo>
                                <a:pt x="0" y="158"/>
                              </a:moveTo>
                              <a:lnTo>
                                <a:pt x="33" y="105"/>
                              </a:lnTo>
                              <a:lnTo>
                                <a:pt x="96" y="0"/>
                              </a:lnTo>
                              <a:lnTo>
                                <a:pt x="77" y="63"/>
                              </a:lnTo>
                              <a:lnTo>
                                <a:pt x="65" y="109"/>
                              </a:lnTo>
                              <a:lnTo>
                                <a:pt x="0" y="158"/>
                              </a:lnTo>
                              <a:close/>
                            </a:path>
                          </a:pathLst>
                        </a:custGeom>
                        <a:solidFill>
                          <a:srgbClr val="804000"/>
                        </a:solidFill>
                        <a:ln w="9525">
                          <a:solidFill>
                            <a:srgbClr val="000000"/>
                          </a:solidFill>
                          <a:prstDash val="solid"/>
                          <a:round/>
                        </a:ln>
                      </p:spPr>
                      <p:txBody>
                        <a:bodyPr/>
                        <a:lstStyle/>
                        <a:p>
                          <a:endParaRPr lang="zh-CN" altLang="en-US"/>
                        </a:p>
                      </p:txBody>
                    </p:sp>
                    <p:sp>
                      <p:nvSpPr>
                        <p:cNvPr id="346637" name="Freeform 525"/>
                        <p:cNvSpPr/>
                        <p:nvPr/>
                      </p:nvSpPr>
                      <p:spPr bwMode="auto">
                        <a:xfrm>
                          <a:off x="4560" y="2375"/>
                          <a:ext cx="34" cy="95"/>
                        </a:xfrm>
                        <a:custGeom>
                          <a:avLst/>
                          <a:gdLst>
                            <a:gd name="T0" fmla="*/ 0 w 68"/>
                            <a:gd name="T1" fmla="*/ 190 h 190"/>
                            <a:gd name="T2" fmla="*/ 49 w 68"/>
                            <a:gd name="T3" fmla="*/ 148 h 190"/>
                            <a:gd name="T4" fmla="*/ 47 w 68"/>
                            <a:gd name="T5" fmla="*/ 61 h 190"/>
                            <a:gd name="T6" fmla="*/ 13 w 68"/>
                            <a:gd name="T7" fmla="*/ 0 h 190"/>
                            <a:gd name="T8" fmla="*/ 54 w 68"/>
                            <a:gd name="T9" fmla="*/ 58 h 190"/>
                            <a:gd name="T10" fmla="*/ 68 w 68"/>
                            <a:gd name="T11" fmla="*/ 116 h 190"/>
                            <a:gd name="T12" fmla="*/ 64 w 68"/>
                            <a:gd name="T13" fmla="*/ 165 h 190"/>
                            <a:gd name="T14" fmla="*/ 0 w 68"/>
                            <a:gd name="T15" fmla="*/ 190 h 1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90">
                              <a:moveTo>
                                <a:pt x="0" y="190"/>
                              </a:moveTo>
                              <a:lnTo>
                                <a:pt x="49" y="148"/>
                              </a:lnTo>
                              <a:lnTo>
                                <a:pt x="47" y="61"/>
                              </a:lnTo>
                              <a:lnTo>
                                <a:pt x="13" y="0"/>
                              </a:lnTo>
                              <a:lnTo>
                                <a:pt x="54" y="58"/>
                              </a:lnTo>
                              <a:lnTo>
                                <a:pt x="68" y="116"/>
                              </a:lnTo>
                              <a:lnTo>
                                <a:pt x="64" y="165"/>
                              </a:lnTo>
                              <a:lnTo>
                                <a:pt x="0" y="190"/>
                              </a:lnTo>
                              <a:close/>
                            </a:path>
                          </a:pathLst>
                        </a:custGeom>
                        <a:solidFill>
                          <a:srgbClr val="804000"/>
                        </a:solidFill>
                        <a:ln w="9525">
                          <a:solidFill>
                            <a:srgbClr val="000000"/>
                          </a:solidFill>
                          <a:prstDash val="solid"/>
                          <a:round/>
                        </a:ln>
                      </p:spPr>
                      <p:txBody>
                        <a:bodyPr/>
                        <a:lstStyle/>
                        <a:p>
                          <a:endParaRPr lang="zh-CN" altLang="en-US"/>
                        </a:p>
                      </p:txBody>
                    </p:sp>
                    <p:sp>
                      <p:nvSpPr>
                        <p:cNvPr id="346638" name="Freeform 526"/>
                        <p:cNvSpPr/>
                        <p:nvPr/>
                      </p:nvSpPr>
                      <p:spPr bwMode="auto">
                        <a:xfrm>
                          <a:off x="4607" y="2406"/>
                          <a:ext cx="10" cy="36"/>
                        </a:xfrm>
                        <a:custGeom>
                          <a:avLst/>
                          <a:gdLst>
                            <a:gd name="T0" fmla="*/ 0 w 20"/>
                            <a:gd name="T1" fmla="*/ 0 h 73"/>
                            <a:gd name="T2" fmla="*/ 20 w 20"/>
                            <a:gd name="T3" fmla="*/ 48 h 73"/>
                            <a:gd name="T4" fmla="*/ 14 w 20"/>
                            <a:gd name="T5" fmla="*/ 73 h 73"/>
                          </a:gdLst>
                          <a:ahLst/>
                          <a:cxnLst>
                            <a:cxn ang="0">
                              <a:pos x="T0" y="T1"/>
                            </a:cxn>
                            <a:cxn ang="0">
                              <a:pos x="T2" y="T3"/>
                            </a:cxn>
                            <a:cxn ang="0">
                              <a:pos x="T4" y="T5"/>
                            </a:cxn>
                          </a:cxnLst>
                          <a:rect l="0" t="0" r="r" b="b"/>
                          <a:pathLst>
                            <a:path w="20" h="73">
                              <a:moveTo>
                                <a:pt x="0" y="0"/>
                              </a:moveTo>
                              <a:lnTo>
                                <a:pt x="20" y="48"/>
                              </a:lnTo>
                              <a:lnTo>
                                <a:pt x="14" y="73"/>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grpSp>
                <p:nvGrpSpPr>
                  <p:cNvPr id="346639" name="Group 527"/>
                  <p:cNvGrpSpPr/>
                  <p:nvPr/>
                </p:nvGrpSpPr>
                <p:grpSpPr bwMode="auto">
                  <a:xfrm>
                    <a:off x="4462" y="2131"/>
                    <a:ext cx="302" cy="270"/>
                    <a:chOff x="4462" y="2131"/>
                    <a:chExt cx="302" cy="270"/>
                  </a:xfrm>
                </p:grpSpPr>
                <p:sp>
                  <p:nvSpPr>
                    <p:cNvPr id="346640" name="Freeform 528"/>
                    <p:cNvSpPr/>
                    <p:nvPr/>
                  </p:nvSpPr>
                  <p:spPr bwMode="auto">
                    <a:xfrm>
                      <a:off x="4595" y="2229"/>
                      <a:ext cx="145" cy="139"/>
                    </a:xfrm>
                    <a:custGeom>
                      <a:avLst/>
                      <a:gdLst>
                        <a:gd name="T0" fmla="*/ 21 w 289"/>
                        <a:gd name="T1" fmla="*/ 111 h 279"/>
                        <a:gd name="T2" fmla="*/ 55 w 289"/>
                        <a:gd name="T3" fmla="*/ 57 h 279"/>
                        <a:gd name="T4" fmla="*/ 75 w 289"/>
                        <a:gd name="T5" fmla="*/ 37 h 279"/>
                        <a:gd name="T6" fmla="*/ 121 w 289"/>
                        <a:gd name="T7" fmla="*/ 13 h 279"/>
                        <a:gd name="T8" fmla="*/ 172 w 289"/>
                        <a:gd name="T9" fmla="*/ 0 h 279"/>
                        <a:gd name="T10" fmla="*/ 218 w 289"/>
                        <a:gd name="T11" fmla="*/ 0 h 279"/>
                        <a:gd name="T12" fmla="*/ 247 w 289"/>
                        <a:gd name="T13" fmla="*/ 9 h 279"/>
                        <a:gd name="T14" fmla="*/ 272 w 289"/>
                        <a:gd name="T15" fmla="*/ 43 h 279"/>
                        <a:gd name="T16" fmla="*/ 289 w 289"/>
                        <a:gd name="T17" fmla="*/ 90 h 279"/>
                        <a:gd name="T18" fmla="*/ 284 w 289"/>
                        <a:gd name="T19" fmla="*/ 140 h 279"/>
                        <a:gd name="T20" fmla="*/ 258 w 289"/>
                        <a:gd name="T21" fmla="*/ 184 h 279"/>
                        <a:gd name="T22" fmla="*/ 240 w 289"/>
                        <a:gd name="T23" fmla="*/ 217 h 279"/>
                        <a:gd name="T24" fmla="*/ 187 w 289"/>
                        <a:gd name="T25" fmla="*/ 249 h 279"/>
                        <a:gd name="T26" fmla="*/ 121 w 289"/>
                        <a:gd name="T27" fmla="*/ 265 h 279"/>
                        <a:gd name="T28" fmla="*/ 63 w 289"/>
                        <a:gd name="T29" fmla="*/ 279 h 279"/>
                        <a:gd name="T30" fmla="*/ 24 w 289"/>
                        <a:gd name="T31" fmla="*/ 265 h 279"/>
                        <a:gd name="T32" fmla="*/ 4 w 289"/>
                        <a:gd name="T33" fmla="*/ 238 h 279"/>
                        <a:gd name="T34" fmla="*/ 0 w 289"/>
                        <a:gd name="T35" fmla="*/ 192 h 279"/>
                        <a:gd name="T36" fmla="*/ 21 w 289"/>
                        <a:gd name="T37" fmla="*/ 111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9" h="279">
                          <a:moveTo>
                            <a:pt x="21" y="111"/>
                          </a:moveTo>
                          <a:lnTo>
                            <a:pt x="55" y="57"/>
                          </a:lnTo>
                          <a:lnTo>
                            <a:pt x="75" y="37"/>
                          </a:lnTo>
                          <a:lnTo>
                            <a:pt x="121" y="13"/>
                          </a:lnTo>
                          <a:lnTo>
                            <a:pt x="172" y="0"/>
                          </a:lnTo>
                          <a:lnTo>
                            <a:pt x="218" y="0"/>
                          </a:lnTo>
                          <a:lnTo>
                            <a:pt x="247" y="9"/>
                          </a:lnTo>
                          <a:lnTo>
                            <a:pt x="272" y="43"/>
                          </a:lnTo>
                          <a:lnTo>
                            <a:pt x="289" y="90"/>
                          </a:lnTo>
                          <a:lnTo>
                            <a:pt x="284" y="140"/>
                          </a:lnTo>
                          <a:lnTo>
                            <a:pt x="258" y="184"/>
                          </a:lnTo>
                          <a:lnTo>
                            <a:pt x="240" y="217"/>
                          </a:lnTo>
                          <a:lnTo>
                            <a:pt x="187" y="249"/>
                          </a:lnTo>
                          <a:lnTo>
                            <a:pt x="121" y="265"/>
                          </a:lnTo>
                          <a:lnTo>
                            <a:pt x="63" y="279"/>
                          </a:lnTo>
                          <a:lnTo>
                            <a:pt x="24" y="265"/>
                          </a:lnTo>
                          <a:lnTo>
                            <a:pt x="4" y="238"/>
                          </a:lnTo>
                          <a:lnTo>
                            <a:pt x="0" y="192"/>
                          </a:lnTo>
                          <a:lnTo>
                            <a:pt x="21" y="111"/>
                          </a:lnTo>
                          <a:close/>
                        </a:path>
                      </a:pathLst>
                    </a:custGeom>
                    <a:solidFill>
                      <a:srgbClr val="F0F0FF"/>
                    </a:solidFill>
                    <a:ln w="9525">
                      <a:solidFill>
                        <a:srgbClr val="000000"/>
                      </a:solidFill>
                      <a:prstDash val="solid"/>
                      <a:round/>
                    </a:ln>
                  </p:spPr>
                  <p:txBody>
                    <a:bodyPr/>
                    <a:lstStyle/>
                    <a:p>
                      <a:endParaRPr lang="zh-CN" altLang="en-US"/>
                    </a:p>
                  </p:txBody>
                </p:sp>
                <p:sp>
                  <p:nvSpPr>
                    <p:cNvPr id="346641" name="Freeform 529"/>
                    <p:cNvSpPr/>
                    <p:nvPr/>
                  </p:nvSpPr>
                  <p:spPr bwMode="auto">
                    <a:xfrm>
                      <a:off x="4657" y="2186"/>
                      <a:ext cx="107" cy="86"/>
                    </a:xfrm>
                    <a:custGeom>
                      <a:avLst/>
                      <a:gdLst>
                        <a:gd name="T0" fmla="*/ 27 w 214"/>
                        <a:gd name="T1" fmla="*/ 0 h 173"/>
                        <a:gd name="T2" fmla="*/ 206 w 214"/>
                        <a:gd name="T3" fmla="*/ 102 h 173"/>
                        <a:gd name="T4" fmla="*/ 213 w 214"/>
                        <a:gd name="T5" fmla="*/ 116 h 173"/>
                        <a:gd name="T6" fmla="*/ 214 w 214"/>
                        <a:gd name="T7" fmla="*/ 137 h 173"/>
                        <a:gd name="T8" fmla="*/ 211 w 214"/>
                        <a:gd name="T9" fmla="*/ 153 h 173"/>
                        <a:gd name="T10" fmla="*/ 206 w 214"/>
                        <a:gd name="T11" fmla="*/ 167 h 173"/>
                        <a:gd name="T12" fmla="*/ 197 w 214"/>
                        <a:gd name="T13" fmla="*/ 173 h 173"/>
                        <a:gd name="T14" fmla="*/ 180 w 214"/>
                        <a:gd name="T15" fmla="*/ 173 h 173"/>
                        <a:gd name="T16" fmla="*/ 17 w 214"/>
                        <a:gd name="T17" fmla="*/ 76 h 173"/>
                        <a:gd name="T18" fmla="*/ 4 w 214"/>
                        <a:gd name="T19" fmla="*/ 62 h 173"/>
                        <a:gd name="T20" fmla="*/ 0 w 214"/>
                        <a:gd name="T21" fmla="*/ 42 h 173"/>
                        <a:gd name="T22" fmla="*/ 4 w 214"/>
                        <a:gd name="T23" fmla="*/ 21 h 173"/>
                        <a:gd name="T24" fmla="*/ 10 w 214"/>
                        <a:gd name="T25" fmla="*/ 11 h 173"/>
                        <a:gd name="T26" fmla="*/ 19 w 214"/>
                        <a:gd name="T27" fmla="*/ 2 h 173"/>
                        <a:gd name="T28" fmla="*/ 27 w 214"/>
                        <a:gd name="T29" fmla="*/ 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4" h="173">
                          <a:moveTo>
                            <a:pt x="27" y="0"/>
                          </a:moveTo>
                          <a:lnTo>
                            <a:pt x="206" y="102"/>
                          </a:lnTo>
                          <a:lnTo>
                            <a:pt x="213" y="116"/>
                          </a:lnTo>
                          <a:lnTo>
                            <a:pt x="214" y="137"/>
                          </a:lnTo>
                          <a:lnTo>
                            <a:pt x="211" y="153"/>
                          </a:lnTo>
                          <a:lnTo>
                            <a:pt x="206" y="167"/>
                          </a:lnTo>
                          <a:lnTo>
                            <a:pt x="197" y="173"/>
                          </a:lnTo>
                          <a:lnTo>
                            <a:pt x="180" y="173"/>
                          </a:lnTo>
                          <a:lnTo>
                            <a:pt x="17" y="76"/>
                          </a:lnTo>
                          <a:lnTo>
                            <a:pt x="4" y="62"/>
                          </a:lnTo>
                          <a:lnTo>
                            <a:pt x="0" y="42"/>
                          </a:lnTo>
                          <a:lnTo>
                            <a:pt x="4" y="21"/>
                          </a:lnTo>
                          <a:lnTo>
                            <a:pt x="10" y="11"/>
                          </a:lnTo>
                          <a:lnTo>
                            <a:pt x="19" y="2"/>
                          </a:lnTo>
                          <a:lnTo>
                            <a:pt x="27" y="0"/>
                          </a:lnTo>
                          <a:close/>
                        </a:path>
                      </a:pathLst>
                    </a:custGeom>
                    <a:solidFill>
                      <a:srgbClr val="C08040"/>
                    </a:solidFill>
                    <a:ln w="9525">
                      <a:solidFill>
                        <a:srgbClr val="000000"/>
                      </a:solidFill>
                      <a:prstDash val="solid"/>
                      <a:round/>
                    </a:ln>
                  </p:spPr>
                  <p:txBody>
                    <a:bodyPr/>
                    <a:lstStyle/>
                    <a:p>
                      <a:endParaRPr lang="zh-CN" altLang="en-US"/>
                    </a:p>
                  </p:txBody>
                </p:sp>
                <p:sp>
                  <p:nvSpPr>
                    <p:cNvPr id="346642" name="Freeform 530"/>
                    <p:cNvSpPr/>
                    <p:nvPr/>
                  </p:nvSpPr>
                  <p:spPr bwMode="auto">
                    <a:xfrm>
                      <a:off x="4560" y="2191"/>
                      <a:ext cx="196" cy="210"/>
                    </a:xfrm>
                    <a:custGeom>
                      <a:avLst/>
                      <a:gdLst>
                        <a:gd name="T0" fmla="*/ 120 w 390"/>
                        <a:gd name="T1" fmla="*/ 0 h 421"/>
                        <a:gd name="T2" fmla="*/ 234 w 390"/>
                        <a:gd name="T3" fmla="*/ 97 h 421"/>
                        <a:gd name="T4" fmla="*/ 282 w 390"/>
                        <a:gd name="T5" fmla="*/ 141 h 421"/>
                        <a:gd name="T6" fmla="*/ 329 w 390"/>
                        <a:gd name="T7" fmla="*/ 192 h 421"/>
                        <a:gd name="T8" fmla="*/ 358 w 390"/>
                        <a:gd name="T9" fmla="*/ 232 h 421"/>
                        <a:gd name="T10" fmla="*/ 383 w 390"/>
                        <a:gd name="T11" fmla="*/ 273 h 421"/>
                        <a:gd name="T12" fmla="*/ 390 w 390"/>
                        <a:gd name="T13" fmla="*/ 320 h 421"/>
                        <a:gd name="T14" fmla="*/ 385 w 390"/>
                        <a:gd name="T15" fmla="*/ 370 h 421"/>
                        <a:gd name="T16" fmla="*/ 365 w 390"/>
                        <a:gd name="T17" fmla="*/ 399 h 421"/>
                        <a:gd name="T18" fmla="*/ 329 w 390"/>
                        <a:gd name="T19" fmla="*/ 421 h 421"/>
                        <a:gd name="T20" fmla="*/ 242 w 390"/>
                        <a:gd name="T21" fmla="*/ 421 h 421"/>
                        <a:gd name="T22" fmla="*/ 181 w 390"/>
                        <a:gd name="T23" fmla="*/ 412 h 421"/>
                        <a:gd name="T24" fmla="*/ 90 w 390"/>
                        <a:gd name="T25" fmla="*/ 385 h 421"/>
                        <a:gd name="T26" fmla="*/ 73 w 390"/>
                        <a:gd name="T27" fmla="*/ 357 h 421"/>
                        <a:gd name="T28" fmla="*/ 45 w 390"/>
                        <a:gd name="T29" fmla="*/ 320 h 421"/>
                        <a:gd name="T30" fmla="*/ 0 w 390"/>
                        <a:gd name="T31" fmla="*/ 301 h 421"/>
                        <a:gd name="T32" fmla="*/ 40 w 390"/>
                        <a:gd name="T33" fmla="*/ 239 h 421"/>
                        <a:gd name="T34" fmla="*/ 40 w 390"/>
                        <a:gd name="T35" fmla="*/ 97 h 421"/>
                        <a:gd name="T36" fmla="*/ 120 w 390"/>
                        <a:gd name="T37" fmla="*/ 0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0" h="421">
                          <a:moveTo>
                            <a:pt x="120" y="0"/>
                          </a:moveTo>
                          <a:lnTo>
                            <a:pt x="234" y="97"/>
                          </a:lnTo>
                          <a:lnTo>
                            <a:pt x="282" y="141"/>
                          </a:lnTo>
                          <a:lnTo>
                            <a:pt x="329" y="192"/>
                          </a:lnTo>
                          <a:lnTo>
                            <a:pt x="358" y="232"/>
                          </a:lnTo>
                          <a:lnTo>
                            <a:pt x="383" y="273"/>
                          </a:lnTo>
                          <a:lnTo>
                            <a:pt x="390" y="320"/>
                          </a:lnTo>
                          <a:lnTo>
                            <a:pt x="385" y="370"/>
                          </a:lnTo>
                          <a:lnTo>
                            <a:pt x="365" y="399"/>
                          </a:lnTo>
                          <a:lnTo>
                            <a:pt x="329" y="421"/>
                          </a:lnTo>
                          <a:lnTo>
                            <a:pt x="242" y="421"/>
                          </a:lnTo>
                          <a:lnTo>
                            <a:pt x="181" y="412"/>
                          </a:lnTo>
                          <a:lnTo>
                            <a:pt x="90" y="385"/>
                          </a:lnTo>
                          <a:lnTo>
                            <a:pt x="73" y="357"/>
                          </a:lnTo>
                          <a:lnTo>
                            <a:pt x="45" y="320"/>
                          </a:lnTo>
                          <a:lnTo>
                            <a:pt x="0" y="301"/>
                          </a:lnTo>
                          <a:lnTo>
                            <a:pt x="40" y="239"/>
                          </a:lnTo>
                          <a:lnTo>
                            <a:pt x="40" y="97"/>
                          </a:lnTo>
                          <a:lnTo>
                            <a:pt x="120" y="0"/>
                          </a:lnTo>
                          <a:close/>
                        </a:path>
                      </a:pathLst>
                    </a:custGeom>
                    <a:solidFill>
                      <a:srgbClr val="E0A080"/>
                    </a:solidFill>
                    <a:ln w="9525">
                      <a:solidFill>
                        <a:srgbClr val="000000"/>
                      </a:solidFill>
                      <a:prstDash val="solid"/>
                      <a:round/>
                    </a:ln>
                  </p:spPr>
                  <p:txBody>
                    <a:bodyPr/>
                    <a:lstStyle/>
                    <a:p>
                      <a:endParaRPr lang="zh-CN" altLang="en-US"/>
                    </a:p>
                  </p:txBody>
                </p:sp>
                <p:grpSp>
                  <p:nvGrpSpPr>
                    <p:cNvPr id="346643" name="Group 531"/>
                    <p:cNvGrpSpPr/>
                    <p:nvPr/>
                  </p:nvGrpSpPr>
                  <p:grpSpPr bwMode="auto">
                    <a:xfrm>
                      <a:off x="4462" y="2131"/>
                      <a:ext cx="183" cy="184"/>
                      <a:chOff x="4462" y="2131"/>
                      <a:chExt cx="183" cy="184"/>
                    </a:xfrm>
                  </p:grpSpPr>
                  <p:sp>
                    <p:nvSpPr>
                      <p:cNvPr id="346644" name="Freeform 532"/>
                      <p:cNvSpPr/>
                      <p:nvPr/>
                    </p:nvSpPr>
                    <p:spPr bwMode="auto">
                      <a:xfrm>
                        <a:off x="4462" y="2176"/>
                        <a:ext cx="145" cy="139"/>
                      </a:xfrm>
                      <a:custGeom>
                        <a:avLst/>
                        <a:gdLst>
                          <a:gd name="T0" fmla="*/ 20 w 290"/>
                          <a:gd name="T1" fmla="*/ 112 h 278"/>
                          <a:gd name="T2" fmla="*/ 54 w 290"/>
                          <a:gd name="T3" fmla="*/ 58 h 278"/>
                          <a:gd name="T4" fmla="*/ 74 w 290"/>
                          <a:gd name="T5" fmla="*/ 35 h 278"/>
                          <a:gd name="T6" fmla="*/ 120 w 290"/>
                          <a:gd name="T7" fmla="*/ 10 h 278"/>
                          <a:gd name="T8" fmla="*/ 174 w 290"/>
                          <a:gd name="T9" fmla="*/ 0 h 278"/>
                          <a:gd name="T10" fmla="*/ 220 w 290"/>
                          <a:gd name="T11" fmla="*/ 0 h 278"/>
                          <a:gd name="T12" fmla="*/ 249 w 290"/>
                          <a:gd name="T13" fmla="*/ 8 h 278"/>
                          <a:gd name="T14" fmla="*/ 276 w 290"/>
                          <a:gd name="T15" fmla="*/ 42 h 278"/>
                          <a:gd name="T16" fmla="*/ 290 w 290"/>
                          <a:gd name="T17" fmla="*/ 90 h 278"/>
                          <a:gd name="T18" fmla="*/ 287 w 290"/>
                          <a:gd name="T19" fmla="*/ 142 h 278"/>
                          <a:gd name="T20" fmla="*/ 261 w 290"/>
                          <a:gd name="T21" fmla="*/ 186 h 278"/>
                          <a:gd name="T22" fmla="*/ 241 w 290"/>
                          <a:gd name="T23" fmla="*/ 216 h 278"/>
                          <a:gd name="T24" fmla="*/ 188 w 290"/>
                          <a:gd name="T25" fmla="*/ 246 h 278"/>
                          <a:gd name="T26" fmla="*/ 120 w 290"/>
                          <a:gd name="T27" fmla="*/ 264 h 278"/>
                          <a:gd name="T28" fmla="*/ 66 w 290"/>
                          <a:gd name="T29" fmla="*/ 278 h 278"/>
                          <a:gd name="T30" fmla="*/ 27 w 290"/>
                          <a:gd name="T31" fmla="*/ 264 h 278"/>
                          <a:gd name="T32" fmla="*/ 6 w 290"/>
                          <a:gd name="T33" fmla="*/ 237 h 278"/>
                          <a:gd name="T34" fmla="*/ 0 w 290"/>
                          <a:gd name="T35" fmla="*/ 193 h 278"/>
                          <a:gd name="T36" fmla="*/ 20 w 290"/>
                          <a:gd name="T37" fmla="*/ 112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0" h="278">
                            <a:moveTo>
                              <a:pt x="20" y="112"/>
                            </a:moveTo>
                            <a:lnTo>
                              <a:pt x="54" y="58"/>
                            </a:lnTo>
                            <a:lnTo>
                              <a:pt x="74" y="35"/>
                            </a:lnTo>
                            <a:lnTo>
                              <a:pt x="120" y="10"/>
                            </a:lnTo>
                            <a:lnTo>
                              <a:pt x="174" y="0"/>
                            </a:lnTo>
                            <a:lnTo>
                              <a:pt x="220" y="0"/>
                            </a:lnTo>
                            <a:lnTo>
                              <a:pt x="249" y="8"/>
                            </a:lnTo>
                            <a:lnTo>
                              <a:pt x="276" y="42"/>
                            </a:lnTo>
                            <a:lnTo>
                              <a:pt x="290" y="90"/>
                            </a:lnTo>
                            <a:lnTo>
                              <a:pt x="287" y="142"/>
                            </a:lnTo>
                            <a:lnTo>
                              <a:pt x="261" y="186"/>
                            </a:lnTo>
                            <a:lnTo>
                              <a:pt x="241" y="216"/>
                            </a:lnTo>
                            <a:lnTo>
                              <a:pt x="188" y="246"/>
                            </a:lnTo>
                            <a:lnTo>
                              <a:pt x="120" y="264"/>
                            </a:lnTo>
                            <a:lnTo>
                              <a:pt x="66" y="278"/>
                            </a:lnTo>
                            <a:lnTo>
                              <a:pt x="27" y="264"/>
                            </a:lnTo>
                            <a:lnTo>
                              <a:pt x="6" y="237"/>
                            </a:lnTo>
                            <a:lnTo>
                              <a:pt x="0" y="193"/>
                            </a:lnTo>
                            <a:lnTo>
                              <a:pt x="20" y="112"/>
                            </a:lnTo>
                            <a:close/>
                          </a:path>
                        </a:pathLst>
                      </a:custGeom>
                      <a:solidFill>
                        <a:srgbClr val="F0F0FF"/>
                      </a:solidFill>
                      <a:ln w="9525">
                        <a:solidFill>
                          <a:srgbClr val="000000"/>
                        </a:solidFill>
                        <a:prstDash val="solid"/>
                        <a:round/>
                      </a:ln>
                    </p:spPr>
                    <p:txBody>
                      <a:bodyPr/>
                      <a:lstStyle/>
                      <a:p>
                        <a:endParaRPr lang="zh-CN" altLang="en-US"/>
                      </a:p>
                    </p:txBody>
                  </p:sp>
                  <p:sp>
                    <p:nvSpPr>
                      <p:cNvPr id="346645" name="Oval 533"/>
                      <p:cNvSpPr>
                        <a:spLocks noChangeArrowheads="1"/>
                      </p:cNvSpPr>
                      <p:nvPr/>
                    </p:nvSpPr>
                    <p:spPr bwMode="auto">
                      <a:xfrm>
                        <a:off x="4479" y="2275"/>
                        <a:ext cx="40" cy="40"/>
                      </a:xfrm>
                      <a:prstGeom prst="ellipse">
                        <a:avLst/>
                      </a:prstGeom>
                      <a:solidFill>
                        <a:srgbClr val="008080"/>
                      </a:solidFill>
                      <a:ln w="9525">
                        <a:solidFill>
                          <a:srgbClr val="000000"/>
                        </a:solidFill>
                        <a:round/>
                      </a:ln>
                    </p:spPr>
                    <p:txBody>
                      <a:bodyPr/>
                      <a:lstStyle/>
                      <a:p>
                        <a:endParaRPr lang="zh-CN" altLang="en-US"/>
                      </a:p>
                    </p:txBody>
                  </p:sp>
                  <p:sp>
                    <p:nvSpPr>
                      <p:cNvPr id="346646" name="Freeform 534"/>
                      <p:cNvSpPr/>
                      <p:nvPr/>
                    </p:nvSpPr>
                    <p:spPr bwMode="auto">
                      <a:xfrm>
                        <a:off x="4495" y="2131"/>
                        <a:ext cx="150" cy="91"/>
                      </a:xfrm>
                      <a:custGeom>
                        <a:avLst/>
                        <a:gdLst>
                          <a:gd name="T0" fmla="*/ 42 w 300"/>
                          <a:gd name="T1" fmla="*/ 0 h 181"/>
                          <a:gd name="T2" fmla="*/ 289 w 300"/>
                          <a:gd name="T3" fmla="*/ 107 h 181"/>
                          <a:gd name="T4" fmla="*/ 297 w 300"/>
                          <a:gd name="T5" fmla="*/ 121 h 181"/>
                          <a:gd name="T6" fmla="*/ 300 w 300"/>
                          <a:gd name="T7" fmla="*/ 144 h 181"/>
                          <a:gd name="T8" fmla="*/ 295 w 300"/>
                          <a:gd name="T9" fmla="*/ 160 h 181"/>
                          <a:gd name="T10" fmla="*/ 287 w 300"/>
                          <a:gd name="T11" fmla="*/ 174 h 181"/>
                          <a:gd name="T12" fmla="*/ 275 w 300"/>
                          <a:gd name="T13" fmla="*/ 180 h 181"/>
                          <a:gd name="T14" fmla="*/ 253 w 300"/>
                          <a:gd name="T15" fmla="*/ 181 h 181"/>
                          <a:gd name="T16" fmla="*/ 24 w 300"/>
                          <a:gd name="T17" fmla="*/ 79 h 181"/>
                          <a:gd name="T18" fmla="*/ 5 w 300"/>
                          <a:gd name="T19" fmla="*/ 65 h 181"/>
                          <a:gd name="T20" fmla="*/ 0 w 300"/>
                          <a:gd name="T21" fmla="*/ 44 h 181"/>
                          <a:gd name="T22" fmla="*/ 5 w 300"/>
                          <a:gd name="T23" fmla="*/ 23 h 181"/>
                          <a:gd name="T24" fmla="*/ 13 w 300"/>
                          <a:gd name="T25" fmla="*/ 12 h 181"/>
                          <a:gd name="T26" fmla="*/ 25 w 300"/>
                          <a:gd name="T27" fmla="*/ 3 h 181"/>
                          <a:gd name="T28" fmla="*/ 42 w 300"/>
                          <a:gd name="T2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0" h="181">
                            <a:moveTo>
                              <a:pt x="42" y="0"/>
                            </a:moveTo>
                            <a:lnTo>
                              <a:pt x="289" y="107"/>
                            </a:lnTo>
                            <a:lnTo>
                              <a:pt x="297" y="121"/>
                            </a:lnTo>
                            <a:lnTo>
                              <a:pt x="300" y="144"/>
                            </a:lnTo>
                            <a:lnTo>
                              <a:pt x="295" y="160"/>
                            </a:lnTo>
                            <a:lnTo>
                              <a:pt x="287" y="174"/>
                            </a:lnTo>
                            <a:lnTo>
                              <a:pt x="275" y="180"/>
                            </a:lnTo>
                            <a:lnTo>
                              <a:pt x="253" y="181"/>
                            </a:lnTo>
                            <a:lnTo>
                              <a:pt x="24" y="79"/>
                            </a:lnTo>
                            <a:lnTo>
                              <a:pt x="5" y="65"/>
                            </a:lnTo>
                            <a:lnTo>
                              <a:pt x="0" y="44"/>
                            </a:lnTo>
                            <a:lnTo>
                              <a:pt x="5" y="23"/>
                            </a:lnTo>
                            <a:lnTo>
                              <a:pt x="13" y="12"/>
                            </a:lnTo>
                            <a:lnTo>
                              <a:pt x="25" y="3"/>
                            </a:lnTo>
                            <a:lnTo>
                              <a:pt x="42" y="0"/>
                            </a:lnTo>
                            <a:close/>
                          </a:path>
                        </a:pathLst>
                      </a:custGeom>
                      <a:solidFill>
                        <a:srgbClr val="C08040"/>
                      </a:solidFill>
                      <a:ln w="9525">
                        <a:solidFill>
                          <a:srgbClr val="000000"/>
                        </a:solidFill>
                        <a:prstDash val="solid"/>
                        <a:round/>
                      </a:ln>
                    </p:spPr>
                    <p:txBody>
                      <a:bodyPr/>
                      <a:lstStyle/>
                      <a:p>
                        <a:endParaRPr lang="zh-CN" altLang="en-US"/>
                      </a:p>
                    </p:txBody>
                  </p:sp>
                </p:grpSp>
              </p:grpSp>
              <p:grpSp>
                <p:nvGrpSpPr>
                  <p:cNvPr id="346647" name="Group 535"/>
                  <p:cNvGrpSpPr/>
                  <p:nvPr/>
                </p:nvGrpSpPr>
                <p:grpSpPr bwMode="auto">
                  <a:xfrm>
                    <a:off x="4078" y="2267"/>
                    <a:ext cx="145" cy="174"/>
                    <a:chOff x="4078" y="2267"/>
                    <a:chExt cx="145" cy="174"/>
                  </a:xfrm>
                </p:grpSpPr>
                <p:sp>
                  <p:nvSpPr>
                    <p:cNvPr id="346648" name="Freeform 536"/>
                    <p:cNvSpPr/>
                    <p:nvPr/>
                  </p:nvSpPr>
                  <p:spPr bwMode="auto">
                    <a:xfrm>
                      <a:off x="4078" y="2267"/>
                      <a:ext cx="128" cy="170"/>
                    </a:xfrm>
                    <a:custGeom>
                      <a:avLst/>
                      <a:gdLst>
                        <a:gd name="T0" fmla="*/ 209 w 256"/>
                        <a:gd name="T1" fmla="*/ 53 h 340"/>
                        <a:gd name="T2" fmla="*/ 168 w 256"/>
                        <a:gd name="T3" fmla="*/ 9 h 340"/>
                        <a:gd name="T4" fmla="*/ 139 w 256"/>
                        <a:gd name="T5" fmla="*/ 2 h 340"/>
                        <a:gd name="T6" fmla="*/ 90 w 256"/>
                        <a:gd name="T7" fmla="*/ 0 h 340"/>
                        <a:gd name="T8" fmla="*/ 47 w 256"/>
                        <a:gd name="T9" fmla="*/ 25 h 340"/>
                        <a:gd name="T10" fmla="*/ 24 w 256"/>
                        <a:gd name="T11" fmla="*/ 53 h 340"/>
                        <a:gd name="T12" fmla="*/ 7 w 256"/>
                        <a:gd name="T13" fmla="*/ 86 h 340"/>
                        <a:gd name="T14" fmla="*/ 0 w 256"/>
                        <a:gd name="T15" fmla="*/ 125 h 340"/>
                        <a:gd name="T16" fmla="*/ 1 w 256"/>
                        <a:gd name="T17" fmla="*/ 169 h 340"/>
                        <a:gd name="T18" fmla="*/ 15 w 256"/>
                        <a:gd name="T19" fmla="*/ 219 h 340"/>
                        <a:gd name="T20" fmla="*/ 44 w 256"/>
                        <a:gd name="T21" fmla="*/ 257 h 340"/>
                        <a:gd name="T22" fmla="*/ 74 w 256"/>
                        <a:gd name="T23" fmla="*/ 278 h 340"/>
                        <a:gd name="T24" fmla="*/ 114 w 256"/>
                        <a:gd name="T25" fmla="*/ 294 h 340"/>
                        <a:gd name="T26" fmla="*/ 134 w 256"/>
                        <a:gd name="T27" fmla="*/ 326 h 340"/>
                        <a:gd name="T28" fmla="*/ 154 w 256"/>
                        <a:gd name="T29" fmla="*/ 337 h 340"/>
                        <a:gd name="T30" fmla="*/ 178 w 256"/>
                        <a:gd name="T31" fmla="*/ 340 h 340"/>
                        <a:gd name="T32" fmla="*/ 207 w 256"/>
                        <a:gd name="T33" fmla="*/ 333 h 340"/>
                        <a:gd name="T34" fmla="*/ 236 w 256"/>
                        <a:gd name="T35" fmla="*/ 314 h 340"/>
                        <a:gd name="T36" fmla="*/ 249 w 256"/>
                        <a:gd name="T37" fmla="*/ 285 h 340"/>
                        <a:gd name="T38" fmla="*/ 256 w 256"/>
                        <a:gd name="T39" fmla="*/ 243 h 340"/>
                        <a:gd name="T40" fmla="*/ 241 w 256"/>
                        <a:gd name="T41" fmla="*/ 203 h 340"/>
                        <a:gd name="T42" fmla="*/ 239 w 256"/>
                        <a:gd name="T43" fmla="*/ 160 h 340"/>
                        <a:gd name="T44" fmla="*/ 227 w 256"/>
                        <a:gd name="T45" fmla="*/ 102 h 340"/>
                        <a:gd name="T46" fmla="*/ 209 w 256"/>
                        <a:gd name="T47" fmla="*/ 53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6" h="340">
                          <a:moveTo>
                            <a:pt x="209" y="53"/>
                          </a:moveTo>
                          <a:lnTo>
                            <a:pt x="168" y="9"/>
                          </a:lnTo>
                          <a:lnTo>
                            <a:pt x="139" y="2"/>
                          </a:lnTo>
                          <a:lnTo>
                            <a:pt x="90" y="0"/>
                          </a:lnTo>
                          <a:lnTo>
                            <a:pt x="47" y="25"/>
                          </a:lnTo>
                          <a:lnTo>
                            <a:pt x="24" y="53"/>
                          </a:lnTo>
                          <a:lnTo>
                            <a:pt x="7" y="86"/>
                          </a:lnTo>
                          <a:lnTo>
                            <a:pt x="0" y="125"/>
                          </a:lnTo>
                          <a:lnTo>
                            <a:pt x="1" y="169"/>
                          </a:lnTo>
                          <a:lnTo>
                            <a:pt x="15" y="219"/>
                          </a:lnTo>
                          <a:lnTo>
                            <a:pt x="44" y="257"/>
                          </a:lnTo>
                          <a:lnTo>
                            <a:pt x="74" y="278"/>
                          </a:lnTo>
                          <a:lnTo>
                            <a:pt x="114" y="294"/>
                          </a:lnTo>
                          <a:lnTo>
                            <a:pt x="134" y="326"/>
                          </a:lnTo>
                          <a:lnTo>
                            <a:pt x="154" y="337"/>
                          </a:lnTo>
                          <a:lnTo>
                            <a:pt x="178" y="340"/>
                          </a:lnTo>
                          <a:lnTo>
                            <a:pt x="207" y="333"/>
                          </a:lnTo>
                          <a:lnTo>
                            <a:pt x="236" y="314"/>
                          </a:lnTo>
                          <a:lnTo>
                            <a:pt x="249" y="285"/>
                          </a:lnTo>
                          <a:lnTo>
                            <a:pt x="256" y="243"/>
                          </a:lnTo>
                          <a:lnTo>
                            <a:pt x="241" y="203"/>
                          </a:lnTo>
                          <a:lnTo>
                            <a:pt x="239" y="160"/>
                          </a:lnTo>
                          <a:lnTo>
                            <a:pt x="227" y="102"/>
                          </a:lnTo>
                          <a:lnTo>
                            <a:pt x="209" y="53"/>
                          </a:lnTo>
                          <a:close/>
                        </a:path>
                      </a:pathLst>
                    </a:custGeom>
                    <a:solidFill>
                      <a:srgbClr val="E0A080"/>
                    </a:solidFill>
                    <a:ln w="9525">
                      <a:solidFill>
                        <a:srgbClr val="000000"/>
                      </a:solidFill>
                      <a:prstDash val="solid"/>
                      <a:round/>
                    </a:ln>
                  </p:spPr>
                  <p:txBody>
                    <a:bodyPr/>
                    <a:lstStyle/>
                    <a:p>
                      <a:endParaRPr lang="zh-CN" altLang="en-US"/>
                    </a:p>
                  </p:txBody>
                </p:sp>
                <p:sp>
                  <p:nvSpPr>
                    <p:cNvPr id="346649" name="Freeform 537"/>
                    <p:cNvSpPr/>
                    <p:nvPr/>
                  </p:nvSpPr>
                  <p:spPr bwMode="auto">
                    <a:xfrm>
                      <a:off x="4091" y="2276"/>
                      <a:ext cx="132" cy="165"/>
                    </a:xfrm>
                    <a:custGeom>
                      <a:avLst/>
                      <a:gdLst>
                        <a:gd name="T0" fmla="*/ 216 w 263"/>
                        <a:gd name="T1" fmla="*/ 50 h 330"/>
                        <a:gd name="T2" fmla="*/ 171 w 263"/>
                        <a:gd name="T3" fmla="*/ 9 h 330"/>
                        <a:gd name="T4" fmla="*/ 143 w 263"/>
                        <a:gd name="T5" fmla="*/ 2 h 330"/>
                        <a:gd name="T6" fmla="*/ 92 w 263"/>
                        <a:gd name="T7" fmla="*/ 0 h 330"/>
                        <a:gd name="T8" fmla="*/ 47 w 263"/>
                        <a:gd name="T9" fmla="*/ 22 h 330"/>
                        <a:gd name="T10" fmla="*/ 24 w 263"/>
                        <a:gd name="T11" fmla="*/ 50 h 330"/>
                        <a:gd name="T12" fmla="*/ 7 w 263"/>
                        <a:gd name="T13" fmla="*/ 85 h 330"/>
                        <a:gd name="T14" fmla="*/ 0 w 263"/>
                        <a:gd name="T15" fmla="*/ 122 h 330"/>
                        <a:gd name="T16" fmla="*/ 2 w 263"/>
                        <a:gd name="T17" fmla="*/ 164 h 330"/>
                        <a:gd name="T18" fmla="*/ 15 w 263"/>
                        <a:gd name="T19" fmla="*/ 212 h 330"/>
                        <a:gd name="T20" fmla="*/ 44 w 263"/>
                        <a:gd name="T21" fmla="*/ 251 h 330"/>
                        <a:gd name="T22" fmla="*/ 78 w 263"/>
                        <a:gd name="T23" fmla="*/ 272 h 330"/>
                        <a:gd name="T24" fmla="*/ 115 w 263"/>
                        <a:gd name="T25" fmla="*/ 286 h 330"/>
                        <a:gd name="T26" fmla="*/ 137 w 263"/>
                        <a:gd name="T27" fmla="*/ 316 h 330"/>
                        <a:gd name="T28" fmla="*/ 158 w 263"/>
                        <a:gd name="T29" fmla="*/ 326 h 330"/>
                        <a:gd name="T30" fmla="*/ 182 w 263"/>
                        <a:gd name="T31" fmla="*/ 330 h 330"/>
                        <a:gd name="T32" fmla="*/ 214 w 263"/>
                        <a:gd name="T33" fmla="*/ 321 h 330"/>
                        <a:gd name="T34" fmla="*/ 243 w 263"/>
                        <a:gd name="T35" fmla="*/ 305 h 330"/>
                        <a:gd name="T36" fmla="*/ 256 w 263"/>
                        <a:gd name="T37" fmla="*/ 279 h 330"/>
                        <a:gd name="T38" fmla="*/ 263 w 263"/>
                        <a:gd name="T39" fmla="*/ 235 h 330"/>
                        <a:gd name="T40" fmla="*/ 248 w 263"/>
                        <a:gd name="T41" fmla="*/ 196 h 330"/>
                        <a:gd name="T42" fmla="*/ 246 w 263"/>
                        <a:gd name="T43" fmla="*/ 155 h 330"/>
                        <a:gd name="T44" fmla="*/ 234 w 263"/>
                        <a:gd name="T45" fmla="*/ 101 h 330"/>
                        <a:gd name="T46" fmla="*/ 216 w 263"/>
                        <a:gd name="T47" fmla="*/ 5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3" h="330">
                          <a:moveTo>
                            <a:pt x="216" y="50"/>
                          </a:moveTo>
                          <a:lnTo>
                            <a:pt x="171" y="9"/>
                          </a:lnTo>
                          <a:lnTo>
                            <a:pt x="143" y="2"/>
                          </a:lnTo>
                          <a:lnTo>
                            <a:pt x="92" y="0"/>
                          </a:lnTo>
                          <a:lnTo>
                            <a:pt x="47" y="22"/>
                          </a:lnTo>
                          <a:lnTo>
                            <a:pt x="24" y="50"/>
                          </a:lnTo>
                          <a:lnTo>
                            <a:pt x="7" y="85"/>
                          </a:lnTo>
                          <a:lnTo>
                            <a:pt x="0" y="122"/>
                          </a:lnTo>
                          <a:lnTo>
                            <a:pt x="2" y="164"/>
                          </a:lnTo>
                          <a:lnTo>
                            <a:pt x="15" y="212"/>
                          </a:lnTo>
                          <a:lnTo>
                            <a:pt x="44" y="251"/>
                          </a:lnTo>
                          <a:lnTo>
                            <a:pt x="78" y="272"/>
                          </a:lnTo>
                          <a:lnTo>
                            <a:pt x="115" y="286"/>
                          </a:lnTo>
                          <a:lnTo>
                            <a:pt x="137" y="316"/>
                          </a:lnTo>
                          <a:lnTo>
                            <a:pt x="158" y="326"/>
                          </a:lnTo>
                          <a:lnTo>
                            <a:pt x="182" y="330"/>
                          </a:lnTo>
                          <a:lnTo>
                            <a:pt x="214" y="321"/>
                          </a:lnTo>
                          <a:lnTo>
                            <a:pt x="243" y="305"/>
                          </a:lnTo>
                          <a:lnTo>
                            <a:pt x="256" y="279"/>
                          </a:lnTo>
                          <a:lnTo>
                            <a:pt x="263" y="235"/>
                          </a:lnTo>
                          <a:lnTo>
                            <a:pt x="248" y="196"/>
                          </a:lnTo>
                          <a:lnTo>
                            <a:pt x="246" y="155"/>
                          </a:lnTo>
                          <a:lnTo>
                            <a:pt x="234" y="101"/>
                          </a:lnTo>
                          <a:lnTo>
                            <a:pt x="216" y="50"/>
                          </a:lnTo>
                          <a:close/>
                        </a:path>
                      </a:pathLst>
                    </a:custGeom>
                    <a:solidFill>
                      <a:srgbClr val="E0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346650" name="Group 538"/>
                <p:cNvGrpSpPr/>
                <p:nvPr/>
              </p:nvGrpSpPr>
              <p:grpSpPr bwMode="auto">
                <a:xfrm>
                  <a:off x="3848" y="2430"/>
                  <a:ext cx="944" cy="863"/>
                  <a:chOff x="3848" y="2430"/>
                  <a:chExt cx="944" cy="863"/>
                </a:xfrm>
              </p:grpSpPr>
              <p:sp>
                <p:nvSpPr>
                  <p:cNvPr id="346651" name="Freeform 539"/>
                  <p:cNvSpPr/>
                  <p:nvPr/>
                </p:nvSpPr>
                <p:spPr bwMode="auto">
                  <a:xfrm>
                    <a:off x="3848" y="2430"/>
                    <a:ext cx="762" cy="783"/>
                  </a:xfrm>
                  <a:custGeom>
                    <a:avLst/>
                    <a:gdLst>
                      <a:gd name="T0" fmla="*/ 415 w 1524"/>
                      <a:gd name="T1" fmla="*/ 0 h 1566"/>
                      <a:gd name="T2" fmla="*/ 512 w 1524"/>
                      <a:gd name="T3" fmla="*/ 67 h 1566"/>
                      <a:gd name="T4" fmla="*/ 610 w 1524"/>
                      <a:gd name="T5" fmla="*/ 134 h 1566"/>
                      <a:gd name="T6" fmla="*/ 697 w 1524"/>
                      <a:gd name="T7" fmla="*/ 176 h 1566"/>
                      <a:gd name="T8" fmla="*/ 991 w 1524"/>
                      <a:gd name="T9" fmla="*/ 303 h 1566"/>
                      <a:gd name="T10" fmla="*/ 1035 w 1524"/>
                      <a:gd name="T11" fmla="*/ 495 h 1566"/>
                      <a:gd name="T12" fmla="*/ 1072 w 1524"/>
                      <a:gd name="T13" fmla="*/ 595 h 1566"/>
                      <a:gd name="T14" fmla="*/ 1105 w 1524"/>
                      <a:gd name="T15" fmla="*/ 669 h 1566"/>
                      <a:gd name="T16" fmla="*/ 1128 w 1524"/>
                      <a:gd name="T17" fmla="*/ 743 h 1566"/>
                      <a:gd name="T18" fmla="*/ 1144 w 1524"/>
                      <a:gd name="T19" fmla="*/ 819 h 1566"/>
                      <a:gd name="T20" fmla="*/ 1142 w 1524"/>
                      <a:gd name="T21" fmla="*/ 866 h 1566"/>
                      <a:gd name="T22" fmla="*/ 1132 w 1524"/>
                      <a:gd name="T23" fmla="*/ 923 h 1566"/>
                      <a:gd name="T24" fmla="*/ 1139 w 1524"/>
                      <a:gd name="T25" fmla="*/ 990 h 1566"/>
                      <a:gd name="T26" fmla="*/ 1162 w 1524"/>
                      <a:gd name="T27" fmla="*/ 1058 h 1566"/>
                      <a:gd name="T28" fmla="*/ 1223 w 1524"/>
                      <a:gd name="T29" fmla="*/ 1085 h 1566"/>
                      <a:gd name="T30" fmla="*/ 1317 w 1524"/>
                      <a:gd name="T31" fmla="*/ 1109 h 1566"/>
                      <a:gd name="T32" fmla="*/ 1381 w 1524"/>
                      <a:gd name="T33" fmla="*/ 1131 h 1566"/>
                      <a:gd name="T34" fmla="*/ 1446 w 1524"/>
                      <a:gd name="T35" fmla="*/ 1182 h 1566"/>
                      <a:gd name="T36" fmla="*/ 1487 w 1524"/>
                      <a:gd name="T37" fmla="*/ 1238 h 1566"/>
                      <a:gd name="T38" fmla="*/ 1512 w 1524"/>
                      <a:gd name="T39" fmla="*/ 1307 h 1566"/>
                      <a:gd name="T40" fmla="*/ 1524 w 1524"/>
                      <a:gd name="T41" fmla="*/ 1386 h 1566"/>
                      <a:gd name="T42" fmla="*/ 1509 w 1524"/>
                      <a:gd name="T43" fmla="*/ 1506 h 1566"/>
                      <a:gd name="T44" fmla="*/ 362 w 1524"/>
                      <a:gd name="T45" fmla="*/ 1566 h 1566"/>
                      <a:gd name="T46" fmla="*/ 152 w 1524"/>
                      <a:gd name="T47" fmla="*/ 1562 h 1566"/>
                      <a:gd name="T48" fmla="*/ 111 w 1524"/>
                      <a:gd name="T49" fmla="*/ 1506 h 1566"/>
                      <a:gd name="T50" fmla="*/ 72 w 1524"/>
                      <a:gd name="T51" fmla="*/ 1418 h 1566"/>
                      <a:gd name="T52" fmla="*/ 39 w 1524"/>
                      <a:gd name="T53" fmla="*/ 1319 h 1566"/>
                      <a:gd name="T54" fmla="*/ 21 w 1524"/>
                      <a:gd name="T55" fmla="*/ 1236 h 1566"/>
                      <a:gd name="T56" fmla="*/ 5 w 1524"/>
                      <a:gd name="T57" fmla="*/ 1146 h 1566"/>
                      <a:gd name="T58" fmla="*/ 0 w 1524"/>
                      <a:gd name="T59" fmla="*/ 1064 h 1566"/>
                      <a:gd name="T60" fmla="*/ 16 w 1524"/>
                      <a:gd name="T61" fmla="*/ 928 h 1566"/>
                      <a:gd name="T62" fmla="*/ 39 w 1524"/>
                      <a:gd name="T63" fmla="*/ 819 h 1566"/>
                      <a:gd name="T64" fmla="*/ 75 w 1524"/>
                      <a:gd name="T65" fmla="*/ 699 h 1566"/>
                      <a:gd name="T66" fmla="*/ 116 w 1524"/>
                      <a:gd name="T67" fmla="*/ 584 h 1566"/>
                      <a:gd name="T68" fmla="*/ 162 w 1524"/>
                      <a:gd name="T69" fmla="*/ 491 h 1566"/>
                      <a:gd name="T70" fmla="*/ 223 w 1524"/>
                      <a:gd name="T71" fmla="*/ 387 h 1566"/>
                      <a:gd name="T72" fmla="*/ 299 w 1524"/>
                      <a:gd name="T73" fmla="*/ 303 h 1566"/>
                      <a:gd name="T74" fmla="*/ 371 w 1524"/>
                      <a:gd name="T75" fmla="*/ 229 h 1566"/>
                      <a:gd name="T76" fmla="*/ 420 w 1524"/>
                      <a:gd name="T77" fmla="*/ 192 h 1566"/>
                      <a:gd name="T78" fmla="*/ 304 w 1524"/>
                      <a:gd name="T79" fmla="*/ 134 h 1566"/>
                      <a:gd name="T80" fmla="*/ 415 w 1524"/>
                      <a:gd name="T81" fmla="*/ 0 h 1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24" h="1566">
                        <a:moveTo>
                          <a:pt x="415" y="0"/>
                        </a:moveTo>
                        <a:lnTo>
                          <a:pt x="512" y="67"/>
                        </a:lnTo>
                        <a:lnTo>
                          <a:pt x="610" y="134"/>
                        </a:lnTo>
                        <a:lnTo>
                          <a:pt x="697" y="176"/>
                        </a:lnTo>
                        <a:lnTo>
                          <a:pt x="991" y="303"/>
                        </a:lnTo>
                        <a:lnTo>
                          <a:pt x="1035" y="495"/>
                        </a:lnTo>
                        <a:lnTo>
                          <a:pt x="1072" y="595"/>
                        </a:lnTo>
                        <a:lnTo>
                          <a:pt x="1105" y="669"/>
                        </a:lnTo>
                        <a:lnTo>
                          <a:pt x="1128" y="743"/>
                        </a:lnTo>
                        <a:lnTo>
                          <a:pt x="1144" y="819"/>
                        </a:lnTo>
                        <a:lnTo>
                          <a:pt x="1142" y="866"/>
                        </a:lnTo>
                        <a:lnTo>
                          <a:pt x="1132" y="923"/>
                        </a:lnTo>
                        <a:lnTo>
                          <a:pt x="1139" y="990"/>
                        </a:lnTo>
                        <a:lnTo>
                          <a:pt x="1162" y="1058"/>
                        </a:lnTo>
                        <a:lnTo>
                          <a:pt x="1223" y="1085"/>
                        </a:lnTo>
                        <a:lnTo>
                          <a:pt x="1317" y="1109"/>
                        </a:lnTo>
                        <a:lnTo>
                          <a:pt x="1381" y="1131"/>
                        </a:lnTo>
                        <a:lnTo>
                          <a:pt x="1446" y="1182"/>
                        </a:lnTo>
                        <a:lnTo>
                          <a:pt x="1487" y="1238"/>
                        </a:lnTo>
                        <a:lnTo>
                          <a:pt x="1512" y="1307"/>
                        </a:lnTo>
                        <a:lnTo>
                          <a:pt x="1524" y="1386"/>
                        </a:lnTo>
                        <a:lnTo>
                          <a:pt x="1509" y="1506"/>
                        </a:lnTo>
                        <a:lnTo>
                          <a:pt x="362" y="1566"/>
                        </a:lnTo>
                        <a:lnTo>
                          <a:pt x="152" y="1562"/>
                        </a:lnTo>
                        <a:lnTo>
                          <a:pt x="111" y="1506"/>
                        </a:lnTo>
                        <a:lnTo>
                          <a:pt x="72" y="1418"/>
                        </a:lnTo>
                        <a:lnTo>
                          <a:pt x="39" y="1319"/>
                        </a:lnTo>
                        <a:lnTo>
                          <a:pt x="21" y="1236"/>
                        </a:lnTo>
                        <a:lnTo>
                          <a:pt x="5" y="1146"/>
                        </a:lnTo>
                        <a:lnTo>
                          <a:pt x="0" y="1064"/>
                        </a:lnTo>
                        <a:lnTo>
                          <a:pt x="16" y="928"/>
                        </a:lnTo>
                        <a:lnTo>
                          <a:pt x="39" y="819"/>
                        </a:lnTo>
                        <a:lnTo>
                          <a:pt x="75" y="699"/>
                        </a:lnTo>
                        <a:lnTo>
                          <a:pt x="116" y="584"/>
                        </a:lnTo>
                        <a:lnTo>
                          <a:pt x="162" y="491"/>
                        </a:lnTo>
                        <a:lnTo>
                          <a:pt x="223" y="387"/>
                        </a:lnTo>
                        <a:lnTo>
                          <a:pt x="299" y="303"/>
                        </a:lnTo>
                        <a:lnTo>
                          <a:pt x="371" y="229"/>
                        </a:lnTo>
                        <a:lnTo>
                          <a:pt x="420" y="192"/>
                        </a:lnTo>
                        <a:lnTo>
                          <a:pt x="304" y="134"/>
                        </a:lnTo>
                        <a:lnTo>
                          <a:pt x="415" y="0"/>
                        </a:lnTo>
                        <a:close/>
                      </a:path>
                    </a:pathLst>
                  </a:custGeom>
                  <a:solidFill>
                    <a:srgbClr val="FF60C0"/>
                  </a:solidFill>
                  <a:ln w="9525">
                    <a:solidFill>
                      <a:srgbClr val="000000"/>
                    </a:solidFill>
                    <a:prstDash val="solid"/>
                    <a:round/>
                  </a:ln>
                </p:spPr>
                <p:txBody>
                  <a:bodyPr/>
                  <a:lstStyle/>
                  <a:p>
                    <a:endParaRPr lang="zh-CN" altLang="en-US"/>
                  </a:p>
                </p:txBody>
              </p:sp>
              <p:sp>
                <p:nvSpPr>
                  <p:cNvPr id="346652" name="Freeform 540"/>
                  <p:cNvSpPr/>
                  <p:nvPr/>
                </p:nvSpPr>
                <p:spPr bwMode="auto">
                  <a:xfrm>
                    <a:off x="4356" y="2844"/>
                    <a:ext cx="213" cy="287"/>
                  </a:xfrm>
                  <a:custGeom>
                    <a:avLst/>
                    <a:gdLst>
                      <a:gd name="T0" fmla="*/ 0 w 427"/>
                      <a:gd name="T1" fmla="*/ 0 h 574"/>
                      <a:gd name="T2" fmla="*/ 15 w 427"/>
                      <a:gd name="T3" fmla="*/ 107 h 574"/>
                      <a:gd name="T4" fmla="*/ 32 w 427"/>
                      <a:gd name="T5" fmla="*/ 193 h 574"/>
                      <a:gd name="T6" fmla="*/ 66 w 427"/>
                      <a:gd name="T7" fmla="*/ 262 h 574"/>
                      <a:gd name="T8" fmla="*/ 94 w 427"/>
                      <a:gd name="T9" fmla="*/ 301 h 574"/>
                      <a:gd name="T10" fmla="*/ 146 w 427"/>
                      <a:gd name="T11" fmla="*/ 331 h 574"/>
                      <a:gd name="T12" fmla="*/ 241 w 427"/>
                      <a:gd name="T13" fmla="*/ 368 h 574"/>
                      <a:gd name="T14" fmla="*/ 321 w 427"/>
                      <a:gd name="T15" fmla="*/ 401 h 574"/>
                      <a:gd name="T16" fmla="*/ 360 w 427"/>
                      <a:gd name="T17" fmla="*/ 419 h 574"/>
                      <a:gd name="T18" fmla="*/ 396 w 427"/>
                      <a:gd name="T19" fmla="*/ 458 h 574"/>
                      <a:gd name="T20" fmla="*/ 416 w 427"/>
                      <a:gd name="T21" fmla="*/ 510 h 574"/>
                      <a:gd name="T22" fmla="*/ 427 w 427"/>
                      <a:gd name="T23" fmla="*/ 574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7" h="574">
                        <a:moveTo>
                          <a:pt x="0" y="0"/>
                        </a:moveTo>
                        <a:lnTo>
                          <a:pt x="15" y="107"/>
                        </a:lnTo>
                        <a:lnTo>
                          <a:pt x="32" y="193"/>
                        </a:lnTo>
                        <a:lnTo>
                          <a:pt x="66" y="262"/>
                        </a:lnTo>
                        <a:lnTo>
                          <a:pt x="94" y="301"/>
                        </a:lnTo>
                        <a:lnTo>
                          <a:pt x="146" y="331"/>
                        </a:lnTo>
                        <a:lnTo>
                          <a:pt x="241" y="368"/>
                        </a:lnTo>
                        <a:lnTo>
                          <a:pt x="321" y="401"/>
                        </a:lnTo>
                        <a:lnTo>
                          <a:pt x="360" y="419"/>
                        </a:lnTo>
                        <a:lnTo>
                          <a:pt x="396" y="458"/>
                        </a:lnTo>
                        <a:lnTo>
                          <a:pt x="416" y="510"/>
                        </a:lnTo>
                        <a:lnTo>
                          <a:pt x="427" y="574"/>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53" name="Freeform 541"/>
                  <p:cNvSpPr/>
                  <p:nvPr/>
                </p:nvSpPr>
                <p:spPr bwMode="auto">
                  <a:xfrm>
                    <a:off x="4052" y="2531"/>
                    <a:ext cx="314" cy="316"/>
                  </a:xfrm>
                  <a:custGeom>
                    <a:avLst/>
                    <a:gdLst>
                      <a:gd name="T0" fmla="*/ 0 w 627"/>
                      <a:gd name="T1" fmla="*/ 10 h 632"/>
                      <a:gd name="T2" fmla="*/ 20 w 627"/>
                      <a:gd name="T3" fmla="*/ 0 h 632"/>
                      <a:gd name="T4" fmla="*/ 85 w 627"/>
                      <a:gd name="T5" fmla="*/ 49 h 632"/>
                      <a:gd name="T6" fmla="*/ 170 w 627"/>
                      <a:gd name="T7" fmla="*/ 102 h 632"/>
                      <a:gd name="T8" fmla="*/ 239 w 627"/>
                      <a:gd name="T9" fmla="*/ 133 h 632"/>
                      <a:gd name="T10" fmla="*/ 311 w 627"/>
                      <a:gd name="T11" fmla="*/ 174 h 632"/>
                      <a:gd name="T12" fmla="*/ 411 w 627"/>
                      <a:gd name="T13" fmla="*/ 227 h 632"/>
                      <a:gd name="T14" fmla="*/ 472 w 627"/>
                      <a:gd name="T15" fmla="*/ 327 h 632"/>
                      <a:gd name="T16" fmla="*/ 520 w 627"/>
                      <a:gd name="T17" fmla="*/ 503 h 632"/>
                      <a:gd name="T18" fmla="*/ 565 w 627"/>
                      <a:gd name="T19" fmla="*/ 359 h 632"/>
                      <a:gd name="T20" fmla="*/ 601 w 627"/>
                      <a:gd name="T21" fmla="*/ 264 h 632"/>
                      <a:gd name="T22" fmla="*/ 594 w 627"/>
                      <a:gd name="T23" fmla="*/ 206 h 632"/>
                      <a:gd name="T24" fmla="*/ 615 w 627"/>
                      <a:gd name="T25" fmla="*/ 294 h 632"/>
                      <a:gd name="T26" fmla="*/ 627 w 627"/>
                      <a:gd name="T27" fmla="*/ 339 h 632"/>
                      <a:gd name="T28" fmla="*/ 606 w 627"/>
                      <a:gd name="T29" fmla="*/ 380 h 632"/>
                      <a:gd name="T30" fmla="*/ 576 w 627"/>
                      <a:gd name="T31" fmla="*/ 456 h 632"/>
                      <a:gd name="T32" fmla="*/ 540 w 627"/>
                      <a:gd name="T33" fmla="*/ 549 h 632"/>
                      <a:gd name="T34" fmla="*/ 511 w 627"/>
                      <a:gd name="T35" fmla="*/ 632 h 632"/>
                      <a:gd name="T36" fmla="*/ 472 w 627"/>
                      <a:gd name="T37" fmla="*/ 491 h 632"/>
                      <a:gd name="T38" fmla="*/ 436 w 627"/>
                      <a:gd name="T39" fmla="*/ 394 h 632"/>
                      <a:gd name="T40" fmla="*/ 416 w 627"/>
                      <a:gd name="T41" fmla="*/ 301 h 632"/>
                      <a:gd name="T42" fmla="*/ 316 w 627"/>
                      <a:gd name="T43" fmla="*/ 206 h 632"/>
                      <a:gd name="T44" fmla="*/ 141 w 627"/>
                      <a:gd name="T45" fmla="*/ 110 h 632"/>
                      <a:gd name="T46" fmla="*/ 0 w 627"/>
                      <a:gd name="T47" fmla="*/ 10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27" h="632">
                        <a:moveTo>
                          <a:pt x="0" y="10"/>
                        </a:moveTo>
                        <a:lnTo>
                          <a:pt x="20" y="0"/>
                        </a:lnTo>
                        <a:lnTo>
                          <a:pt x="85" y="49"/>
                        </a:lnTo>
                        <a:lnTo>
                          <a:pt x="170" y="102"/>
                        </a:lnTo>
                        <a:lnTo>
                          <a:pt x="239" y="133"/>
                        </a:lnTo>
                        <a:lnTo>
                          <a:pt x="311" y="174"/>
                        </a:lnTo>
                        <a:lnTo>
                          <a:pt x="411" y="227"/>
                        </a:lnTo>
                        <a:lnTo>
                          <a:pt x="472" y="327"/>
                        </a:lnTo>
                        <a:lnTo>
                          <a:pt x="520" y="503"/>
                        </a:lnTo>
                        <a:lnTo>
                          <a:pt x="565" y="359"/>
                        </a:lnTo>
                        <a:lnTo>
                          <a:pt x="601" y="264"/>
                        </a:lnTo>
                        <a:lnTo>
                          <a:pt x="594" y="206"/>
                        </a:lnTo>
                        <a:lnTo>
                          <a:pt x="615" y="294"/>
                        </a:lnTo>
                        <a:lnTo>
                          <a:pt x="627" y="339"/>
                        </a:lnTo>
                        <a:lnTo>
                          <a:pt x="606" y="380"/>
                        </a:lnTo>
                        <a:lnTo>
                          <a:pt x="576" y="456"/>
                        </a:lnTo>
                        <a:lnTo>
                          <a:pt x="540" y="549"/>
                        </a:lnTo>
                        <a:lnTo>
                          <a:pt x="511" y="632"/>
                        </a:lnTo>
                        <a:lnTo>
                          <a:pt x="472" y="491"/>
                        </a:lnTo>
                        <a:lnTo>
                          <a:pt x="436" y="394"/>
                        </a:lnTo>
                        <a:lnTo>
                          <a:pt x="416" y="301"/>
                        </a:lnTo>
                        <a:lnTo>
                          <a:pt x="316" y="206"/>
                        </a:lnTo>
                        <a:lnTo>
                          <a:pt x="141" y="110"/>
                        </a:lnTo>
                        <a:lnTo>
                          <a:pt x="0" y="10"/>
                        </a:lnTo>
                        <a:close/>
                      </a:path>
                    </a:pathLst>
                  </a:custGeom>
                  <a:solidFill>
                    <a:srgbClr val="E040A0"/>
                  </a:solidFill>
                  <a:ln w="9525">
                    <a:solidFill>
                      <a:srgbClr val="E040A0"/>
                    </a:solidFill>
                    <a:prstDash val="solid"/>
                    <a:round/>
                  </a:ln>
                </p:spPr>
                <p:txBody>
                  <a:bodyPr/>
                  <a:lstStyle/>
                  <a:p>
                    <a:endParaRPr lang="zh-CN" altLang="en-US"/>
                  </a:p>
                </p:txBody>
              </p:sp>
              <p:sp>
                <p:nvSpPr>
                  <p:cNvPr id="346654" name="Freeform 542"/>
                  <p:cNvSpPr/>
                  <p:nvPr/>
                </p:nvSpPr>
                <p:spPr bwMode="auto">
                  <a:xfrm>
                    <a:off x="4071" y="2697"/>
                    <a:ext cx="132" cy="265"/>
                  </a:xfrm>
                  <a:custGeom>
                    <a:avLst/>
                    <a:gdLst>
                      <a:gd name="T0" fmla="*/ 138 w 263"/>
                      <a:gd name="T1" fmla="*/ 425 h 531"/>
                      <a:gd name="T2" fmla="*/ 70 w 263"/>
                      <a:gd name="T3" fmla="*/ 358 h 531"/>
                      <a:gd name="T4" fmla="*/ 48 w 263"/>
                      <a:gd name="T5" fmla="*/ 289 h 531"/>
                      <a:gd name="T6" fmla="*/ 39 w 263"/>
                      <a:gd name="T7" fmla="*/ 217 h 531"/>
                      <a:gd name="T8" fmla="*/ 29 w 263"/>
                      <a:gd name="T9" fmla="*/ 118 h 531"/>
                      <a:gd name="T10" fmla="*/ 66 w 263"/>
                      <a:gd name="T11" fmla="*/ 87 h 531"/>
                      <a:gd name="T12" fmla="*/ 83 w 263"/>
                      <a:gd name="T13" fmla="*/ 159 h 531"/>
                      <a:gd name="T14" fmla="*/ 114 w 263"/>
                      <a:gd name="T15" fmla="*/ 194 h 531"/>
                      <a:gd name="T16" fmla="*/ 126 w 263"/>
                      <a:gd name="T17" fmla="*/ 273 h 531"/>
                      <a:gd name="T18" fmla="*/ 146 w 263"/>
                      <a:gd name="T19" fmla="*/ 333 h 531"/>
                      <a:gd name="T20" fmla="*/ 194 w 263"/>
                      <a:gd name="T21" fmla="*/ 384 h 531"/>
                      <a:gd name="T22" fmla="*/ 229 w 263"/>
                      <a:gd name="T23" fmla="*/ 448 h 531"/>
                      <a:gd name="T24" fmla="*/ 263 w 263"/>
                      <a:gd name="T25" fmla="*/ 531 h 531"/>
                      <a:gd name="T26" fmla="*/ 260 w 263"/>
                      <a:gd name="T27" fmla="*/ 460 h 531"/>
                      <a:gd name="T28" fmla="*/ 250 w 263"/>
                      <a:gd name="T29" fmla="*/ 402 h 531"/>
                      <a:gd name="T30" fmla="*/ 204 w 263"/>
                      <a:gd name="T31" fmla="*/ 356 h 531"/>
                      <a:gd name="T32" fmla="*/ 173 w 263"/>
                      <a:gd name="T33" fmla="*/ 295 h 531"/>
                      <a:gd name="T34" fmla="*/ 148 w 263"/>
                      <a:gd name="T35" fmla="*/ 226 h 531"/>
                      <a:gd name="T36" fmla="*/ 129 w 263"/>
                      <a:gd name="T37" fmla="*/ 164 h 531"/>
                      <a:gd name="T38" fmla="*/ 104 w 263"/>
                      <a:gd name="T39" fmla="*/ 118 h 531"/>
                      <a:gd name="T40" fmla="*/ 95 w 263"/>
                      <a:gd name="T41" fmla="*/ 57 h 531"/>
                      <a:gd name="T42" fmla="*/ 80 w 263"/>
                      <a:gd name="T43" fmla="*/ 25 h 531"/>
                      <a:gd name="T44" fmla="*/ 61 w 263"/>
                      <a:gd name="T45" fmla="*/ 0 h 531"/>
                      <a:gd name="T46" fmla="*/ 27 w 263"/>
                      <a:gd name="T47" fmla="*/ 60 h 531"/>
                      <a:gd name="T48" fmla="*/ 0 w 263"/>
                      <a:gd name="T49" fmla="*/ 143 h 531"/>
                      <a:gd name="T50" fmla="*/ 21 w 263"/>
                      <a:gd name="T51" fmla="*/ 159 h 531"/>
                      <a:gd name="T52" fmla="*/ 21 w 263"/>
                      <a:gd name="T53" fmla="*/ 221 h 531"/>
                      <a:gd name="T54" fmla="*/ 32 w 263"/>
                      <a:gd name="T55" fmla="*/ 300 h 531"/>
                      <a:gd name="T56" fmla="*/ 49 w 263"/>
                      <a:gd name="T57" fmla="*/ 356 h 531"/>
                      <a:gd name="T58" fmla="*/ 83 w 263"/>
                      <a:gd name="T59" fmla="*/ 393 h 531"/>
                      <a:gd name="T60" fmla="*/ 138 w 263"/>
                      <a:gd name="T61" fmla="*/ 425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3" h="531">
                        <a:moveTo>
                          <a:pt x="138" y="425"/>
                        </a:moveTo>
                        <a:lnTo>
                          <a:pt x="70" y="358"/>
                        </a:lnTo>
                        <a:lnTo>
                          <a:pt x="48" y="289"/>
                        </a:lnTo>
                        <a:lnTo>
                          <a:pt x="39" y="217"/>
                        </a:lnTo>
                        <a:lnTo>
                          <a:pt x="29" y="118"/>
                        </a:lnTo>
                        <a:lnTo>
                          <a:pt x="66" y="87"/>
                        </a:lnTo>
                        <a:lnTo>
                          <a:pt x="83" y="159"/>
                        </a:lnTo>
                        <a:lnTo>
                          <a:pt x="114" y="194"/>
                        </a:lnTo>
                        <a:lnTo>
                          <a:pt x="126" y="273"/>
                        </a:lnTo>
                        <a:lnTo>
                          <a:pt x="146" y="333"/>
                        </a:lnTo>
                        <a:lnTo>
                          <a:pt x="194" y="384"/>
                        </a:lnTo>
                        <a:lnTo>
                          <a:pt x="229" y="448"/>
                        </a:lnTo>
                        <a:lnTo>
                          <a:pt x="263" y="531"/>
                        </a:lnTo>
                        <a:lnTo>
                          <a:pt x="260" y="460"/>
                        </a:lnTo>
                        <a:lnTo>
                          <a:pt x="250" y="402"/>
                        </a:lnTo>
                        <a:lnTo>
                          <a:pt x="204" y="356"/>
                        </a:lnTo>
                        <a:lnTo>
                          <a:pt x="173" y="295"/>
                        </a:lnTo>
                        <a:lnTo>
                          <a:pt x="148" y="226"/>
                        </a:lnTo>
                        <a:lnTo>
                          <a:pt x="129" y="164"/>
                        </a:lnTo>
                        <a:lnTo>
                          <a:pt x="104" y="118"/>
                        </a:lnTo>
                        <a:lnTo>
                          <a:pt x="95" y="57"/>
                        </a:lnTo>
                        <a:lnTo>
                          <a:pt x="80" y="25"/>
                        </a:lnTo>
                        <a:lnTo>
                          <a:pt x="61" y="0"/>
                        </a:lnTo>
                        <a:lnTo>
                          <a:pt x="27" y="60"/>
                        </a:lnTo>
                        <a:lnTo>
                          <a:pt x="0" y="143"/>
                        </a:lnTo>
                        <a:lnTo>
                          <a:pt x="21" y="159"/>
                        </a:lnTo>
                        <a:lnTo>
                          <a:pt x="21" y="221"/>
                        </a:lnTo>
                        <a:lnTo>
                          <a:pt x="32" y="300"/>
                        </a:lnTo>
                        <a:lnTo>
                          <a:pt x="49" y="356"/>
                        </a:lnTo>
                        <a:lnTo>
                          <a:pt x="83" y="393"/>
                        </a:lnTo>
                        <a:lnTo>
                          <a:pt x="138" y="425"/>
                        </a:lnTo>
                        <a:close/>
                      </a:path>
                    </a:pathLst>
                  </a:custGeom>
                  <a:solidFill>
                    <a:srgbClr val="E040A0"/>
                  </a:solidFill>
                  <a:ln w="9525">
                    <a:solidFill>
                      <a:srgbClr val="E040A0"/>
                    </a:solidFill>
                    <a:prstDash val="solid"/>
                    <a:round/>
                  </a:ln>
                </p:spPr>
                <p:txBody>
                  <a:bodyPr/>
                  <a:lstStyle/>
                  <a:p>
                    <a:endParaRPr lang="zh-CN" altLang="en-US"/>
                  </a:p>
                </p:txBody>
              </p:sp>
              <p:sp>
                <p:nvSpPr>
                  <p:cNvPr id="346655" name="Freeform 543"/>
                  <p:cNvSpPr/>
                  <p:nvPr/>
                </p:nvSpPr>
                <p:spPr bwMode="auto">
                  <a:xfrm>
                    <a:off x="3868" y="2843"/>
                    <a:ext cx="74" cy="181"/>
                  </a:xfrm>
                  <a:custGeom>
                    <a:avLst/>
                    <a:gdLst>
                      <a:gd name="T0" fmla="*/ 148 w 148"/>
                      <a:gd name="T1" fmla="*/ 361 h 361"/>
                      <a:gd name="T2" fmla="*/ 109 w 148"/>
                      <a:gd name="T3" fmla="*/ 347 h 361"/>
                      <a:gd name="T4" fmla="*/ 71 w 148"/>
                      <a:gd name="T5" fmla="*/ 306 h 361"/>
                      <a:gd name="T6" fmla="*/ 54 w 148"/>
                      <a:gd name="T7" fmla="*/ 278 h 361"/>
                      <a:gd name="T8" fmla="*/ 38 w 148"/>
                      <a:gd name="T9" fmla="*/ 211 h 361"/>
                      <a:gd name="T10" fmla="*/ 27 w 148"/>
                      <a:gd name="T11" fmla="*/ 167 h 361"/>
                      <a:gd name="T12" fmla="*/ 7 w 148"/>
                      <a:gd name="T13" fmla="*/ 121 h 361"/>
                      <a:gd name="T14" fmla="*/ 0 w 148"/>
                      <a:gd name="T15" fmla="*/ 70 h 361"/>
                      <a:gd name="T16" fmla="*/ 14 w 148"/>
                      <a:gd name="T17" fmla="*/ 37 h 361"/>
                      <a:gd name="T18" fmla="*/ 51 w 148"/>
                      <a:gd name="T19" fmla="*/ 0 h 361"/>
                      <a:gd name="T20" fmla="*/ 14 w 148"/>
                      <a:gd name="T21" fmla="*/ 35 h 361"/>
                      <a:gd name="T22" fmla="*/ 4 w 148"/>
                      <a:gd name="T23" fmla="*/ 72 h 361"/>
                      <a:gd name="T24" fmla="*/ 5 w 148"/>
                      <a:gd name="T25" fmla="*/ 120 h 361"/>
                      <a:gd name="T26" fmla="*/ 24 w 148"/>
                      <a:gd name="T27" fmla="*/ 160 h 361"/>
                      <a:gd name="T28" fmla="*/ 43 w 148"/>
                      <a:gd name="T29" fmla="*/ 227 h 361"/>
                      <a:gd name="T30" fmla="*/ 53 w 148"/>
                      <a:gd name="T31" fmla="*/ 266 h 361"/>
                      <a:gd name="T32" fmla="*/ 71 w 148"/>
                      <a:gd name="T33" fmla="*/ 310 h 361"/>
                      <a:gd name="T34" fmla="*/ 112 w 148"/>
                      <a:gd name="T35" fmla="*/ 345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8" h="361">
                        <a:moveTo>
                          <a:pt x="148" y="361"/>
                        </a:moveTo>
                        <a:lnTo>
                          <a:pt x="109" y="347"/>
                        </a:lnTo>
                        <a:lnTo>
                          <a:pt x="71" y="306"/>
                        </a:lnTo>
                        <a:lnTo>
                          <a:pt x="54" y="278"/>
                        </a:lnTo>
                        <a:lnTo>
                          <a:pt x="38" y="211"/>
                        </a:lnTo>
                        <a:lnTo>
                          <a:pt x="27" y="167"/>
                        </a:lnTo>
                        <a:lnTo>
                          <a:pt x="7" y="121"/>
                        </a:lnTo>
                        <a:lnTo>
                          <a:pt x="0" y="70"/>
                        </a:lnTo>
                        <a:lnTo>
                          <a:pt x="14" y="37"/>
                        </a:lnTo>
                        <a:lnTo>
                          <a:pt x="51" y="0"/>
                        </a:lnTo>
                        <a:lnTo>
                          <a:pt x="14" y="35"/>
                        </a:lnTo>
                        <a:lnTo>
                          <a:pt x="4" y="72"/>
                        </a:lnTo>
                        <a:lnTo>
                          <a:pt x="5" y="120"/>
                        </a:lnTo>
                        <a:lnTo>
                          <a:pt x="24" y="160"/>
                        </a:lnTo>
                        <a:lnTo>
                          <a:pt x="43" y="227"/>
                        </a:lnTo>
                        <a:lnTo>
                          <a:pt x="53" y="266"/>
                        </a:lnTo>
                        <a:lnTo>
                          <a:pt x="71" y="310"/>
                        </a:lnTo>
                        <a:lnTo>
                          <a:pt x="112" y="345"/>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56" name="Freeform 544"/>
                  <p:cNvSpPr/>
                  <p:nvPr/>
                </p:nvSpPr>
                <p:spPr bwMode="auto">
                  <a:xfrm>
                    <a:off x="3875" y="2843"/>
                    <a:ext cx="72" cy="181"/>
                  </a:xfrm>
                  <a:custGeom>
                    <a:avLst/>
                    <a:gdLst>
                      <a:gd name="T0" fmla="*/ 144 w 144"/>
                      <a:gd name="T1" fmla="*/ 361 h 361"/>
                      <a:gd name="T2" fmla="*/ 90 w 144"/>
                      <a:gd name="T3" fmla="*/ 313 h 361"/>
                      <a:gd name="T4" fmla="*/ 66 w 144"/>
                      <a:gd name="T5" fmla="*/ 273 h 361"/>
                      <a:gd name="T6" fmla="*/ 56 w 144"/>
                      <a:gd name="T7" fmla="*/ 234 h 361"/>
                      <a:gd name="T8" fmla="*/ 34 w 144"/>
                      <a:gd name="T9" fmla="*/ 164 h 361"/>
                      <a:gd name="T10" fmla="*/ 20 w 144"/>
                      <a:gd name="T11" fmla="*/ 118 h 361"/>
                      <a:gd name="T12" fmla="*/ 12 w 144"/>
                      <a:gd name="T13" fmla="*/ 83 h 361"/>
                      <a:gd name="T14" fmla="*/ 24 w 144"/>
                      <a:gd name="T15" fmla="*/ 42 h 361"/>
                      <a:gd name="T16" fmla="*/ 47 w 144"/>
                      <a:gd name="T17" fmla="*/ 0 h 361"/>
                      <a:gd name="T18" fmla="*/ 10 w 144"/>
                      <a:gd name="T19" fmla="*/ 35 h 361"/>
                      <a:gd name="T20" fmla="*/ 0 w 144"/>
                      <a:gd name="T21" fmla="*/ 72 h 361"/>
                      <a:gd name="T22" fmla="*/ 1 w 144"/>
                      <a:gd name="T23" fmla="*/ 120 h 361"/>
                      <a:gd name="T24" fmla="*/ 20 w 144"/>
                      <a:gd name="T25" fmla="*/ 160 h 361"/>
                      <a:gd name="T26" fmla="*/ 39 w 144"/>
                      <a:gd name="T27" fmla="*/ 227 h 361"/>
                      <a:gd name="T28" fmla="*/ 49 w 144"/>
                      <a:gd name="T29" fmla="*/ 266 h 361"/>
                      <a:gd name="T30" fmla="*/ 68 w 144"/>
                      <a:gd name="T31" fmla="*/ 310 h 361"/>
                      <a:gd name="T32" fmla="*/ 108 w 144"/>
                      <a:gd name="T33" fmla="*/ 345 h 361"/>
                      <a:gd name="T34" fmla="*/ 144 w 144"/>
                      <a:gd name="T35" fmla="*/ 361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4" h="361">
                        <a:moveTo>
                          <a:pt x="144" y="361"/>
                        </a:moveTo>
                        <a:lnTo>
                          <a:pt x="90" y="313"/>
                        </a:lnTo>
                        <a:lnTo>
                          <a:pt x="66" y="273"/>
                        </a:lnTo>
                        <a:lnTo>
                          <a:pt x="56" y="234"/>
                        </a:lnTo>
                        <a:lnTo>
                          <a:pt x="34" y="164"/>
                        </a:lnTo>
                        <a:lnTo>
                          <a:pt x="20" y="118"/>
                        </a:lnTo>
                        <a:lnTo>
                          <a:pt x="12" y="83"/>
                        </a:lnTo>
                        <a:lnTo>
                          <a:pt x="24" y="42"/>
                        </a:lnTo>
                        <a:lnTo>
                          <a:pt x="47" y="0"/>
                        </a:lnTo>
                        <a:lnTo>
                          <a:pt x="10" y="35"/>
                        </a:lnTo>
                        <a:lnTo>
                          <a:pt x="0" y="72"/>
                        </a:lnTo>
                        <a:lnTo>
                          <a:pt x="1" y="120"/>
                        </a:lnTo>
                        <a:lnTo>
                          <a:pt x="20" y="160"/>
                        </a:lnTo>
                        <a:lnTo>
                          <a:pt x="39" y="227"/>
                        </a:lnTo>
                        <a:lnTo>
                          <a:pt x="49" y="266"/>
                        </a:lnTo>
                        <a:lnTo>
                          <a:pt x="68" y="310"/>
                        </a:lnTo>
                        <a:lnTo>
                          <a:pt x="108" y="345"/>
                        </a:lnTo>
                        <a:lnTo>
                          <a:pt x="144" y="361"/>
                        </a:lnTo>
                        <a:close/>
                      </a:path>
                    </a:pathLst>
                  </a:custGeom>
                  <a:solidFill>
                    <a:srgbClr val="E040A0"/>
                  </a:solidFill>
                  <a:ln w="9525">
                    <a:solidFill>
                      <a:srgbClr val="E040A0"/>
                    </a:solidFill>
                    <a:prstDash val="solid"/>
                    <a:round/>
                  </a:ln>
                </p:spPr>
                <p:txBody>
                  <a:bodyPr/>
                  <a:lstStyle/>
                  <a:p>
                    <a:endParaRPr lang="zh-CN" altLang="en-US"/>
                  </a:p>
                </p:txBody>
              </p:sp>
              <p:grpSp>
                <p:nvGrpSpPr>
                  <p:cNvPr id="346657" name="Group 545"/>
                  <p:cNvGrpSpPr/>
                  <p:nvPr/>
                </p:nvGrpSpPr>
                <p:grpSpPr bwMode="auto">
                  <a:xfrm>
                    <a:off x="3997" y="2996"/>
                    <a:ext cx="795" cy="297"/>
                    <a:chOff x="3997" y="2996"/>
                    <a:chExt cx="795" cy="297"/>
                  </a:xfrm>
                </p:grpSpPr>
                <p:sp>
                  <p:nvSpPr>
                    <p:cNvPr id="346658" name="Freeform 546"/>
                    <p:cNvSpPr/>
                    <p:nvPr/>
                  </p:nvSpPr>
                  <p:spPr bwMode="auto">
                    <a:xfrm>
                      <a:off x="3997" y="2996"/>
                      <a:ext cx="791" cy="297"/>
                    </a:xfrm>
                    <a:custGeom>
                      <a:avLst/>
                      <a:gdLst>
                        <a:gd name="T0" fmla="*/ 381 w 1582"/>
                        <a:gd name="T1" fmla="*/ 0 h 595"/>
                        <a:gd name="T2" fmla="*/ 406 w 1582"/>
                        <a:gd name="T3" fmla="*/ 63 h 595"/>
                        <a:gd name="T4" fmla="*/ 466 w 1582"/>
                        <a:gd name="T5" fmla="*/ 144 h 595"/>
                        <a:gd name="T6" fmla="*/ 566 w 1582"/>
                        <a:gd name="T7" fmla="*/ 202 h 595"/>
                        <a:gd name="T8" fmla="*/ 705 w 1582"/>
                        <a:gd name="T9" fmla="*/ 243 h 595"/>
                        <a:gd name="T10" fmla="*/ 867 w 1582"/>
                        <a:gd name="T11" fmla="*/ 280 h 595"/>
                        <a:gd name="T12" fmla="*/ 997 w 1582"/>
                        <a:gd name="T13" fmla="*/ 285 h 595"/>
                        <a:gd name="T14" fmla="*/ 1132 w 1582"/>
                        <a:gd name="T15" fmla="*/ 280 h 595"/>
                        <a:gd name="T16" fmla="*/ 1157 w 1582"/>
                        <a:gd name="T17" fmla="*/ 264 h 595"/>
                        <a:gd name="T18" fmla="*/ 1195 w 1582"/>
                        <a:gd name="T19" fmla="*/ 218 h 595"/>
                        <a:gd name="T20" fmla="*/ 1227 w 1582"/>
                        <a:gd name="T21" fmla="*/ 183 h 595"/>
                        <a:gd name="T22" fmla="*/ 1271 w 1582"/>
                        <a:gd name="T23" fmla="*/ 153 h 595"/>
                        <a:gd name="T24" fmla="*/ 1285 w 1582"/>
                        <a:gd name="T25" fmla="*/ 118 h 595"/>
                        <a:gd name="T26" fmla="*/ 1307 w 1582"/>
                        <a:gd name="T27" fmla="*/ 88 h 595"/>
                        <a:gd name="T28" fmla="*/ 1337 w 1582"/>
                        <a:gd name="T29" fmla="*/ 72 h 595"/>
                        <a:gd name="T30" fmla="*/ 1375 w 1582"/>
                        <a:gd name="T31" fmla="*/ 58 h 595"/>
                        <a:gd name="T32" fmla="*/ 1431 w 1582"/>
                        <a:gd name="T33" fmla="*/ 52 h 595"/>
                        <a:gd name="T34" fmla="*/ 1488 w 1582"/>
                        <a:gd name="T35" fmla="*/ 66 h 595"/>
                        <a:gd name="T36" fmla="*/ 1539 w 1582"/>
                        <a:gd name="T37" fmla="*/ 91 h 595"/>
                        <a:gd name="T38" fmla="*/ 1567 w 1582"/>
                        <a:gd name="T39" fmla="*/ 123 h 595"/>
                        <a:gd name="T40" fmla="*/ 1578 w 1582"/>
                        <a:gd name="T41" fmla="*/ 165 h 595"/>
                        <a:gd name="T42" fmla="*/ 1558 w 1582"/>
                        <a:gd name="T43" fmla="*/ 250 h 595"/>
                        <a:gd name="T44" fmla="*/ 1577 w 1582"/>
                        <a:gd name="T45" fmla="*/ 281 h 595"/>
                        <a:gd name="T46" fmla="*/ 1582 w 1582"/>
                        <a:gd name="T47" fmla="*/ 320 h 595"/>
                        <a:gd name="T48" fmla="*/ 1570 w 1582"/>
                        <a:gd name="T49" fmla="*/ 350 h 595"/>
                        <a:gd name="T50" fmla="*/ 1541 w 1582"/>
                        <a:gd name="T51" fmla="*/ 383 h 595"/>
                        <a:gd name="T52" fmla="*/ 1522 w 1582"/>
                        <a:gd name="T53" fmla="*/ 408 h 595"/>
                        <a:gd name="T54" fmla="*/ 1538 w 1582"/>
                        <a:gd name="T55" fmla="*/ 442 h 595"/>
                        <a:gd name="T56" fmla="*/ 1533 w 1582"/>
                        <a:gd name="T57" fmla="*/ 479 h 595"/>
                        <a:gd name="T58" fmla="*/ 1516 w 1582"/>
                        <a:gd name="T59" fmla="*/ 505 h 595"/>
                        <a:gd name="T60" fmla="*/ 1500 w 1582"/>
                        <a:gd name="T61" fmla="*/ 530 h 595"/>
                        <a:gd name="T62" fmla="*/ 1490 w 1582"/>
                        <a:gd name="T63" fmla="*/ 572 h 595"/>
                        <a:gd name="T64" fmla="*/ 1473 w 1582"/>
                        <a:gd name="T65" fmla="*/ 590 h 595"/>
                        <a:gd name="T66" fmla="*/ 1427 w 1582"/>
                        <a:gd name="T67" fmla="*/ 595 h 595"/>
                        <a:gd name="T68" fmla="*/ 1359 w 1582"/>
                        <a:gd name="T69" fmla="*/ 593 h 595"/>
                        <a:gd name="T70" fmla="*/ 1298 w 1582"/>
                        <a:gd name="T71" fmla="*/ 579 h 595"/>
                        <a:gd name="T72" fmla="*/ 1227 w 1582"/>
                        <a:gd name="T73" fmla="*/ 558 h 595"/>
                        <a:gd name="T74" fmla="*/ 1179 w 1582"/>
                        <a:gd name="T75" fmla="*/ 533 h 595"/>
                        <a:gd name="T76" fmla="*/ 1147 w 1582"/>
                        <a:gd name="T77" fmla="*/ 512 h 595"/>
                        <a:gd name="T78" fmla="*/ 1031 w 1582"/>
                        <a:gd name="T79" fmla="*/ 528 h 595"/>
                        <a:gd name="T80" fmla="*/ 877 w 1582"/>
                        <a:gd name="T81" fmla="*/ 549 h 595"/>
                        <a:gd name="T82" fmla="*/ 761 w 1582"/>
                        <a:gd name="T83" fmla="*/ 558 h 595"/>
                        <a:gd name="T84" fmla="*/ 644 w 1582"/>
                        <a:gd name="T85" fmla="*/ 558 h 595"/>
                        <a:gd name="T86" fmla="*/ 491 w 1582"/>
                        <a:gd name="T87" fmla="*/ 554 h 595"/>
                        <a:gd name="T88" fmla="*/ 400 w 1582"/>
                        <a:gd name="T89" fmla="*/ 538 h 595"/>
                        <a:gd name="T90" fmla="*/ 240 w 1582"/>
                        <a:gd name="T91" fmla="*/ 475 h 595"/>
                        <a:gd name="T92" fmla="*/ 140 w 1582"/>
                        <a:gd name="T93" fmla="*/ 419 h 595"/>
                        <a:gd name="T94" fmla="*/ 80 w 1582"/>
                        <a:gd name="T95" fmla="*/ 332 h 595"/>
                        <a:gd name="T96" fmla="*/ 39 w 1582"/>
                        <a:gd name="T97" fmla="*/ 297 h 595"/>
                        <a:gd name="T98" fmla="*/ 0 w 1582"/>
                        <a:gd name="T99" fmla="*/ 209 h 595"/>
                        <a:gd name="T100" fmla="*/ 72 w 1582"/>
                        <a:gd name="T101" fmla="*/ 158 h 595"/>
                        <a:gd name="T102" fmla="*/ 169 w 1582"/>
                        <a:gd name="T103" fmla="*/ 140 h 595"/>
                        <a:gd name="T104" fmla="*/ 277 w 1582"/>
                        <a:gd name="T105" fmla="*/ 42 h 595"/>
                        <a:gd name="T106" fmla="*/ 340 w 1582"/>
                        <a:gd name="T107" fmla="*/ 24 h 595"/>
                        <a:gd name="T108" fmla="*/ 381 w 1582"/>
                        <a:gd name="T109" fmla="*/ 0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82" h="595">
                          <a:moveTo>
                            <a:pt x="381" y="0"/>
                          </a:moveTo>
                          <a:lnTo>
                            <a:pt x="406" y="63"/>
                          </a:lnTo>
                          <a:lnTo>
                            <a:pt x="466" y="144"/>
                          </a:lnTo>
                          <a:lnTo>
                            <a:pt x="566" y="202"/>
                          </a:lnTo>
                          <a:lnTo>
                            <a:pt x="705" y="243"/>
                          </a:lnTo>
                          <a:lnTo>
                            <a:pt x="867" y="280"/>
                          </a:lnTo>
                          <a:lnTo>
                            <a:pt x="997" y="285"/>
                          </a:lnTo>
                          <a:lnTo>
                            <a:pt x="1132" y="280"/>
                          </a:lnTo>
                          <a:lnTo>
                            <a:pt x="1157" y="264"/>
                          </a:lnTo>
                          <a:lnTo>
                            <a:pt x="1195" y="218"/>
                          </a:lnTo>
                          <a:lnTo>
                            <a:pt x="1227" y="183"/>
                          </a:lnTo>
                          <a:lnTo>
                            <a:pt x="1271" y="153"/>
                          </a:lnTo>
                          <a:lnTo>
                            <a:pt x="1285" y="118"/>
                          </a:lnTo>
                          <a:lnTo>
                            <a:pt x="1307" y="88"/>
                          </a:lnTo>
                          <a:lnTo>
                            <a:pt x="1337" y="72"/>
                          </a:lnTo>
                          <a:lnTo>
                            <a:pt x="1375" y="58"/>
                          </a:lnTo>
                          <a:lnTo>
                            <a:pt x="1431" y="52"/>
                          </a:lnTo>
                          <a:lnTo>
                            <a:pt x="1488" y="66"/>
                          </a:lnTo>
                          <a:lnTo>
                            <a:pt x="1539" y="91"/>
                          </a:lnTo>
                          <a:lnTo>
                            <a:pt x="1567" y="123"/>
                          </a:lnTo>
                          <a:lnTo>
                            <a:pt x="1578" y="165"/>
                          </a:lnTo>
                          <a:lnTo>
                            <a:pt x="1558" y="250"/>
                          </a:lnTo>
                          <a:lnTo>
                            <a:pt x="1577" y="281"/>
                          </a:lnTo>
                          <a:lnTo>
                            <a:pt x="1582" y="320"/>
                          </a:lnTo>
                          <a:lnTo>
                            <a:pt x="1570" y="350"/>
                          </a:lnTo>
                          <a:lnTo>
                            <a:pt x="1541" y="383"/>
                          </a:lnTo>
                          <a:lnTo>
                            <a:pt x="1522" y="408"/>
                          </a:lnTo>
                          <a:lnTo>
                            <a:pt x="1538" y="442"/>
                          </a:lnTo>
                          <a:lnTo>
                            <a:pt x="1533" y="479"/>
                          </a:lnTo>
                          <a:lnTo>
                            <a:pt x="1516" y="505"/>
                          </a:lnTo>
                          <a:lnTo>
                            <a:pt x="1500" y="530"/>
                          </a:lnTo>
                          <a:lnTo>
                            <a:pt x="1490" y="572"/>
                          </a:lnTo>
                          <a:lnTo>
                            <a:pt x="1473" y="590"/>
                          </a:lnTo>
                          <a:lnTo>
                            <a:pt x="1427" y="595"/>
                          </a:lnTo>
                          <a:lnTo>
                            <a:pt x="1359" y="593"/>
                          </a:lnTo>
                          <a:lnTo>
                            <a:pt x="1298" y="579"/>
                          </a:lnTo>
                          <a:lnTo>
                            <a:pt x="1227" y="558"/>
                          </a:lnTo>
                          <a:lnTo>
                            <a:pt x="1179" y="533"/>
                          </a:lnTo>
                          <a:lnTo>
                            <a:pt x="1147" y="512"/>
                          </a:lnTo>
                          <a:lnTo>
                            <a:pt x="1031" y="528"/>
                          </a:lnTo>
                          <a:lnTo>
                            <a:pt x="877" y="549"/>
                          </a:lnTo>
                          <a:lnTo>
                            <a:pt x="761" y="558"/>
                          </a:lnTo>
                          <a:lnTo>
                            <a:pt x="644" y="558"/>
                          </a:lnTo>
                          <a:lnTo>
                            <a:pt x="491" y="554"/>
                          </a:lnTo>
                          <a:lnTo>
                            <a:pt x="400" y="538"/>
                          </a:lnTo>
                          <a:lnTo>
                            <a:pt x="240" y="475"/>
                          </a:lnTo>
                          <a:lnTo>
                            <a:pt x="140" y="419"/>
                          </a:lnTo>
                          <a:lnTo>
                            <a:pt x="80" y="332"/>
                          </a:lnTo>
                          <a:lnTo>
                            <a:pt x="39" y="297"/>
                          </a:lnTo>
                          <a:lnTo>
                            <a:pt x="0" y="209"/>
                          </a:lnTo>
                          <a:lnTo>
                            <a:pt x="72" y="158"/>
                          </a:lnTo>
                          <a:lnTo>
                            <a:pt x="169" y="140"/>
                          </a:lnTo>
                          <a:lnTo>
                            <a:pt x="277" y="42"/>
                          </a:lnTo>
                          <a:lnTo>
                            <a:pt x="340" y="24"/>
                          </a:lnTo>
                          <a:lnTo>
                            <a:pt x="381" y="0"/>
                          </a:lnTo>
                          <a:close/>
                        </a:path>
                      </a:pathLst>
                    </a:custGeom>
                    <a:solidFill>
                      <a:srgbClr val="E0A080"/>
                    </a:solidFill>
                    <a:ln w="9525">
                      <a:solidFill>
                        <a:srgbClr val="000000"/>
                      </a:solidFill>
                      <a:prstDash val="solid"/>
                      <a:round/>
                    </a:ln>
                  </p:spPr>
                  <p:txBody>
                    <a:bodyPr/>
                    <a:lstStyle/>
                    <a:p>
                      <a:endParaRPr lang="zh-CN" altLang="en-US"/>
                    </a:p>
                  </p:txBody>
                </p:sp>
                <p:sp>
                  <p:nvSpPr>
                    <p:cNvPr id="346659" name="Freeform 547"/>
                    <p:cNvSpPr/>
                    <p:nvPr/>
                  </p:nvSpPr>
                  <p:spPr bwMode="auto">
                    <a:xfrm>
                      <a:off x="4677" y="3053"/>
                      <a:ext cx="17" cy="69"/>
                    </a:xfrm>
                    <a:custGeom>
                      <a:avLst/>
                      <a:gdLst>
                        <a:gd name="T0" fmla="*/ 36 w 36"/>
                        <a:gd name="T1" fmla="*/ 0 h 137"/>
                        <a:gd name="T2" fmla="*/ 19 w 36"/>
                        <a:gd name="T3" fmla="*/ 5 h 137"/>
                        <a:gd name="T4" fmla="*/ 7 w 36"/>
                        <a:gd name="T5" fmla="*/ 25 h 137"/>
                        <a:gd name="T6" fmla="*/ 0 w 36"/>
                        <a:gd name="T7" fmla="*/ 44 h 137"/>
                        <a:gd name="T8" fmla="*/ 0 w 36"/>
                        <a:gd name="T9" fmla="*/ 62 h 137"/>
                        <a:gd name="T10" fmla="*/ 9 w 36"/>
                        <a:gd name="T11" fmla="*/ 100 h 137"/>
                        <a:gd name="T12" fmla="*/ 7 w 36"/>
                        <a:gd name="T13" fmla="*/ 137 h 137"/>
                      </a:gdLst>
                      <a:ahLst/>
                      <a:cxnLst>
                        <a:cxn ang="0">
                          <a:pos x="T0" y="T1"/>
                        </a:cxn>
                        <a:cxn ang="0">
                          <a:pos x="T2" y="T3"/>
                        </a:cxn>
                        <a:cxn ang="0">
                          <a:pos x="T4" y="T5"/>
                        </a:cxn>
                        <a:cxn ang="0">
                          <a:pos x="T6" y="T7"/>
                        </a:cxn>
                        <a:cxn ang="0">
                          <a:pos x="T8" y="T9"/>
                        </a:cxn>
                        <a:cxn ang="0">
                          <a:pos x="T10" y="T11"/>
                        </a:cxn>
                        <a:cxn ang="0">
                          <a:pos x="T12" y="T13"/>
                        </a:cxn>
                      </a:cxnLst>
                      <a:rect l="0" t="0" r="r" b="b"/>
                      <a:pathLst>
                        <a:path w="36" h="137">
                          <a:moveTo>
                            <a:pt x="36" y="0"/>
                          </a:moveTo>
                          <a:lnTo>
                            <a:pt x="19" y="5"/>
                          </a:lnTo>
                          <a:lnTo>
                            <a:pt x="7" y="25"/>
                          </a:lnTo>
                          <a:lnTo>
                            <a:pt x="0" y="44"/>
                          </a:lnTo>
                          <a:lnTo>
                            <a:pt x="0" y="62"/>
                          </a:lnTo>
                          <a:lnTo>
                            <a:pt x="9" y="100"/>
                          </a:lnTo>
                          <a:lnTo>
                            <a:pt x="7" y="137"/>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60" name="Freeform 548"/>
                    <p:cNvSpPr/>
                    <p:nvPr/>
                  </p:nvSpPr>
                  <p:spPr bwMode="auto">
                    <a:xfrm>
                      <a:off x="4760" y="3141"/>
                      <a:ext cx="32" cy="10"/>
                    </a:xfrm>
                    <a:custGeom>
                      <a:avLst/>
                      <a:gdLst>
                        <a:gd name="T0" fmla="*/ 64 w 64"/>
                        <a:gd name="T1" fmla="*/ 9 h 20"/>
                        <a:gd name="T2" fmla="*/ 42 w 64"/>
                        <a:gd name="T3" fmla="*/ 20 h 20"/>
                        <a:gd name="T4" fmla="*/ 15 w 64"/>
                        <a:gd name="T5" fmla="*/ 14 h 20"/>
                        <a:gd name="T6" fmla="*/ 0 w 64"/>
                        <a:gd name="T7" fmla="*/ 0 h 20"/>
                      </a:gdLst>
                      <a:ahLst/>
                      <a:cxnLst>
                        <a:cxn ang="0">
                          <a:pos x="T0" y="T1"/>
                        </a:cxn>
                        <a:cxn ang="0">
                          <a:pos x="T2" y="T3"/>
                        </a:cxn>
                        <a:cxn ang="0">
                          <a:pos x="T4" y="T5"/>
                        </a:cxn>
                        <a:cxn ang="0">
                          <a:pos x="T6" y="T7"/>
                        </a:cxn>
                      </a:cxnLst>
                      <a:rect l="0" t="0" r="r" b="b"/>
                      <a:pathLst>
                        <a:path w="64" h="20">
                          <a:moveTo>
                            <a:pt x="64" y="9"/>
                          </a:moveTo>
                          <a:lnTo>
                            <a:pt x="42" y="20"/>
                          </a:lnTo>
                          <a:lnTo>
                            <a:pt x="15" y="14"/>
                          </a:lnTo>
                          <a:lnTo>
                            <a:pt x="0" y="0"/>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61" name="Freeform 549"/>
                    <p:cNvSpPr/>
                    <p:nvPr/>
                  </p:nvSpPr>
                  <p:spPr bwMode="auto">
                    <a:xfrm>
                      <a:off x="4743" y="3219"/>
                      <a:ext cx="36" cy="12"/>
                    </a:xfrm>
                    <a:custGeom>
                      <a:avLst/>
                      <a:gdLst>
                        <a:gd name="T0" fmla="*/ 71 w 71"/>
                        <a:gd name="T1" fmla="*/ 0 h 23"/>
                        <a:gd name="T2" fmla="*/ 63 w 71"/>
                        <a:gd name="T3" fmla="*/ 18 h 23"/>
                        <a:gd name="T4" fmla="*/ 41 w 71"/>
                        <a:gd name="T5" fmla="*/ 23 h 23"/>
                        <a:gd name="T6" fmla="*/ 20 w 71"/>
                        <a:gd name="T7" fmla="*/ 16 h 23"/>
                        <a:gd name="T8" fmla="*/ 0 w 71"/>
                        <a:gd name="T9" fmla="*/ 3 h 23"/>
                      </a:gdLst>
                      <a:ahLst/>
                      <a:cxnLst>
                        <a:cxn ang="0">
                          <a:pos x="T0" y="T1"/>
                        </a:cxn>
                        <a:cxn ang="0">
                          <a:pos x="T2" y="T3"/>
                        </a:cxn>
                        <a:cxn ang="0">
                          <a:pos x="T4" y="T5"/>
                        </a:cxn>
                        <a:cxn ang="0">
                          <a:pos x="T6" y="T7"/>
                        </a:cxn>
                        <a:cxn ang="0">
                          <a:pos x="T8" y="T9"/>
                        </a:cxn>
                      </a:cxnLst>
                      <a:rect l="0" t="0" r="r" b="b"/>
                      <a:pathLst>
                        <a:path w="71" h="23">
                          <a:moveTo>
                            <a:pt x="71" y="0"/>
                          </a:moveTo>
                          <a:lnTo>
                            <a:pt x="63" y="18"/>
                          </a:lnTo>
                          <a:lnTo>
                            <a:pt x="41" y="23"/>
                          </a:lnTo>
                          <a:lnTo>
                            <a:pt x="20" y="16"/>
                          </a:lnTo>
                          <a:lnTo>
                            <a:pt x="0" y="3"/>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62" name="Freeform 550"/>
                    <p:cNvSpPr/>
                    <p:nvPr/>
                  </p:nvSpPr>
                  <p:spPr bwMode="auto">
                    <a:xfrm>
                      <a:off x="4536" y="3163"/>
                      <a:ext cx="45" cy="89"/>
                    </a:xfrm>
                    <a:custGeom>
                      <a:avLst/>
                      <a:gdLst>
                        <a:gd name="T0" fmla="*/ 0 w 90"/>
                        <a:gd name="T1" fmla="*/ 0 h 178"/>
                        <a:gd name="T2" fmla="*/ 29 w 90"/>
                        <a:gd name="T3" fmla="*/ 25 h 178"/>
                        <a:gd name="T4" fmla="*/ 61 w 90"/>
                        <a:gd name="T5" fmla="*/ 64 h 178"/>
                        <a:gd name="T6" fmla="*/ 77 w 90"/>
                        <a:gd name="T7" fmla="*/ 109 h 178"/>
                        <a:gd name="T8" fmla="*/ 90 w 90"/>
                        <a:gd name="T9" fmla="*/ 138 h 178"/>
                        <a:gd name="T10" fmla="*/ 77 w 90"/>
                        <a:gd name="T11" fmla="*/ 178 h 178"/>
                      </a:gdLst>
                      <a:ahLst/>
                      <a:cxnLst>
                        <a:cxn ang="0">
                          <a:pos x="T0" y="T1"/>
                        </a:cxn>
                        <a:cxn ang="0">
                          <a:pos x="T2" y="T3"/>
                        </a:cxn>
                        <a:cxn ang="0">
                          <a:pos x="T4" y="T5"/>
                        </a:cxn>
                        <a:cxn ang="0">
                          <a:pos x="T6" y="T7"/>
                        </a:cxn>
                        <a:cxn ang="0">
                          <a:pos x="T8" y="T9"/>
                        </a:cxn>
                        <a:cxn ang="0">
                          <a:pos x="T10" y="T11"/>
                        </a:cxn>
                      </a:cxnLst>
                      <a:rect l="0" t="0" r="r" b="b"/>
                      <a:pathLst>
                        <a:path w="90" h="178">
                          <a:moveTo>
                            <a:pt x="0" y="0"/>
                          </a:moveTo>
                          <a:lnTo>
                            <a:pt x="29" y="25"/>
                          </a:lnTo>
                          <a:lnTo>
                            <a:pt x="61" y="64"/>
                          </a:lnTo>
                          <a:lnTo>
                            <a:pt x="77" y="109"/>
                          </a:lnTo>
                          <a:lnTo>
                            <a:pt x="90" y="138"/>
                          </a:lnTo>
                          <a:lnTo>
                            <a:pt x="77" y="178"/>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63" name="Freeform 551"/>
                    <p:cNvSpPr/>
                    <p:nvPr/>
                  </p:nvSpPr>
                  <p:spPr bwMode="auto">
                    <a:xfrm>
                      <a:off x="4681" y="3109"/>
                      <a:ext cx="46" cy="24"/>
                    </a:xfrm>
                    <a:custGeom>
                      <a:avLst/>
                      <a:gdLst>
                        <a:gd name="T0" fmla="*/ 0 w 92"/>
                        <a:gd name="T1" fmla="*/ 47 h 47"/>
                        <a:gd name="T2" fmla="*/ 17 w 92"/>
                        <a:gd name="T3" fmla="*/ 24 h 47"/>
                        <a:gd name="T4" fmla="*/ 37 w 92"/>
                        <a:gd name="T5" fmla="*/ 9 h 47"/>
                        <a:gd name="T6" fmla="*/ 59 w 92"/>
                        <a:gd name="T7" fmla="*/ 0 h 47"/>
                        <a:gd name="T8" fmla="*/ 92 w 92"/>
                        <a:gd name="T9" fmla="*/ 3 h 47"/>
                      </a:gdLst>
                      <a:ahLst/>
                      <a:cxnLst>
                        <a:cxn ang="0">
                          <a:pos x="T0" y="T1"/>
                        </a:cxn>
                        <a:cxn ang="0">
                          <a:pos x="T2" y="T3"/>
                        </a:cxn>
                        <a:cxn ang="0">
                          <a:pos x="T4" y="T5"/>
                        </a:cxn>
                        <a:cxn ang="0">
                          <a:pos x="T6" y="T7"/>
                        </a:cxn>
                        <a:cxn ang="0">
                          <a:pos x="T8" y="T9"/>
                        </a:cxn>
                      </a:cxnLst>
                      <a:rect l="0" t="0" r="r" b="b"/>
                      <a:pathLst>
                        <a:path w="92" h="47">
                          <a:moveTo>
                            <a:pt x="0" y="47"/>
                          </a:moveTo>
                          <a:lnTo>
                            <a:pt x="17" y="24"/>
                          </a:lnTo>
                          <a:lnTo>
                            <a:pt x="37" y="9"/>
                          </a:lnTo>
                          <a:lnTo>
                            <a:pt x="59" y="0"/>
                          </a:lnTo>
                          <a:lnTo>
                            <a:pt x="92" y="3"/>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64" name="Freeform 552"/>
                    <p:cNvSpPr/>
                    <p:nvPr/>
                  </p:nvSpPr>
                  <p:spPr bwMode="auto">
                    <a:xfrm>
                      <a:off x="4717" y="3084"/>
                      <a:ext cx="29" cy="25"/>
                    </a:xfrm>
                    <a:custGeom>
                      <a:avLst/>
                      <a:gdLst>
                        <a:gd name="T0" fmla="*/ 60 w 60"/>
                        <a:gd name="T1" fmla="*/ 0 h 51"/>
                        <a:gd name="T2" fmla="*/ 41 w 60"/>
                        <a:gd name="T3" fmla="*/ 0 h 51"/>
                        <a:gd name="T4" fmla="*/ 26 w 60"/>
                        <a:gd name="T5" fmla="*/ 8 h 51"/>
                        <a:gd name="T6" fmla="*/ 14 w 60"/>
                        <a:gd name="T7" fmla="*/ 17 h 51"/>
                        <a:gd name="T8" fmla="*/ 4 w 60"/>
                        <a:gd name="T9" fmla="*/ 33 h 51"/>
                        <a:gd name="T10" fmla="*/ 0 w 60"/>
                        <a:gd name="T11" fmla="*/ 51 h 51"/>
                      </a:gdLst>
                      <a:ahLst/>
                      <a:cxnLst>
                        <a:cxn ang="0">
                          <a:pos x="T0" y="T1"/>
                        </a:cxn>
                        <a:cxn ang="0">
                          <a:pos x="T2" y="T3"/>
                        </a:cxn>
                        <a:cxn ang="0">
                          <a:pos x="T4" y="T5"/>
                        </a:cxn>
                        <a:cxn ang="0">
                          <a:pos x="T6" y="T7"/>
                        </a:cxn>
                        <a:cxn ang="0">
                          <a:pos x="T8" y="T9"/>
                        </a:cxn>
                        <a:cxn ang="0">
                          <a:pos x="T10" y="T11"/>
                        </a:cxn>
                      </a:cxnLst>
                      <a:rect l="0" t="0" r="r" b="b"/>
                      <a:pathLst>
                        <a:path w="60" h="51">
                          <a:moveTo>
                            <a:pt x="60" y="0"/>
                          </a:moveTo>
                          <a:lnTo>
                            <a:pt x="41" y="0"/>
                          </a:lnTo>
                          <a:lnTo>
                            <a:pt x="26" y="8"/>
                          </a:lnTo>
                          <a:lnTo>
                            <a:pt x="14" y="17"/>
                          </a:lnTo>
                          <a:lnTo>
                            <a:pt x="4" y="33"/>
                          </a:lnTo>
                          <a:lnTo>
                            <a:pt x="0" y="51"/>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65" name="Freeform 553"/>
                    <p:cNvSpPr/>
                    <p:nvPr/>
                  </p:nvSpPr>
                  <p:spPr bwMode="auto">
                    <a:xfrm>
                      <a:off x="4712" y="3049"/>
                      <a:ext cx="12" cy="36"/>
                    </a:xfrm>
                    <a:custGeom>
                      <a:avLst/>
                      <a:gdLst>
                        <a:gd name="T0" fmla="*/ 23 w 23"/>
                        <a:gd name="T1" fmla="*/ 0 h 72"/>
                        <a:gd name="T2" fmla="*/ 13 w 23"/>
                        <a:gd name="T3" fmla="*/ 9 h 72"/>
                        <a:gd name="T4" fmla="*/ 5 w 23"/>
                        <a:gd name="T5" fmla="*/ 30 h 72"/>
                        <a:gd name="T6" fmla="*/ 0 w 23"/>
                        <a:gd name="T7" fmla="*/ 51 h 72"/>
                        <a:gd name="T8" fmla="*/ 0 w 23"/>
                        <a:gd name="T9" fmla="*/ 72 h 72"/>
                      </a:gdLst>
                      <a:ahLst/>
                      <a:cxnLst>
                        <a:cxn ang="0">
                          <a:pos x="T0" y="T1"/>
                        </a:cxn>
                        <a:cxn ang="0">
                          <a:pos x="T2" y="T3"/>
                        </a:cxn>
                        <a:cxn ang="0">
                          <a:pos x="T4" y="T5"/>
                        </a:cxn>
                        <a:cxn ang="0">
                          <a:pos x="T6" y="T7"/>
                        </a:cxn>
                        <a:cxn ang="0">
                          <a:pos x="T8" y="T9"/>
                        </a:cxn>
                      </a:cxnLst>
                      <a:rect l="0" t="0" r="r" b="b"/>
                      <a:pathLst>
                        <a:path w="23" h="72">
                          <a:moveTo>
                            <a:pt x="23" y="0"/>
                          </a:moveTo>
                          <a:lnTo>
                            <a:pt x="13" y="9"/>
                          </a:lnTo>
                          <a:lnTo>
                            <a:pt x="5" y="30"/>
                          </a:lnTo>
                          <a:lnTo>
                            <a:pt x="0" y="51"/>
                          </a:lnTo>
                          <a:lnTo>
                            <a:pt x="0" y="72"/>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6666" name="Freeform 554"/>
                    <p:cNvSpPr/>
                    <p:nvPr/>
                  </p:nvSpPr>
                  <p:spPr bwMode="auto">
                    <a:xfrm>
                      <a:off x="4692" y="3064"/>
                      <a:ext cx="20" cy="21"/>
                    </a:xfrm>
                    <a:custGeom>
                      <a:avLst/>
                      <a:gdLst>
                        <a:gd name="T0" fmla="*/ 0 w 41"/>
                        <a:gd name="T1" fmla="*/ 0 h 40"/>
                        <a:gd name="T2" fmla="*/ 19 w 41"/>
                        <a:gd name="T3" fmla="*/ 9 h 40"/>
                        <a:gd name="T4" fmla="*/ 30 w 41"/>
                        <a:gd name="T5" fmla="*/ 23 h 40"/>
                        <a:gd name="T6" fmla="*/ 41 w 41"/>
                        <a:gd name="T7" fmla="*/ 40 h 40"/>
                      </a:gdLst>
                      <a:ahLst/>
                      <a:cxnLst>
                        <a:cxn ang="0">
                          <a:pos x="T0" y="T1"/>
                        </a:cxn>
                        <a:cxn ang="0">
                          <a:pos x="T2" y="T3"/>
                        </a:cxn>
                        <a:cxn ang="0">
                          <a:pos x="T4" y="T5"/>
                        </a:cxn>
                        <a:cxn ang="0">
                          <a:pos x="T6" y="T7"/>
                        </a:cxn>
                      </a:cxnLst>
                      <a:rect l="0" t="0" r="r" b="b"/>
                      <a:pathLst>
                        <a:path w="41" h="40">
                          <a:moveTo>
                            <a:pt x="0" y="0"/>
                          </a:moveTo>
                          <a:lnTo>
                            <a:pt x="19" y="9"/>
                          </a:lnTo>
                          <a:lnTo>
                            <a:pt x="30" y="23"/>
                          </a:lnTo>
                          <a:lnTo>
                            <a:pt x="41" y="40"/>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46667" name="Freeform 555"/>
                  <p:cNvSpPr/>
                  <p:nvPr/>
                </p:nvSpPr>
                <p:spPr bwMode="auto">
                  <a:xfrm>
                    <a:off x="3939" y="2910"/>
                    <a:ext cx="260" cy="218"/>
                  </a:xfrm>
                  <a:custGeom>
                    <a:avLst/>
                    <a:gdLst>
                      <a:gd name="T0" fmla="*/ 0 w 522"/>
                      <a:gd name="T1" fmla="*/ 227 h 435"/>
                      <a:gd name="T2" fmla="*/ 5 w 522"/>
                      <a:gd name="T3" fmla="*/ 276 h 435"/>
                      <a:gd name="T4" fmla="*/ 29 w 522"/>
                      <a:gd name="T5" fmla="*/ 310 h 435"/>
                      <a:gd name="T6" fmla="*/ 31 w 522"/>
                      <a:gd name="T7" fmla="*/ 317 h 435"/>
                      <a:gd name="T8" fmla="*/ 60 w 522"/>
                      <a:gd name="T9" fmla="*/ 361 h 435"/>
                      <a:gd name="T10" fmla="*/ 56 w 522"/>
                      <a:gd name="T11" fmla="*/ 368 h 435"/>
                      <a:gd name="T12" fmla="*/ 87 w 522"/>
                      <a:gd name="T13" fmla="*/ 403 h 435"/>
                      <a:gd name="T14" fmla="*/ 133 w 522"/>
                      <a:gd name="T15" fmla="*/ 435 h 435"/>
                      <a:gd name="T16" fmla="*/ 156 w 522"/>
                      <a:gd name="T17" fmla="*/ 403 h 435"/>
                      <a:gd name="T18" fmla="*/ 189 w 522"/>
                      <a:gd name="T19" fmla="*/ 375 h 435"/>
                      <a:gd name="T20" fmla="*/ 221 w 522"/>
                      <a:gd name="T21" fmla="*/ 350 h 435"/>
                      <a:gd name="T22" fmla="*/ 257 w 522"/>
                      <a:gd name="T23" fmla="*/ 347 h 435"/>
                      <a:gd name="T24" fmla="*/ 308 w 522"/>
                      <a:gd name="T25" fmla="*/ 345 h 435"/>
                      <a:gd name="T26" fmla="*/ 335 w 522"/>
                      <a:gd name="T27" fmla="*/ 308 h 435"/>
                      <a:gd name="T28" fmla="*/ 360 w 522"/>
                      <a:gd name="T29" fmla="*/ 276 h 435"/>
                      <a:gd name="T30" fmla="*/ 393 w 522"/>
                      <a:gd name="T31" fmla="*/ 257 h 435"/>
                      <a:gd name="T32" fmla="*/ 427 w 522"/>
                      <a:gd name="T33" fmla="*/ 243 h 435"/>
                      <a:gd name="T34" fmla="*/ 479 w 522"/>
                      <a:gd name="T35" fmla="*/ 232 h 435"/>
                      <a:gd name="T36" fmla="*/ 513 w 522"/>
                      <a:gd name="T37" fmla="*/ 211 h 435"/>
                      <a:gd name="T38" fmla="*/ 522 w 522"/>
                      <a:gd name="T39" fmla="*/ 190 h 435"/>
                      <a:gd name="T40" fmla="*/ 511 w 522"/>
                      <a:gd name="T41" fmla="*/ 137 h 435"/>
                      <a:gd name="T42" fmla="*/ 506 w 522"/>
                      <a:gd name="T43" fmla="*/ 139 h 435"/>
                      <a:gd name="T44" fmla="*/ 483 w 522"/>
                      <a:gd name="T45" fmla="*/ 93 h 435"/>
                      <a:gd name="T46" fmla="*/ 472 w 522"/>
                      <a:gd name="T47" fmla="*/ 70 h 435"/>
                      <a:gd name="T48" fmla="*/ 472 w 522"/>
                      <a:gd name="T49" fmla="*/ 67 h 435"/>
                      <a:gd name="T50" fmla="*/ 452 w 522"/>
                      <a:gd name="T51" fmla="*/ 37 h 435"/>
                      <a:gd name="T52" fmla="*/ 413 w 522"/>
                      <a:gd name="T53" fmla="*/ 0 h 435"/>
                      <a:gd name="T54" fmla="*/ 345 w 522"/>
                      <a:gd name="T55" fmla="*/ 30 h 435"/>
                      <a:gd name="T56" fmla="*/ 304 w 522"/>
                      <a:gd name="T57" fmla="*/ 88 h 435"/>
                      <a:gd name="T58" fmla="*/ 252 w 522"/>
                      <a:gd name="T59" fmla="*/ 112 h 435"/>
                      <a:gd name="T60" fmla="*/ 172 w 522"/>
                      <a:gd name="T61" fmla="*/ 144 h 435"/>
                      <a:gd name="T62" fmla="*/ 148 w 522"/>
                      <a:gd name="T63" fmla="*/ 186 h 435"/>
                      <a:gd name="T64" fmla="*/ 112 w 522"/>
                      <a:gd name="T65" fmla="*/ 190 h 435"/>
                      <a:gd name="T66" fmla="*/ 63 w 522"/>
                      <a:gd name="T67" fmla="*/ 211 h 435"/>
                      <a:gd name="T68" fmla="*/ 0 w 522"/>
                      <a:gd name="T69" fmla="*/ 227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22" h="435">
                        <a:moveTo>
                          <a:pt x="0" y="227"/>
                        </a:moveTo>
                        <a:lnTo>
                          <a:pt x="5" y="276"/>
                        </a:lnTo>
                        <a:lnTo>
                          <a:pt x="29" y="310"/>
                        </a:lnTo>
                        <a:lnTo>
                          <a:pt x="31" y="317"/>
                        </a:lnTo>
                        <a:lnTo>
                          <a:pt x="60" y="361"/>
                        </a:lnTo>
                        <a:lnTo>
                          <a:pt x="56" y="368"/>
                        </a:lnTo>
                        <a:lnTo>
                          <a:pt x="87" y="403"/>
                        </a:lnTo>
                        <a:lnTo>
                          <a:pt x="133" y="435"/>
                        </a:lnTo>
                        <a:lnTo>
                          <a:pt x="156" y="403"/>
                        </a:lnTo>
                        <a:lnTo>
                          <a:pt x="189" y="375"/>
                        </a:lnTo>
                        <a:lnTo>
                          <a:pt x="221" y="350"/>
                        </a:lnTo>
                        <a:lnTo>
                          <a:pt x="257" y="347"/>
                        </a:lnTo>
                        <a:lnTo>
                          <a:pt x="308" y="345"/>
                        </a:lnTo>
                        <a:lnTo>
                          <a:pt x="335" y="308"/>
                        </a:lnTo>
                        <a:lnTo>
                          <a:pt x="360" y="276"/>
                        </a:lnTo>
                        <a:lnTo>
                          <a:pt x="393" y="257"/>
                        </a:lnTo>
                        <a:lnTo>
                          <a:pt x="427" y="243"/>
                        </a:lnTo>
                        <a:lnTo>
                          <a:pt x="479" y="232"/>
                        </a:lnTo>
                        <a:lnTo>
                          <a:pt x="513" y="211"/>
                        </a:lnTo>
                        <a:lnTo>
                          <a:pt x="522" y="190"/>
                        </a:lnTo>
                        <a:lnTo>
                          <a:pt x="511" y="137"/>
                        </a:lnTo>
                        <a:lnTo>
                          <a:pt x="506" y="139"/>
                        </a:lnTo>
                        <a:lnTo>
                          <a:pt x="483" y="93"/>
                        </a:lnTo>
                        <a:lnTo>
                          <a:pt x="472" y="70"/>
                        </a:lnTo>
                        <a:lnTo>
                          <a:pt x="472" y="67"/>
                        </a:lnTo>
                        <a:lnTo>
                          <a:pt x="452" y="37"/>
                        </a:lnTo>
                        <a:lnTo>
                          <a:pt x="413" y="0"/>
                        </a:lnTo>
                        <a:lnTo>
                          <a:pt x="345" y="30"/>
                        </a:lnTo>
                        <a:lnTo>
                          <a:pt x="304" y="88"/>
                        </a:lnTo>
                        <a:lnTo>
                          <a:pt x="252" y="112"/>
                        </a:lnTo>
                        <a:lnTo>
                          <a:pt x="172" y="144"/>
                        </a:lnTo>
                        <a:lnTo>
                          <a:pt x="148" y="186"/>
                        </a:lnTo>
                        <a:lnTo>
                          <a:pt x="112" y="190"/>
                        </a:lnTo>
                        <a:lnTo>
                          <a:pt x="63" y="211"/>
                        </a:lnTo>
                        <a:lnTo>
                          <a:pt x="0" y="227"/>
                        </a:lnTo>
                        <a:close/>
                      </a:path>
                    </a:pathLst>
                  </a:custGeom>
                  <a:solidFill>
                    <a:srgbClr val="E040A0"/>
                  </a:solidFill>
                  <a:ln w="9525">
                    <a:solidFill>
                      <a:srgbClr val="000000"/>
                    </a:solidFill>
                    <a:prstDash val="solid"/>
                    <a:round/>
                  </a:ln>
                </p:spPr>
                <p:txBody>
                  <a:bodyPr/>
                  <a:lstStyle/>
                  <a:p>
                    <a:endParaRPr lang="zh-CN" altLang="en-US"/>
                  </a:p>
                </p:txBody>
              </p:sp>
              <p:sp>
                <p:nvSpPr>
                  <p:cNvPr id="346668" name="Freeform 556"/>
                  <p:cNvSpPr/>
                  <p:nvPr/>
                </p:nvSpPr>
                <p:spPr bwMode="auto">
                  <a:xfrm>
                    <a:off x="4049" y="2520"/>
                    <a:ext cx="304" cy="256"/>
                  </a:xfrm>
                  <a:custGeom>
                    <a:avLst/>
                    <a:gdLst>
                      <a:gd name="T0" fmla="*/ 0 w 608"/>
                      <a:gd name="T1" fmla="*/ 0 h 513"/>
                      <a:gd name="T2" fmla="*/ 92 w 608"/>
                      <a:gd name="T3" fmla="*/ 53 h 513"/>
                      <a:gd name="T4" fmla="*/ 177 w 608"/>
                      <a:gd name="T5" fmla="*/ 106 h 513"/>
                      <a:gd name="T6" fmla="*/ 246 w 608"/>
                      <a:gd name="T7" fmla="*/ 140 h 513"/>
                      <a:gd name="T8" fmla="*/ 318 w 608"/>
                      <a:gd name="T9" fmla="*/ 178 h 513"/>
                      <a:gd name="T10" fmla="*/ 418 w 608"/>
                      <a:gd name="T11" fmla="*/ 231 h 513"/>
                      <a:gd name="T12" fmla="*/ 479 w 608"/>
                      <a:gd name="T13" fmla="*/ 332 h 513"/>
                      <a:gd name="T14" fmla="*/ 527 w 608"/>
                      <a:gd name="T15" fmla="*/ 508 h 513"/>
                      <a:gd name="T16" fmla="*/ 572 w 608"/>
                      <a:gd name="T17" fmla="*/ 363 h 513"/>
                      <a:gd name="T18" fmla="*/ 608 w 608"/>
                      <a:gd name="T19" fmla="*/ 268 h 513"/>
                      <a:gd name="T20" fmla="*/ 603 w 608"/>
                      <a:gd name="T21" fmla="*/ 194 h 513"/>
                      <a:gd name="T22" fmla="*/ 606 w 608"/>
                      <a:gd name="T23" fmla="*/ 268 h 513"/>
                      <a:gd name="T24" fmla="*/ 567 w 608"/>
                      <a:gd name="T25" fmla="*/ 361 h 513"/>
                      <a:gd name="T26" fmla="*/ 533 w 608"/>
                      <a:gd name="T27" fmla="*/ 513 h 513"/>
                      <a:gd name="T28" fmla="*/ 481 w 608"/>
                      <a:gd name="T29" fmla="*/ 328 h 513"/>
                      <a:gd name="T30" fmla="*/ 418 w 608"/>
                      <a:gd name="T31" fmla="*/ 233 h 513"/>
                      <a:gd name="T32" fmla="*/ 316 w 608"/>
                      <a:gd name="T33" fmla="*/ 178 h 513"/>
                      <a:gd name="T34" fmla="*/ 245 w 608"/>
                      <a:gd name="T35" fmla="*/ 143 h 513"/>
                      <a:gd name="T36" fmla="*/ 175 w 608"/>
                      <a:gd name="T37" fmla="*/ 106 h 513"/>
                      <a:gd name="T38" fmla="*/ 88 w 608"/>
                      <a:gd name="T39" fmla="*/ 53 h 513"/>
                      <a:gd name="T40" fmla="*/ 0 w 608"/>
                      <a:gd name="T41" fmla="*/ 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8" h="513">
                        <a:moveTo>
                          <a:pt x="0" y="0"/>
                        </a:moveTo>
                        <a:lnTo>
                          <a:pt x="92" y="53"/>
                        </a:lnTo>
                        <a:lnTo>
                          <a:pt x="177" y="106"/>
                        </a:lnTo>
                        <a:lnTo>
                          <a:pt x="246" y="140"/>
                        </a:lnTo>
                        <a:lnTo>
                          <a:pt x="318" y="178"/>
                        </a:lnTo>
                        <a:lnTo>
                          <a:pt x="418" y="231"/>
                        </a:lnTo>
                        <a:lnTo>
                          <a:pt x="479" y="332"/>
                        </a:lnTo>
                        <a:lnTo>
                          <a:pt x="527" y="508"/>
                        </a:lnTo>
                        <a:lnTo>
                          <a:pt x="572" y="363"/>
                        </a:lnTo>
                        <a:lnTo>
                          <a:pt x="608" y="268"/>
                        </a:lnTo>
                        <a:lnTo>
                          <a:pt x="603" y="194"/>
                        </a:lnTo>
                        <a:lnTo>
                          <a:pt x="606" y="268"/>
                        </a:lnTo>
                        <a:lnTo>
                          <a:pt x="567" y="361"/>
                        </a:lnTo>
                        <a:lnTo>
                          <a:pt x="533" y="513"/>
                        </a:lnTo>
                        <a:lnTo>
                          <a:pt x="481" y="328"/>
                        </a:lnTo>
                        <a:lnTo>
                          <a:pt x="418" y="233"/>
                        </a:lnTo>
                        <a:lnTo>
                          <a:pt x="316" y="178"/>
                        </a:lnTo>
                        <a:lnTo>
                          <a:pt x="245" y="143"/>
                        </a:lnTo>
                        <a:lnTo>
                          <a:pt x="175" y="106"/>
                        </a:lnTo>
                        <a:lnTo>
                          <a:pt x="88" y="53"/>
                        </a:lnTo>
                        <a:lnTo>
                          <a:pt x="0" y="0"/>
                        </a:lnTo>
                        <a:close/>
                      </a:path>
                    </a:pathLst>
                  </a:custGeom>
                  <a:solidFill>
                    <a:srgbClr val="E040A0"/>
                  </a:solidFill>
                  <a:ln w="9525">
                    <a:solidFill>
                      <a:srgbClr val="000000"/>
                    </a:solidFill>
                    <a:prstDash val="solid"/>
                    <a:round/>
                  </a:ln>
                </p:spPr>
                <p:txBody>
                  <a:bodyPr/>
                  <a:lstStyle/>
                  <a:p>
                    <a:endParaRPr lang="zh-CN" altLang="en-US"/>
                  </a:p>
                </p:txBody>
              </p:sp>
              <p:sp>
                <p:nvSpPr>
                  <p:cNvPr id="346669" name="Freeform 557"/>
                  <p:cNvSpPr/>
                  <p:nvPr/>
                </p:nvSpPr>
                <p:spPr bwMode="auto">
                  <a:xfrm>
                    <a:off x="4082" y="2743"/>
                    <a:ext cx="118" cy="219"/>
                  </a:xfrm>
                  <a:custGeom>
                    <a:avLst/>
                    <a:gdLst>
                      <a:gd name="T0" fmla="*/ 111 w 236"/>
                      <a:gd name="T1" fmla="*/ 333 h 439"/>
                      <a:gd name="T2" fmla="*/ 43 w 236"/>
                      <a:gd name="T3" fmla="*/ 266 h 439"/>
                      <a:gd name="T4" fmla="*/ 21 w 236"/>
                      <a:gd name="T5" fmla="*/ 197 h 439"/>
                      <a:gd name="T6" fmla="*/ 12 w 236"/>
                      <a:gd name="T7" fmla="*/ 125 h 439"/>
                      <a:gd name="T8" fmla="*/ 2 w 236"/>
                      <a:gd name="T9" fmla="*/ 26 h 439"/>
                      <a:gd name="T10" fmla="*/ 24 w 236"/>
                      <a:gd name="T11" fmla="*/ 9 h 439"/>
                      <a:gd name="T12" fmla="*/ 43 w 236"/>
                      <a:gd name="T13" fmla="*/ 7 h 439"/>
                      <a:gd name="T14" fmla="*/ 56 w 236"/>
                      <a:gd name="T15" fmla="*/ 67 h 439"/>
                      <a:gd name="T16" fmla="*/ 87 w 236"/>
                      <a:gd name="T17" fmla="*/ 102 h 439"/>
                      <a:gd name="T18" fmla="*/ 99 w 236"/>
                      <a:gd name="T19" fmla="*/ 181 h 439"/>
                      <a:gd name="T20" fmla="*/ 119 w 236"/>
                      <a:gd name="T21" fmla="*/ 241 h 439"/>
                      <a:gd name="T22" fmla="*/ 167 w 236"/>
                      <a:gd name="T23" fmla="*/ 292 h 439"/>
                      <a:gd name="T24" fmla="*/ 202 w 236"/>
                      <a:gd name="T25" fmla="*/ 356 h 439"/>
                      <a:gd name="T26" fmla="*/ 236 w 236"/>
                      <a:gd name="T27" fmla="*/ 439 h 439"/>
                      <a:gd name="T28" fmla="*/ 197 w 236"/>
                      <a:gd name="T29" fmla="*/ 356 h 439"/>
                      <a:gd name="T30" fmla="*/ 162 w 236"/>
                      <a:gd name="T31" fmla="*/ 291 h 439"/>
                      <a:gd name="T32" fmla="*/ 116 w 236"/>
                      <a:gd name="T33" fmla="*/ 240 h 439"/>
                      <a:gd name="T34" fmla="*/ 97 w 236"/>
                      <a:gd name="T35" fmla="*/ 181 h 439"/>
                      <a:gd name="T36" fmla="*/ 92 w 236"/>
                      <a:gd name="T37" fmla="*/ 104 h 439"/>
                      <a:gd name="T38" fmla="*/ 56 w 236"/>
                      <a:gd name="T39" fmla="*/ 74 h 439"/>
                      <a:gd name="T40" fmla="*/ 49 w 236"/>
                      <a:gd name="T41" fmla="*/ 0 h 439"/>
                      <a:gd name="T42" fmla="*/ 27 w 236"/>
                      <a:gd name="T43" fmla="*/ 7 h 439"/>
                      <a:gd name="T44" fmla="*/ 0 w 236"/>
                      <a:gd name="T45" fmla="*/ 26 h 439"/>
                      <a:gd name="T46" fmla="*/ 4 w 236"/>
                      <a:gd name="T47" fmla="*/ 67 h 439"/>
                      <a:gd name="T48" fmla="*/ 12 w 236"/>
                      <a:gd name="T49" fmla="*/ 129 h 439"/>
                      <a:gd name="T50" fmla="*/ 21 w 236"/>
                      <a:gd name="T51" fmla="*/ 187 h 439"/>
                      <a:gd name="T52" fmla="*/ 43 w 236"/>
                      <a:gd name="T53" fmla="*/ 262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6" h="439">
                        <a:moveTo>
                          <a:pt x="111" y="333"/>
                        </a:moveTo>
                        <a:lnTo>
                          <a:pt x="43" y="266"/>
                        </a:lnTo>
                        <a:lnTo>
                          <a:pt x="21" y="197"/>
                        </a:lnTo>
                        <a:lnTo>
                          <a:pt x="12" y="125"/>
                        </a:lnTo>
                        <a:lnTo>
                          <a:pt x="2" y="26"/>
                        </a:lnTo>
                        <a:lnTo>
                          <a:pt x="24" y="9"/>
                        </a:lnTo>
                        <a:lnTo>
                          <a:pt x="43" y="7"/>
                        </a:lnTo>
                        <a:lnTo>
                          <a:pt x="56" y="67"/>
                        </a:lnTo>
                        <a:lnTo>
                          <a:pt x="87" y="102"/>
                        </a:lnTo>
                        <a:lnTo>
                          <a:pt x="99" y="181"/>
                        </a:lnTo>
                        <a:lnTo>
                          <a:pt x="119" y="241"/>
                        </a:lnTo>
                        <a:lnTo>
                          <a:pt x="167" y="292"/>
                        </a:lnTo>
                        <a:lnTo>
                          <a:pt x="202" y="356"/>
                        </a:lnTo>
                        <a:lnTo>
                          <a:pt x="236" y="439"/>
                        </a:lnTo>
                        <a:lnTo>
                          <a:pt x="197" y="356"/>
                        </a:lnTo>
                        <a:lnTo>
                          <a:pt x="162" y="291"/>
                        </a:lnTo>
                        <a:lnTo>
                          <a:pt x="116" y="240"/>
                        </a:lnTo>
                        <a:lnTo>
                          <a:pt x="97" y="181"/>
                        </a:lnTo>
                        <a:lnTo>
                          <a:pt x="92" y="104"/>
                        </a:lnTo>
                        <a:lnTo>
                          <a:pt x="56" y="74"/>
                        </a:lnTo>
                        <a:lnTo>
                          <a:pt x="49" y="0"/>
                        </a:lnTo>
                        <a:lnTo>
                          <a:pt x="27" y="7"/>
                        </a:lnTo>
                        <a:lnTo>
                          <a:pt x="0" y="26"/>
                        </a:lnTo>
                        <a:lnTo>
                          <a:pt x="4" y="67"/>
                        </a:lnTo>
                        <a:lnTo>
                          <a:pt x="12" y="129"/>
                        </a:lnTo>
                        <a:lnTo>
                          <a:pt x="21" y="187"/>
                        </a:lnTo>
                        <a:lnTo>
                          <a:pt x="43" y="262"/>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gr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a:noFill/>
        </p:spPr>
        <p:txBody>
          <a:bodyPr>
            <a:normAutofit fontScale="90000"/>
          </a:bodyPr>
          <a:lstStyle/>
          <a:p>
            <a:r>
              <a:rPr lang="zh-CN" altLang="en-US" sz="4000"/>
              <a:t>一个总体比例的检验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360451" name="Rectangle 3"/>
          <p:cNvSpPr>
            <a:spLocks noGrp="1" noChangeArrowheads="1"/>
          </p:cNvSpPr>
          <p:nvPr>
            <p:ph type="body" sz="half" idx="1"/>
          </p:nvPr>
        </p:nvSpPr>
        <p:spPr>
          <a:xfrm>
            <a:off x="2247900" y="1695450"/>
            <a:ext cx="3352800" cy="4114800"/>
          </a:xfrm>
          <a:noFill/>
        </p:spPr>
        <p:txBody>
          <a:bodyPr/>
          <a:lstStyle/>
          <a:p>
            <a:pPr marL="0" indent="0"/>
            <a:r>
              <a:rPr lang="en-US" altLang="zh-CN" sz="2800" b="1" dirty="0"/>
              <a:t>H</a:t>
            </a:r>
            <a:r>
              <a:rPr lang="en-US" altLang="zh-CN" sz="2000" b="1" dirty="0"/>
              <a:t>0</a:t>
            </a:r>
            <a:r>
              <a:rPr lang="en-US" altLang="zh-CN" sz="2800" b="1" dirty="0"/>
              <a:t>: </a:t>
            </a:r>
            <a:r>
              <a:rPr lang="en-US" altLang="zh-CN" sz="2800" b="1" dirty="0">
                <a:sym typeface="Symbol" panose="05050102010706020507" pitchFamily="18" charset="2"/>
              </a:rPr>
              <a:t></a:t>
            </a:r>
            <a:r>
              <a:rPr lang="en-US" altLang="zh-CN" sz="2800" b="1" dirty="0"/>
              <a:t> = 14.7%</a:t>
            </a:r>
            <a:endParaRPr lang="en-US" altLang="zh-CN" sz="2800" b="1" dirty="0"/>
          </a:p>
          <a:p>
            <a:pPr marL="0" indent="0"/>
            <a:r>
              <a:rPr lang="en-US" altLang="zh-CN" sz="2800" b="1" dirty="0"/>
              <a:t>H</a:t>
            </a:r>
            <a:r>
              <a:rPr lang="en-US" altLang="zh-CN" sz="2000" b="1" dirty="0"/>
              <a:t>1</a:t>
            </a:r>
            <a:r>
              <a:rPr lang="en-US" altLang="zh-CN" sz="2800" b="1" dirty="0"/>
              <a:t>: </a:t>
            </a:r>
            <a:r>
              <a:rPr lang="en-US" altLang="zh-CN" sz="2800" b="1" dirty="0">
                <a:sym typeface="Symbol" panose="05050102010706020507" pitchFamily="18" charset="2"/>
              </a:rPr>
              <a:t></a:t>
            </a:r>
            <a:r>
              <a:rPr lang="en-US" altLang="zh-CN" sz="2800" b="1" dirty="0"/>
              <a:t> </a:t>
            </a:r>
            <a:r>
              <a:rPr lang="en-US" altLang="zh-CN" sz="2800" b="1" dirty="0">
                <a:sym typeface="Symbol" panose="05050102010706020507" pitchFamily="18" charset="2"/>
              </a:rPr>
              <a:t></a:t>
            </a:r>
            <a:r>
              <a:rPr lang="en-US" altLang="zh-CN" sz="2800" b="1" dirty="0"/>
              <a:t> 14.7%</a:t>
            </a:r>
            <a:endParaRPr lang="en-US" altLang="zh-CN" sz="2800" b="1" dirty="0"/>
          </a:p>
          <a:p>
            <a:pPr marL="0" indent="0"/>
            <a:r>
              <a:rPr lang="en-US" altLang="zh-CN" sz="2800" b="1" dirty="0">
                <a:latin typeface="Symbol" panose="05050102010706020507" pitchFamily="18" charset="2"/>
              </a:rPr>
              <a:t></a:t>
            </a:r>
            <a:r>
              <a:rPr lang="en-US" altLang="zh-CN" sz="2800" b="1" dirty="0"/>
              <a:t> = 0.05</a:t>
            </a:r>
            <a:endParaRPr lang="en-US" altLang="zh-CN" sz="2800" b="1" dirty="0"/>
          </a:p>
          <a:p>
            <a:pPr marL="0" indent="0"/>
            <a:r>
              <a:rPr lang="en-US" altLang="zh-CN" sz="2800" b="1" i="1" dirty="0">
                <a:latin typeface="Times New Roman" panose="02020603050405020304" pitchFamily="18" charset="0"/>
              </a:rPr>
              <a:t>n</a:t>
            </a:r>
            <a:r>
              <a:rPr lang="en-US" altLang="zh-CN" sz="2800" b="1" dirty="0">
                <a:latin typeface="Times New Roman" panose="02020603050405020304" pitchFamily="18" charset="0"/>
              </a:rPr>
              <a:t> </a:t>
            </a:r>
            <a:r>
              <a:rPr lang="en-US" altLang="zh-CN" sz="2800" b="1" dirty="0"/>
              <a:t>= 400</a:t>
            </a:r>
            <a:endParaRPr lang="en-US" altLang="zh-CN" sz="2800" b="1" dirty="0"/>
          </a:p>
          <a:p>
            <a:pPr marL="0" indent="0"/>
            <a:r>
              <a:rPr lang="zh-CN" altLang="en-US" sz="2800" b="1" dirty="0"/>
              <a:t>临界值</a:t>
            </a:r>
            <a:r>
              <a:rPr lang="en-US" altLang="zh-CN" sz="2800" b="1" dirty="0"/>
              <a:t>(s):</a:t>
            </a:r>
            <a:endParaRPr lang="en-US" altLang="zh-CN" sz="2800" b="1" dirty="0"/>
          </a:p>
          <a:p>
            <a:pPr marL="0" indent="0"/>
            <a:endParaRPr lang="en-US" altLang="zh-CN" sz="2800" b="1" dirty="0"/>
          </a:p>
        </p:txBody>
      </p:sp>
      <p:sp>
        <p:nvSpPr>
          <p:cNvPr id="360452" name="Rectangle 4"/>
          <p:cNvSpPr>
            <a:spLocks noChangeArrowheads="1"/>
          </p:cNvSpPr>
          <p:nvPr/>
        </p:nvSpPr>
        <p:spPr bwMode="auto">
          <a:xfrm>
            <a:off x="5489575" y="1716088"/>
            <a:ext cx="3810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effectLst>
                  <a:outerShdw blurRad="38100" dist="38100" dir="2700000" algn="tl">
                    <a:srgbClr val="000000"/>
                  </a:outerShdw>
                </a:effectLst>
                <a:latin typeface="Arial" panose="020B0604020202090204" pitchFamily="34" charset="0"/>
              </a:rPr>
              <a:t>检验统计量</a:t>
            </a:r>
            <a:r>
              <a:rPr lang="en-US" altLang="zh-CN" sz="2800" b="1">
                <a:effectLst>
                  <a:outerShdw blurRad="38100" dist="38100" dir="2700000" algn="tl">
                    <a:srgbClr val="000000"/>
                  </a:outerShdw>
                </a:effectLst>
                <a:latin typeface="Arial" panose="020B0604020202090204" pitchFamily="34" charset="0"/>
              </a:rPr>
              <a:t>:</a:t>
            </a:r>
            <a:endParaRPr lang="en-US" altLang="zh-CN" sz="2800" b="1">
              <a:effectLst>
                <a:outerShdw blurRad="38100" dist="38100" dir="2700000" algn="tl">
                  <a:srgbClr val="000000"/>
                </a:outerShdw>
              </a:effectLst>
              <a:latin typeface="Arial" panose="020B0604020202090204" pitchFamily="34" charset="0"/>
            </a:endParaRPr>
          </a:p>
        </p:txBody>
      </p:sp>
      <p:sp>
        <p:nvSpPr>
          <p:cNvPr id="360454" name="Rectangle 6"/>
          <p:cNvSpPr>
            <a:spLocks noChangeArrowheads="1"/>
          </p:cNvSpPr>
          <p:nvPr/>
        </p:nvSpPr>
        <p:spPr bwMode="auto">
          <a:xfrm>
            <a:off x="5584825" y="4735514"/>
            <a:ext cx="464820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zh-CN" altLang="en-US">
                <a:effectLst>
                  <a:outerShdw blurRad="38100" dist="38100" dir="2700000" algn="tl">
                    <a:srgbClr val="000000"/>
                  </a:outerShdw>
                </a:effectLst>
              </a:rPr>
              <a:t>在</a:t>
            </a:r>
            <a:r>
              <a:rPr lang="zh-CN" altLang="en-US">
                <a:effectLst>
                  <a:outerShdw blurRad="38100" dist="38100" dir="2700000" algn="tl">
                    <a:srgbClr val="000000"/>
                  </a:outerShdw>
                </a:effectLst>
                <a:latin typeface="Symbol" panose="05050102010706020507" pitchFamily="18" charset="2"/>
              </a:rPr>
              <a:t></a:t>
            </a:r>
            <a:r>
              <a:rPr lang="zh-CN" altLang="en-US">
                <a:effectLst>
                  <a:outerShdw blurRad="38100" dist="38100" dir="2700000" algn="tl">
                    <a:srgbClr val="000000"/>
                  </a:outerShdw>
                </a:effectLst>
              </a:rPr>
              <a:t> </a:t>
            </a:r>
            <a:r>
              <a:rPr lang="en-US" altLang="zh-CN">
                <a:effectLst>
                  <a:outerShdw blurRad="38100" dist="38100" dir="2700000" algn="tl">
                    <a:srgbClr val="000000"/>
                  </a:outerShdw>
                </a:effectLst>
              </a:rPr>
              <a:t>= 0.05</a:t>
            </a:r>
            <a:r>
              <a:rPr lang="zh-CN" altLang="en-US">
                <a:effectLst>
                  <a:outerShdw blurRad="38100" dist="38100" dir="2700000" algn="tl">
                    <a:srgbClr val="000000"/>
                  </a:outerShdw>
                </a:effectLst>
              </a:rPr>
              <a:t>的水平上不拒绝</a:t>
            </a:r>
            <a:r>
              <a:rPr lang="en-US" altLang="zh-CN">
                <a:effectLst>
                  <a:outerShdw blurRad="38100" dist="38100" dir="2700000" algn="tl">
                    <a:srgbClr val="000000"/>
                  </a:outerShdw>
                </a:effectLst>
              </a:rPr>
              <a:t>H</a:t>
            </a:r>
            <a:r>
              <a:rPr lang="en-US" altLang="zh-CN" baseline="-25000">
                <a:effectLst>
                  <a:outerShdw blurRad="38100" dist="38100" dir="2700000" algn="tl">
                    <a:srgbClr val="000000"/>
                  </a:outerShdw>
                </a:effectLst>
              </a:rPr>
              <a:t>0</a:t>
            </a:r>
            <a:endParaRPr lang="en-US" altLang="zh-CN">
              <a:effectLst>
                <a:outerShdw blurRad="38100" dist="38100" dir="2700000" algn="tl">
                  <a:srgbClr val="000000"/>
                </a:outerShdw>
              </a:effectLst>
            </a:endParaRPr>
          </a:p>
        </p:txBody>
      </p:sp>
      <p:sp>
        <p:nvSpPr>
          <p:cNvPr id="360455" name="Rectangle 7"/>
          <p:cNvSpPr>
            <a:spLocks noChangeArrowheads="1"/>
          </p:cNvSpPr>
          <p:nvPr/>
        </p:nvSpPr>
        <p:spPr bwMode="auto">
          <a:xfrm>
            <a:off x="5508626" y="5721351"/>
            <a:ext cx="465296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zh-CN" altLang="en-US">
                <a:effectLst>
                  <a:outerShdw blurRad="38100" dist="38100" dir="2700000" algn="tl">
                    <a:srgbClr val="000000"/>
                  </a:outerShdw>
                </a:effectLst>
              </a:rPr>
              <a:t>该市老年人口比重为</a:t>
            </a:r>
            <a:r>
              <a:rPr lang="en-US" altLang="zh-CN">
                <a:effectLst>
                  <a:outerShdw blurRad="38100" dist="38100" dir="2700000" algn="tl">
                    <a:srgbClr val="000000"/>
                  </a:outerShdw>
                </a:effectLst>
                <a:cs typeface="Times New Roman" panose="02020603050405020304" pitchFamily="18" charset="0"/>
              </a:rPr>
              <a:t>14.7%</a:t>
            </a:r>
            <a:endParaRPr lang="en-US" altLang="zh-CN">
              <a:effectLst>
                <a:outerShdw blurRad="38100" dist="38100" dir="2700000" algn="tl">
                  <a:srgbClr val="000000"/>
                </a:outerShdw>
              </a:effectLst>
            </a:endParaRPr>
          </a:p>
        </p:txBody>
      </p:sp>
      <p:sp>
        <p:nvSpPr>
          <p:cNvPr id="360457" name="Text Box 9"/>
          <p:cNvSpPr txBox="1">
            <a:spLocks noChangeArrowheads="1"/>
          </p:cNvSpPr>
          <p:nvPr/>
        </p:nvSpPr>
        <p:spPr bwMode="auto">
          <a:xfrm>
            <a:off x="5508625" y="4278313"/>
            <a:ext cx="1143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ffectLst>
                  <a:outerShdw blurRad="38100" dist="38100" dir="2700000" algn="tl">
                    <a:srgbClr val="000000"/>
                  </a:outerShdw>
                </a:effectLst>
              </a:rPr>
              <a:t>决策</a:t>
            </a:r>
            <a:r>
              <a:rPr lang="en-US" altLang="zh-CN" sz="2800" b="1">
                <a:effectLst>
                  <a:outerShdw blurRad="38100" dist="38100" dir="2700000" algn="tl">
                    <a:srgbClr val="000000"/>
                  </a:outerShdw>
                </a:effectLst>
              </a:rPr>
              <a:t>:</a:t>
            </a:r>
            <a:endParaRPr lang="en-US" altLang="zh-CN" sz="2800" b="1">
              <a:effectLst>
                <a:outerShdw blurRad="38100" dist="38100" dir="2700000" algn="tl">
                  <a:srgbClr val="000000"/>
                </a:outerShdw>
              </a:effectLst>
            </a:endParaRPr>
          </a:p>
        </p:txBody>
      </p:sp>
      <p:sp>
        <p:nvSpPr>
          <p:cNvPr id="360458" name="Text Box 10"/>
          <p:cNvSpPr txBox="1">
            <a:spLocks noChangeArrowheads="1"/>
          </p:cNvSpPr>
          <p:nvPr/>
        </p:nvSpPr>
        <p:spPr bwMode="auto">
          <a:xfrm>
            <a:off x="5508625" y="5192713"/>
            <a:ext cx="1143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effectLst>
                  <a:outerShdw blurRad="38100" dist="38100" dir="2700000" algn="tl">
                    <a:srgbClr val="000000"/>
                  </a:outerShdw>
                </a:effectLst>
              </a:rPr>
              <a:t>结论</a:t>
            </a:r>
            <a:r>
              <a:rPr lang="en-US" altLang="zh-CN" sz="2800" b="1">
                <a:effectLst>
                  <a:outerShdw blurRad="38100" dist="38100" dir="2700000" algn="tl">
                    <a:srgbClr val="000000"/>
                  </a:outerShdw>
                </a:effectLst>
              </a:rPr>
              <a:t>:</a:t>
            </a:r>
            <a:endParaRPr lang="en-US" altLang="zh-CN" sz="2800" b="1">
              <a:effectLst>
                <a:outerShdw blurRad="38100" dist="38100" dir="2700000" algn="tl">
                  <a:srgbClr val="000000"/>
                </a:outerShdw>
              </a:effectLst>
            </a:endParaRPr>
          </a:p>
        </p:txBody>
      </p:sp>
      <p:sp>
        <p:nvSpPr>
          <p:cNvPr id="360459" name="Text Box 11"/>
          <p:cNvSpPr txBox="1">
            <a:spLocks noChangeArrowheads="1"/>
          </p:cNvSpPr>
          <p:nvPr/>
        </p:nvSpPr>
        <p:spPr bwMode="auto">
          <a:xfrm>
            <a:off x="5143500" y="2609850"/>
            <a:ext cx="2209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a:effectLst>
                <a:outerShdw blurRad="38100" dist="38100" dir="2700000" algn="tl">
                  <a:srgbClr val="000000"/>
                </a:outerShdw>
              </a:effectLst>
            </a:endParaRPr>
          </a:p>
        </p:txBody>
      </p:sp>
      <mc:AlternateContent xmlns:mc="http://schemas.openxmlformats.org/markup-compatibility/2006">
        <mc:Choice xmlns:a14="http://schemas.microsoft.com/office/drawing/2010/main" Requires="a14">
          <p:sp>
            <p:nvSpPr>
              <p:cNvPr id="360475" name="Object 27">
                <a:hlinkClick r:id="" action="ppaction://ole?verb=0"/>
              </p:cNvPr>
              <p:cNvSpPr txBox="1"/>
              <p:nvPr/>
            </p:nvSpPr>
            <p:spPr bwMode="auto">
              <a:xfrm>
                <a:off x="5367339" y="2547939"/>
                <a:ext cx="5164137" cy="1411287"/>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𝑧</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1425</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147</m:t>
                          </m:r>
                        </m:num>
                        <m:den>
                          <m:rad>
                            <m:radPr>
                              <m:degHide m:val="on"/>
                              <m:ctrlPr>
                                <a:rPr lang="zh-CN" altLang="en-US" i="1">
                                  <a:solidFill>
                                    <a:srgbClr val="000000"/>
                                  </a:solidFill>
                                  <a:latin typeface="Cambria Math" panose="02040503050406030204" pitchFamily="18" charset="0"/>
                                </a:rPr>
                              </m:ctrlPr>
                            </m:radPr>
                            <m:deg/>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147</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147</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400</m:t>
                                  </m:r>
                                </m:den>
                              </m:f>
                            </m:e>
                          </m:rad>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254</m:t>
                      </m:r>
                    </m:oMath>
                  </m:oMathPara>
                </a14:m>
                <a:endParaRPr lang="zh-CN" altLang="en-US"/>
              </a:p>
            </p:txBody>
          </p:sp>
        </mc:Choice>
        <mc:Fallback>
          <p:sp>
            <p:nvSpPr>
              <p:cNvPr id="360475" name="Object 27">
                <a:hlinkClick r:id="" action="ppaction://ole?verb=0"/>
              </p:cNvPr>
              <p:cNvSpPr txBox="1">
                <a:spLocks noRot="1" noChangeAspect="1" noMove="1" noResize="1" noEditPoints="1" noAdjustHandles="1" noChangeArrowheads="1" noChangeShapeType="1" noTextEdit="1"/>
              </p:cNvSpPr>
              <p:nvPr/>
            </p:nvSpPr>
            <p:spPr bwMode="auto">
              <a:xfrm>
                <a:off x="5367339" y="2547939"/>
                <a:ext cx="5164137" cy="1411287"/>
              </a:xfrm>
              <a:prstGeom prst="rect">
                <a:avLst/>
              </a:prstGeom>
              <a:blipFill rotWithShape="1">
                <a:blip r:embed="rId1"/>
                <a:stretch>
                  <a:fillRect l="-6" t="-23" r="-246" b="-900"/>
                </a:stretch>
              </a:blipFill>
              <a:ln>
                <a:noFill/>
              </a:ln>
              <a:effectLst>
                <a:outerShdw dist="17961" dir="2700000" algn="ctr" rotWithShape="0">
                  <a:schemeClr val="bg2"/>
                </a:outerShdw>
              </a:effectLst>
            </p:spPr>
            <p:txBody>
              <a:bodyPr/>
              <a:lstStyle/>
              <a:p>
                <a:r>
                  <a:rPr lang="zh-CN" altLang="en-US">
                    <a:noFill/>
                  </a:rPr>
                  <a:t> </a:t>
                </a:r>
              </a:p>
            </p:txBody>
          </p:sp>
        </mc:Fallback>
      </mc:AlternateContent>
      <p:grpSp>
        <p:nvGrpSpPr>
          <p:cNvPr id="360476" name="Group 28"/>
          <p:cNvGrpSpPr/>
          <p:nvPr/>
        </p:nvGrpSpPr>
        <p:grpSpPr bwMode="auto">
          <a:xfrm>
            <a:off x="2046289" y="4387850"/>
            <a:ext cx="2960687" cy="1836738"/>
            <a:chOff x="449" y="2824"/>
            <a:chExt cx="1865" cy="1157"/>
          </a:xfrm>
        </p:grpSpPr>
        <p:sp>
          <p:nvSpPr>
            <p:cNvPr id="360477" name="Line 29"/>
            <p:cNvSpPr>
              <a:spLocks noChangeShapeType="1"/>
            </p:cNvSpPr>
            <p:nvPr/>
          </p:nvSpPr>
          <p:spPr bwMode="auto">
            <a:xfrm>
              <a:off x="1376" y="2871"/>
              <a:ext cx="1" cy="848"/>
            </a:xfrm>
            <a:prstGeom prst="line">
              <a:avLst/>
            </a:prstGeom>
            <a:noFill/>
            <a:ln w="17463">
              <a:solidFill>
                <a:schemeClr val="tx1"/>
              </a:solidFill>
              <a:roun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0478" name="Freeform 30" descr="60%"/>
            <p:cNvSpPr/>
            <p:nvPr/>
          </p:nvSpPr>
          <p:spPr bwMode="auto">
            <a:xfrm>
              <a:off x="575" y="3248"/>
              <a:ext cx="483" cy="484"/>
            </a:xfrm>
            <a:custGeom>
              <a:avLst/>
              <a:gdLst>
                <a:gd name="T0" fmla="*/ 447 w 447"/>
                <a:gd name="T1" fmla="*/ 0 h 436"/>
                <a:gd name="T2" fmla="*/ 447 w 447"/>
                <a:gd name="T3" fmla="*/ 436 h 436"/>
                <a:gd name="T4" fmla="*/ 0 w 447"/>
                <a:gd name="T5" fmla="*/ 436 h 436"/>
                <a:gd name="T6" fmla="*/ 54 w 447"/>
                <a:gd name="T7" fmla="*/ 412 h 436"/>
                <a:gd name="T8" fmla="*/ 106 w 447"/>
                <a:gd name="T9" fmla="*/ 386 h 436"/>
                <a:gd name="T10" fmla="*/ 156 w 447"/>
                <a:gd name="T11" fmla="*/ 355 h 436"/>
                <a:gd name="T12" fmla="*/ 203 w 447"/>
                <a:gd name="T13" fmla="*/ 321 h 436"/>
                <a:gd name="T14" fmla="*/ 248 w 447"/>
                <a:gd name="T15" fmla="*/ 284 h 436"/>
                <a:gd name="T16" fmla="*/ 290 w 447"/>
                <a:gd name="T17" fmla="*/ 243 h 436"/>
                <a:gd name="T18" fmla="*/ 329 w 447"/>
                <a:gd name="T19" fmla="*/ 199 h 436"/>
                <a:gd name="T20" fmla="*/ 364 w 447"/>
                <a:gd name="T21" fmla="*/ 152 h 436"/>
                <a:gd name="T22" fmla="*/ 395 w 447"/>
                <a:gd name="T23" fmla="*/ 104 h 436"/>
                <a:gd name="T24" fmla="*/ 423 w 447"/>
                <a:gd name="T25" fmla="*/ 54 h 436"/>
                <a:gd name="T26" fmla="*/ 447 w 447"/>
                <a:gd name="T27"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7" h="436">
                  <a:moveTo>
                    <a:pt x="447" y="0"/>
                  </a:moveTo>
                  <a:lnTo>
                    <a:pt x="447" y="436"/>
                  </a:lnTo>
                  <a:lnTo>
                    <a:pt x="0" y="436"/>
                  </a:lnTo>
                  <a:lnTo>
                    <a:pt x="54" y="412"/>
                  </a:lnTo>
                  <a:lnTo>
                    <a:pt x="106" y="386"/>
                  </a:lnTo>
                  <a:lnTo>
                    <a:pt x="156" y="355"/>
                  </a:lnTo>
                  <a:lnTo>
                    <a:pt x="203" y="321"/>
                  </a:lnTo>
                  <a:lnTo>
                    <a:pt x="248" y="284"/>
                  </a:lnTo>
                  <a:lnTo>
                    <a:pt x="290" y="243"/>
                  </a:lnTo>
                  <a:lnTo>
                    <a:pt x="329" y="199"/>
                  </a:lnTo>
                  <a:lnTo>
                    <a:pt x="364" y="152"/>
                  </a:lnTo>
                  <a:lnTo>
                    <a:pt x="395" y="104"/>
                  </a:lnTo>
                  <a:lnTo>
                    <a:pt x="423" y="54"/>
                  </a:lnTo>
                  <a:lnTo>
                    <a:pt x="447"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0479" name="Freeform 31" descr="60%"/>
            <p:cNvSpPr/>
            <p:nvPr/>
          </p:nvSpPr>
          <p:spPr bwMode="auto">
            <a:xfrm>
              <a:off x="1721" y="3270"/>
              <a:ext cx="484" cy="462"/>
            </a:xfrm>
            <a:custGeom>
              <a:avLst/>
              <a:gdLst>
                <a:gd name="T0" fmla="*/ 0 w 424"/>
                <a:gd name="T1" fmla="*/ 0 h 414"/>
                <a:gd name="T2" fmla="*/ 0 w 424"/>
                <a:gd name="T3" fmla="*/ 414 h 414"/>
                <a:gd name="T4" fmla="*/ 424 w 424"/>
                <a:gd name="T5" fmla="*/ 414 h 414"/>
                <a:gd name="T6" fmla="*/ 372 w 424"/>
                <a:gd name="T7" fmla="*/ 392 h 414"/>
                <a:gd name="T8" fmla="*/ 323 w 424"/>
                <a:gd name="T9" fmla="*/ 366 h 414"/>
                <a:gd name="T10" fmla="*/ 276 w 424"/>
                <a:gd name="T11" fmla="*/ 337 h 414"/>
                <a:gd name="T12" fmla="*/ 230 w 424"/>
                <a:gd name="T13" fmla="*/ 304 h 414"/>
                <a:gd name="T14" fmla="*/ 188 w 424"/>
                <a:gd name="T15" fmla="*/ 268 h 414"/>
                <a:gd name="T16" fmla="*/ 148 w 424"/>
                <a:gd name="T17" fmla="*/ 230 h 414"/>
                <a:gd name="T18" fmla="*/ 112 w 424"/>
                <a:gd name="T19" fmla="*/ 188 h 414"/>
                <a:gd name="T20" fmla="*/ 78 w 424"/>
                <a:gd name="T21" fmla="*/ 145 h 414"/>
                <a:gd name="T22" fmla="*/ 48 w 424"/>
                <a:gd name="T23" fmla="*/ 99 h 414"/>
                <a:gd name="T24" fmla="*/ 22 w 424"/>
                <a:gd name="T25" fmla="*/ 50 h 414"/>
                <a:gd name="T26" fmla="*/ 0 w 424"/>
                <a:gd name="T27"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4" h="414">
                  <a:moveTo>
                    <a:pt x="0" y="0"/>
                  </a:moveTo>
                  <a:lnTo>
                    <a:pt x="0" y="414"/>
                  </a:lnTo>
                  <a:lnTo>
                    <a:pt x="424" y="414"/>
                  </a:lnTo>
                  <a:lnTo>
                    <a:pt x="372" y="392"/>
                  </a:lnTo>
                  <a:lnTo>
                    <a:pt x="323" y="366"/>
                  </a:lnTo>
                  <a:lnTo>
                    <a:pt x="276" y="337"/>
                  </a:lnTo>
                  <a:lnTo>
                    <a:pt x="230" y="304"/>
                  </a:lnTo>
                  <a:lnTo>
                    <a:pt x="188" y="268"/>
                  </a:lnTo>
                  <a:lnTo>
                    <a:pt x="148" y="230"/>
                  </a:lnTo>
                  <a:lnTo>
                    <a:pt x="112" y="188"/>
                  </a:lnTo>
                  <a:lnTo>
                    <a:pt x="78" y="145"/>
                  </a:lnTo>
                  <a:lnTo>
                    <a:pt x="48" y="99"/>
                  </a:lnTo>
                  <a:lnTo>
                    <a:pt x="22" y="50"/>
                  </a:lnTo>
                  <a:lnTo>
                    <a:pt x="0"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360480" name="Group 32"/>
            <p:cNvGrpSpPr/>
            <p:nvPr/>
          </p:nvGrpSpPr>
          <p:grpSpPr bwMode="auto">
            <a:xfrm>
              <a:off x="472" y="2857"/>
              <a:ext cx="1808" cy="838"/>
              <a:chOff x="472" y="2857"/>
              <a:chExt cx="1808" cy="838"/>
            </a:xfrm>
          </p:grpSpPr>
          <p:sp>
            <p:nvSpPr>
              <p:cNvPr id="360481" name="Freeform 33"/>
              <p:cNvSpPr/>
              <p:nvPr/>
            </p:nvSpPr>
            <p:spPr bwMode="auto">
              <a:xfrm>
                <a:off x="1376" y="2857"/>
                <a:ext cx="904" cy="838"/>
              </a:xfrm>
              <a:custGeom>
                <a:avLst/>
                <a:gdLst>
                  <a:gd name="T0" fmla="*/ 904 w 904"/>
                  <a:gd name="T1" fmla="*/ 838 h 838"/>
                  <a:gd name="T2" fmla="*/ 809 w 904"/>
                  <a:gd name="T3" fmla="*/ 828 h 838"/>
                  <a:gd name="T4" fmla="*/ 762 w 904"/>
                  <a:gd name="T5" fmla="*/ 818 h 838"/>
                  <a:gd name="T6" fmla="*/ 714 w 904"/>
                  <a:gd name="T7" fmla="*/ 805 h 838"/>
                  <a:gd name="T8" fmla="*/ 667 w 904"/>
                  <a:gd name="T9" fmla="*/ 785 h 838"/>
                  <a:gd name="T10" fmla="*/ 619 w 904"/>
                  <a:gd name="T11" fmla="*/ 759 h 838"/>
                  <a:gd name="T12" fmla="*/ 572 w 904"/>
                  <a:gd name="T13" fmla="*/ 724 h 838"/>
                  <a:gd name="T14" fmla="*/ 476 w 904"/>
                  <a:gd name="T15" fmla="*/ 627 h 838"/>
                  <a:gd name="T16" fmla="*/ 381 w 904"/>
                  <a:gd name="T17" fmla="*/ 491 h 838"/>
                  <a:gd name="T18" fmla="*/ 286 w 904"/>
                  <a:gd name="T19" fmla="*/ 326 h 838"/>
                  <a:gd name="T20" fmla="*/ 239 w 904"/>
                  <a:gd name="T21" fmla="*/ 243 h 838"/>
                  <a:gd name="T22" fmla="*/ 191 w 904"/>
                  <a:gd name="T23" fmla="*/ 165 h 838"/>
                  <a:gd name="T24" fmla="*/ 144 w 904"/>
                  <a:gd name="T25" fmla="*/ 98 h 838"/>
                  <a:gd name="T26" fmla="*/ 95 w 904"/>
                  <a:gd name="T27" fmla="*/ 44 h 838"/>
                  <a:gd name="T28" fmla="*/ 48 w 904"/>
                  <a:gd name="T29" fmla="*/ 11 h 838"/>
                  <a:gd name="T30" fmla="*/ 0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904" y="838"/>
                    </a:moveTo>
                    <a:lnTo>
                      <a:pt x="809" y="828"/>
                    </a:lnTo>
                    <a:lnTo>
                      <a:pt x="762" y="818"/>
                    </a:lnTo>
                    <a:lnTo>
                      <a:pt x="714" y="805"/>
                    </a:lnTo>
                    <a:lnTo>
                      <a:pt x="667" y="785"/>
                    </a:lnTo>
                    <a:lnTo>
                      <a:pt x="619" y="759"/>
                    </a:lnTo>
                    <a:lnTo>
                      <a:pt x="572" y="724"/>
                    </a:lnTo>
                    <a:lnTo>
                      <a:pt x="476" y="627"/>
                    </a:lnTo>
                    <a:lnTo>
                      <a:pt x="381" y="491"/>
                    </a:lnTo>
                    <a:lnTo>
                      <a:pt x="286" y="326"/>
                    </a:lnTo>
                    <a:lnTo>
                      <a:pt x="239" y="243"/>
                    </a:lnTo>
                    <a:lnTo>
                      <a:pt x="191" y="165"/>
                    </a:lnTo>
                    <a:lnTo>
                      <a:pt x="144" y="98"/>
                    </a:lnTo>
                    <a:lnTo>
                      <a:pt x="95" y="44"/>
                    </a:lnTo>
                    <a:lnTo>
                      <a:pt x="48" y="11"/>
                    </a:lnTo>
                    <a:lnTo>
                      <a:pt x="0"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0482" name="Freeform 34"/>
              <p:cNvSpPr/>
              <p:nvPr/>
            </p:nvSpPr>
            <p:spPr bwMode="auto">
              <a:xfrm>
                <a:off x="472" y="2857"/>
                <a:ext cx="904" cy="838"/>
              </a:xfrm>
              <a:custGeom>
                <a:avLst/>
                <a:gdLst>
                  <a:gd name="T0" fmla="*/ 0 w 904"/>
                  <a:gd name="T1" fmla="*/ 838 h 838"/>
                  <a:gd name="T2" fmla="*/ 95 w 904"/>
                  <a:gd name="T3" fmla="*/ 828 h 838"/>
                  <a:gd name="T4" fmla="*/ 144 w 904"/>
                  <a:gd name="T5" fmla="*/ 818 h 838"/>
                  <a:gd name="T6" fmla="*/ 191 w 904"/>
                  <a:gd name="T7" fmla="*/ 805 h 838"/>
                  <a:gd name="T8" fmla="*/ 238 w 904"/>
                  <a:gd name="T9" fmla="*/ 785 h 838"/>
                  <a:gd name="T10" fmla="*/ 286 w 904"/>
                  <a:gd name="T11" fmla="*/ 759 h 838"/>
                  <a:gd name="T12" fmla="*/ 333 w 904"/>
                  <a:gd name="T13" fmla="*/ 724 h 838"/>
                  <a:gd name="T14" fmla="*/ 429 w 904"/>
                  <a:gd name="T15" fmla="*/ 627 h 838"/>
                  <a:gd name="T16" fmla="*/ 523 w 904"/>
                  <a:gd name="T17" fmla="*/ 491 h 838"/>
                  <a:gd name="T18" fmla="*/ 619 w 904"/>
                  <a:gd name="T19" fmla="*/ 326 h 838"/>
                  <a:gd name="T20" fmla="*/ 667 w 904"/>
                  <a:gd name="T21" fmla="*/ 243 h 838"/>
                  <a:gd name="T22" fmla="*/ 714 w 904"/>
                  <a:gd name="T23" fmla="*/ 165 h 838"/>
                  <a:gd name="T24" fmla="*/ 762 w 904"/>
                  <a:gd name="T25" fmla="*/ 98 h 838"/>
                  <a:gd name="T26" fmla="*/ 809 w 904"/>
                  <a:gd name="T27" fmla="*/ 44 h 838"/>
                  <a:gd name="T28" fmla="*/ 857 w 904"/>
                  <a:gd name="T29" fmla="*/ 11 h 838"/>
                  <a:gd name="T30" fmla="*/ 904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0" y="838"/>
                    </a:moveTo>
                    <a:lnTo>
                      <a:pt x="95" y="828"/>
                    </a:lnTo>
                    <a:lnTo>
                      <a:pt x="144" y="818"/>
                    </a:lnTo>
                    <a:lnTo>
                      <a:pt x="191" y="805"/>
                    </a:lnTo>
                    <a:lnTo>
                      <a:pt x="238" y="785"/>
                    </a:lnTo>
                    <a:lnTo>
                      <a:pt x="286" y="759"/>
                    </a:lnTo>
                    <a:lnTo>
                      <a:pt x="333" y="724"/>
                    </a:lnTo>
                    <a:lnTo>
                      <a:pt x="429" y="627"/>
                    </a:lnTo>
                    <a:lnTo>
                      <a:pt x="523" y="491"/>
                    </a:lnTo>
                    <a:lnTo>
                      <a:pt x="619" y="326"/>
                    </a:lnTo>
                    <a:lnTo>
                      <a:pt x="667" y="243"/>
                    </a:lnTo>
                    <a:lnTo>
                      <a:pt x="714" y="165"/>
                    </a:lnTo>
                    <a:lnTo>
                      <a:pt x="762" y="98"/>
                    </a:lnTo>
                    <a:lnTo>
                      <a:pt x="809" y="44"/>
                    </a:lnTo>
                    <a:lnTo>
                      <a:pt x="857" y="11"/>
                    </a:lnTo>
                    <a:lnTo>
                      <a:pt x="904"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60483" name="Line 35"/>
            <p:cNvSpPr>
              <a:spLocks noChangeShapeType="1"/>
            </p:cNvSpPr>
            <p:nvPr/>
          </p:nvSpPr>
          <p:spPr bwMode="auto">
            <a:xfrm>
              <a:off x="1946" y="3692"/>
              <a:ext cx="1" cy="8"/>
            </a:xfrm>
            <a:prstGeom prst="line">
              <a:avLst/>
            </a:prstGeom>
            <a:noFill/>
            <a:ln w="25400">
              <a:solidFill>
                <a:srgbClr val="CDCDCD"/>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0484" name="Line 36"/>
            <p:cNvSpPr>
              <a:spLocks noChangeShapeType="1"/>
            </p:cNvSpPr>
            <p:nvPr/>
          </p:nvSpPr>
          <p:spPr bwMode="auto">
            <a:xfrm>
              <a:off x="1762" y="3692"/>
              <a:ext cx="1" cy="8"/>
            </a:xfrm>
            <a:prstGeom prst="line">
              <a:avLst/>
            </a:prstGeom>
            <a:noFill/>
            <a:ln w="25400">
              <a:solidFill>
                <a:srgbClr val="CDCDCD"/>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0485" name="Line 37"/>
            <p:cNvSpPr>
              <a:spLocks noChangeShapeType="1"/>
            </p:cNvSpPr>
            <p:nvPr/>
          </p:nvSpPr>
          <p:spPr bwMode="auto">
            <a:xfrm>
              <a:off x="841" y="3692"/>
              <a:ext cx="1" cy="8"/>
            </a:xfrm>
            <a:prstGeom prst="line">
              <a:avLst/>
            </a:prstGeom>
            <a:noFill/>
            <a:ln w="25400">
              <a:solidFill>
                <a:srgbClr val="CDCDCD"/>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60486" name="Group 38"/>
            <p:cNvGrpSpPr/>
            <p:nvPr/>
          </p:nvGrpSpPr>
          <p:grpSpPr bwMode="auto">
            <a:xfrm>
              <a:off x="449" y="3039"/>
              <a:ext cx="1865" cy="697"/>
              <a:chOff x="449" y="3003"/>
              <a:chExt cx="1865" cy="697"/>
            </a:xfrm>
          </p:grpSpPr>
          <p:sp>
            <p:nvSpPr>
              <p:cNvPr id="360487" name="Freeform 39"/>
              <p:cNvSpPr/>
              <p:nvPr/>
            </p:nvSpPr>
            <p:spPr bwMode="auto">
              <a:xfrm>
                <a:off x="472" y="3003"/>
                <a:ext cx="1842" cy="689"/>
              </a:xfrm>
              <a:custGeom>
                <a:avLst/>
                <a:gdLst>
                  <a:gd name="T0" fmla="*/ 0 w 1842"/>
                  <a:gd name="T1" fmla="*/ 0 h 689"/>
                  <a:gd name="T2" fmla="*/ 0 w 1842"/>
                  <a:gd name="T3" fmla="*/ 689 h 689"/>
                  <a:gd name="T4" fmla="*/ 1842 w 1842"/>
                  <a:gd name="T5" fmla="*/ 689 h 689"/>
                </a:gdLst>
                <a:ahLst/>
                <a:cxnLst>
                  <a:cxn ang="0">
                    <a:pos x="T0" y="T1"/>
                  </a:cxn>
                  <a:cxn ang="0">
                    <a:pos x="T2" y="T3"/>
                  </a:cxn>
                  <a:cxn ang="0">
                    <a:pos x="T4" y="T5"/>
                  </a:cxn>
                </a:cxnLst>
                <a:rect l="0" t="0" r="r" b="b"/>
                <a:pathLst>
                  <a:path w="1842" h="689">
                    <a:moveTo>
                      <a:pt x="0" y="0"/>
                    </a:moveTo>
                    <a:lnTo>
                      <a:pt x="0" y="689"/>
                    </a:lnTo>
                    <a:lnTo>
                      <a:pt x="1842" y="689"/>
                    </a:lnTo>
                  </a:path>
                </a:pathLst>
              </a:custGeom>
              <a:noFill/>
              <a:ln w="19050" cmpd="sng">
                <a:solidFill>
                  <a:srgbClr val="F0F0F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60488" name="Group 40"/>
              <p:cNvGrpSpPr/>
              <p:nvPr/>
            </p:nvGrpSpPr>
            <p:grpSpPr bwMode="auto">
              <a:xfrm>
                <a:off x="449" y="3003"/>
                <a:ext cx="209" cy="697"/>
                <a:chOff x="449" y="3003"/>
                <a:chExt cx="209" cy="697"/>
              </a:xfrm>
            </p:grpSpPr>
            <p:sp>
              <p:nvSpPr>
                <p:cNvPr id="360489" name="Line 41"/>
                <p:cNvSpPr>
                  <a:spLocks noChangeShapeType="1"/>
                </p:cNvSpPr>
                <p:nvPr/>
              </p:nvSpPr>
              <p:spPr bwMode="auto">
                <a:xfrm>
                  <a:off x="449" y="3003"/>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0490" name="Line 42"/>
                <p:cNvSpPr>
                  <a:spLocks noChangeShapeType="1"/>
                </p:cNvSpPr>
                <p:nvPr/>
              </p:nvSpPr>
              <p:spPr bwMode="auto">
                <a:xfrm>
                  <a:off x="449" y="3072"/>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0491" name="Line 43"/>
                <p:cNvSpPr>
                  <a:spLocks noChangeShapeType="1"/>
                </p:cNvSpPr>
                <p:nvPr/>
              </p:nvSpPr>
              <p:spPr bwMode="auto">
                <a:xfrm>
                  <a:off x="449" y="3142"/>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0492" name="Line 44"/>
                <p:cNvSpPr>
                  <a:spLocks noChangeShapeType="1"/>
                </p:cNvSpPr>
                <p:nvPr/>
              </p:nvSpPr>
              <p:spPr bwMode="auto">
                <a:xfrm>
                  <a:off x="449" y="3210"/>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0493" name="Line 45"/>
                <p:cNvSpPr>
                  <a:spLocks noChangeShapeType="1"/>
                </p:cNvSpPr>
                <p:nvPr/>
              </p:nvSpPr>
              <p:spPr bwMode="auto">
                <a:xfrm>
                  <a:off x="449" y="3279"/>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0494" name="Line 46"/>
                <p:cNvSpPr>
                  <a:spLocks noChangeShapeType="1"/>
                </p:cNvSpPr>
                <p:nvPr/>
              </p:nvSpPr>
              <p:spPr bwMode="auto">
                <a:xfrm>
                  <a:off x="449" y="3347"/>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0495" name="Line 47"/>
                <p:cNvSpPr>
                  <a:spLocks noChangeShapeType="1"/>
                </p:cNvSpPr>
                <p:nvPr/>
              </p:nvSpPr>
              <p:spPr bwMode="auto">
                <a:xfrm>
                  <a:off x="449" y="3417"/>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0496" name="Line 48"/>
                <p:cNvSpPr>
                  <a:spLocks noChangeShapeType="1"/>
                </p:cNvSpPr>
                <p:nvPr/>
              </p:nvSpPr>
              <p:spPr bwMode="auto">
                <a:xfrm>
                  <a:off x="449" y="3485"/>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0497" name="Line 49"/>
                <p:cNvSpPr>
                  <a:spLocks noChangeShapeType="1"/>
                </p:cNvSpPr>
                <p:nvPr/>
              </p:nvSpPr>
              <p:spPr bwMode="auto">
                <a:xfrm>
                  <a:off x="449" y="3554"/>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0498" name="Line 50"/>
                <p:cNvSpPr>
                  <a:spLocks noChangeShapeType="1"/>
                </p:cNvSpPr>
                <p:nvPr/>
              </p:nvSpPr>
              <p:spPr bwMode="auto">
                <a:xfrm>
                  <a:off x="449" y="3623"/>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0499" name="Line 51"/>
                <p:cNvSpPr>
                  <a:spLocks noChangeShapeType="1"/>
                </p:cNvSpPr>
                <p:nvPr/>
              </p:nvSpPr>
              <p:spPr bwMode="auto">
                <a:xfrm>
                  <a:off x="657" y="3692"/>
                  <a:ext cx="1" cy="8"/>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sp>
          <p:nvSpPr>
            <p:cNvPr id="360500" name="Rectangle 52"/>
            <p:cNvSpPr>
              <a:spLocks noChangeArrowheads="1"/>
            </p:cNvSpPr>
            <p:nvPr/>
          </p:nvSpPr>
          <p:spPr bwMode="auto">
            <a:xfrm>
              <a:off x="2167" y="3729"/>
              <a:ext cx="1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600">
                  <a:solidFill>
                    <a:srgbClr val="F0F0F0"/>
                  </a:solidFill>
                  <a:effectLst>
                    <a:outerShdw blurRad="38100" dist="38100" dir="2700000" algn="tl">
                      <a:srgbClr val="000000"/>
                    </a:outerShdw>
                  </a:effectLst>
                </a:rPr>
                <a:t>Z</a:t>
              </a:r>
              <a:endParaRPr lang="en-US" altLang="zh-CN" sz="2600">
                <a:solidFill>
                  <a:srgbClr val="F0F0F0"/>
                </a:solidFill>
                <a:effectLst>
                  <a:outerShdw blurRad="38100" dist="38100" dir="2700000" algn="tl">
                    <a:srgbClr val="000000"/>
                  </a:outerShdw>
                </a:effectLst>
              </a:endParaRPr>
            </a:p>
          </p:txBody>
        </p:sp>
        <p:sp>
          <p:nvSpPr>
            <p:cNvPr id="360501" name="Rectangle 53"/>
            <p:cNvSpPr>
              <a:spLocks noChangeArrowheads="1"/>
            </p:cNvSpPr>
            <p:nvPr/>
          </p:nvSpPr>
          <p:spPr bwMode="auto">
            <a:xfrm>
              <a:off x="1315" y="3726"/>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600">
                  <a:solidFill>
                    <a:srgbClr val="F0F0F0"/>
                  </a:solidFill>
                  <a:effectLst>
                    <a:outerShdw blurRad="38100" dist="38100" dir="2700000" algn="tl">
                      <a:srgbClr val="000000"/>
                    </a:outerShdw>
                  </a:effectLst>
                </a:rPr>
                <a:t>0</a:t>
              </a:r>
              <a:endParaRPr lang="en-US" altLang="zh-CN" sz="2600">
                <a:solidFill>
                  <a:srgbClr val="F0F0F0"/>
                </a:solidFill>
                <a:effectLst>
                  <a:outerShdw blurRad="38100" dist="38100" dir="2700000" algn="tl">
                    <a:srgbClr val="000000"/>
                  </a:outerShdw>
                </a:effectLst>
              </a:endParaRPr>
            </a:p>
          </p:txBody>
        </p:sp>
        <p:sp>
          <p:nvSpPr>
            <p:cNvPr id="360502" name="Rectangle 54"/>
            <p:cNvSpPr>
              <a:spLocks noChangeArrowheads="1"/>
            </p:cNvSpPr>
            <p:nvPr/>
          </p:nvSpPr>
          <p:spPr bwMode="auto">
            <a:xfrm>
              <a:off x="1563" y="3750"/>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solidFill>
                    <a:srgbClr val="F0F0F0"/>
                  </a:solidFill>
                  <a:effectLst>
                    <a:outerShdw blurRad="38100" dist="38100" dir="2700000" algn="tl">
                      <a:srgbClr val="000000"/>
                    </a:outerShdw>
                  </a:effectLst>
                </a:rPr>
                <a:t>1.96</a:t>
              </a:r>
              <a:endParaRPr lang="en-US" altLang="zh-CN">
                <a:solidFill>
                  <a:srgbClr val="F0F0F0"/>
                </a:solidFill>
                <a:effectLst>
                  <a:outerShdw blurRad="38100" dist="38100" dir="2700000" algn="tl">
                    <a:srgbClr val="000000"/>
                  </a:outerShdw>
                </a:effectLst>
              </a:endParaRPr>
            </a:p>
          </p:txBody>
        </p:sp>
        <p:sp>
          <p:nvSpPr>
            <p:cNvPr id="360503" name="Rectangle 55"/>
            <p:cNvSpPr>
              <a:spLocks noChangeArrowheads="1"/>
            </p:cNvSpPr>
            <p:nvPr/>
          </p:nvSpPr>
          <p:spPr bwMode="auto">
            <a:xfrm>
              <a:off x="785" y="3762"/>
              <a:ext cx="3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solidFill>
                    <a:srgbClr val="F0F0F0"/>
                  </a:solidFill>
                  <a:effectLst>
                    <a:outerShdw blurRad="38100" dist="38100" dir="2700000" algn="tl">
                      <a:srgbClr val="000000"/>
                    </a:outerShdw>
                  </a:effectLst>
                </a:rPr>
                <a:t>-1.96</a:t>
              </a:r>
              <a:endParaRPr lang="en-US" altLang="zh-CN">
                <a:solidFill>
                  <a:srgbClr val="F0F0F0"/>
                </a:solidFill>
                <a:effectLst>
                  <a:outerShdw blurRad="38100" dist="38100" dir="2700000" algn="tl">
                    <a:srgbClr val="000000"/>
                  </a:outerShdw>
                </a:effectLst>
              </a:endParaRPr>
            </a:p>
          </p:txBody>
        </p:sp>
        <p:sp>
          <p:nvSpPr>
            <p:cNvPr id="360504" name="Rectangle 56"/>
            <p:cNvSpPr>
              <a:spLocks noChangeArrowheads="1"/>
            </p:cNvSpPr>
            <p:nvPr/>
          </p:nvSpPr>
          <p:spPr bwMode="auto">
            <a:xfrm>
              <a:off x="1947" y="3170"/>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solidFill>
                    <a:srgbClr val="F0F0F0"/>
                  </a:solidFill>
                  <a:effectLst>
                    <a:outerShdw blurRad="38100" dist="38100" dir="2700000" algn="tl">
                      <a:srgbClr val="000000"/>
                    </a:outerShdw>
                  </a:effectLst>
                </a:rPr>
                <a:t>.025</a:t>
              </a:r>
              <a:endParaRPr lang="en-US" altLang="zh-CN">
                <a:solidFill>
                  <a:srgbClr val="F0F0F0"/>
                </a:solidFill>
                <a:effectLst>
                  <a:outerShdw blurRad="38100" dist="38100" dir="2700000" algn="tl">
                    <a:srgbClr val="000000"/>
                  </a:outerShdw>
                </a:effectLst>
              </a:endParaRPr>
            </a:p>
          </p:txBody>
        </p:sp>
        <p:sp>
          <p:nvSpPr>
            <p:cNvPr id="360505" name="Freeform 57"/>
            <p:cNvSpPr/>
            <p:nvPr/>
          </p:nvSpPr>
          <p:spPr bwMode="auto">
            <a:xfrm>
              <a:off x="808" y="3352"/>
              <a:ext cx="134" cy="274"/>
            </a:xfrm>
            <a:custGeom>
              <a:avLst/>
              <a:gdLst>
                <a:gd name="T0" fmla="*/ 0 w 110"/>
                <a:gd name="T1" fmla="*/ 0 h 238"/>
                <a:gd name="T2" fmla="*/ 19 w 110"/>
                <a:gd name="T3" fmla="*/ 1 h 238"/>
                <a:gd name="T4" fmla="*/ 37 w 110"/>
                <a:gd name="T5" fmla="*/ 5 h 238"/>
                <a:gd name="T6" fmla="*/ 52 w 110"/>
                <a:gd name="T7" fmla="*/ 14 h 238"/>
                <a:gd name="T8" fmla="*/ 67 w 110"/>
                <a:gd name="T9" fmla="*/ 25 h 238"/>
                <a:gd name="T10" fmla="*/ 78 w 110"/>
                <a:gd name="T11" fmla="*/ 39 h 238"/>
                <a:gd name="T12" fmla="*/ 86 w 110"/>
                <a:gd name="T13" fmla="*/ 55 h 238"/>
                <a:gd name="T14" fmla="*/ 90 w 110"/>
                <a:gd name="T15" fmla="*/ 73 h 238"/>
                <a:gd name="T16" fmla="*/ 90 w 110"/>
                <a:gd name="T17" fmla="*/ 90 h 238"/>
                <a:gd name="T18" fmla="*/ 86 w 110"/>
                <a:gd name="T19" fmla="*/ 108 h 238"/>
                <a:gd name="T20" fmla="*/ 78 w 110"/>
                <a:gd name="T21" fmla="*/ 124 h 238"/>
                <a:gd name="T22" fmla="*/ 70 w 110"/>
                <a:gd name="T23" fmla="*/ 140 h 238"/>
                <a:gd name="T24" fmla="*/ 67 w 110"/>
                <a:gd name="T25" fmla="*/ 157 h 238"/>
                <a:gd name="T26" fmla="*/ 67 w 110"/>
                <a:gd name="T27" fmla="*/ 175 h 238"/>
                <a:gd name="T28" fmla="*/ 70 w 110"/>
                <a:gd name="T29" fmla="*/ 192 h 238"/>
                <a:gd name="T30" fmla="*/ 79 w 110"/>
                <a:gd name="T31" fmla="*/ 209 h 238"/>
                <a:gd name="T32" fmla="*/ 90 w 110"/>
                <a:gd name="T33" fmla="*/ 222 h 238"/>
                <a:gd name="T34" fmla="*/ 103 w 110"/>
                <a:gd name="T35" fmla="*/ 234 h 238"/>
                <a:gd name="T36" fmla="*/ 110 w 110"/>
                <a:gd name="T3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238">
                  <a:moveTo>
                    <a:pt x="0" y="0"/>
                  </a:moveTo>
                  <a:lnTo>
                    <a:pt x="19" y="1"/>
                  </a:lnTo>
                  <a:lnTo>
                    <a:pt x="37" y="5"/>
                  </a:lnTo>
                  <a:lnTo>
                    <a:pt x="52" y="14"/>
                  </a:lnTo>
                  <a:lnTo>
                    <a:pt x="67" y="25"/>
                  </a:lnTo>
                  <a:lnTo>
                    <a:pt x="78" y="39"/>
                  </a:lnTo>
                  <a:lnTo>
                    <a:pt x="86" y="55"/>
                  </a:lnTo>
                  <a:lnTo>
                    <a:pt x="90" y="73"/>
                  </a:lnTo>
                  <a:lnTo>
                    <a:pt x="90" y="90"/>
                  </a:lnTo>
                  <a:lnTo>
                    <a:pt x="86" y="108"/>
                  </a:lnTo>
                  <a:lnTo>
                    <a:pt x="78" y="124"/>
                  </a:lnTo>
                  <a:lnTo>
                    <a:pt x="70" y="140"/>
                  </a:lnTo>
                  <a:lnTo>
                    <a:pt x="67" y="157"/>
                  </a:lnTo>
                  <a:lnTo>
                    <a:pt x="67" y="175"/>
                  </a:lnTo>
                  <a:lnTo>
                    <a:pt x="70" y="192"/>
                  </a:lnTo>
                  <a:lnTo>
                    <a:pt x="79" y="209"/>
                  </a:lnTo>
                  <a:lnTo>
                    <a:pt x="90" y="222"/>
                  </a:lnTo>
                  <a:lnTo>
                    <a:pt x="103" y="234"/>
                  </a:lnTo>
                  <a:lnTo>
                    <a:pt x="110" y="238"/>
                  </a:lnTo>
                </a:path>
              </a:pathLst>
            </a:custGeom>
            <a:noFill/>
            <a:ln w="12700"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0506" name="Freeform 58"/>
            <p:cNvSpPr/>
            <p:nvPr/>
          </p:nvSpPr>
          <p:spPr bwMode="auto">
            <a:xfrm>
              <a:off x="1837" y="3340"/>
              <a:ext cx="294" cy="236"/>
            </a:xfrm>
            <a:custGeom>
              <a:avLst/>
              <a:gdLst>
                <a:gd name="T0" fmla="*/ 294 w 294"/>
                <a:gd name="T1" fmla="*/ 0 h 188"/>
                <a:gd name="T2" fmla="*/ 291 w 294"/>
                <a:gd name="T3" fmla="*/ 23 h 188"/>
                <a:gd name="T4" fmla="*/ 283 w 294"/>
                <a:gd name="T5" fmla="*/ 46 h 188"/>
                <a:gd name="T6" fmla="*/ 271 w 294"/>
                <a:gd name="T7" fmla="*/ 66 h 188"/>
                <a:gd name="T8" fmla="*/ 255 w 294"/>
                <a:gd name="T9" fmla="*/ 84 h 188"/>
                <a:gd name="T10" fmla="*/ 236 w 294"/>
                <a:gd name="T11" fmla="*/ 99 h 188"/>
                <a:gd name="T12" fmla="*/ 214 w 294"/>
                <a:gd name="T13" fmla="*/ 110 h 188"/>
                <a:gd name="T14" fmla="*/ 190 w 294"/>
                <a:gd name="T15" fmla="*/ 117 h 188"/>
                <a:gd name="T16" fmla="*/ 166 w 294"/>
                <a:gd name="T17" fmla="*/ 118 h 188"/>
                <a:gd name="T18" fmla="*/ 142 w 294"/>
                <a:gd name="T19" fmla="*/ 116 h 188"/>
                <a:gd name="T20" fmla="*/ 117 w 294"/>
                <a:gd name="T21" fmla="*/ 113 h 188"/>
                <a:gd name="T22" fmla="*/ 92 w 294"/>
                <a:gd name="T23" fmla="*/ 116 h 188"/>
                <a:gd name="T24" fmla="*/ 70 w 294"/>
                <a:gd name="T25" fmla="*/ 123 h 188"/>
                <a:gd name="T26" fmla="*/ 47 w 294"/>
                <a:gd name="T27" fmla="*/ 133 h 188"/>
                <a:gd name="T28" fmla="*/ 27 w 294"/>
                <a:gd name="T29" fmla="*/ 147 h 188"/>
                <a:gd name="T30" fmla="*/ 12 w 294"/>
                <a:gd name="T31" fmla="*/ 166 h 188"/>
                <a:gd name="T32" fmla="*/ 0 w 294"/>
                <a:gd name="T33" fmla="*/ 186 h 188"/>
                <a:gd name="T34" fmla="*/ 0 w 294"/>
                <a:gd name="T35" fmla="*/ 18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4" h="188">
                  <a:moveTo>
                    <a:pt x="294" y="0"/>
                  </a:moveTo>
                  <a:lnTo>
                    <a:pt x="291" y="23"/>
                  </a:lnTo>
                  <a:lnTo>
                    <a:pt x="283" y="46"/>
                  </a:lnTo>
                  <a:lnTo>
                    <a:pt x="271" y="66"/>
                  </a:lnTo>
                  <a:lnTo>
                    <a:pt x="255" y="84"/>
                  </a:lnTo>
                  <a:lnTo>
                    <a:pt x="236" y="99"/>
                  </a:lnTo>
                  <a:lnTo>
                    <a:pt x="214" y="110"/>
                  </a:lnTo>
                  <a:lnTo>
                    <a:pt x="190" y="117"/>
                  </a:lnTo>
                  <a:lnTo>
                    <a:pt x="166" y="118"/>
                  </a:lnTo>
                  <a:lnTo>
                    <a:pt x="142" y="116"/>
                  </a:lnTo>
                  <a:lnTo>
                    <a:pt x="117" y="113"/>
                  </a:lnTo>
                  <a:lnTo>
                    <a:pt x="92" y="116"/>
                  </a:lnTo>
                  <a:lnTo>
                    <a:pt x="70" y="123"/>
                  </a:lnTo>
                  <a:lnTo>
                    <a:pt x="47" y="133"/>
                  </a:lnTo>
                  <a:lnTo>
                    <a:pt x="27" y="147"/>
                  </a:lnTo>
                  <a:lnTo>
                    <a:pt x="12" y="166"/>
                  </a:lnTo>
                  <a:lnTo>
                    <a:pt x="0" y="186"/>
                  </a:lnTo>
                  <a:lnTo>
                    <a:pt x="0" y="188"/>
                  </a:lnTo>
                </a:path>
              </a:pathLst>
            </a:custGeom>
            <a:noFill/>
            <a:ln w="12700"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0507" name="Rectangle 59"/>
            <p:cNvSpPr>
              <a:spLocks noChangeArrowheads="1"/>
            </p:cNvSpPr>
            <p:nvPr/>
          </p:nvSpPr>
          <p:spPr bwMode="auto">
            <a:xfrm>
              <a:off x="501" y="2824"/>
              <a:ext cx="5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2000">
                  <a:solidFill>
                    <a:srgbClr val="F0F0F0"/>
                  </a:solidFill>
                  <a:effectLst>
                    <a:outerShdw blurRad="38100" dist="38100" dir="2700000" algn="tl">
                      <a:srgbClr val="000000"/>
                    </a:outerShdw>
                  </a:effectLst>
                </a:rPr>
                <a:t>拒绝 </a:t>
              </a:r>
              <a:r>
                <a:rPr lang="en-US" altLang="zh-CN" sz="2000">
                  <a:solidFill>
                    <a:srgbClr val="F0F0F0"/>
                  </a:solidFill>
                  <a:effectLst>
                    <a:outerShdw blurRad="38100" dist="38100" dir="2700000" algn="tl">
                      <a:srgbClr val="000000"/>
                    </a:outerShdw>
                  </a:effectLst>
                </a:rPr>
                <a:t>H</a:t>
              </a:r>
              <a:r>
                <a:rPr lang="en-US" altLang="zh-CN" sz="2000" baseline="-25000">
                  <a:solidFill>
                    <a:srgbClr val="F0F0F0"/>
                  </a:solidFill>
                  <a:effectLst>
                    <a:outerShdw blurRad="38100" dist="38100" dir="2700000" algn="tl">
                      <a:srgbClr val="000000"/>
                    </a:outerShdw>
                  </a:effectLst>
                </a:rPr>
                <a:t>0</a:t>
              </a:r>
              <a:endParaRPr lang="en-US" altLang="zh-CN" sz="2000">
                <a:solidFill>
                  <a:srgbClr val="F0F0F0"/>
                </a:solidFill>
                <a:effectLst>
                  <a:outerShdw blurRad="38100" dist="38100" dir="2700000" algn="tl">
                    <a:srgbClr val="000000"/>
                  </a:outerShdw>
                </a:effectLst>
              </a:endParaRPr>
            </a:p>
          </p:txBody>
        </p:sp>
        <p:sp>
          <p:nvSpPr>
            <p:cNvPr id="360508" name="Rectangle 60"/>
            <p:cNvSpPr>
              <a:spLocks noChangeArrowheads="1"/>
            </p:cNvSpPr>
            <p:nvPr/>
          </p:nvSpPr>
          <p:spPr bwMode="auto">
            <a:xfrm>
              <a:off x="1697" y="2824"/>
              <a:ext cx="5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2000">
                  <a:solidFill>
                    <a:srgbClr val="F0F0F0"/>
                  </a:solidFill>
                  <a:effectLst>
                    <a:outerShdw blurRad="38100" dist="38100" dir="2700000" algn="tl">
                      <a:srgbClr val="000000"/>
                    </a:outerShdw>
                  </a:effectLst>
                </a:rPr>
                <a:t>拒绝 </a:t>
              </a:r>
              <a:r>
                <a:rPr lang="en-US" altLang="zh-CN" sz="2000">
                  <a:solidFill>
                    <a:srgbClr val="F0F0F0"/>
                  </a:solidFill>
                  <a:effectLst>
                    <a:outerShdw blurRad="38100" dist="38100" dir="2700000" algn="tl">
                      <a:srgbClr val="000000"/>
                    </a:outerShdw>
                  </a:effectLst>
                </a:rPr>
                <a:t>H</a:t>
              </a:r>
              <a:r>
                <a:rPr lang="en-US" altLang="zh-CN" sz="2000" baseline="-25000">
                  <a:solidFill>
                    <a:srgbClr val="F0F0F0"/>
                  </a:solidFill>
                  <a:effectLst>
                    <a:outerShdw blurRad="38100" dist="38100" dir="2700000" algn="tl">
                      <a:srgbClr val="000000"/>
                    </a:outerShdw>
                  </a:effectLst>
                </a:rPr>
                <a:t>0</a:t>
              </a:r>
              <a:endParaRPr lang="en-US" altLang="zh-CN" sz="2000">
                <a:solidFill>
                  <a:srgbClr val="F0F0F0"/>
                </a:solidFill>
                <a:effectLst>
                  <a:outerShdw blurRad="38100" dist="38100" dir="2700000" algn="tl">
                    <a:srgbClr val="000000"/>
                  </a:outerShdw>
                </a:effectLst>
              </a:endParaRPr>
            </a:p>
          </p:txBody>
        </p:sp>
        <p:grpSp>
          <p:nvGrpSpPr>
            <p:cNvPr id="360509" name="Group 61"/>
            <p:cNvGrpSpPr/>
            <p:nvPr/>
          </p:nvGrpSpPr>
          <p:grpSpPr bwMode="auto">
            <a:xfrm>
              <a:off x="758" y="3048"/>
              <a:ext cx="301" cy="670"/>
              <a:chOff x="758" y="3048"/>
              <a:chExt cx="301" cy="670"/>
            </a:xfrm>
          </p:grpSpPr>
          <p:sp>
            <p:nvSpPr>
              <p:cNvPr id="360510" name="Line 62"/>
              <p:cNvSpPr>
                <a:spLocks noChangeShapeType="1"/>
              </p:cNvSpPr>
              <p:nvPr/>
            </p:nvSpPr>
            <p:spPr bwMode="auto">
              <a:xfrm>
                <a:off x="758" y="3048"/>
                <a:ext cx="300" cy="1"/>
              </a:xfrm>
              <a:prstGeom prst="line">
                <a:avLst/>
              </a:prstGeom>
              <a:noFill/>
              <a:ln w="17463">
                <a:solidFill>
                  <a:schemeClr val="tx1"/>
                </a:solidFill>
                <a:round/>
                <a:headEnd type="triangle" w="med" len="me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0511" name="Line 63"/>
              <p:cNvSpPr>
                <a:spLocks noChangeShapeType="1"/>
              </p:cNvSpPr>
              <p:nvPr/>
            </p:nvSpPr>
            <p:spPr bwMode="auto">
              <a:xfrm flipV="1">
                <a:off x="1058" y="3048"/>
                <a:ext cx="1" cy="670"/>
              </a:xfrm>
              <a:prstGeom prst="line">
                <a:avLst/>
              </a:prstGeom>
              <a:noFill/>
              <a:ln w="17463">
                <a:solidFill>
                  <a:schemeClr val="tx1"/>
                </a:solidFill>
                <a:roun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360512" name="Group 64"/>
            <p:cNvGrpSpPr/>
            <p:nvPr/>
          </p:nvGrpSpPr>
          <p:grpSpPr bwMode="auto">
            <a:xfrm>
              <a:off x="1721" y="3048"/>
              <a:ext cx="322" cy="676"/>
              <a:chOff x="1721" y="3048"/>
              <a:chExt cx="322" cy="676"/>
            </a:xfrm>
          </p:grpSpPr>
          <p:sp>
            <p:nvSpPr>
              <p:cNvPr id="360513" name="Line 65"/>
              <p:cNvSpPr>
                <a:spLocks noChangeShapeType="1"/>
              </p:cNvSpPr>
              <p:nvPr/>
            </p:nvSpPr>
            <p:spPr bwMode="auto">
              <a:xfrm flipH="1">
                <a:off x="1721" y="3048"/>
                <a:ext cx="322" cy="1"/>
              </a:xfrm>
              <a:prstGeom prst="line">
                <a:avLst/>
              </a:prstGeom>
              <a:noFill/>
              <a:ln w="17463">
                <a:solidFill>
                  <a:schemeClr val="tx1"/>
                </a:solidFill>
                <a:round/>
                <a:headEnd type="triangle" w="med" len="me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0514" name="Line 66"/>
              <p:cNvSpPr>
                <a:spLocks noChangeShapeType="1"/>
              </p:cNvSpPr>
              <p:nvPr/>
            </p:nvSpPr>
            <p:spPr bwMode="auto">
              <a:xfrm flipV="1">
                <a:off x="1721" y="3048"/>
                <a:ext cx="1" cy="676"/>
              </a:xfrm>
              <a:prstGeom prst="line">
                <a:avLst/>
              </a:prstGeom>
              <a:noFill/>
              <a:ln w="17463">
                <a:solidFill>
                  <a:schemeClr val="tx1"/>
                </a:solidFill>
                <a:roun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360515" name="Rectangle 67"/>
            <p:cNvSpPr>
              <a:spLocks noChangeArrowheads="1"/>
            </p:cNvSpPr>
            <p:nvPr/>
          </p:nvSpPr>
          <p:spPr bwMode="auto">
            <a:xfrm>
              <a:off x="553" y="3170"/>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solidFill>
                    <a:srgbClr val="F0F0F0"/>
                  </a:solidFill>
                  <a:effectLst>
                    <a:outerShdw blurRad="38100" dist="38100" dir="2700000" algn="tl">
                      <a:srgbClr val="000000"/>
                    </a:outerShdw>
                  </a:effectLst>
                </a:rPr>
                <a:t>.025</a:t>
              </a:r>
              <a:endParaRPr lang="en-US" altLang="zh-CN">
                <a:solidFill>
                  <a:srgbClr val="F0F0F0"/>
                </a:solidFill>
                <a:effectLst>
                  <a:outerShdw blurRad="38100" dist="38100" dir="2700000" algn="tl">
                    <a:srgbClr val="000000"/>
                  </a:outerShdw>
                </a:effectLst>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0451">
                                            <p:txEl>
                                              <p:pRg st="0" end="0"/>
                                            </p:txEl>
                                          </p:spTgt>
                                        </p:tgtEl>
                                        <p:attrNameLst>
                                          <p:attrName>style.visibility</p:attrName>
                                        </p:attrNameLst>
                                      </p:cBhvr>
                                      <p:to>
                                        <p:strVal val="visible"/>
                                      </p:to>
                                    </p:set>
                                    <p:animEffect transition="in" filter="wipe(left)">
                                      <p:cBhvr>
                                        <p:cTn id="7" dur="500"/>
                                        <p:tgtEl>
                                          <p:spTgt spid="3604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0451">
                                            <p:txEl>
                                              <p:pRg st="1" end="1"/>
                                            </p:txEl>
                                          </p:spTgt>
                                        </p:tgtEl>
                                        <p:attrNameLst>
                                          <p:attrName>style.visibility</p:attrName>
                                        </p:attrNameLst>
                                      </p:cBhvr>
                                      <p:to>
                                        <p:strVal val="visible"/>
                                      </p:to>
                                    </p:set>
                                    <p:animEffect transition="in" filter="wipe(left)">
                                      <p:cBhvr>
                                        <p:cTn id="12" dur="500"/>
                                        <p:tgtEl>
                                          <p:spTgt spid="3604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0451">
                                            <p:txEl>
                                              <p:pRg st="2" end="2"/>
                                            </p:txEl>
                                          </p:spTgt>
                                        </p:tgtEl>
                                        <p:attrNameLst>
                                          <p:attrName>style.visibility</p:attrName>
                                        </p:attrNameLst>
                                      </p:cBhvr>
                                      <p:to>
                                        <p:strVal val="visible"/>
                                      </p:to>
                                    </p:set>
                                    <p:animEffect transition="in" filter="wipe(left)">
                                      <p:cBhvr>
                                        <p:cTn id="17" dur="500"/>
                                        <p:tgtEl>
                                          <p:spTgt spid="3604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0451">
                                            <p:txEl>
                                              <p:pRg st="3" end="3"/>
                                            </p:txEl>
                                          </p:spTgt>
                                        </p:tgtEl>
                                        <p:attrNameLst>
                                          <p:attrName>style.visibility</p:attrName>
                                        </p:attrNameLst>
                                      </p:cBhvr>
                                      <p:to>
                                        <p:strVal val="visible"/>
                                      </p:to>
                                    </p:set>
                                    <p:animEffect transition="in" filter="wipe(left)">
                                      <p:cBhvr>
                                        <p:cTn id="22" dur="500"/>
                                        <p:tgtEl>
                                          <p:spTgt spid="3604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60451">
                                            <p:txEl>
                                              <p:pRg st="4" end="4"/>
                                            </p:txEl>
                                          </p:spTgt>
                                        </p:tgtEl>
                                        <p:attrNameLst>
                                          <p:attrName>style.visibility</p:attrName>
                                        </p:attrNameLst>
                                      </p:cBhvr>
                                      <p:to>
                                        <p:strVal val="visible"/>
                                      </p:to>
                                    </p:set>
                                    <p:animEffect transition="in" filter="wipe(left)">
                                      <p:cBhvr>
                                        <p:cTn id="27" dur="500"/>
                                        <p:tgtEl>
                                          <p:spTgt spid="36045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360476"/>
                                        </p:tgtEl>
                                        <p:attrNameLst>
                                          <p:attrName>style.visibility</p:attrName>
                                        </p:attrNameLst>
                                      </p:cBhvr>
                                      <p:to>
                                        <p:strVal val="visible"/>
                                      </p:to>
                                    </p:set>
                                    <p:animEffect transition="in" filter="barn(outVertical)">
                                      <p:cBhvr>
                                        <p:cTn id="32" dur="500"/>
                                        <p:tgtEl>
                                          <p:spTgt spid="36047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60452">
                                            <p:txEl>
                                              <p:pRg st="0" end="0"/>
                                            </p:txEl>
                                          </p:spTgt>
                                        </p:tgtEl>
                                        <p:attrNameLst>
                                          <p:attrName>style.visibility</p:attrName>
                                        </p:attrNameLst>
                                      </p:cBhvr>
                                      <p:to>
                                        <p:strVal val="visible"/>
                                      </p:to>
                                    </p:set>
                                    <p:animEffect transition="in" filter="wipe(left)">
                                      <p:cBhvr>
                                        <p:cTn id="37" dur="500"/>
                                        <p:tgtEl>
                                          <p:spTgt spid="36045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60457">
                                            <p:txEl>
                                              <p:pRg st="0" end="0"/>
                                            </p:txEl>
                                          </p:spTgt>
                                        </p:tgtEl>
                                        <p:attrNameLst>
                                          <p:attrName>style.visibility</p:attrName>
                                        </p:attrNameLst>
                                      </p:cBhvr>
                                      <p:to>
                                        <p:strVal val="visible"/>
                                      </p:to>
                                    </p:set>
                                    <p:animEffect transition="in" filter="wipe(left)">
                                      <p:cBhvr>
                                        <p:cTn id="42" dur="500"/>
                                        <p:tgtEl>
                                          <p:spTgt spid="360457">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60454">
                                            <p:txEl>
                                              <p:pRg st="0" end="0"/>
                                            </p:txEl>
                                          </p:spTgt>
                                        </p:tgtEl>
                                        <p:attrNameLst>
                                          <p:attrName>style.visibility</p:attrName>
                                        </p:attrNameLst>
                                      </p:cBhvr>
                                      <p:to>
                                        <p:strVal val="visible"/>
                                      </p:to>
                                    </p:set>
                                    <p:animEffect transition="in" filter="wipe(left)">
                                      <p:cBhvr>
                                        <p:cTn id="47" dur="500"/>
                                        <p:tgtEl>
                                          <p:spTgt spid="36045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60458">
                                            <p:txEl>
                                              <p:pRg st="0" end="0"/>
                                            </p:txEl>
                                          </p:spTgt>
                                        </p:tgtEl>
                                        <p:attrNameLst>
                                          <p:attrName>style.visibility</p:attrName>
                                        </p:attrNameLst>
                                      </p:cBhvr>
                                      <p:to>
                                        <p:strVal val="visible"/>
                                      </p:to>
                                    </p:set>
                                    <p:animEffect transition="in" filter="wipe(left)">
                                      <p:cBhvr>
                                        <p:cTn id="52" dur="500"/>
                                        <p:tgtEl>
                                          <p:spTgt spid="360458">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60455">
                                            <p:txEl>
                                              <p:pRg st="0" end="0"/>
                                            </p:txEl>
                                          </p:spTgt>
                                        </p:tgtEl>
                                        <p:attrNameLst>
                                          <p:attrName>style.visibility</p:attrName>
                                        </p:attrNameLst>
                                      </p:cBhvr>
                                      <p:to>
                                        <p:strVal val="visible"/>
                                      </p:to>
                                    </p:set>
                                    <p:animEffect transition="in" filter="wipe(left)">
                                      <p:cBhvr>
                                        <p:cTn id="57" dur="500"/>
                                        <p:tgtEl>
                                          <p:spTgt spid="3604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1" grpId="0" autoUpdateAnimBg="0" build="p"/>
      <p:bldP spid="360452" grpId="0" autoUpdateAnimBg="0" build="p"/>
      <p:bldP spid="360454" grpId="0" autoUpdateAnimBg="0" build="p"/>
      <p:bldP spid="360455" grpId="0" autoUpdateAnimBg="0" build="p"/>
      <p:bldP spid="360457" grpId="0" autoUpdateAnimBg="0" build="p"/>
      <p:bldP spid="360458" grpId="0" autoUpdateAnimBg="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4" name="Rectangle 2"/>
          <p:cNvSpPr>
            <a:spLocks noGrp="1" noChangeArrowheads="1"/>
          </p:cNvSpPr>
          <p:nvPr>
            <p:ph type="ctrTitle"/>
          </p:nvPr>
        </p:nvSpPr>
        <p:spPr>
          <a:xfrm>
            <a:off x="2209800" y="2286000"/>
            <a:ext cx="7772400" cy="1143000"/>
          </a:xfrm>
          <a:noFill/>
        </p:spPr>
        <p:txBody>
          <a:bodyPr anchor="ctr" anchorCtr="0">
            <a:normAutofit fontScale="90000"/>
          </a:bodyPr>
          <a:lstStyle/>
          <a:p>
            <a:r>
              <a:rPr lang="zh-CN" altLang="en-US" sz="4400"/>
              <a:t>总体方差的检验</a:t>
            </a:r>
            <a:br>
              <a:rPr lang="zh-CN" altLang="en-US" sz="4400"/>
            </a:br>
            <a:r>
              <a:rPr lang="en-US" altLang="zh-CN" sz="4400">
                <a:solidFill>
                  <a:schemeClr val="hlink"/>
                </a:solidFill>
              </a:rPr>
              <a:t>(</a:t>
            </a:r>
            <a:r>
              <a:rPr lang="en-US" altLang="zh-CN" sz="4400">
                <a:solidFill>
                  <a:schemeClr val="hlink"/>
                </a:solidFill>
                <a:latin typeface="Symbol" panose="05050102010706020507" pitchFamily="18" charset="2"/>
              </a:rPr>
              <a:t></a:t>
            </a:r>
            <a:r>
              <a:rPr lang="en-US" altLang="zh-CN" sz="4400" baseline="30000">
                <a:solidFill>
                  <a:schemeClr val="hlink"/>
                </a:solidFill>
              </a:rPr>
              <a:t>2 </a:t>
            </a:r>
            <a:r>
              <a:rPr lang="zh-CN" altLang="en-US" sz="4400">
                <a:solidFill>
                  <a:schemeClr val="hlink"/>
                </a:solidFill>
              </a:rPr>
              <a:t>检验</a:t>
            </a:r>
            <a:r>
              <a:rPr lang="en-US" altLang="zh-CN" sz="4400">
                <a:solidFill>
                  <a:schemeClr val="hlink"/>
                </a:solidFill>
              </a:rPr>
              <a:t>)</a:t>
            </a:r>
            <a:endParaRPr lang="en-US" altLang="zh-CN" sz="4400">
              <a:solidFill>
                <a:schemeClr val="hlink"/>
              </a:solidFill>
            </a:endParaRPr>
          </a:p>
        </p:txBody>
      </p: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a:noFill/>
        </p:spPr>
        <p:txBody>
          <a:bodyPr/>
          <a:lstStyle/>
          <a:p>
            <a:r>
              <a:rPr lang="zh-CN" altLang="en-US" sz="4000"/>
              <a:t>方差的卡</a:t>
            </a:r>
            <a:r>
              <a:rPr lang="zh-CN" altLang="en-US" sz="4000">
                <a:latin typeface="Arial" panose="020B0604020202090204" pitchFamily="34" charset="0"/>
              </a:rPr>
              <a:t>方 </a:t>
            </a:r>
            <a:r>
              <a:rPr lang="en-US" altLang="zh-CN" sz="4000">
                <a:latin typeface="Arial" panose="020B0604020202090204" pitchFamily="34" charset="0"/>
              </a:rPr>
              <a:t>(</a:t>
            </a:r>
            <a:r>
              <a:rPr lang="en-US" altLang="zh-CN" sz="4000">
                <a:latin typeface="Symbol" panose="05050102010706020507" pitchFamily="18" charset="2"/>
              </a:rPr>
              <a:t></a:t>
            </a:r>
            <a:r>
              <a:rPr lang="en-US" altLang="zh-CN" sz="4000" baseline="30000"/>
              <a:t>2</a:t>
            </a:r>
            <a:r>
              <a:rPr lang="en-US" altLang="zh-CN" sz="4000">
                <a:latin typeface="Arial" panose="020B0604020202090204" pitchFamily="34" charset="0"/>
              </a:rPr>
              <a:t>)</a:t>
            </a:r>
            <a:r>
              <a:rPr lang="en-US" altLang="zh-CN" sz="4000"/>
              <a:t> </a:t>
            </a:r>
            <a:r>
              <a:rPr lang="zh-CN" altLang="en-US" sz="4000"/>
              <a:t>检验</a:t>
            </a:r>
            <a:endParaRPr lang="zh-CN" altLang="en-US"/>
          </a:p>
        </p:txBody>
      </p:sp>
      <p:sp>
        <p:nvSpPr>
          <p:cNvPr id="382979" name="Rectangle 3"/>
          <p:cNvSpPr>
            <a:spLocks noGrp="1" noChangeArrowheads="1"/>
          </p:cNvSpPr>
          <p:nvPr>
            <p:ph type="body" idx="1"/>
          </p:nvPr>
        </p:nvSpPr>
        <p:spPr>
          <a:xfrm>
            <a:off x="2133600" y="1889125"/>
            <a:ext cx="7848600" cy="4114800"/>
          </a:xfrm>
          <a:noFill/>
        </p:spPr>
        <p:txBody>
          <a:bodyPr/>
          <a:lstStyle/>
          <a:p>
            <a:pPr marL="609600" indent="-609600">
              <a:buFontTx/>
              <a:buAutoNum type="arabicPeriod"/>
            </a:pPr>
            <a:r>
              <a:rPr lang="zh-CN" altLang="en-US" dirty="0"/>
              <a:t>检验一个总体的方差或标准差</a:t>
            </a:r>
            <a:endParaRPr lang="zh-CN" altLang="en-US" dirty="0"/>
          </a:p>
          <a:p>
            <a:pPr marL="609600" indent="-609600">
              <a:buFontTx/>
              <a:buAutoNum type="arabicPeriod"/>
            </a:pPr>
            <a:r>
              <a:rPr lang="zh-CN" altLang="en-US" dirty="0"/>
              <a:t>假设总体近似服从正态分布</a:t>
            </a:r>
            <a:endParaRPr lang="zh-CN" altLang="en-US" dirty="0"/>
          </a:p>
          <a:p>
            <a:pPr marL="609600" indent="-609600">
              <a:buFontTx/>
              <a:buAutoNum type="arabicPeriod"/>
            </a:pPr>
            <a:r>
              <a:rPr lang="zh-CN" altLang="en-US" dirty="0"/>
              <a:t>检验统计量</a:t>
            </a:r>
            <a:endParaRPr lang="zh-CN" altLang="en-US" dirty="0"/>
          </a:p>
        </p:txBody>
      </p:sp>
      <p:sp>
        <p:nvSpPr>
          <p:cNvPr id="382980" name="Text Box 4"/>
          <p:cNvSpPr txBox="1">
            <a:spLocks noChangeArrowheads="1"/>
          </p:cNvSpPr>
          <p:nvPr/>
        </p:nvSpPr>
        <p:spPr bwMode="auto">
          <a:xfrm>
            <a:off x="3886200" y="4362450"/>
            <a:ext cx="2133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a:effectLst>
                <a:outerShdw blurRad="38100" dist="38100" dir="2700000" algn="tl">
                  <a:srgbClr val="000000"/>
                </a:outerShdw>
              </a:effectLst>
            </a:endParaRPr>
          </a:p>
        </p:txBody>
      </p:sp>
      <p:grpSp>
        <p:nvGrpSpPr>
          <p:cNvPr id="382991" name="Group 15"/>
          <p:cNvGrpSpPr/>
          <p:nvPr/>
        </p:nvGrpSpPr>
        <p:grpSpPr bwMode="auto">
          <a:xfrm>
            <a:off x="5089525" y="3810000"/>
            <a:ext cx="3206750" cy="533400"/>
            <a:chOff x="2246" y="2580"/>
            <a:chExt cx="2020" cy="336"/>
          </a:xfrm>
        </p:grpSpPr>
        <p:sp>
          <p:nvSpPr>
            <p:cNvPr id="382982" name="Rectangle 6"/>
            <p:cNvSpPr>
              <a:spLocks noChangeArrowheads="1"/>
            </p:cNvSpPr>
            <p:nvPr/>
          </p:nvSpPr>
          <p:spPr bwMode="auto">
            <a:xfrm>
              <a:off x="3147" y="2580"/>
              <a:ext cx="111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zh-CN" altLang="en-US" sz="2200" b="1">
                  <a:solidFill>
                    <a:srgbClr val="FFFFB1"/>
                  </a:solidFill>
                  <a:effectLst>
                    <a:outerShdw blurRad="38100" dist="38100" dir="2700000" algn="tl">
                      <a:srgbClr val="000000"/>
                    </a:outerShdw>
                  </a:effectLst>
                </a:rPr>
                <a:t>样本方差</a:t>
              </a:r>
              <a:endParaRPr lang="zh-CN" altLang="en-US" b="1">
                <a:solidFill>
                  <a:srgbClr val="FFFFB1"/>
                </a:solidFill>
                <a:effectLst>
                  <a:outerShdw blurRad="38100" dist="38100" dir="2700000" algn="tl">
                    <a:srgbClr val="000000"/>
                  </a:outerShdw>
                </a:effectLst>
              </a:endParaRPr>
            </a:p>
          </p:txBody>
        </p:sp>
        <p:sp>
          <p:nvSpPr>
            <p:cNvPr id="382984" name="Line 8"/>
            <p:cNvSpPr>
              <a:spLocks noChangeShapeType="1"/>
            </p:cNvSpPr>
            <p:nvPr/>
          </p:nvSpPr>
          <p:spPr bwMode="auto">
            <a:xfrm flipV="1">
              <a:off x="2246" y="2724"/>
              <a:ext cx="941" cy="192"/>
            </a:xfrm>
            <a:prstGeom prst="line">
              <a:avLst/>
            </a:prstGeom>
            <a:noFill/>
            <a:ln w="12700">
              <a:solidFill>
                <a:srgbClr val="FF139F"/>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82990" name="Group 14"/>
          <p:cNvGrpSpPr/>
          <p:nvPr/>
        </p:nvGrpSpPr>
        <p:grpSpPr bwMode="auto">
          <a:xfrm>
            <a:off x="4710114" y="5210181"/>
            <a:ext cx="4738687" cy="512763"/>
            <a:chOff x="2007" y="3426"/>
            <a:chExt cx="2985" cy="323"/>
          </a:xfrm>
        </p:grpSpPr>
        <p:sp>
          <p:nvSpPr>
            <p:cNvPr id="382983" name="Rectangle 7"/>
            <p:cNvSpPr>
              <a:spLocks noChangeArrowheads="1"/>
            </p:cNvSpPr>
            <p:nvPr/>
          </p:nvSpPr>
          <p:spPr bwMode="auto">
            <a:xfrm>
              <a:off x="3154" y="3479"/>
              <a:ext cx="1838"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zh-CN" altLang="en-US" sz="2200" b="1">
                  <a:solidFill>
                    <a:srgbClr val="FFFFB1"/>
                  </a:solidFill>
                  <a:effectLst>
                    <a:outerShdw blurRad="38100" dist="38100" dir="2700000" algn="tl">
                      <a:srgbClr val="000000"/>
                    </a:outerShdw>
                  </a:effectLst>
                </a:rPr>
                <a:t>假设的总体方差</a:t>
              </a:r>
              <a:endParaRPr lang="zh-CN" altLang="en-US" sz="2200" b="1">
                <a:solidFill>
                  <a:srgbClr val="FFFFB1"/>
                </a:solidFill>
                <a:effectLst>
                  <a:outerShdw blurRad="38100" dist="38100" dir="2700000" algn="tl">
                    <a:srgbClr val="000000"/>
                  </a:outerShdw>
                </a:effectLst>
              </a:endParaRPr>
            </a:p>
          </p:txBody>
        </p:sp>
        <p:sp>
          <p:nvSpPr>
            <p:cNvPr id="382985" name="Line 9"/>
            <p:cNvSpPr>
              <a:spLocks noChangeShapeType="1"/>
            </p:cNvSpPr>
            <p:nvPr/>
          </p:nvSpPr>
          <p:spPr bwMode="auto">
            <a:xfrm>
              <a:off x="2007" y="3426"/>
              <a:ext cx="1189" cy="204"/>
            </a:xfrm>
            <a:prstGeom prst="line">
              <a:avLst/>
            </a:prstGeom>
            <a:noFill/>
            <a:ln w="12700">
              <a:solidFill>
                <a:srgbClr val="FF139F"/>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mc:AlternateContent xmlns:mc="http://schemas.openxmlformats.org/markup-compatibility/2006">
        <mc:Choice xmlns:a14="http://schemas.microsoft.com/office/drawing/2010/main" Requires="a14">
          <p:sp>
            <p:nvSpPr>
              <p:cNvPr id="382987" name="Object 11">
                <a:hlinkClick r:id="" action="ppaction://ole?verb=0"/>
              </p:cNvPr>
              <p:cNvSpPr txBox="1"/>
              <p:nvPr/>
            </p:nvSpPr>
            <p:spPr bwMode="auto">
              <a:xfrm>
                <a:off x="2921001" y="4029076"/>
                <a:ext cx="4105275" cy="1281113"/>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𝜒</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𝑆</m:t>
                              </m:r>
                            </m:e>
                            <m:sup>
                              <m:r>
                                <a:rPr lang="zh-CN" altLang="en-US" i="1">
                                  <a:solidFill>
                                    <a:srgbClr val="000000"/>
                                  </a:solidFill>
                                  <a:latin typeface="Cambria Math" panose="02040503050406030204" pitchFamily="18" charset="0"/>
                                </a:rPr>
                                <m:t>2</m:t>
                              </m:r>
                            </m:sup>
                          </m:sSup>
                        </m:num>
                        <m:den>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𝜎</m:t>
                              </m:r>
                            </m:e>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2</m:t>
                              </m:r>
                            </m:sup>
                          </m:sSubSup>
                        </m:den>
                      </m:f>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𝜒</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oMath>
                  </m:oMathPara>
                </a14:m>
                <a:endParaRPr lang="zh-CN" altLang="en-US"/>
              </a:p>
            </p:txBody>
          </p:sp>
        </mc:Choice>
        <mc:Fallback>
          <p:sp>
            <p:nvSpPr>
              <p:cNvPr id="382987" name="Object 11">
                <a:hlinkClick r:id="" action="ppaction://ole?verb=0"/>
              </p:cNvPr>
              <p:cNvSpPr txBox="1">
                <a:spLocks noRot="1" noChangeAspect="1" noMove="1" noResize="1" noEditPoints="1" noAdjustHandles="1" noChangeArrowheads="1" noChangeShapeType="1" noTextEdit="1"/>
              </p:cNvSpPr>
              <p:nvPr/>
            </p:nvSpPr>
            <p:spPr bwMode="auto">
              <a:xfrm>
                <a:off x="2921001" y="4029076"/>
                <a:ext cx="4105275" cy="1281113"/>
              </a:xfrm>
              <a:prstGeom prst="rect">
                <a:avLst/>
              </a:prstGeom>
              <a:blipFill rotWithShape="1">
                <a:blip r:embed="rId1"/>
                <a:stretch>
                  <a:fillRect r="-309" b="-966"/>
                </a:stretch>
              </a:blipFill>
              <a:ln>
                <a:noFill/>
              </a:ln>
              <a:effectLst>
                <a:outerShdw dist="17961" dir="2700000" algn="ctr" rotWithShape="0">
                  <a:schemeClr val="bg2"/>
                </a:outerShdw>
              </a:effectLst>
            </p:spPr>
            <p:txBody>
              <a:bodyPr/>
              <a:lstStyle/>
              <a:p>
                <a:r>
                  <a:rPr lang="zh-CN" altLang="en-US">
                    <a:noFill/>
                  </a:rPr>
                  <a:t> </a:t>
                </a:r>
              </a:p>
            </p:txBody>
          </p:sp>
        </mc:Fallback>
      </mc:AlternateContent>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2979">
                                            <p:txEl>
                                              <p:pRg st="0" end="0"/>
                                            </p:txEl>
                                          </p:spTgt>
                                        </p:tgtEl>
                                        <p:attrNameLst>
                                          <p:attrName>style.visibility</p:attrName>
                                        </p:attrNameLst>
                                      </p:cBhvr>
                                      <p:to>
                                        <p:strVal val="visible"/>
                                      </p:to>
                                    </p:set>
                                    <p:animEffect transition="in" filter="wipe(left)">
                                      <p:cBhvr>
                                        <p:cTn id="7" dur="500"/>
                                        <p:tgtEl>
                                          <p:spTgt spid="382979">
                                            <p:txEl>
                                              <p:pRg st="0" end="0"/>
                                            </p:txEl>
                                          </p:spTgt>
                                        </p:tgtEl>
                                      </p:cBhvr>
                                    </p:animEffect>
                                  </p:childTnLst>
                                  <p:subTnLst>
                                    <p:animClr clrSpc="rgb" dir="cw">
                                      <p:cBhvr override="childStyle">
                                        <p:cTn dur="1" fill="hold" display="0" masterRel="nextClick" afterEffect="1"/>
                                        <p:tgtEl>
                                          <p:spTgt spid="382979">
                                            <p:txEl>
                                              <p:pRg st="0" end="0"/>
                                            </p:txEl>
                                          </p:spTgt>
                                        </p:tgtEl>
                                        <p:attrNameLst>
                                          <p:attrName>ppt_c</p:attrName>
                                        </p:attrNameLst>
                                      </p:cBhvr>
                                      <p:to>
                                        <a:schemeClr val="folHlink"/>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2979">
                                            <p:txEl>
                                              <p:pRg st="1" end="1"/>
                                            </p:txEl>
                                          </p:spTgt>
                                        </p:tgtEl>
                                        <p:attrNameLst>
                                          <p:attrName>style.visibility</p:attrName>
                                        </p:attrNameLst>
                                      </p:cBhvr>
                                      <p:to>
                                        <p:strVal val="visible"/>
                                      </p:to>
                                    </p:set>
                                    <p:animEffect transition="in" filter="wipe(left)">
                                      <p:cBhvr>
                                        <p:cTn id="12" dur="500"/>
                                        <p:tgtEl>
                                          <p:spTgt spid="382979">
                                            <p:txEl>
                                              <p:pRg st="1" end="1"/>
                                            </p:txEl>
                                          </p:spTgt>
                                        </p:tgtEl>
                                      </p:cBhvr>
                                    </p:animEffect>
                                  </p:childTnLst>
                                  <p:subTnLst>
                                    <p:animClr clrSpc="rgb" dir="cw">
                                      <p:cBhvr override="childStyle">
                                        <p:cTn dur="1" fill="hold" display="0" masterRel="nextClick" afterEffect="1"/>
                                        <p:tgtEl>
                                          <p:spTgt spid="382979">
                                            <p:txEl>
                                              <p:pRg st="1" end="1"/>
                                            </p:txEl>
                                          </p:spTgt>
                                        </p:tgtEl>
                                        <p:attrNameLst>
                                          <p:attrName>ppt_c</p:attrName>
                                        </p:attrNameLst>
                                      </p:cBhvr>
                                      <p:to>
                                        <a:schemeClr val="folHlink"/>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2979">
                                            <p:txEl>
                                              <p:pRg st="2" end="2"/>
                                            </p:txEl>
                                          </p:spTgt>
                                        </p:tgtEl>
                                        <p:attrNameLst>
                                          <p:attrName>style.visibility</p:attrName>
                                        </p:attrNameLst>
                                      </p:cBhvr>
                                      <p:to>
                                        <p:strVal val="visible"/>
                                      </p:to>
                                    </p:set>
                                    <p:animEffect transition="in" filter="wipe(left)">
                                      <p:cBhvr>
                                        <p:cTn id="17" dur="500"/>
                                        <p:tgtEl>
                                          <p:spTgt spid="382979">
                                            <p:txEl>
                                              <p:pRg st="2" end="2"/>
                                            </p:txEl>
                                          </p:spTgt>
                                        </p:tgtEl>
                                      </p:cBhvr>
                                    </p:animEffect>
                                  </p:childTnLst>
                                  <p:subTnLst>
                                    <p:animClr clrSpc="rgb" dir="cw">
                                      <p:cBhvr override="childStyle">
                                        <p:cTn dur="1" fill="hold" display="0" masterRel="nextClick" afterEffect="1"/>
                                        <p:tgtEl>
                                          <p:spTgt spid="382979">
                                            <p:txEl>
                                              <p:pRg st="2" end="2"/>
                                            </p:txEl>
                                          </p:spTgt>
                                        </p:tgtEl>
                                        <p:attrNameLst>
                                          <p:attrName>ppt_c</p:attrName>
                                        </p:attrNameLst>
                                      </p:cBhvr>
                                      <p:to>
                                        <a:schemeClr val="folHlink"/>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382991"/>
                                        </p:tgtEl>
                                        <p:attrNameLst>
                                          <p:attrName>style.visibility</p:attrName>
                                        </p:attrNameLst>
                                      </p:cBhvr>
                                      <p:to>
                                        <p:strVal val="visible"/>
                                      </p:to>
                                    </p:set>
                                    <p:animEffect transition="in" filter="wipe(right)">
                                      <p:cBhvr>
                                        <p:cTn id="22" dur="500"/>
                                        <p:tgtEl>
                                          <p:spTgt spid="38299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382990"/>
                                        </p:tgtEl>
                                        <p:attrNameLst>
                                          <p:attrName>style.visibility</p:attrName>
                                        </p:attrNameLst>
                                      </p:cBhvr>
                                      <p:to>
                                        <p:strVal val="visible"/>
                                      </p:to>
                                    </p:set>
                                    <p:animEffect transition="in" filter="wipe(right)">
                                      <p:cBhvr>
                                        <p:cTn id="27" dur="500"/>
                                        <p:tgtEl>
                                          <p:spTgt spid="382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79" grpId="0" autoUpdateAnimBg="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a:xfrm>
            <a:off x="3200400" y="152400"/>
            <a:ext cx="7239000" cy="1143000"/>
          </a:xfrm>
          <a:noFill/>
        </p:spPr>
        <p:txBody>
          <a:bodyPr>
            <a:normAutofit fontScale="90000"/>
          </a:bodyPr>
          <a:lstStyle/>
          <a:p>
            <a:r>
              <a:rPr lang="zh-CN" altLang="en-US" sz="4000"/>
              <a:t>方差的卡</a:t>
            </a:r>
            <a:r>
              <a:rPr lang="zh-CN" altLang="en-US" sz="4000">
                <a:latin typeface="Arial" panose="020B0604020202090204" pitchFamily="34" charset="0"/>
              </a:rPr>
              <a:t>方 </a:t>
            </a:r>
            <a:r>
              <a:rPr lang="en-US" altLang="zh-CN" sz="4000">
                <a:latin typeface="Arial" panose="020B0604020202090204" pitchFamily="34" charset="0"/>
              </a:rPr>
              <a:t>(</a:t>
            </a:r>
            <a:r>
              <a:rPr lang="en-US" altLang="zh-CN" sz="4000">
                <a:latin typeface="Symbol" panose="05050102010706020507" pitchFamily="18" charset="2"/>
              </a:rPr>
              <a:t></a:t>
            </a:r>
            <a:r>
              <a:rPr lang="en-US" altLang="zh-CN" sz="4000" baseline="30000"/>
              <a:t>2</a:t>
            </a:r>
            <a:r>
              <a:rPr lang="en-US" altLang="zh-CN" sz="4000">
                <a:latin typeface="Arial" panose="020B0604020202090204" pitchFamily="34" charset="0"/>
              </a:rPr>
              <a:t>)</a:t>
            </a:r>
            <a:r>
              <a:rPr lang="en-US" altLang="zh-CN" sz="4000"/>
              <a:t> </a:t>
            </a:r>
            <a:r>
              <a:rPr lang="zh-CN" altLang="en-US" sz="4000"/>
              <a:t>检验</a:t>
            </a:r>
            <a:br>
              <a:rPr lang="zh-CN" altLang="en-US" sz="4000"/>
            </a:b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428035" name="Rectangle 3"/>
          <p:cNvSpPr>
            <a:spLocks noGrp="1" noChangeArrowheads="1"/>
          </p:cNvSpPr>
          <p:nvPr>
            <p:ph type="body" sz="half" idx="1"/>
          </p:nvPr>
        </p:nvSpPr>
        <p:spPr>
          <a:xfrm>
            <a:off x="1924050" y="1714500"/>
            <a:ext cx="4286250" cy="4381500"/>
          </a:xfrm>
          <a:noFill/>
        </p:spPr>
        <p:txBody>
          <a:bodyPr>
            <a:normAutofit lnSpcReduction="10000"/>
          </a:bodyPr>
          <a:lstStyle/>
          <a:p>
            <a:pPr marL="0" indent="0" algn="just">
              <a:lnSpc>
                <a:spcPct val="110000"/>
              </a:lnSpc>
            </a:pPr>
            <a:r>
              <a:rPr lang="en-US" altLang="zh-CN" sz="2400" b="1" dirty="0"/>
              <a:t>【</a:t>
            </a:r>
            <a:r>
              <a:rPr lang="zh-CN" altLang="en-US" sz="2400" b="1" dirty="0"/>
              <a:t>例</a:t>
            </a:r>
            <a:r>
              <a:rPr lang="en-US" altLang="zh-CN" sz="2400" b="1" dirty="0"/>
              <a:t>】</a:t>
            </a:r>
            <a:r>
              <a:rPr lang="zh-CN" altLang="en-US" sz="2400" dirty="0"/>
              <a:t>某厂商生产出一种新型的饮料装瓶机器，按设计要求，该机器装一瓶一升</a:t>
            </a:r>
            <a:r>
              <a:rPr lang="en-US" altLang="zh-CN" sz="2400" dirty="0"/>
              <a:t>(</a:t>
            </a:r>
            <a:r>
              <a:rPr lang="en-US" altLang="zh-CN" sz="2400" dirty="0">
                <a:cs typeface="Times New Roman" panose="02020603050405020304" pitchFamily="18" charset="0"/>
              </a:rPr>
              <a:t>1000cm</a:t>
            </a:r>
            <a:r>
              <a:rPr lang="en-US" altLang="zh-CN" sz="2400" baseline="30000" dirty="0">
                <a:cs typeface="Times New Roman" panose="02020603050405020304" pitchFamily="18" charset="0"/>
              </a:rPr>
              <a:t>3</a:t>
            </a:r>
            <a:r>
              <a:rPr lang="en-US" altLang="zh-CN" sz="2400" dirty="0"/>
              <a:t>)</a:t>
            </a:r>
            <a:r>
              <a:rPr lang="zh-CN" altLang="en-US" sz="2400" dirty="0"/>
              <a:t>的饮料误差上下不超过</a:t>
            </a:r>
            <a:r>
              <a:rPr lang="en-US" altLang="zh-CN" sz="2400" dirty="0">
                <a:cs typeface="Times New Roman" panose="02020603050405020304" pitchFamily="18" charset="0"/>
              </a:rPr>
              <a:t>1cm</a:t>
            </a:r>
            <a:r>
              <a:rPr lang="en-US" altLang="zh-CN" sz="2400" baseline="30000" dirty="0">
                <a:cs typeface="Times New Roman" panose="02020603050405020304" pitchFamily="18" charset="0"/>
              </a:rPr>
              <a:t>3</a:t>
            </a:r>
            <a:r>
              <a:rPr lang="zh-CN" altLang="en-US" sz="2400" dirty="0"/>
              <a:t>。如果达到设计要求，表明机器的稳定性非常好。现从该机器装完的产品中随机抽取</a:t>
            </a:r>
            <a:r>
              <a:rPr lang="en-US" altLang="zh-CN" sz="2400" dirty="0">
                <a:cs typeface="Times New Roman" panose="02020603050405020304" pitchFamily="18" charset="0"/>
              </a:rPr>
              <a:t>25</a:t>
            </a:r>
            <a:r>
              <a:rPr lang="zh-CN" altLang="en-US" sz="2400" dirty="0"/>
              <a:t>瓶，分别进行测定</a:t>
            </a:r>
            <a:r>
              <a:rPr lang="en-US" altLang="zh-CN" sz="2400" dirty="0"/>
              <a:t>(</a:t>
            </a:r>
            <a:r>
              <a:rPr lang="zh-CN" altLang="en-US" sz="2400" dirty="0"/>
              <a:t>用样本减</a:t>
            </a:r>
            <a:r>
              <a:rPr lang="en-US" altLang="zh-CN" sz="2400" dirty="0">
                <a:cs typeface="Times New Roman" panose="02020603050405020304" pitchFamily="18" charset="0"/>
              </a:rPr>
              <a:t>1000cm</a:t>
            </a:r>
            <a:r>
              <a:rPr lang="en-US" altLang="zh-CN" sz="2400" baseline="30000" dirty="0">
                <a:cs typeface="Times New Roman" panose="02020603050405020304" pitchFamily="18" charset="0"/>
              </a:rPr>
              <a:t>3</a:t>
            </a:r>
            <a:r>
              <a:rPr lang="en-US" altLang="zh-CN" sz="2400" dirty="0"/>
              <a:t>)</a:t>
            </a:r>
            <a:r>
              <a:rPr lang="zh-CN" altLang="en-US" sz="2400" dirty="0"/>
              <a:t>，得到如下结果。</a:t>
            </a:r>
            <a:r>
              <a:rPr lang="zh-CN" altLang="en-US" sz="2400" dirty="0">
                <a:latin typeface="Times New Roman" panose="02020603050405020304" pitchFamily="18" charset="0"/>
              </a:rPr>
              <a:t>检验该机器的性能是否达到设计要求</a:t>
            </a:r>
            <a:r>
              <a:rPr lang="zh-CN" altLang="en-US" sz="2400" dirty="0"/>
              <a:t>  </a:t>
            </a:r>
            <a:r>
              <a:rPr lang="en-US" altLang="zh-CN" sz="2400" dirty="0"/>
              <a:t>(</a:t>
            </a:r>
            <a:r>
              <a:rPr lang="en-US" altLang="zh-CN" sz="2400" b="1" dirty="0">
                <a:sym typeface="Symbol" panose="05050102010706020507" pitchFamily="18" charset="2"/>
              </a:rPr>
              <a:t></a:t>
            </a:r>
            <a:r>
              <a:rPr lang="en-US" altLang="zh-CN" sz="2400" b="1" dirty="0"/>
              <a:t>=0.05</a:t>
            </a:r>
            <a:r>
              <a:rPr lang="en-US" altLang="zh-CN" sz="2400" dirty="0"/>
              <a:t>)</a:t>
            </a:r>
            <a:endParaRPr lang="en-US" altLang="zh-CN" sz="2400" dirty="0"/>
          </a:p>
        </p:txBody>
      </p:sp>
      <p:graphicFrame>
        <p:nvGraphicFramePr>
          <p:cNvPr id="428220" name="Group 188"/>
          <p:cNvGraphicFramePr>
            <a:graphicFrameLocks noGrp="1"/>
          </p:cNvGraphicFramePr>
          <p:nvPr/>
        </p:nvGraphicFramePr>
        <p:xfrm>
          <a:off x="6381750" y="1866901"/>
          <a:ext cx="4000500" cy="2438400"/>
        </p:xfrm>
        <a:graphic>
          <a:graphicData uri="http://schemas.openxmlformats.org/drawingml/2006/table">
            <a:tbl>
              <a:tblPr/>
              <a:tblGrid>
                <a:gridCol w="800100"/>
                <a:gridCol w="800100"/>
                <a:gridCol w="800100"/>
                <a:gridCol w="800100"/>
                <a:gridCol w="800100"/>
              </a:tblGrid>
              <a:tr h="179388">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0.3</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-0.4</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-0.7</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1.4</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-0.6</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r>
              <a:tr h="211138">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-0.3</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-1.5</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0.6</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-0.9</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1.3</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r>
              <a:tr h="209550">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-1.3</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0.7</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1</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-0.5</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r>
              <a:tr h="211138">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-0.6</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0.7</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-1.5</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-0.2</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-1.9</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r>
              <a:tr h="376238">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-0.5</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1</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-0.2</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-0.6</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marL="685800">
                        <a:spcBef>
                          <a:spcPct val="20000"/>
                        </a:spcBef>
                        <a:buClr>
                          <a:schemeClr val="hlink"/>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marL="1085850">
                        <a:spcBef>
                          <a:spcPct val="20000"/>
                        </a:spcBef>
                        <a:buClr>
                          <a:schemeClr val="tx2"/>
                        </a:buClr>
                        <a:buSzPct val="65000"/>
                        <a:buFont typeface="Wingding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marL="1428750">
                        <a:spcBef>
                          <a:spcPct val="20000"/>
                        </a:spcBef>
                        <a:buClr>
                          <a:schemeClr val="accent1"/>
                        </a:buClr>
                        <a:buSzPct val="65000"/>
                        <a:buFont typeface="Monotype Sorts" panose="05000000000000000000" pitchFamily="2" charset="2"/>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a:spcBef>
                          <a:spcPct val="20000"/>
                        </a:spcBef>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eaLnBrk="0" fontAlgn="base" hangingPunct="0">
                        <a:spcBef>
                          <a:spcPct val="20000"/>
                        </a:spcBef>
                        <a:spcAft>
                          <a:spcPct val="0"/>
                        </a:spcAft>
                        <a:buClr>
                          <a:schemeClr val="folHlink"/>
                        </a:buClr>
                        <a:buSzPct val="100000"/>
                        <a:defRPr kumimoji="1">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rPr>
                        <a:t>1.1</a:t>
                      </a:r>
                      <a:endParaRPr kumimoji="1" lang="en-US" altLang="zh-CN" sz="2600" b="0" i="0" u="none" strike="noStrike" cap="none" normalizeH="0" baseline="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DA8AB8"/>
                      </a:solidFill>
                      <a:prstDash val="solid"/>
                      <a:round/>
                      <a:headEnd type="none" w="med" len="med"/>
                      <a:tailEnd type="none" w="med" len="med"/>
                    </a:lnL>
                    <a:lnR w="12700" cap="flat" cmpd="sng" algn="ctr">
                      <a:solidFill>
                        <a:srgbClr val="DA8AB8"/>
                      </a:solidFill>
                      <a:prstDash val="solid"/>
                      <a:round/>
                      <a:headEnd type="none" w="med" len="med"/>
                      <a:tailEnd type="none" w="med" len="med"/>
                    </a:lnR>
                    <a:lnT w="12700" cap="flat" cmpd="sng" algn="ctr">
                      <a:solidFill>
                        <a:srgbClr val="DA8AB8"/>
                      </a:solidFill>
                      <a:prstDash val="solid"/>
                      <a:round/>
                      <a:headEnd type="none" w="med" len="med"/>
                      <a:tailEnd type="none" w="med" len="med"/>
                    </a:lnT>
                    <a:lnB w="12700" cap="flat" cmpd="sng" algn="ctr">
                      <a:solidFill>
                        <a:srgbClr val="DA8AB8"/>
                      </a:solidFill>
                      <a:prstDash val="solid"/>
                      <a:round/>
                      <a:headEnd type="none" w="med" len="med"/>
                      <a:tailEnd type="none" w="med" len="med"/>
                    </a:lnB>
                    <a:lnTlToBr>
                      <a:noFill/>
                    </a:lnTlToBr>
                    <a:lnBlToTr>
                      <a:noFill/>
                    </a:lnBlToTr>
                    <a:noFill/>
                  </a:tcPr>
                </a:tc>
              </a:tr>
            </a:tbl>
          </a:graphicData>
        </a:graphic>
      </p:graphicFrame>
      <p:grpSp>
        <p:nvGrpSpPr>
          <p:cNvPr id="428222" name="Group 190"/>
          <p:cNvGrpSpPr/>
          <p:nvPr/>
        </p:nvGrpSpPr>
        <p:grpSpPr bwMode="auto">
          <a:xfrm>
            <a:off x="9656764" y="5211763"/>
            <a:ext cx="611187" cy="1147762"/>
            <a:chOff x="4608" y="2832"/>
            <a:chExt cx="676" cy="1052"/>
          </a:xfrm>
        </p:grpSpPr>
        <p:sp>
          <p:nvSpPr>
            <p:cNvPr id="428223" name="Freeform 191"/>
            <p:cNvSpPr/>
            <p:nvPr/>
          </p:nvSpPr>
          <p:spPr bwMode="auto">
            <a:xfrm rot="94872">
              <a:off x="4612" y="2990"/>
              <a:ext cx="670" cy="368"/>
            </a:xfrm>
            <a:custGeom>
              <a:avLst/>
              <a:gdLst>
                <a:gd name="T0" fmla="*/ 328 w 573"/>
                <a:gd name="T1" fmla="*/ 507 h 508"/>
                <a:gd name="T2" fmla="*/ 367 w 573"/>
                <a:gd name="T3" fmla="*/ 484 h 508"/>
                <a:gd name="T4" fmla="*/ 403 w 573"/>
                <a:gd name="T5" fmla="*/ 461 h 508"/>
                <a:gd name="T6" fmla="*/ 435 w 573"/>
                <a:gd name="T7" fmla="*/ 433 h 508"/>
                <a:gd name="T8" fmla="*/ 464 w 573"/>
                <a:gd name="T9" fmla="*/ 404 h 508"/>
                <a:gd name="T10" fmla="*/ 487 w 573"/>
                <a:gd name="T11" fmla="*/ 376 h 508"/>
                <a:gd name="T12" fmla="*/ 509 w 573"/>
                <a:gd name="T13" fmla="*/ 344 h 508"/>
                <a:gd name="T14" fmla="*/ 526 w 573"/>
                <a:gd name="T15" fmla="*/ 312 h 508"/>
                <a:gd name="T16" fmla="*/ 541 w 573"/>
                <a:gd name="T17" fmla="*/ 278 h 508"/>
                <a:gd name="T18" fmla="*/ 552 w 573"/>
                <a:gd name="T19" fmla="*/ 244 h 508"/>
                <a:gd name="T20" fmla="*/ 561 w 573"/>
                <a:gd name="T21" fmla="*/ 210 h 508"/>
                <a:gd name="T22" fmla="*/ 567 w 573"/>
                <a:gd name="T23" fmla="*/ 174 h 508"/>
                <a:gd name="T24" fmla="*/ 571 w 573"/>
                <a:gd name="T25" fmla="*/ 138 h 508"/>
                <a:gd name="T26" fmla="*/ 569 w 573"/>
                <a:gd name="T27" fmla="*/ 104 h 508"/>
                <a:gd name="T28" fmla="*/ 569 w 573"/>
                <a:gd name="T29" fmla="*/ 68 h 508"/>
                <a:gd name="T30" fmla="*/ 572 w 573"/>
                <a:gd name="T31" fmla="*/ 34 h 508"/>
                <a:gd name="T32" fmla="*/ 569 w 573"/>
                <a:gd name="T33" fmla="*/ 0 h 508"/>
                <a:gd name="T34" fmla="*/ 568 w 573"/>
                <a:gd name="T35" fmla="*/ 0 h 508"/>
                <a:gd name="T36" fmla="*/ 6 w 573"/>
                <a:gd name="T37" fmla="*/ 0 h 508"/>
                <a:gd name="T38" fmla="*/ 4 w 573"/>
                <a:gd name="T39" fmla="*/ 0 h 508"/>
                <a:gd name="T40" fmla="*/ 2 w 573"/>
                <a:gd name="T41" fmla="*/ 34 h 508"/>
                <a:gd name="T42" fmla="*/ 0 w 573"/>
                <a:gd name="T43" fmla="*/ 68 h 508"/>
                <a:gd name="T44" fmla="*/ 0 w 573"/>
                <a:gd name="T45" fmla="*/ 104 h 508"/>
                <a:gd name="T46" fmla="*/ 3 w 573"/>
                <a:gd name="T47" fmla="*/ 138 h 508"/>
                <a:gd name="T48" fmla="*/ 6 w 573"/>
                <a:gd name="T49" fmla="*/ 174 h 508"/>
                <a:gd name="T50" fmla="*/ 13 w 573"/>
                <a:gd name="T51" fmla="*/ 210 h 508"/>
                <a:gd name="T52" fmla="*/ 23 w 573"/>
                <a:gd name="T53" fmla="*/ 244 h 508"/>
                <a:gd name="T54" fmla="*/ 34 w 573"/>
                <a:gd name="T55" fmla="*/ 278 h 508"/>
                <a:gd name="T56" fmla="*/ 48 w 573"/>
                <a:gd name="T57" fmla="*/ 312 h 508"/>
                <a:gd name="T58" fmla="*/ 66 w 573"/>
                <a:gd name="T59" fmla="*/ 344 h 508"/>
                <a:gd name="T60" fmla="*/ 87 w 573"/>
                <a:gd name="T61" fmla="*/ 376 h 508"/>
                <a:gd name="T62" fmla="*/ 112 w 573"/>
                <a:gd name="T63" fmla="*/ 404 h 508"/>
                <a:gd name="T64" fmla="*/ 139 w 573"/>
                <a:gd name="T65" fmla="*/ 433 h 508"/>
                <a:gd name="T66" fmla="*/ 170 w 573"/>
                <a:gd name="T67" fmla="*/ 461 h 508"/>
                <a:gd name="T68" fmla="*/ 207 w 573"/>
                <a:gd name="T69" fmla="*/ 484 h 508"/>
                <a:gd name="T70" fmla="*/ 247 w 573"/>
                <a:gd name="T71" fmla="*/ 507 h 508"/>
                <a:gd name="T72" fmla="*/ 261 w 573"/>
                <a:gd name="T73" fmla="*/ 505 h 508"/>
                <a:gd name="T74" fmla="*/ 275 w 573"/>
                <a:gd name="T75" fmla="*/ 504 h 508"/>
                <a:gd name="T76" fmla="*/ 289 w 573"/>
                <a:gd name="T77" fmla="*/ 504 h 508"/>
                <a:gd name="T78" fmla="*/ 302 w 573"/>
                <a:gd name="T79" fmla="*/ 504 h 508"/>
                <a:gd name="T80" fmla="*/ 312 w 573"/>
                <a:gd name="T81" fmla="*/ 505 h 508"/>
                <a:gd name="T82" fmla="*/ 321 w 573"/>
                <a:gd name="T83" fmla="*/ 506 h 508"/>
                <a:gd name="T84" fmla="*/ 326 w 573"/>
                <a:gd name="T85" fmla="*/ 507 h 508"/>
                <a:gd name="T86" fmla="*/ 328 w 573"/>
                <a:gd name="T87" fmla="*/ 507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73" h="508">
                  <a:moveTo>
                    <a:pt x="328" y="507"/>
                  </a:moveTo>
                  <a:lnTo>
                    <a:pt x="367" y="484"/>
                  </a:lnTo>
                  <a:lnTo>
                    <a:pt x="403" y="461"/>
                  </a:lnTo>
                  <a:lnTo>
                    <a:pt x="435" y="433"/>
                  </a:lnTo>
                  <a:lnTo>
                    <a:pt x="464" y="404"/>
                  </a:lnTo>
                  <a:lnTo>
                    <a:pt x="487" y="376"/>
                  </a:lnTo>
                  <a:lnTo>
                    <a:pt x="509" y="344"/>
                  </a:lnTo>
                  <a:lnTo>
                    <a:pt x="526" y="312"/>
                  </a:lnTo>
                  <a:lnTo>
                    <a:pt x="541" y="278"/>
                  </a:lnTo>
                  <a:lnTo>
                    <a:pt x="552" y="244"/>
                  </a:lnTo>
                  <a:lnTo>
                    <a:pt x="561" y="210"/>
                  </a:lnTo>
                  <a:lnTo>
                    <a:pt x="567" y="174"/>
                  </a:lnTo>
                  <a:lnTo>
                    <a:pt x="571" y="138"/>
                  </a:lnTo>
                  <a:lnTo>
                    <a:pt x="569" y="104"/>
                  </a:lnTo>
                  <a:lnTo>
                    <a:pt x="569" y="68"/>
                  </a:lnTo>
                  <a:lnTo>
                    <a:pt x="572" y="34"/>
                  </a:lnTo>
                  <a:lnTo>
                    <a:pt x="569" y="0"/>
                  </a:lnTo>
                  <a:lnTo>
                    <a:pt x="568" y="0"/>
                  </a:lnTo>
                  <a:lnTo>
                    <a:pt x="6" y="0"/>
                  </a:lnTo>
                  <a:lnTo>
                    <a:pt x="4" y="0"/>
                  </a:lnTo>
                  <a:lnTo>
                    <a:pt x="2" y="34"/>
                  </a:lnTo>
                  <a:lnTo>
                    <a:pt x="0" y="68"/>
                  </a:lnTo>
                  <a:lnTo>
                    <a:pt x="0" y="104"/>
                  </a:lnTo>
                  <a:lnTo>
                    <a:pt x="3" y="138"/>
                  </a:lnTo>
                  <a:lnTo>
                    <a:pt x="6" y="174"/>
                  </a:lnTo>
                  <a:lnTo>
                    <a:pt x="13" y="210"/>
                  </a:lnTo>
                  <a:lnTo>
                    <a:pt x="23" y="244"/>
                  </a:lnTo>
                  <a:lnTo>
                    <a:pt x="34" y="278"/>
                  </a:lnTo>
                  <a:lnTo>
                    <a:pt x="48" y="312"/>
                  </a:lnTo>
                  <a:lnTo>
                    <a:pt x="66" y="344"/>
                  </a:lnTo>
                  <a:lnTo>
                    <a:pt x="87" y="376"/>
                  </a:lnTo>
                  <a:lnTo>
                    <a:pt x="112" y="404"/>
                  </a:lnTo>
                  <a:lnTo>
                    <a:pt x="139" y="433"/>
                  </a:lnTo>
                  <a:lnTo>
                    <a:pt x="170" y="461"/>
                  </a:lnTo>
                  <a:lnTo>
                    <a:pt x="207" y="484"/>
                  </a:lnTo>
                  <a:lnTo>
                    <a:pt x="247" y="507"/>
                  </a:lnTo>
                  <a:lnTo>
                    <a:pt x="261" y="505"/>
                  </a:lnTo>
                  <a:lnTo>
                    <a:pt x="275" y="504"/>
                  </a:lnTo>
                  <a:lnTo>
                    <a:pt x="289" y="504"/>
                  </a:lnTo>
                  <a:lnTo>
                    <a:pt x="302" y="504"/>
                  </a:lnTo>
                  <a:lnTo>
                    <a:pt x="312" y="505"/>
                  </a:lnTo>
                  <a:lnTo>
                    <a:pt x="321" y="506"/>
                  </a:lnTo>
                  <a:lnTo>
                    <a:pt x="326" y="507"/>
                  </a:lnTo>
                  <a:lnTo>
                    <a:pt x="328" y="507"/>
                  </a:lnTo>
                </a:path>
              </a:pathLst>
            </a:custGeom>
            <a:solidFill>
              <a:srgbClr val="FF5050"/>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8224" name="Freeform 192"/>
            <p:cNvSpPr/>
            <p:nvPr/>
          </p:nvSpPr>
          <p:spPr bwMode="auto">
            <a:xfrm rot="94872">
              <a:off x="4680" y="2841"/>
              <a:ext cx="557" cy="14"/>
            </a:xfrm>
            <a:custGeom>
              <a:avLst/>
              <a:gdLst>
                <a:gd name="T0" fmla="*/ 475 w 476"/>
                <a:gd name="T1" fmla="*/ 0 h 19"/>
                <a:gd name="T2" fmla="*/ 474 w 476"/>
                <a:gd name="T3" fmla="*/ 2 h 19"/>
                <a:gd name="T4" fmla="*/ 471 w 476"/>
                <a:gd name="T5" fmla="*/ 3 h 19"/>
                <a:gd name="T6" fmla="*/ 464 w 476"/>
                <a:gd name="T7" fmla="*/ 5 h 19"/>
                <a:gd name="T8" fmla="*/ 456 w 476"/>
                <a:gd name="T9" fmla="*/ 7 h 19"/>
                <a:gd name="T10" fmla="*/ 446 w 476"/>
                <a:gd name="T11" fmla="*/ 9 h 19"/>
                <a:gd name="T12" fmla="*/ 435 w 476"/>
                <a:gd name="T13" fmla="*/ 10 h 19"/>
                <a:gd name="T14" fmla="*/ 421 w 476"/>
                <a:gd name="T15" fmla="*/ 11 h 19"/>
                <a:gd name="T16" fmla="*/ 406 w 476"/>
                <a:gd name="T17" fmla="*/ 12 h 19"/>
                <a:gd name="T18" fmla="*/ 389 w 476"/>
                <a:gd name="T19" fmla="*/ 14 h 19"/>
                <a:gd name="T20" fmla="*/ 371 w 476"/>
                <a:gd name="T21" fmla="*/ 15 h 19"/>
                <a:gd name="T22" fmla="*/ 350 w 476"/>
                <a:gd name="T23" fmla="*/ 16 h 19"/>
                <a:gd name="T24" fmla="*/ 330 w 476"/>
                <a:gd name="T25" fmla="*/ 17 h 19"/>
                <a:gd name="T26" fmla="*/ 308 w 476"/>
                <a:gd name="T27" fmla="*/ 17 h 19"/>
                <a:gd name="T28" fmla="*/ 286 w 476"/>
                <a:gd name="T29" fmla="*/ 17 h 19"/>
                <a:gd name="T30" fmla="*/ 262 w 476"/>
                <a:gd name="T31" fmla="*/ 18 h 19"/>
                <a:gd name="T32" fmla="*/ 237 w 476"/>
                <a:gd name="T33" fmla="*/ 18 h 19"/>
                <a:gd name="T34" fmla="*/ 238 w 476"/>
                <a:gd name="T35" fmla="*/ 18 h 19"/>
                <a:gd name="T36" fmla="*/ 214 w 476"/>
                <a:gd name="T37" fmla="*/ 18 h 19"/>
                <a:gd name="T38" fmla="*/ 190 w 476"/>
                <a:gd name="T39" fmla="*/ 17 h 19"/>
                <a:gd name="T40" fmla="*/ 167 w 476"/>
                <a:gd name="T41" fmla="*/ 17 h 19"/>
                <a:gd name="T42" fmla="*/ 145 w 476"/>
                <a:gd name="T43" fmla="*/ 17 h 19"/>
                <a:gd name="T44" fmla="*/ 125 w 476"/>
                <a:gd name="T45" fmla="*/ 16 h 19"/>
                <a:gd name="T46" fmla="*/ 105 w 476"/>
                <a:gd name="T47" fmla="*/ 15 h 19"/>
                <a:gd name="T48" fmla="*/ 86 w 476"/>
                <a:gd name="T49" fmla="*/ 14 h 19"/>
                <a:gd name="T50" fmla="*/ 70 w 476"/>
                <a:gd name="T51" fmla="*/ 12 h 19"/>
                <a:gd name="T52" fmla="*/ 55 w 476"/>
                <a:gd name="T53" fmla="*/ 11 h 19"/>
                <a:gd name="T54" fmla="*/ 41 w 476"/>
                <a:gd name="T55" fmla="*/ 10 h 19"/>
                <a:gd name="T56" fmla="*/ 29 w 476"/>
                <a:gd name="T57" fmla="*/ 9 h 19"/>
                <a:gd name="T58" fmla="*/ 19 w 476"/>
                <a:gd name="T59" fmla="*/ 7 h 19"/>
                <a:gd name="T60" fmla="*/ 11 w 476"/>
                <a:gd name="T61" fmla="*/ 5 h 19"/>
                <a:gd name="T62" fmla="*/ 5 w 476"/>
                <a:gd name="T63" fmla="*/ 3 h 19"/>
                <a:gd name="T64" fmla="*/ 1 w 476"/>
                <a:gd name="T65" fmla="*/ 2 h 19"/>
                <a:gd name="T66" fmla="*/ 0 w 476"/>
                <a:gd name="T6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6" h="19">
                  <a:moveTo>
                    <a:pt x="475" y="0"/>
                  </a:moveTo>
                  <a:lnTo>
                    <a:pt x="474" y="2"/>
                  </a:lnTo>
                  <a:lnTo>
                    <a:pt x="471" y="3"/>
                  </a:lnTo>
                  <a:lnTo>
                    <a:pt x="464" y="5"/>
                  </a:lnTo>
                  <a:lnTo>
                    <a:pt x="456" y="7"/>
                  </a:lnTo>
                  <a:lnTo>
                    <a:pt x="446" y="9"/>
                  </a:lnTo>
                  <a:lnTo>
                    <a:pt x="435" y="10"/>
                  </a:lnTo>
                  <a:lnTo>
                    <a:pt x="421" y="11"/>
                  </a:lnTo>
                  <a:lnTo>
                    <a:pt x="406" y="12"/>
                  </a:lnTo>
                  <a:lnTo>
                    <a:pt x="389" y="14"/>
                  </a:lnTo>
                  <a:lnTo>
                    <a:pt x="371" y="15"/>
                  </a:lnTo>
                  <a:lnTo>
                    <a:pt x="350" y="16"/>
                  </a:lnTo>
                  <a:lnTo>
                    <a:pt x="330" y="17"/>
                  </a:lnTo>
                  <a:lnTo>
                    <a:pt x="308" y="17"/>
                  </a:lnTo>
                  <a:lnTo>
                    <a:pt x="286" y="17"/>
                  </a:lnTo>
                  <a:lnTo>
                    <a:pt x="262" y="18"/>
                  </a:lnTo>
                  <a:lnTo>
                    <a:pt x="237" y="18"/>
                  </a:lnTo>
                  <a:lnTo>
                    <a:pt x="238" y="18"/>
                  </a:lnTo>
                  <a:lnTo>
                    <a:pt x="214" y="18"/>
                  </a:lnTo>
                  <a:lnTo>
                    <a:pt x="190" y="17"/>
                  </a:lnTo>
                  <a:lnTo>
                    <a:pt x="167" y="17"/>
                  </a:lnTo>
                  <a:lnTo>
                    <a:pt x="145" y="17"/>
                  </a:lnTo>
                  <a:lnTo>
                    <a:pt x="125" y="16"/>
                  </a:lnTo>
                  <a:lnTo>
                    <a:pt x="105" y="15"/>
                  </a:lnTo>
                  <a:lnTo>
                    <a:pt x="86" y="14"/>
                  </a:lnTo>
                  <a:lnTo>
                    <a:pt x="70" y="12"/>
                  </a:lnTo>
                  <a:lnTo>
                    <a:pt x="55" y="11"/>
                  </a:lnTo>
                  <a:lnTo>
                    <a:pt x="41" y="10"/>
                  </a:lnTo>
                  <a:lnTo>
                    <a:pt x="29" y="9"/>
                  </a:lnTo>
                  <a:lnTo>
                    <a:pt x="19" y="7"/>
                  </a:lnTo>
                  <a:lnTo>
                    <a:pt x="11" y="5"/>
                  </a:lnTo>
                  <a:lnTo>
                    <a:pt x="5" y="3"/>
                  </a:lnTo>
                  <a:lnTo>
                    <a:pt x="1" y="2"/>
                  </a:lnTo>
                  <a:lnTo>
                    <a:pt x="0"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8225" name="Freeform 193"/>
            <p:cNvSpPr/>
            <p:nvPr/>
          </p:nvSpPr>
          <p:spPr bwMode="auto">
            <a:xfrm rot="94872">
              <a:off x="4707" y="3194"/>
              <a:ext cx="123" cy="112"/>
            </a:xfrm>
            <a:custGeom>
              <a:avLst/>
              <a:gdLst>
                <a:gd name="T0" fmla="*/ 0 w 105"/>
                <a:gd name="T1" fmla="*/ 0 h 155"/>
                <a:gd name="T2" fmla="*/ 7 w 105"/>
                <a:gd name="T3" fmla="*/ 17 h 155"/>
                <a:gd name="T4" fmla="*/ 16 w 105"/>
                <a:gd name="T5" fmla="*/ 36 h 155"/>
                <a:gd name="T6" fmla="*/ 27 w 105"/>
                <a:gd name="T7" fmla="*/ 57 h 155"/>
                <a:gd name="T8" fmla="*/ 39 w 105"/>
                <a:gd name="T9" fmla="*/ 79 h 155"/>
                <a:gd name="T10" fmla="*/ 54 w 105"/>
                <a:gd name="T11" fmla="*/ 100 h 155"/>
                <a:gd name="T12" fmla="*/ 70 w 105"/>
                <a:gd name="T13" fmla="*/ 121 h 155"/>
                <a:gd name="T14" fmla="*/ 86 w 105"/>
                <a:gd name="T15" fmla="*/ 138 h 155"/>
                <a:gd name="T16" fmla="*/ 104 w 105"/>
                <a:gd name="T17" fmla="*/ 154 h 155"/>
                <a:gd name="T18" fmla="*/ 0 w 105"/>
                <a:gd name="T19"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155">
                  <a:moveTo>
                    <a:pt x="0" y="0"/>
                  </a:moveTo>
                  <a:lnTo>
                    <a:pt x="7" y="17"/>
                  </a:lnTo>
                  <a:lnTo>
                    <a:pt x="16" y="36"/>
                  </a:lnTo>
                  <a:lnTo>
                    <a:pt x="27" y="57"/>
                  </a:lnTo>
                  <a:lnTo>
                    <a:pt x="39" y="79"/>
                  </a:lnTo>
                  <a:lnTo>
                    <a:pt x="54" y="100"/>
                  </a:lnTo>
                  <a:lnTo>
                    <a:pt x="70" y="121"/>
                  </a:lnTo>
                  <a:lnTo>
                    <a:pt x="86" y="138"/>
                  </a:lnTo>
                  <a:lnTo>
                    <a:pt x="104" y="154"/>
                  </a:lnTo>
                  <a:lnTo>
                    <a:pt x="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8226" name="Freeform 194"/>
            <p:cNvSpPr/>
            <p:nvPr/>
          </p:nvSpPr>
          <p:spPr bwMode="auto">
            <a:xfrm rot="94872">
              <a:off x="4888" y="3343"/>
              <a:ext cx="121" cy="10"/>
            </a:xfrm>
            <a:custGeom>
              <a:avLst/>
              <a:gdLst>
                <a:gd name="T0" fmla="*/ 103 w 104"/>
                <a:gd name="T1" fmla="*/ 0 h 14"/>
                <a:gd name="T2" fmla="*/ 87 w 104"/>
                <a:gd name="T3" fmla="*/ 6 h 14"/>
                <a:gd name="T4" fmla="*/ 73 w 104"/>
                <a:gd name="T5" fmla="*/ 10 h 14"/>
                <a:gd name="T6" fmla="*/ 60 w 104"/>
                <a:gd name="T7" fmla="*/ 13 h 14"/>
                <a:gd name="T8" fmla="*/ 48 w 104"/>
                <a:gd name="T9" fmla="*/ 13 h 14"/>
                <a:gd name="T10" fmla="*/ 36 w 104"/>
                <a:gd name="T11" fmla="*/ 12 h 14"/>
                <a:gd name="T12" fmla="*/ 25 w 104"/>
                <a:gd name="T13" fmla="*/ 9 h 14"/>
                <a:gd name="T14" fmla="*/ 14 w 104"/>
                <a:gd name="T15" fmla="*/ 5 h 14"/>
                <a:gd name="T16" fmla="*/ 0 w 104"/>
                <a:gd name="T17" fmla="*/ 0 h 14"/>
                <a:gd name="T18" fmla="*/ 11 w 104"/>
                <a:gd name="T19" fmla="*/ 3 h 14"/>
                <a:gd name="T20" fmla="*/ 22 w 104"/>
                <a:gd name="T21" fmla="*/ 6 h 14"/>
                <a:gd name="T22" fmla="*/ 35 w 104"/>
                <a:gd name="T23" fmla="*/ 8 h 14"/>
                <a:gd name="T24" fmla="*/ 48 w 104"/>
                <a:gd name="T25" fmla="*/ 9 h 14"/>
                <a:gd name="T26" fmla="*/ 61 w 104"/>
                <a:gd name="T27" fmla="*/ 8 h 14"/>
                <a:gd name="T28" fmla="*/ 74 w 104"/>
                <a:gd name="T29" fmla="*/ 7 h 14"/>
                <a:gd name="T30" fmla="*/ 88 w 104"/>
                <a:gd name="T31" fmla="*/ 4 h 14"/>
                <a:gd name="T32" fmla="*/ 103 w 104"/>
                <a:gd name="T3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4">
                  <a:moveTo>
                    <a:pt x="103" y="0"/>
                  </a:moveTo>
                  <a:lnTo>
                    <a:pt x="87" y="6"/>
                  </a:lnTo>
                  <a:lnTo>
                    <a:pt x="73" y="10"/>
                  </a:lnTo>
                  <a:lnTo>
                    <a:pt x="60" y="13"/>
                  </a:lnTo>
                  <a:lnTo>
                    <a:pt x="48" y="13"/>
                  </a:lnTo>
                  <a:lnTo>
                    <a:pt x="36" y="12"/>
                  </a:lnTo>
                  <a:lnTo>
                    <a:pt x="25" y="9"/>
                  </a:lnTo>
                  <a:lnTo>
                    <a:pt x="14" y="5"/>
                  </a:lnTo>
                  <a:lnTo>
                    <a:pt x="0" y="0"/>
                  </a:lnTo>
                  <a:lnTo>
                    <a:pt x="11" y="3"/>
                  </a:lnTo>
                  <a:lnTo>
                    <a:pt x="22" y="6"/>
                  </a:lnTo>
                  <a:lnTo>
                    <a:pt x="35" y="8"/>
                  </a:lnTo>
                  <a:lnTo>
                    <a:pt x="48" y="9"/>
                  </a:lnTo>
                  <a:lnTo>
                    <a:pt x="61" y="8"/>
                  </a:lnTo>
                  <a:lnTo>
                    <a:pt x="74" y="7"/>
                  </a:lnTo>
                  <a:lnTo>
                    <a:pt x="88" y="4"/>
                  </a:lnTo>
                  <a:lnTo>
                    <a:pt x="103" y="0"/>
                  </a:lnTo>
                </a:path>
              </a:pathLst>
            </a:custGeom>
            <a:solidFill>
              <a:srgbClr val="B8B8B8"/>
            </a:solidFill>
            <a:ln w="12700" cap="rnd" cmpd="sng">
              <a:solidFill>
                <a:srgbClr val="B8B8B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8227" name="Freeform 195"/>
            <p:cNvSpPr/>
            <p:nvPr/>
          </p:nvSpPr>
          <p:spPr bwMode="auto">
            <a:xfrm rot="94872">
              <a:off x="4893" y="3360"/>
              <a:ext cx="99" cy="35"/>
            </a:xfrm>
            <a:custGeom>
              <a:avLst/>
              <a:gdLst>
                <a:gd name="T0" fmla="*/ 42 w 85"/>
                <a:gd name="T1" fmla="*/ 46 h 47"/>
                <a:gd name="T2" fmla="*/ 50 w 85"/>
                <a:gd name="T3" fmla="*/ 45 h 47"/>
                <a:gd name="T4" fmla="*/ 58 w 85"/>
                <a:gd name="T5" fmla="*/ 44 h 47"/>
                <a:gd name="T6" fmla="*/ 65 w 85"/>
                <a:gd name="T7" fmla="*/ 42 h 47"/>
                <a:gd name="T8" fmla="*/ 71 w 85"/>
                <a:gd name="T9" fmla="*/ 39 h 47"/>
                <a:gd name="T10" fmla="*/ 77 w 85"/>
                <a:gd name="T11" fmla="*/ 35 h 47"/>
                <a:gd name="T12" fmla="*/ 80 w 85"/>
                <a:gd name="T13" fmla="*/ 31 h 47"/>
                <a:gd name="T14" fmla="*/ 83 w 85"/>
                <a:gd name="T15" fmla="*/ 27 h 47"/>
                <a:gd name="T16" fmla="*/ 84 w 85"/>
                <a:gd name="T17" fmla="*/ 23 h 47"/>
                <a:gd name="T18" fmla="*/ 83 w 85"/>
                <a:gd name="T19" fmla="*/ 18 h 47"/>
                <a:gd name="T20" fmla="*/ 80 w 85"/>
                <a:gd name="T21" fmla="*/ 14 h 47"/>
                <a:gd name="T22" fmla="*/ 77 w 85"/>
                <a:gd name="T23" fmla="*/ 11 h 47"/>
                <a:gd name="T24" fmla="*/ 71 w 85"/>
                <a:gd name="T25" fmla="*/ 6 h 47"/>
                <a:gd name="T26" fmla="*/ 65 w 85"/>
                <a:gd name="T27" fmla="*/ 4 h 47"/>
                <a:gd name="T28" fmla="*/ 58 w 85"/>
                <a:gd name="T29" fmla="*/ 2 h 47"/>
                <a:gd name="T30" fmla="*/ 50 w 85"/>
                <a:gd name="T31" fmla="*/ 1 h 47"/>
                <a:gd name="T32" fmla="*/ 42 w 85"/>
                <a:gd name="T33" fmla="*/ 0 h 47"/>
                <a:gd name="T34" fmla="*/ 34 w 85"/>
                <a:gd name="T35" fmla="*/ 1 h 47"/>
                <a:gd name="T36" fmla="*/ 25 w 85"/>
                <a:gd name="T37" fmla="*/ 2 h 47"/>
                <a:gd name="T38" fmla="*/ 19 w 85"/>
                <a:gd name="T39" fmla="*/ 4 h 47"/>
                <a:gd name="T40" fmla="*/ 12 w 85"/>
                <a:gd name="T41" fmla="*/ 6 h 47"/>
                <a:gd name="T42" fmla="*/ 7 w 85"/>
                <a:gd name="T43" fmla="*/ 11 h 47"/>
                <a:gd name="T44" fmla="*/ 4 w 85"/>
                <a:gd name="T45" fmla="*/ 14 h 47"/>
                <a:gd name="T46" fmla="*/ 1 w 85"/>
                <a:gd name="T47" fmla="*/ 18 h 47"/>
                <a:gd name="T48" fmla="*/ 0 w 85"/>
                <a:gd name="T49" fmla="*/ 23 h 47"/>
                <a:gd name="T50" fmla="*/ 1 w 85"/>
                <a:gd name="T51" fmla="*/ 27 h 47"/>
                <a:gd name="T52" fmla="*/ 4 w 85"/>
                <a:gd name="T53" fmla="*/ 31 h 47"/>
                <a:gd name="T54" fmla="*/ 7 w 85"/>
                <a:gd name="T55" fmla="*/ 35 h 47"/>
                <a:gd name="T56" fmla="*/ 12 w 85"/>
                <a:gd name="T57" fmla="*/ 39 h 47"/>
                <a:gd name="T58" fmla="*/ 19 w 85"/>
                <a:gd name="T59" fmla="*/ 42 h 47"/>
                <a:gd name="T60" fmla="*/ 25 w 85"/>
                <a:gd name="T61" fmla="*/ 44 h 47"/>
                <a:gd name="T62" fmla="*/ 34 w 85"/>
                <a:gd name="T63" fmla="*/ 45 h 47"/>
                <a:gd name="T64" fmla="*/ 42 w 85"/>
                <a:gd name="T65" fmla="*/ 4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5" h="47">
                  <a:moveTo>
                    <a:pt x="42" y="46"/>
                  </a:moveTo>
                  <a:lnTo>
                    <a:pt x="50" y="45"/>
                  </a:lnTo>
                  <a:lnTo>
                    <a:pt x="58" y="44"/>
                  </a:lnTo>
                  <a:lnTo>
                    <a:pt x="65" y="42"/>
                  </a:lnTo>
                  <a:lnTo>
                    <a:pt x="71" y="39"/>
                  </a:lnTo>
                  <a:lnTo>
                    <a:pt x="77" y="35"/>
                  </a:lnTo>
                  <a:lnTo>
                    <a:pt x="80" y="31"/>
                  </a:lnTo>
                  <a:lnTo>
                    <a:pt x="83" y="27"/>
                  </a:lnTo>
                  <a:lnTo>
                    <a:pt x="84" y="23"/>
                  </a:lnTo>
                  <a:lnTo>
                    <a:pt x="83" y="18"/>
                  </a:lnTo>
                  <a:lnTo>
                    <a:pt x="80" y="14"/>
                  </a:lnTo>
                  <a:lnTo>
                    <a:pt x="77" y="11"/>
                  </a:lnTo>
                  <a:lnTo>
                    <a:pt x="71" y="6"/>
                  </a:lnTo>
                  <a:lnTo>
                    <a:pt x="65" y="4"/>
                  </a:lnTo>
                  <a:lnTo>
                    <a:pt x="58" y="2"/>
                  </a:lnTo>
                  <a:lnTo>
                    <a:pt x="50" y="1"/>
                  </a:lnTo>
                  <a:lnTo>
                    <a:pt x="42" y="0"/>
                  </a:lnTo>
                  <a:lnTo>
                    <a:pt x="34" y="1"/>
                  </a:lnTo>
                  <a:lnTo>
                    <a:pt x="25" y="2"/>
                  </a:lnTo>
                  <a:lnTo>
                    <a:pt x="19" y="4"/>
                  </a:lnTo>
                  <a:lnTo>
                    <a:pt x="12" y="6"/>
                  </a:lnTo>
                  <a:lnTo>
                    <a:pt x="7" y="11"/>
                  </a:lnTo>
                  <a:lnTo>
                    <a:pt x="4" y="14"/>
                  </a:lnTo>
                  <a:lnTo>
                    <a:pt x="1" y="18"/>
                  </a:lnTo>
                  <a:lnTo>
                    <a:pt x="0" y="23"/>
                  </a:lnTo>
                  <a:lnTo>
                    <a:pt x="1" y="27"/>
                  </a:lnTo>
                  <a:lnTo>
                    <a:pt x="4" y="31"/>
                  </a:lnTo>
                  <a:lnTo>
                    <a:pt x="7" y="35"/>
                  </a:lnTo>
                  <a:lnTo>
                    <a:pt x="12" y="39"/>
                  </a:lnTo>
                  <a:lnTo>
                    <a:pt x="19" y="42"/>
                  </a:lnTo>
                  <a:lnTo>
                    <a:pt x="25" y="44"/>
                  </a:lnTo>
                  <a:lnTo>
                    <a:pt x="34" y="45"/>
                  </a:lnTo>
                  <a:lnTo>
                    <a:pt x="42" y="46"/>
                  </a:lnTo>
                </a:path>
              </a:pathLst>
            </a:custGeom>
            <a:solidFill>
              <a:srgbClr val="B6B6B6"/>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8228" name="Freeform 196"/>
            <p:cNvSpPr/>
            <p:nvPr/>
          </p:nvSpPr>
          <p:spPr bwMode="auto">
            <a:xfrm rot="94872">
              <a:off x="4943" y="3398"/>
              <a:ext cx="42" cy="379"/>
            </a:xfrm>
            <a:custGeom>
              <a:avLst/>
              <a:gdLst>
                <a:gd name="T0" fmla="*/ 21 w 36"/>
                <a:gd name="T1" fmla="*/ 0 h 521"/>
                <a:gd name="T2" fmla="*/ 19 w 36"/>
                <a:gd name="T3" fmla="*/ 1 h 521"/>
                <a:gd name="T4" fmla="*/ 18 w 36"/>
                <a:gd name="T5" fmla="*/ 2 h 521"/>
                <a:gd name="T6" fmla="*/ 17 w 36"/>
                <a:gd name="T7" fmla="*/ 2 h 521"/>
                <a:gd name="T8" fmla="*/ 16 w 36"/>
                <a:gd name="T9" fmla="*/ 2 h 521"/>
                <a:gd name="T10" fmla="*/ 16 w 36"/>
                <a:gd name="T11" fmla="*/ 3 h 521"/>
                <a:gd name="T12" fmla="*/ 15 w 36"/>
                <a:gd name="T13" fmla="*/ 10 h 521"/>
                <a:gd name="T14" fmla="*/ 14 w 36"/>
                <a:gd name="T15" fmla="*/ 23 h 521"/>
                <a:gd name="T16" fmla="*/ 4 w 36"/>
                <a:gd name="T17" fmla="*/ 134 h 521"/>
                <a:gd name="T18" fmla="*/ 1 w 36"/>
                <a:gd name="T19" fmla="*/ 289 h 521"/>
                <a:gd name="T20" fmla="*/ 0 w 36"/>
                <a:gd name="T21" fmla="*/ 431 h 521"/>
                <a:gd name="T22" fmla="*/ 0 w 36"/>
                <a:gd name="T23" fmla="*/ 509 h 521"/>
                <a:gd name="T24" fmla="*/ 4 w 36"/>
                <a:gd name="T25" fmla="*/ 509 h 521"/>
                <a:gd name="T26" fmla="*/ 9 w 36"/>
                <a:gd name="T27" fmla="*/ 509 h 521"/>
                <a:gd name="T28" fmla="*/ 13 w 36"/>
                <a:gd name="T29" fmla="*/ 510 h 521"/>
                <a:gd name="T30" fmla="*/ 17 w 36"/>
                <a:gd name="T31" fmla="*/ 511 h 521"/>
                <a:gd name="T32" fmla="*/ 21 w 36"/>
                <a:gd name="T33" fmla="*/ 513 h 521"/>
                <a:gd name="T34" fmla="*/ 26 w 36"/>
                <a:gd name="T35" fmla="*/ 514 h 521"/>
                <a:gd name="T36" fmla="*/ 30 w 36"/>
                <a:gd name="T37" fmla="*/ 517 h 521"/>
                <a:gd name="T38" fmla="*/ 35 w 36"/>
                <a:gd name="T39" fmla="*/ 520 h 521"/>
                <a:gd name="T40" fmla="*/ 33 w 36"/>
                <a:gd name="T41" fmla="*/ 500 h 521"/>
                <a:gd name="T42" fmla="*/ 31 w 36"/>
                <a:gd name="T43" fmla="*/ 476 h 521"/>
                <a:gd name="T44" fmla="*/ 28 w 36"/>
                <a:gd name="T45" fmla="*/ 453 h 521"/>
                <a:gd name="T46" fmla="*/ 28 w 36"/>
                <a:gd name="T47" fmla="*/ 443 h 521"/>
                <a:gd name="T48" fmla="*/ 16 w 36"/>
                <a:gd name="T49" fmla="*/ 429 h 521"/>
                <a:gd name="T50" fmla="*/ 13 w 36"/>
                <a:gd name="T51" fmla="*/ 334 h 521"/>
                <a:gd name="T52" fmla="*/ 11 w 36"/>
                <a:gd name="T53" fmla="*/ 210 h 521"/>
                <a:gd name="T54" fmla="*/ 13 w 36"/>
                <a:gd name="T55" fmla="*/ 89 h 521"/>
                <a:gd name="T56" fmla="*/ 21 w 36"/>
                <a:gd name="T57" fmla="*/ 0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521">
                  <a:moveTo>
                    <a:pt x="21" y="0"/>
                  </a:moveTo>
                  <a:lnTo>
                    <a:pt x="19" y="1"/>
                  </a:lnTo>
                  <a:lnTo>
                    <a:pt x="18" y="2"/>
                  </a:lnTo>
                  <a:lnTo>
                    <a:pt x="17" y="2"/>
                  </a:lnTo>
                  <a:lnTo>
                    <a:pt x="16" y="2"/>
                  </a:lnTo>
                  <a:lnTo>
                    <a:pt x="16" y="3"/>
                  </a:lnTo>
                  <a:lnTo>
                    <a:pt x="15" y="10"/>
                  </a:lnTo>
                  <a:lnTo>
                    <a:pt x="14" y="23"/>
                  </a:lnTo>
                  <a:lnTo>
                    <a:pt x="4" y="134"/>
                  </a:lnTo>
                  <a:lnTo>
                    <a:pt x="1" y="289"/>
                  </a:lnTo>
                  <a:lnTo>
                    <a:pt x="0" y="431"/>
                  </a:lnTo>
                  <a:lnTo>
                    <a:pt x="0" y="509"/>
                  </a:lnTo>
                  <a:lnTo>
                    <a:pt x="4" y="509"/>
                  </a:lnTo>
                  <a:lnTo>
                    <a:pt x="9" y="509"/>
                  </a:lnTo>
                  <a:lnTo>
                    <a:pt x="13" y="510"/>
                  </a:lnTo>
                  <a:lnTo>
                    <a:pt x="17" y="511"/>
                  </a:lnTo>
                  <a:lnTo>
                    <a:pt x="21" y="513"/>
                  </a:lnTo>
                  <a:lnTo>
                    <a:pt x="26" y="514"/>
                  </a:lnTo>
                  <a:lnTo>
                    <a:pt x="30" y="517"/>
                  </a:lnTo>
                  <a:lnTo>
                    <a:pt x="35" y="520"/>
                  </a:lnTo>
                  <a:lnTo>
                    <a:pt x="33" y="500"/>
                  </a:lnTo>
                  <a:lnTo>
                    <a:pt x="31" y="476"/>
                  </a:lnTo>
                  <a:lnTo>
                    <a:pt x="28" y="453"/>
                  </a:lnTo>
                  <a:lnTo>
                    <a:pt x="28" y="443"/>
                  </a:lnTo>
                  <a:lnTo>
                    <a:pt x="16" y="429"/>
                  </a:lnTo>
                  <a:lnTo>
                    <a:pt x="13" y="334"/>
                  </a:lnTo>
                  <a:lnTo>
                    <a:pt x="11" y="210"/>
                  </a:lnTo>
                  <a:lnTo>
                    <a:pt x="13" y="89"/>
                  </a:lnTo>
                  <a:lnTo>
                    <a:pt x="21" y="0"/>
                  </a:lnTo>
                </a:path>
              </a:pathLst>
            </a:custGeom>
            <a:solidFill>
              <a:srgbClr val="B6B6B6"/>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8229" name="Freeform 197"/>
            <p:cNvSpPr/>
            <p:nvPr/>
          </p:nvSpPr>
          <p:spPr bwMode="auto">
            <a:xfrm rot="94872">
              <a:off x="4746" y="3813"/>
              <a:ext cx="360" cy="43"/>
            </a:xfrm>
            <a:custGeom>
              <a:avLst/>
              <a:gdLst>
                <a:gd name="T0" fmla="*/ 154 w 307"/>
                <a:gd name="T1" fmla="*/ 59 h 60"/>
                <a:gd name="T2" fmla="*/ 130 w 307"/>
                <a:gd name="T3" fmla="*/ 58 h 60"/>
                <a:gd name="T4" fmla="*/ 109 w 307"/>
                <a:gd name="T5" fmla="*/ 56 h 60"/>
                <a:gd name="T6" fmla="*/ 89 w 307"/>
                <a:gd name="T7" fmla="*/ 54 h 60"/>
                <a:gd name="T8" fmla="*/ 71 w 307"/>
                <a:gd name="T9" fmla="*/ 53 h 60"/>
                <a:gd name="T10" fmla="*/ 55 w 307"/>
                <a:gd name="T11" fmla="*/ 51 h 60"/>
                <a:gd name="T12" fmla="*/ 41 w 307"/>
                <a:gd name="T13" fmla="*/ 48 h 60"/>
                <a:gd name="T14" fmla="*/ 28 w 307"/>
                <a:gd name="T15" fmla="*/ 45 h 60"/>
                <a:gd name="T16" fmla="*/ 19 w 307"/>
                <a:gd name="T17" fmla="*/ 43 h 60"/>
                <a:gd name="T18" fmla="*/ 11 w 307"/>
                <a:gd name="T19" fmla="*/ 40 h 60"/>
                <a:gd name="T20" fmla="*/ 5 w 307"/>
                <a:gd name="T21" fmla="*/ 36 h 60"/>
                <a:gd name="T22" fmla="*/ 1 w 307"/>
                <a:gd name="T23" fmla="*/ 34 h 60"/>
                <a:gd name="T24" fmla="*/ 0 w 307"/>
                <a:gd name="T25" fmla="*/ 31 h 60"/>
                <a:gd name="T26" fmla="*/ 2 w 307"/>
                <a:gd name="T27" fmla="*/ 27 h 60"/>
                <a:gd name="T28" fmla="*/ 6 w 307"/>
                <a:gd name="T29" fmla="*/ 25 h 60"/>
                <a:gd name="T30" fmla="*/ 13 w 307"/>
                <a:gd name="T31" fmla="*/ 21 h 60"/>
                <a:gd name="T32" fmla="*/ 21 w 307"/>
                <a:gd name="T33" fmla="*/ 19 h 60"/>
                <a:gd name="T34" fmla="*/ 109 w 307"/>
                <a:gd name="T35" fmla="*/ 0 h 60"/>
                <a:gd name="T36" fmla="*/ 105 w 307"/>
                <a:gd name="T37" fmla="*/ 1 h 60"/>
                <a:gd name="T38" fmla="*/ 105 w 307"/>
                <a:gd name="T39" fmla="*/ 3 h 60"/>
                <a:gd name="T40" fmla="*/ 107 w 307"/>
                <a:gd name="T41" fmla="*/ 5 h 60"/>
                <a:gd name="T42" fmla="*/ 113 w 307"/>
                <a:gd name="T43" fmla="*/ 6 h 60"/>
                <a:gd name="T44" fmla="*/ 119 w 307"/>
                <a:gd name="T45" fmla="*/ 7 h 60"/>
                <a:gd name="T46" fmla="*/ 128 w 307"/>
                <a:gd name="T47" fmla="*/ 8 h 60"/>
                <a:gd name="T48" fmla="*/ 140 w 307"/>
                <a:gd name="T49" fmla="*/ 9 h 60"/>
                <a:gd name="T50" fmla="*/ 154 w 307"/>
                <a:gd name="T51" fmla="*/ 9 h 60"/>
                <a:gd name="T52" fmla="*/ 167 w 307"/>
                <a:gd name="T53" fmla="*/ 9 h 60"/>
                <a:gd name="T54" fmla="*/ 179 w 307"/>
                <a:gd name="T55" fmla="*/ 8 h 60"/>
                <a:gd name="T56" fmla="*/ 188 w 307"/>
                <a:gd name="T57" fmla="*/ 7 h 60"/>
                <a:gd name="T58" fmla="*/ 195 w 307"/>
                <a:gd name="T59" fmla="*/ 6 h 60"/>
                <a:gd name="T60" fmla="*/ 200 w 307"/>
                <a:gd name="T61" fmla="*/ 5 h 60"/>
                <a:gd name="T62" fmla="*/ 203 w 307"/>
                <a:gd name="T63" fmla="*/ 3 h 60"/>
                <a:gd name="T64" fmla="*/ 203 w 307"/>
                <a:gd name="T65" fmla="*/ 1 h 60"/>
                <a:gd name="T66" fmla="*/ 199 w 307"/>
                <a:gd name="T67" fmla="*/ 0 h 60"/>
                <a:gd name="T68" fmla="*/ 286 w 307"/>
                <a:gd name="T69" fmla="*/ 19 h 60"/>
                <a:gd name="T70" fmla="*/ 295 w 307"/>
                <a:gd name="T71" fmla="*/ 21 h 60"/>
                <a:gd name="T72" fmla="*/ 301 w 307"/>
                <a:gd name="T73" fmla="*/ 25 h 60"/>
                <a:gd name="T74" fmla="*/ 305 w 307"/>
                <a:gd name="T75" fmla="*/ 27 h 60"/>
                <a:gd name="T76" fmla="*/ 306 w 307"/>
                <a:gd name="T77" fmla="*/ 31 h 60"/>
                <a:gd name="T78" fmla="*/ 305 w 307"/>
                <a:gd name="T79" fmla="*/ 34 h 60"/>
                <a:gd name="T80" fmla="*/ 301 w 307"/>
                <a:gd name="T81" fmla="*/ 36 h 60"/>
                <a:gd name="T82" fmla="*/ 295 w 307"/>
                <a:gd name="T83" fmla="*/ 40 h 60"/>
                <a:gd name="T84" fmla="*/ 287 w 307"/>
                <a:gd name="T85" fmla="*/ 43 h 60"/>
                <a:gd name="T86" fmla="*/ 278 w 307"/>
                <a:gd name="T87" fmla="*/ 45 h 60"/>
                <a:gd name="T88" fmla="*/ 266 w 307"/>
                <a:gd name="T89" fmla="*/ 48 h 60"/>
                <a:gd name="T90" fmla="*/ 252 w 307"/>
                <a:gd name="T91" fmla="*/ 51 h 60"/>
                <a:gd name="T92" fmla="*/ 235 w 307"/>
                <a:gd name="T93" fmla="*/ 53 h 60"/>
                <a:gd name="T94" fmla="*/ 218 w 307"/>
                <a:gd name="T95" fmla="*/ 54 h 60"/>
                <a:gd name="T96" fmla="*/ 198 w 307"/>
                <a:gd name="T97" fmla="*/ 56 h 60"/>
                <a:gd name="T98" fmla="*/ 177 w 307"/>
                <a:gd name="T99" fmla="*/ 58 h 60"/>
                <a:gd name="T100" fmla="*/ 154 w 307"/>
                <a:gd name="T101" fmla="*/ 59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7" h="60">
                  <a:moveTo>
                    <a:pt x="154" y="59"/>
                  </a:moveTo>
                  <a:lnTo>
                    <a:pt x="130" y="58"/>
                  </a:lnTo>
                  <a:lnTo>
                    <a:pt x="109" y="56"/>
                  </a:lnTo>
                  <a:lnTo>
                    <a:pt x="89" y="54"/>
                  </a:lnTo>
                  <a:lnTo>
                    <a:pt x="71" y="53"/>
                  </a:lnTo>
                  <a:lnTo>
                    <a:pt x="55" y="51"/>
                  </a:lnTo>
                  <a:lnTo>
                    <a:pt x="41" y="48"/>
                  </a:lnTo>
                  <a:lnTo>
                    <a:pt x="28" y="45"/>
                  </a:lnTo>
                  <a:lnTo>
                    <a:pt x="19" y="43"/>
                  </a:lnTo>
                  <a:lnTo>
                    <a:pt x="11" y="40"/>
                  </a:lnTo>
                  <a:lnTo>
                    <a:pt x="5" y="36"/>
                  </a:lnTo>
                  <a:lnTo>
                    <a:pt x="1" y="34"/>
                  </a:lnTo>
                  <a:lnTo>
                    <a:pt x="0" y="31"/>
                  </a:lnTo>
                  <a:lnTo>
                    <a:pt x="2" y="27"/>
                  </a:lnTo>
                  <a:lnTo>
                    <a:pt x="6" y="25"/>
                  </a:lnTo>
                  <a:lnTo>
                    <a:pt x="13" y="21"/>
                  </a:lnTo>
                  <a:lnTo>
                    <a:pt x="21" y="19"/>
                  </a:lnTo>
                  <a:lnTo>
                    <a:pt x="109" y="0"/>
                  </a:lnTo>
                  <a:lnTo>
                    <a:pt x="105" y="1"/>
                  </a:lnTo>
                  <a:lnTo>
                    <a:pt x="105" y="3"/>
                  </a:lnTo>
                  <a:lnTo>
                    <a:pt x="107" y="5"/>
                  </a:lnTo>
                  <a:lnTo>
                    <a:pt x="113" y="6"/>
                  </a:lnTo>
                  <a:lnTo>
                    <a:pt x="119" y="7"/>
                  </a:lnTo>
                  <a:lnTo>
                    <a:pt x="128" y="8"/>
                  </a:lnTo>
                  <a:lnTo>
                    <a:pt x="140" y="9"/>
                  </a:lnTo>
                  <a:lnTo>
                    <a:pt x="154" y="9"/>
                  </a:lnTo>
                  <a:lnTo>
                    <a:pt x="167" y="9"/>
                  </a:lnTo>
                  <a:lnTo>
                    <a:pt x="179" y="8"/>
                  </a:lnTo>
                  <a:lnTo>
                    <a:pt x="188" y="7"/>
                  </a:lnTo>
                  <a:lnTo>
                    <a:pt x="195" y="6"/>
                  </a:lnTo>
                  <a:lnTo>
                    <a:pt x="200" y="5"/>
                  </a:lnTo>
                  <a:lnTo>
                    <a:pt x="203" y="3"/>
                  </a:lnTo>
                  <a:lnTo>
                    <a:pt x="203" y="1"/>
                  </a:lnTo>
                  <a:lnTo>
                    <a:pt x="199" y="0"/>
                  </a:lnTo>
                  <a:lnTo>
                    <a:pt x="286" y="19"/>
                  </a:lnTo>
                  <a:lnTo>
                    <a:pt x="295" y="21"/>
                  </a:lnTo>
                  <a:lnTo>
                    <a:pt x="301" y="25"/>
                  </a:lnTo>
                  <a:lnTo>
                    <a:pt x="305" y="27"/>
                  </a:lnTo>
                  <a:lnTo>
                    <a:pt x="306" y="31"/>
                  </a:lnTo>
                  <a:lnTo>
                    <a:pt x="305" y="34"/>
                  </a:lnTo>
                  <a:lnTo>
                    <a:pt x="301" y="36"/>
                  </a:lnTo>
                  <a:lnTo>
                    <a:pt x="295" y="40"/>
                  </a:lnTo>
                  <a:lnTo>
                    <a:pt x="287" y="43"/>
                  </a:lnTo>
                  <a:lnTo>
                    <a:pt x="278" y="45"/>
                  </a:lnTo>
                  <a:lnTo>
                    <a:pt x="266" y="48"/>
                  </a:lnTo>
                  <a:lnTo>
                    <a:pt x="252" y="51"/>
                  </a:lnTo>
                  <a:lnTo>
                    <a:pt x="235" y="53"/>
                  </a:lnTo>
                  <a:lnTo>
                    <a:pt x="218" y="54"/>
                  </a:lnTo>
                  <a:lnTo>
                    <a:pt x="198" y="56"/>
                  </a:lnTo>
                  <a:lnTo>
                    <a:pt x="177" y="58"/>
                  </a:lnTo>
                  <a:lnTo>
                    <a:pt x="154" y="59"/>
                  </a:lnTo>
                </a:path>
              </a:pathLst>
            </a:custGeom>
            <a:solidFill>
              <a:srgbClr val="B6B6B6"/>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8230" name="Freeform 198"/>
            <p:cNvSpPr/>
            <p:nvPr/>
          </p:nvSpPr>
          <p:spPr bwMode="auto">
            <a:xfrm rot="94872">
              <a:off x="4608" y="2832"/>
              <a:ext cx="676" cy="1052"/>
            </a:xfrm>
            <a:custGeom>
              <a:avLst/>
              <a:gdLst>
                <a:gd name="T0" fmla="*/ 345 w 578"/>
                <a:gd name="T1" fmla="*/ 1447 h 1448"/>
                <a:gd name="T2" fmla="*/ 421 w 578"/>
                <a:gd name="T3" fmla="*/ 1443 h 1448"/>
                <a:gd name="T4" fmla="*/ 484 w 578"/>
                <a:gd name="T5" fmla="*/ 1437 h 1448"/>
                <a:gd name="T6" fmla="*/ 530 w 578"/>
                <a:gd name="T7" fmla="*/ 1427 h 1448"/>
                <a:gd name="T8" fmla="*/ 557 w 578"/>
                <a:gd name="T9" fmla="*/ 1416 h 1448"/>
                <a:gd name="T10" fmla="*/ 562 w 578"/>
                <a:gd name="T11" fmla="*/ 1402 h 1448"/>
                <a:gd name="T12" fmla="*/ 526 w 578"/>
                <a:gd name="T13" fmla="*/ 1388 h 1448"/>
                <a:gd name="T14" fmla="*/ 459 w 578"/>
                <a:gd name="T15" fmla="*/ 1376 h 1448"/>
                <a:gd name="T16" fmla="*/ 335 w 578"/>
                <a:gd name="T17" fmla="*/ 1351 h 1448"/>
                <a:gd name="T18" fmla="*/ 335 w 578"/>
                <a:gd name="T19" fmla="*/ 1314 h 1448"/>
                <a:gd name="T20" fmla="*/ 312 w 578"/>
                <a:gd name="T21" fmla="*/ 1004 h 1448"/>
                <a:gd name="T22" fmla="*/ 322 w 578"/>
                <a:gd name="T23" fmla="*/ 785 h 1448"/>
                <a:gd name="T24" fmla="*/ 325 w 578"/>
                <a:gd name="T25" fmla="*/ 781 h 1448"/>
                <a:gd name="T26" fmla="*/ 344 w 578"/>
                <a:gd name="T27" fmla="*/ 764 h 1448"/>
                <a:gd name="T28" fmla="*/ 343 w 578"/>
                <a:gd name="T29" fmla="*/ 749 h 1448"/>
                <a:gd name="T30" fmla="*/ 338 w 578"/>
                <a:gd name="T31" fmla="*/ 742 h 1448"/>
                <a:gd name="T32" fmla="*/ 338 w 578"/>
                <a:gd name="T33" fmla="*/ 729 h 1448"/>
                <a:gd name="T34" fmla="*/ 355 w 578"/>
                <a:gd name="T35" fmla="*/ 716 h 1448"/>
                <a:gd name="T36" fmla="*/ 418 w 578"/>
                <a:gd name="T37" fmla="*/ 675 h 1448"/>
                <a:gd name="T38" fmla="*/ 521 w 578"/>
                <a:gd name="T39" fmla="*/ 553 h 1448"/>
                <a:gd name="T40" fmla="*/ 569 w 578"/>
                <a:gd name="T41" fmla="*/ 412 h 1448"/>
                <a:gd name="T42" fmla="*/ 576 w 578"/>
                <a:gd name="T43" fmla="*/ 267 h 1448"/>
                <a:gd name="T44" fmla="*/ 557 w 578"/>
                <a:gd name="T45" fmla="*/ 132 h 1448"/>
                <a:gd name="T46" fmla="*/ 526 w 578"/>
                <a:gd name="T47" fmla="*/ 18 h 1448"/>
                <a:gd name="T48" fmla="*/ 516 w 578"/>
                <a:gd name="T49" fmla="*/ 13 h 1448"/>
                <a:gd name="T50" fmla="*/ 486 w 578"/>
                <a:gd name="T51" fmla="*/ 8 h 1448"/>
                <a:gd name="T52" fmla="*/ 440 w 578"/>
                <a:gd name="T53" fmla="*/ 4 h 1448"/>
                <a:gd name="T54" fmla="*/ 382 w 578"/>
                <a:gd name="T55" fmla="*/ 2 h 1448"/>
                <a:gd name="T56" fmla="*/ 313 w 578"/>
                <a:gd name="T57" fmla="*/ 0 h 1448"/>
                <a:gd name="T58" fmla="*/ 241 w 578"/>
                <a:gd name="T59" fmla="*/ 0 h 1448"/>
                <a:gd name="T60" fmla="*/ 176 w 578"/>
                <a:gd name="T61" fmla="*/ 2 h 1448"/>
                <a:gd name="T62" fmla="*/ 121 w 578"/>
                <a:gd name="T63" fmla="*/ 5 h 1448"/>
                <a:gd name="T64" fmla="*/ 81 w 578"/>
                <a:gd name="T65" fmla="*/ 9 h 1448"/>
                <a:gd name="T66" fmla="*/ 56 w 578"/>
                <a:gd name="T67" fmla="*/ 15 h 1448"/>
                <a:gd name="T68" fmla="*/ 41 w 578"/>
                <a:gd name="T69" fmla="*/ 52 h 1448"/>
                <a:gd name="T70" fmla="*/ 12 w 578"/>
                <a:gd name="T71" fmla="*/ 174 h 1448"/>
                <a:gd name="T72" fmla="*/ 0 w 578"/>
                <a:gd name="T73" fmla="*/ 315 h 1448"/>
                <a:gd name="T74" fmla="*/ 20 w 578"/>
                <a:gd name="T75" fmla="*/ 460 h 1448"/>
                <a:gd name="T76" fmla="*/ 85 w 578"/>
                <a:gd name="T77" fmla="*/ 596 h 1448"/>
                <a:gd name="T78" fmla="*/ 210 w 578"/>
                <a:gd name="T79" fmla="*/ 709 h 1448"/>
                <a:gd name="T80" fmla="*/ 229 w 578"/>
                <a:gd name="T81" fmla="*/ 720 h 1448"/>
                <a:gd name="T82" fmla="*/ 243 w 578"/>
                <a:gd name="T83" fmla="*/ 734 h 1448"/>
                <a:gd name="T84" fmla="*/ 240 w 578"/>
                <a:gd name="T85" fmla="*/ 741 h 1448"/>
                <a:gd name="T86" fmla="*/ 233 w 578"/>
                <a:gd name="T87" fmla="*/ 753 h 1448"/>
                <a:gd name="T88" fmla="*/ 238 w 578"/>
                <a:gd name="T89" fmla="*/ 770 h 1448"/>
                <a:gd name="T90" fmla="*/ 254 w 578"/>
                <a:gd name="T91" fmla="*/ 782 h 1448"/>
                <a:gd name="T92" fmla="*/ 256 w 578"/>
                <a:gd name="T93" fmla="*/ 788 h 1448"/>
                <a:gd name="T94" fmla="*/ 260 w 578"/>
                <a:gd name="T95" fmla="*/ 1144 h 1448"/>
                <a:gd name="T96" fmla="*/ 238 w 578"/>
                <a:gd name="T97" fmla="*/ 1326 h 1448"/>
                <a:gd name="T98" fmla="*/ 147 w 578"/>
                <a:gd name="T99" fmla="*/ 1373 h 1448"/>
                <a:gd name="T100" fmla="*/ 94 w 578"/>
                <a:gd name="T101" fmla="*/ 1380 h 1448"/>
                <a:gd name="T102" fmla="*/ 36 w 578"/>
                <a:gd name="T103" fmla="*/ 1393 h 1448"/>
                <a:gd name="T104" fmla="*/ 15 w 578"/>
                <a:gd name="T105" fmla="*/ 1408 h 1448"/>
                <a:gd name="T106" fmla="*/ 28 w 578"/>
                <a:gd name="T107" fmla="*/ 1420 h 1448"/>
                <a:gd name="T108" fmla="*/ 62 w 578"/>
                <a:gd name="T109" fmla="*/ 1431 h 1448"/>
                <a:gd name="T110" fmla="*/ 114 w 578"/>
                <a:gd name="T111" fmla="*/ 1439 h 1448"/>
                <a:gd name="T112" fmla="*/ 181 w 578"/>
                <a:gd name="T113" fmla="*/ 1445 h 1448"/>
                <a:gd name="T114" fmla="*/ 260 w 578"/>
                <a:gd name="T115" fmla="*/ 1447 h 1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78" h="1448">
                  <a:moveTo>
                    <a:pt x="289" y="1447"/>
                  </a:moveTo>
                  <a:lnTo>
                    <a:pt x="318" y="1447"/>
                  </a:lnTo>
                  <a:lnTo>
                    <a:pt x="345" y="1447"/>
                  </a:lnTo>
                  <a:lnTo>
                    <a:pt x="372" y="1446"/>
                  </a:lnTo>
                  <a:lnTo>
                    <a:pt x="398" y="1445"/>
                  </a:lnTo>
                  <a:lnTo>
                    <a:pt x="421" y="1443"/>
                  </a:lnTo>
                  <a:lnTo>
                    <a:pt x="443" y="1441"/>
                  </a:lnTo>
                  <a:lnTo>
                    <a:pt x="464" y="1439"/>
                  </a:lnTo>
                  <a:lnTo>
                    <a:pt x="484" y="1437"/>
                  </a:lnTo>
                  <a:lnTo>
                    <a:pt x="501" y="1433"/>
                  </a:lnTo>
                  <a:lnTo>
                    <a:pt x="517" y="1431"/>
                  </a:lnTo>
                  <a:lnTo>
                    <a:pt x="530" y="1427"/>
                  </a:lnTo>
                  <a:lnTo>
                    <a:pt x="541" y="1423"/>
                  </a:lnTo>
                  <a:lnTo>
                    <a:pt x="550" y="1420"/>
                  </a:lnTo>
                  <a:lnTo>
                    <a:pt x="557" y="1416"/>
                  </a:lnTo>
                  <a:lnTo>
                    <a:pt x="562" y="1412"/>
                  </a:lnTo>
                  <a:lnTo>
                    <a:pt x="563" y="1408"/>
                  </a:lnTo>
                  <a:lnTo>
                    <a:pt x="562" y="1402"/>
                  </a:lnTo>
                  <a:lnTo>
                    <a:pt x="554" y="1398"/>
                  </a:lnTo>
                  <a:lnTo>
                    <a:pt x="542" y="1393"/>
                  </a:lnTo>
                  <a:lnTo>
                    <a:pt x="526" y="1388"/>
                  </a:lnTo>
                  <a:lnTo>
                    <a:pt x="506" y="1384"/>
                  </a:lnTo>
                  <a:lnTo>
                    <a:pt x="484" y="1380"/>
                  </a:lnTo>
                  <a:lnTo>
                    <a:pt x="459" y="1376"/>
                  </a:lnTo>
                  <a:lnTo>
                    <a:pt x="433" y="1373"/>
                  </a:lnTo>
                  <a:lnTo>
                    <a:pt x="432" y="1373"/>
                  </a:lnTo>
                  <a:lnTo>
                    <a:pt x="335" y="1351"/>
                  </a:lnTo>
                  <a:lnTo>
                    <a:pt x="341" y="1337"/>
                  </a:lnTo>
                  <a:lnTo>
                    <a:pt x="340" y="1326"/>
                  </a:lnTo>
                  <a:lnTo>
                    <a:pt x="335" y="1314"/>
                  </a:lnTo>
                  <a:lnTo>
                    <a:pt x="332" y="1294"/>
                  </a:lnTo>
                  <a:lnTo>
                    <a:pt x="318" y="1144"/>
                  </a:lnTo>
                  <a:lnTo>
                    <a:pt x="312" y="1004"/>
                  </a:lnTo>
                  <a:lnTo>
                    <a:pt x="313" y="881"/>
                  </a:lnTo>
                  <a:lnTo>
                    <a:pt x="322" y="788"/>
                  </a:lnTo>
                  <a:lnTo>
                    <a:pt x="322" y="785"/>
                  </a:lnTo>
                  <a:lnTo>
                    <a:pt x="323" y="784"/>
                  </a:lnTo>
                  <a:lnTo>
                    <a:pt x="324" y="782"/>
                  </a:lnTo>
                  <a:lnTo>
                    <a:pt x="325" y="781"/>
                  </a:lnTo>
                  <a:lnTo>
                    <a:pt x="334" y="777"/>
                  </a:lnTo>
                  <a:lnTo>
                    <a:pt x="340" y="770"/>
                  </a:lnTo>
                  <a:lnTo>
                    <a:pt x="344" y="764"/>
                  </a:lnTo>
                  <a:lnTo>
                    <a:pt x="346" y="757"/>
                  </a:lnTo>
                  <a:lnTo>
                    <a:pt x="345" y="753"/>
                  </a:lnTo>
                  <a:lnTo>
                    <a:pt x="343" y="749"/>
                  </a:lnTo>
                  <a:lnTo>
                    <a:pt x="341" y="745"/>
                  </a:lnTo>
                  <a:lnTo>
                    <a:pt x="338" y="741"/>
                  </a:lnTo>
                  <a:lnTo>
                    <a:pt x="338" y="742"/>
                  </a:lnTo>
                  <a:lnTo>
                    <a:pt x="335" y="738"/>
                  </a:lnTo>
                  <a:lnTo>
                    <a:pt x="335" y="734"/>
                  </a:lnTo>
                  <a:lnTo>
                    <a:pt x="338" y="729"/>
                  </a:lnTo>
                  <a:lnTo>
                    <a:pt x="343" y="725"/>
                  </a:lnTo>
                  <a:lnTo>
                    <a:pt x="349" y="720"/>
                  </a:lnTo>
                  <a:lnTo>
                    <a:pt x="355" y="716"/>
                  </a:lnTo>
                  <a:lnTo>
                    <a:pt x="362" y="713"/>
                  </a:lnTo>
                  <a:lnTo>
                    <a:pt x="368" y="709"/>
                  </a:lnTo>
                  <a:lnTo>
                    <a:pt x="418" y="675"/>
                  </a:lnTo>
                  <a:lnTo>
                    <a:pt x="459" y="637"/>
                  </a:lnTo>
                  <a:lnTo>
                    <a:pt x="493" y="596"/>
                  </a:lnTo>
                  <a:lnTo>
                    <a:pt x="521" y="553"/>
                  </a:lnTo>
                  <a:lnTo>
                    <a:pt x="542" y="507"/>
                  </a:lnTo>
                  <a:lnTo>
                    <a:pt x="558" y="460"/>
                  </a:lnTo>
                  <a:lnTo>
                    <a:pt x="569" y="412"/>
                  </a:lnTo>
                  <a:lnTo>
                    <a:pt x="576" y="363"/>
                  </a:lnTo>
                  <a:lnTo>
                    <a:pt x="577" y="315"/>
                  </a:lnTo>
                  <a:lnTo>
                    <a:pt x="576" y="267"/>
                  </a:lnTo>
                  <a:lnTo>
                    <a:pt x="572" y="219"/>
                  </a:lnTo>
                  <a:lnTo>
                    <a:pt x="566" y="174"/>
                  </a:lnTo>
                  <a:lnTo>
                    <a:pt x="557" y="132"/>
                  </a:lnTo>
                  <a:lnTo>
                    <a:pt x="548" y="91"/>
                  </a:lnTo>
                  <a:lnTo>
                    <a:pt x="537" y="52"/>
                  </a:lnTo>
                  <a:lnTo>
                    <a:pt x="526" y="18"/>
                  </a:lnTo>
                  <a:lnTo>
                    <a:pt x="526" y="16"/>
                  </a:lnTo>
                  <a:lnTo>
                    <a:pt x="522" y="15"/>
                  </a:lnTo>
                  <a:lnTo>
                    <a:pt x="516" y="13"/>
                  </a:lnTo>
                  <a:lnTo>
                    <a:pt x="508" y="11"/>
                  </a:lnTo>
                  <a:lnTo>
                    <a:pt x="498" y="9"/>
                  </a:lnTo>
                  <a:lnTo>
                    <a:pt x="486" y="8"/>
                  </a:lnTo>
                  <a:lnTo>
                    <a:pt x="472" y="7"/>
                  </a:lnTo>
                  <a:lnTo>
                    <a:pt x="457" y="5"/>
                  </a:lnTo>
                  <a:lnTo>
                    <a:pt x="440" y="4"/>
                  </a:lnTo>
                  <a:lnTo>
                    <a:pt x="422" y="3"/>
                  </a:lnTo>
                  <a:lnTo>
                    <a:pt x="402" y="2"/>
                  </a:lnTo>
                  <a:lnTo>
                    <a:pt x="382" y="2"/>
                  </a:lnTo>
                  <a:lnTo>
                    <a:pt x="360" y="1"/>
                  </a:lnTo>
                  <a:lnTo>
                    <a:pt x="337" y="0"/>
                  </a:lnTo>
                  <a:lnTo>
                    <a:pt x="313" y="0"/>
                  </a:lnTo>
                  <a:lnTo>
                    <a:pt x="289" y="0"/>
                  </a:lnTo>
                  <a:lnTo>
                    <a:pt x="264" y="0"/>
                  </a:lnTo>
                  <a:lnTo>
                    <a:pt x="241" y="0"/>
                  </a:lnTo>
                  <a:lnTo>
                    <a:pt x="218" y="1"/>
                  </a:lnTo>
                  <a:lnTo>
                    <a:pt x="197" y="2"/>
                  </a:lnTo>
                  <a:lnTo>
                    <a:pt x="176" y="2"/>
                  </a:lnTo>
                  <a:lnTo>
                    <a:pt x="156" y="3"/>
                  </a:lnTo>
                  <a:lnTo>
                    <a:pt x="138" y="4"/>
                  </a:lnTo>
                  <a:lnTo>
                    <a:pt x="121" y="5"/>
                  </a:lnTo>
                  <a:lnTo>
                    <a:pt x="106" y="7"/>
                  </a:lnTo>
                  <a:lnTo>
                    <a:pt x="92" y="8"/>
                  </a:lnTo>
                  <a:lnTo>
                    <a:pt x="81" y="9"/>
                  </a:lnTo>
                  <a:lnTo>
                    <a:pt x="70" y="11"/>
                  </a:lnTo>
                  <a:lnTo>
                    <a:pt x="62" y="13"/>
                  </a:lnTo>
                  <a:lnTo>
                    <a:pt x="56" y="15"/>
                  </a:lnTo>
                  <a:lnTo>
                    <a:pt x="53" y="16"/>
                  </a:lnTo>
                  <a:lnTo>
                    <a:pt x="52" y="18"/>
                  </a:lnTo>
                  <a:lnTo>
                    <a:pt x="41" y="52"/>
                  </a:lnTo>
                  <a:lnTo>
                    <a:pt x="31" y="91"/>
                  </a:lnTo>
                  <a:lnTo>
                    <a:pt x="20" y="132"/>
                  </a:lnTo>
                  <a:lnTo>
                    <a:pt x="12" y="174"/>
                  </a:lnTo>
                  <a:lnTo>
                    <a:pt x="5" y="219"/>
                  </a:lnTo>
                  <a:lnTo>
                    <a:pt x="2" y="267"/>
                  </a:lnTo>
                  <a:lnTo>
                    <a:pt x="0" y="315"/>
                  </a:lnTo>
                  <a:lnTo>
                    <a:pt x="3" y="363"/>
                  </a:lnTo>
                  <a:lnTo>
                    <a:pt x="9" y="412"/>
                  </a:lnTo>
                  <a:lnTo>
                    <a:pt x="20" y="460"/>
                  </a:lnTo>
                  <a:lnTo>
                    <a:pt x="36" y="507"/>
                  </a:lnTo>
                  <a:lnTo>
                    <a:pt x="57" y="553"/>
                  </a:lnTo>
                  <a:lnTo>
                    <a:pt x="85" y="596"/>
                  </a:lnTo>
                  <a:lnTo>
                    <a:pt x="119" y="637"/>
                  </a:lnTo>
                  <a:lnTo>
                    <a:pt x="161" y="675"/>
                  </a:lnTo>
                  <a:lnTo>
                    <a:pt x="210" y="709"/>
                  </a:lnTo>
                  <a:lnTo>
                    <a:pt x="216" y="713"/>
                  </a:lnTo>
                  <a:lnTo>
                    <a:pt x="223" y="716"/>
                  </a:lnTo>
                  <a:lnTo>
                    <a:pt x="229" y="720"/>
                  </a:lnTo>
                  <a:lnTo>
                    <a:pt x="235" y="725"/>
                  </a:lnTo>
                  <a:lnTo>
                    <a:pt x="240" y="729"/>
                  </a:lnTo>
                  <a:lnTo>
                    <a:pt x="243" y="734"/>
                  </a:lnTo>
                  <a:lnTo>
                    <a:pt x="243" y="738"/>
                  </a:lnTo>
                  <a:lnTo>
                    <a:pt x="240" y="742"/>
                  </a:lnTo>
                  <a:lnTo>
                    <a:pt x="240" y="741"/>
                  </a:lnTo>
                  <a:lnTo>
                    <a:pt x="237" y="745"/>
                  </a:lnTo>
                  <a:lnTo>
                    <a:pt x="234" y="749"/>
                  </a:lnTo>
                  <a:lnTo>
                    <a:pt x="233" y="753"/>
                  </a:lnTo>
                  <a:lnTo>
                    <a:pt x="233" y="757"/>
                  </a:lnTo>
                  <a:lnTo>
                    <a:pt x="234" y="764"/>
                  </a:lnTo>
                  <a:lnTo>
                    <a:pt x="238" y="770"/>
                  </a:lnTo>
                  <a:lnTo>
                    <a:pt x="245" y="777"/>
                  </a:lnTo>
                  <a:lnTo>
                    <a:pt x="253" y="781"/>
                  </a:lnTo>
                  <a:lnTo>
                    <a:pt x="254" y="782"/>
                  </a:lnTo>
                  <a:lnTo>
                    <a:pt x="255" y="784"/>
                  </a:lnTo>
                  <a:lnTo>
                    <a:pt x="256" y="785"/>
                  </a:lnTo>
                  <a:lnTo>
                    <a:pt x="256" y="788"/>
                  </a:lnTo>
                  <a:lnTo>
                    <a:pt x="264" y="881"/>
                  </a:lnTo>
                  <a:lnTo>
                    <a:pt x="266" y="1004"/>
                  </a:lnTo>
                  <a:lnTo>
                    <a:pt x="260" y="1144"/>
                  </a:lnTo>
                  <a:lnTo>
                    <a:pt x="247" y="1294"/>
                  </a:lnTo>
                  <a:lnTo>
                    <a:pt x="243" y="1314"/>
                  </a:lnTo>
                  <a:lnTo>
                    <a:pt x="238" y="1326"/>
                  </a:lnTo>
                  <a:lnTo>
                    <a:pt x="237" y="1337"/>
                  </a:lnTo>
                  <a:lnTo>
                    <a:pt x="242" y="1351"/>
                  </a:lnTo>
                  <a:lnTo>
                    <a:pt x="147" y="1373"/>
                  </a:lnTo>
                  <a:lnTo>
                    <a:pt x="146" y="1373"/>
                  </a:lnTo>
                  <a:lnTo>
                    <a:pt x="119" y="1376"/>
                  </a:lnTo>
                  <a:lnTo>
                    <a:pt x="94" y="1380"/>
                  </a:lnTo>
                  <a:lnTo>
                    <a:pt x="72" y="1384"/>
                  </a:lnTo>
                  <a:lnTo>
                    <a:pt x="52" y="1388"/>
                  </a:lnTo>
                  <a:lnTo>
                    <a:pt x="36" y="1393"/>
                  </a:lnTo>
                  <a:lnTo>
                    <a:pt x="24" y="1398"/>
                  </a:lnTo>
                  <a:lnTo>
                    <a:pt x="17" y="1402"/>
                  </a:lnTo>
                  <a:lnTo>
                    <a:pt x="15" y="1408"/>
                  </a:lnTo>
                  <a:lnTo>
                    <a:pt x="17" y="1412"/>
                  </a:lnTo>
                  <a:lnTo>
                    <a:pt x="21" y="1416"/>
                  </a:lnTo>
                  <a:lnTo>
                    <a:pt x="28" y="1420"/>
                  </a:lnTo>
                  <a:lnTo>
                    <a:pt x="37" y="1423"/>
                  </a:lnTo>
                  <a:lnTo>
                    <a:pt x="48" y="1427"/>
                  </a:lnTo>
                  <a:lnTo>
                    <a:pt x="62" y="1431"/>
                  </a:lnTo>
                  <a:lnTo>
                    <a:pt x="77" y="1433"/>
                  </a:lnTo>
                  <a:lnTo>
                    <a:pt x="95" y="1437"/>
                  </a:lnTo>
                  <a:lnTo>
                    <a:pt x="114" y="1439"/>
                  </a:lnTo>
                  <a:lnTo>
                    <a:pt x="134" y="1441"/>
                  </a:lnTo>
                  <a:lnTo>
                    <a:pt x="157" y="1443"/>
                  </a:lnTo>
                  <a:lnTo>
                    <a:pt x="181" y="1445"/>
                  </a:lnTo>
                  <a:lnTo>
                    <a:pt x="206" y="1446"/>
                  </a:lnTo>
                  <a:lnTo>
                    <a:pt x="233" y="1447"/>
                  </a:lnTo>
                  <a:lnTo>
                    <a:pt x="260" y="1447"/>
                  </a:lnTo>
                  <a:lnTo>
                    <a:pt x="289" y="144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28231" name="Group 199"/>
          <p:cNvGrpSpPr/>
          <p:nvPr/>
        </p:nvGrpSpPr>
        <p:grpSpPr bwMode="auto">
          <a:xfrm>
            <a:off x="8648701" y="4533901"/>
            <a:ext cx="873125" cy="1552575"/>
            <a:chOff x="3902" y="308"/>
            <a:chExt cx="1189" cy="2298"/>
          </a:xfrm>
        </p:grpSpPr>
        <p:graphicFrame>
          <p:nvGraphicFramePr>
            <p:cNvPr id="428232" name="Object 200">
              <a:hlinkClick r:id="" action="ppaction://ole?verb=0"/>
            </p:cNvPr>
            <p:cNvGraphicFramePr/>
            <p:nvPr/>
          </p:nvGraphicFramePr>
          <p:xfrm>
            <a:off x="3902" y="308"/>
            <a:ext cx="1189" cy="2298"/>
          </p:xfrm>
          <a:graphic>
            <a:graphicData uri="http://schemas.openxmlformats.org/presentationml/2006/ole">
              <mc:AlternateContent xmlns:mc="http://schemas.openxmlformats.org/markup-compatibility/2006">
                <mc:Choice xmlns:v="urn:schemas-microsoft-com:vml" Requires="v">
                  <p:oleObj spid="_x0000_s2050" name="ClipArt" r:id="rId1" imgW="1898015" imgH="3656330" progId="MS_ClipArt_Gallery.2">
                    <p:embed/>
                  </p:oleObj>
                </mc:Choice>
                <mc:Fallback>
                  <p:oleObj name="ClipArt" r:id="rId1" imgW="1898015" imgH="3656330" progId="MS_ClipArt_Gallery.2">
                    <p:embed/>
                    <p:pic>
                      <p:nvPicPr>
                        <p:cNvPr id="0" name="Object 200">
                          <a:hlinkClick r:id="" action="ppaction://ole?verb=0"/>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2" y="308"/>
                          <a:ext cx="1189" cy="2298"/>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428233" name="Oval 201"/>
            <p:cNvSpPr>
              <a:spLocks noChangeArrowheads="1"/>
            </p:cNvSpPr>
            <p:nvPr/>
          </p:nvSpPr>
          <p:spPr bwMode="auto">
            <a:xfrm>
              <a:off x="4224" y="1056"/>
              <a:ext cx="690" cy="927"/>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zh-CN" altLang="en-US" sz="1600" b="1" i="1">
                  <a:solidFill>
                    <a:srgbClr val="00FF00"/>
                  </a:solidFill>
                  <a:effectLst>
                    <a:outerShdw blurRad="38100" dist="38100" dir="2700000" algn="tl">
                      <a:srgbClr val="000000"/>
                    </a:outerShdw>
                  </a:effectLst>
                </a:rPr>
                <a:t>绿色</a:t>
              </a:r>
              <a:endParaRPr lang="zh-CN" altLang="en-US" sz="1600" b="1" i="1">
                <a:solidFill>
                  <a:srgbClr val="00FF00"/>
                </a:solidFill>
                <a:effectLst>
                  <a:outerShdw blurRad="38100" dist="38100" dir="2700000" algn="tl">
                    <a:srgbClr val="000000"/>
                  </a:outerShdw>
                </a:effectLst>
              </a:endParaRPr>
            </a:p>
            <a:p>
              <a:pPr algn="ctr"/>
              <a:r>
                <a:rPr lang="zh-CN" altLang="en-US" sz="1400" b="1" i="1">
                  <a:solidFill>
                    <a:srgbClr val="FFFF93"/>
                  </a:solidFill>
                  <a:effectLst>
                    <a:outerShdw blurRad="38100" dist="38100" dir="2700000" algn="tl">
                      <a:srgbClr val="000000"/>
                    </a:outerShdw>
                  </a:effectLst>
                </a:rPr>
                <a:t>健康饮品</a:t>
              </a:r>
              <a:endParaRPr lang="zh-CN" altLang="en-US" sz="1400" b="1" i="1">
                <a:solidFill>
                  <a:srgbClr val="FFFF93"/>
                </a:solidFill>
                <a:effectLst>
                  <a:outerShdw blurRad="38100" dist="38100" dir="2700000" algn="tl">
                    <a:srgbClr val="000000"/>
                  </a:outerShdw>
                </a:effectLst>
              </a:endParaRPr>
            </a:p>
          </p:txBody>
        </p:sp>
      </p:grpSp>
      <p:grpSp>
        <p:nvGrpSpPr>
          <p:cNvPr id="428237" name="Group 205"/>
          <p:cNvGrpSpPr/>
          <p:nvPr/>
        </p:nvGrpSpPr>
        <p:grpSpPr bwMode="auto">
          <a:xfrm>
            <a:off x="7677151" y="4705351"/>
            <a:ext cx="873125" cy="1552575"/>
            <a:chOff x="3902" y="308"/>
            <a:chExt cx="1189" cy="2298"/>
          </a:xfrm>
        </p:grpSpPr>
        <p:graphicFrame>
          <p:nvGraphicFramePr>
            <p:cNvPr id="428238" name="Object 206">
              <a:hlinkClick r:id="" action="ppaction://ole?verb=0"/>
            </p:cNvPr>
            <p:cNvGraphicFramePr/>
            <p:nvPr/>
          </p:nvGraphicFramePr>
          <p:xfrm>
            <a:off x="3902" y="308"/>
            <a:ext cx="1189" cy="2298"/>
          </p:xfrm>
          <a:graphic>
            <a:graphicData uri="http://schemas.openxmlformats.org/presentationml/2006/ole">
              <mc:AlternateContent xmlns:mc="http://schemas.openxmlformats.org/markup-compatibility/2006">
                <mc:Choice xmlns:v="urn:schemas-microsoft-com:vml" Requires="v">
                  <p:oleObj spid="_x0000_s2051" name="ClipArt" r:id="rId3" imgW="1898015" imgH="3656330" progId="MS_ClipArt_Gallery.2">
                    <p:embed/>
                  </p:oleObj>
                </mc:Choice>
                <mc:Fallback>
                  <p:oleObj name="ClipArt" r:id="rId3" imgW="1898015" imgH="3656330" progId="MS_ClipArt_Gallery.2">
                    <p:embed/>
                    <p:pic>
                      <p:nvPicPr>
                        <p:cNvPr id="0" name="Object 206">
                          <a:hlinkClick r:id="" action="ppaction://ole?verb=0"/>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2" y="308"/>
                          <a:ext cx="1189" cy="2298"/>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428239" name="Oval 207"/>
            <p:cNvSpPr>
              <a:spLocks noChangeArrowheads="1"/>
            </p:cNvSpPr>
            <p:nvPr/>
          </p:nvSpPr>
          <p:spPr bwMode="auto">
            <a:xfrm>
              <a:off x="4224" y="1056"/>
              <a:ext cx="690" cy="927"/>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zh-CN" altLang="en-US" sz="1600" b="1" i="1">
                  <a:solidFill>
                    <a:srgbClr val="00FF00"/>
                  </a:solidFill>
                  <a:effectLst>
                    <a:outerShdw blurRad="38100" dist="38100" dir="2700000" algn="tl">
                      <a:srgbClr val="000000"/>
                    </a:outerShdw>
                  </a:effectLst>
                </a:rPr>
                <a:t>绿色</a:t>
              </a:r>
              <a:endParaRPr lang="zh-CN" altLang="en-US" sz="1600" b="1" i="1">
                <a:solidFill>
                  <a:srgbClr val="00FF00"/>
                </a:solidFill>
                <a:effectLst>
                  <a:outerShdw blurRad="38100" dist="38100" dir="2700000" algn="tl">
                    <a:srgbClr val="000000"/>
                  </a:outerShdw>
                </a:effectLst>
              </a:endParaRPr>
            </a:p>
            <a:p>
              <a:pPr algn="ctr"/>
              <a:r>
                <a:rPr lang="zh-CN" altLang="en-US" sz="1400" b="1" i="1">
                  <a:solidFill>
                    <a:srgbClr val="FFFF93"/>
                  </a:solidFill>
                  <a:effectLst>
                    <a:outerShdw blurRad="38100" dist="38100" dir="2700000" algn="tl">
                      <a:srgbClr val="000000"/>
                    </a:outerShdw>
                  </a:effectLst>
                </a:rPr>
                <a:t>健康饮品</a:t>
              </a:r>
              <a:endParaRPr lang="zh-CN" altLang="en-US" sz="1400" b="1" i="1">
                <a:solidFill>
                  <a:srgbClr val="FFFF93"/>
                </a:solidFill>
                <a:effectLst>
                  <a:outerShdw blurRad="38100" dist="38100" dir="2700000" algn="tl">
                    <a:srgbClr val="000000"/>
                  </a:outerShdw>
                </a:effectLst>
              </a:endParaRPr>
            </a:p>
          </p:txBody>
        </p:sp>
      </p:grpSp>
      <p:sp>
        <p:nvSpPr>
          <p:cNvPr id="428247" name="AutoShape 215"/>
          <p:cNvSpPr>
            <a:spLocks noChangeArrowheads="1"/>
          </p:cNvSpPr>
          <p:nvPr/>
        </p:nvSpPr>
        <p:spPr bwMode="auto">
          <a:xfrm>
            <a:off x="5738814" y="5818188"/>
            <a:ext cx="1957387" cy="715962"/>
          </a:xfrm>
          <a:prstGeom prst="cloudCallout">
            <a:avLst>
              <a:gd name="adj1" fmla="val -97528"/>
              <a:gd name="adj2" fmla="val -27162"/>
            </a:avLst>
          </a:prstGeom>
          <a:noFill/>
          <a:ln w="12700">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lang="zh-CN" altLang="en-US">
                <a:solidFill>
                  <a:schemeClr val="accent2"/>
                </a:solidFill>
                <a:effectLst>
                  <a:outerShdw blurRad="38100" dist="38100" dir="2700000" algn="tl">
                    <a:srgbClr val="000000"/>
                  </a:outerShdw>
                </a:effectLst>
              </a:rPr>
              <a:t>双侧检验</a:t>
            </a:r>
            <a:endParaRPr lang="zh-CN" altLang="en-US">
              <a:solidFill>
                <a:schemeClr val="accent2"/>
              </a:solidFill>
              <a:effectLst>
                <a:outerShdw blurRad="38100" dist="38100" dir="2700000" algn="tl">
                  <a:srgbClr val="000000"/>
                </a:outerShdw>
              </a:effectLst>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4450" name="Rectangle 34"/>
          <p:cNvSpPr>
            <a:spLocks noGrp="1" noChangeArrowheads="1"/>
          </p:cNvSpPr>
          <p:nvPr>
            <p:ph type="title"/>
          </p:nvPr>
        </p:nvSpPr>
        <p:spPr>
          <a:noFill/>
        </p:spPr>
        <p:txBody>
          <a:bodyPr>
            <a:normAutofit fontScale="90000"/>
          </a:bodyPr>
          <a:lstStyle/>
          <a:p>
            <a:r>
              <a:rPr lang="zh-CN" altLang="en-US" sz="4000"/>
              <a:t>方差的卡</a:t>
            </a:r>
            <a:r>
              <a:rPr lang="zh-CN" altLang="en-US" sz="4000">
                <a:latin typeface="Arial" panose="020B0604020202090204" pitchFamily="34" charset="0"/>
              </a:rPr>
              <a:t>方 </a:t>
            </a:r>
            <a:r>
              <a:rPr lang="en-US" altLang="zh-CN" sz="4000">
                <a:latin typeface="Arial" panose="020B0604020202090204" pitchFamily="34" charset="0"/>
              </a:rPr>
              <a:t>(</a:t>
            </a:r>
            <a:r>
              <a:rPr lang="en-US" altLang="zh-CN" sz="4000">
                <a:latin typeface="Symbol" panose="05050102010706020507" pitchFamily="18" charset="2"/>
              </a:rPr>
              <a:t></a:t>
            </a:r>
            <a:r>
              <a:rPr lang="en-US" altLang="zh-CN" sz="4000" baseline="30000"/>
              <a:t>2</a:t>
            </a:r>
            <a:r>
              <a:rPr lang="en-US" altLang="zh-CN" sz="4000">
                <a:latin typeface="Arial" panose="020B0604020202090204" pitchFamily="34" charset="0"/>
              </a:rPr>
              <a:t>)</a:t>
            </a:r>
            <a:r>
              <a:rPr lang="en-US" altLang="zh-CN" sz="4000"/>
              <a:t> </a:t>
            </a:r>
            <a:r>
              <a:rPr lang="zh-CN" altLang="en-US" sz="4000"/>
              <a:t>检验</a:t>
            </a:r>
            <a:br>
              <a:rPr lang="zh-CN" altLang="en-US" sz="4000"/>
            </a:b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444451" name="Rectangle 35"/>
          <p:cNvSpPr>
            <a:spLocks noGrp="1" noChangeArrowheads="1"/>
          </p:cNvSpPr>
          <p:nvPr>
            <p:ph type="body" sz="half" idx="1"/>
          </p:nvPr>
        </p:nvSpPr>
        <p:spPr>
          <a:xfrm>
            <a:off x="2114550" y="1733550"/>
            <a:ext cx="3848100" cy="4114800"/>
          </a:xfrm>
          <a:noFill/>
        </p:spPr>
        <p:txBody>
          <a:bodyPr/>
          <a:lstStyle/>
          <a:p>
            <a:pPr marL="0" indent="0"/>
            <a:r>
              <a:rPr lang="en-US" altLang="zh-CN" sz="2800" b="1" dirty="0"/>
              <a:t>H</a:t>
            </a:r>
            <a:r>
              <a:rPr lang="en-US" altLang="zh-CN" sz="2000" b="1" dirty="0"/>
              <a:t>0</a:t>
            </a:r>
            <a:r>
              <a:rPr lang="en-US" altLang="zh-CN" sz="2800" b="1" dirty="0"/>
              <a:t>: </a:t>
            </a:r>
            <a:r>
              <a:rPr lang="en-US" altLang="zh-CN" sz="2800" b="1" dirty="0">
                <a:latin typeface="Symbol" panose="05050102010706020507" pitchFamily="18" charset="2"/>
              </a:rPr>
              <a:t></a:t>
            </a:r>
            <a:r>
              <a:rPr lang="en-US" altLang="zh-CN" sz="2800" b="1" baseline="30000" dirty="0"/>
              <a:t>2</a:t>
            </a:r>
            <a:r>
              <a:rPr lang="en-US" altLang="zh-CN" sz="2800" b="1" dirty="0"/>
              <a:t> = 1</a:t>
            </a:r>
            <a:endParaRPr lang="en-US" altLang="zh-CN" sz="2800" b="1" dirty="0"/>
          </a:p>
          <a:p>
            <a:pPr marL="0" indent="0"/>
            <a:r>
              <a:rPr lang="en-US" altLang="zh-CN" sz="2800" b="1" dirty="0"/>
              <a:t>H</a:t>
            </a:r>
            <a:r>
              <a:rPr lang="en-US" altLang="zh-CN" sz="2000" b="1" dirty="0"/>
              <a:t>1</a:t>
            </a:r>
            <a:r>
              <a:rPr lang="en-US" altLang="zh-CN" sz="2800" b="1" dirty="0"/>
              <a:t>: </a:t>
            </a:r>
            <a:r>
              <a:rPr lang="en-US" altLang="zh-CN" sz="2800" b="1" dirty="0">
                <a:latin typeface="Symbol" panose="05050102010706020507" pitchFamily="18" charset="2"/>
              </a:rPr>
              <a:t></a:t>
            </a:r>
            <a:r>
              <a:rPr lang="en-US" altLang="zh-CN" sz="2800" b="1" baseline="30000" dirty="0"/>
              <a:t>2</a:t>
            </a:r>
            <a:r>
              <a:rPr lang="en-US" altLang="zh-CN" sz="2800" b="1" dirty="0"/>
              <a:t> </a:t>
            </a:r>
            <a:r>
              <a:rPr lang="en-US" altLang="zh-CN" sz="2800" b="1" dirty="0">
                <a:latin typeface="Symbol" panose="05050102010706020507" pitchFamily="18" charset="2"/>
              </a:rPr>
              <a:t></a:t>
            </a:r>
            <a:r>
              <a:rPr lang="en-US" altLang="zh-CN" sz="2800" b="1" dirty="0"/>
              <a:t> 1</a:t>
            </a:r>
            <a:endParaRPr lang="en-US" altLang="zh-CN" sz="2800" b="1" dirty="0"/>
          </a:p>
          <a:p>
            <a:pPr marL="0" indent="0"/>
            <a:r>
              <a:rPr lang="en-US" altLang="zh-CN" sz="2800" b="1" dirty="0">
                <a:latin typeface="Symbol" panose="05050102010706020507" pitchFamily="18" charset="2"/>
              </a:rPr>
              <a:t></a:t>
            </a:r>
            <a:r>
              <a:rPr lang="en-US" altLang="zh-CN" sz="2800" b="1" dirty="0"/>
              <a:t> = 0.05</a:t>
            </a:r>
            <a:endParaRPr lang="en-US" altLang="zh-CN" sz="2800" b="1" dirty="0"/>
          </a:p>
          <a:p>
            <a:pPr marL="0" indent="0"/>
            <a:r>
              <a:rPr lang="en-US" altLang="zh-CN" sz="2800" b="1" dirty="0"/>
              <a:t>df = 25 - 1 = 24</a:t>
            </a:r>
            <a:endParaRPr lang="en-US" altLang="zh-CN" sz="2800" b="1" dirty="0"/>
          </a:p>
          <a:p>
            <a:pPr marL="0" indent="0"/>
            <a:r>
              <a:rPr lang="zh-CN" altLang="en-US" sz="2800" b="1" dirty="0"/>
              <a:t>临界值</a:t>
            </a:r>
            <a:r>
              <a:rPr lang="en-US" altLang="zh-CN" sz="2800" b="1" dirty="0"/>
              <a:t>(s):</a:t>
            </a:r>
            <a:endParaRPr lang="en-US" altLang="zh-CN" sz="2800" b="1" dirty="0"/>
          </a:p>
          <a:p>
            <a:pPr marL="0" indent="0"/>
            <a:endParaRPr lang="en-US" altLang="zh-CN" sz="2800" b="1" dirty="0"/>
          </a:p>
        </p:txBody>
      </p:sp>
      <p:sp>
        <p:nvSpPr>
          <p:cNvPr id="444452" name="Rectangle 36"/>
          <p:cNvSpPr>
            <a:spLocks noChangeArrowheads="1"/>
          </p:cNvSpPr>
          <p:nvPr/>
        </p:nvSpPr>
        <p:spPr bwMode="auto">
          <a:xfrm>
            <a:off x="5734050" y="1828800"/>
            <a:ext cx="2514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latin typeface="Arial" panose="020B0604020202090204" pitchFamily="34" charset="0"/>
              </a:rPr>
              <a:t>统计量</a:t>
            </a:r>
            <a:r>
              <a:rPr lang="en-US" altLang="zh-CN" sz="2800" b="1">
                <a:latin typeface="Arial" panose="020B0604020202090204" pitchFamily="34" charset="0"/>
              </a:rPr>
              <a:t>:</a:t>
            </a:r>
            <a:endParaRPr lang="en-US" altLang="zh-CN" sz="2800" b="1">
              <a:latin typeface="Arial" panose="020B0604020202090204" pitchFamily="34" charset="0"/>
            </a:endParaRPr>
          </a:p>
        </p:txBody>
      </p:sp>
      <p:sp>
        <p:nvSpPr>
          <p:cNvPr id="444453" name="Rectangle 37"/>
          <p:cNvSpPr>
            <a:spLocks noChangeArrowheads="1"/>
          </p:cNvSpPr>
          <p:nvPr/>
        </p:nvSpPr>
        <p:spPr bwMode="auto">
          <a:xfrm>
            <a:off x="5734051" y="4343400"/>
            <a:ext cx="4619625"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altLang="zh-CN" sz="2800">
                <a:effectLst>
                  <a:outerShdw blurRad="38100" dist="38100" dir="2700000" algn="tl">
                    <a:srgbClr val="000000"/>
                  </a:outerShdw>
                </a:effectLst>
              </a:rPr>
              <a:t> </a:t>
            </a:r>
            <a:r>
              <a:rPr lang="zh-CN" altLang="en-US">
                <a:effectLst>
                  <a:outerShdw blurRad="38100" dist="38100" dir="2700000" algn="tl">
                    <a:srgbClr val="000000"/>
                  </a:outerShdw>
                </a:effectLst>
              </a:rPr>
              <a:t>在 </a:t>
            </a:r>
            <a:r>
              <a:rPr lang="zh-CN" altLang="en-US">
                <a:effectLst>
                  <a:outerShdw blurRad="38100" dist="38100" dir="2700000" algn="tl">
                    <a:srgbClr val="000000"/>
                  </a:outerShdw>
                </a:effectLst>
                <a:latin typeface="Symbol" panose="05050102010706020507" pitchFamily="18" charset="2"/>
              </a:rPr>
              <a:t></a:t>
            </a:r>
            <a:r>
              <a:rPr lang="zh-CN" altLang="en-US">
                <a:effectLst>
                  <a:outerShdw blurRad="38100" dist="38100" dir="2700000" algn="tl">
                    <a:srgbClr val="000000"/>
                  </a:outerShdw>
                </a:effectLst>
              </a:rPr>
              <a:t> </a:t>
            </a:r>
            <a:r>
              <a:rPr lang="en-US" altLang="zh-CN">
                <a:effectLst>
                  <a:outerShdw blurRad="38100" dist="38100" dir="2700000" algn="tl">
                    <a:srgbClr val="000000"/>
                  </a:outerShdw>
                </a:effectLst>
              </a:rPr>
              <a:t>= 0.05</a:t>
            </a:r>
            <a:r>
              <a:rPr lang="zh-CN" altLang="en-US">
                <a:effectLst>
                  <a:outerShdw blurRad="38100" dist="38100" dir="2700000" algn="tl">
                    <a:srgbClr val="000000"/>
                  </a:outerShdw>
                </a:effectLst>
              </a:rPr>
              <a:t>的水平上不拒绝</a:t>
            </a:r>
            <a:r>
              <a:rPr lang="en-US" altLang="zh-CN">
                <a:effectLst>
                  <a:outerShdw blurRad="38100" dist="38100" dir="2700000" algn="tl">
                    <a:srgbClr val="000000"/>
                  </a:outerShdw>
                </a:effectLst>
              </a:rPr>
              <a:t>H</a:t>
            </a:r>
            <a:r>
              <a:rPr lang="en-US" altLang="zh-CN" baseline="-25000">
                <a:effectLst>
                  <a:outerShdw blurRad="38100" dist="38100" dir="2700000" algn="tl">
                    <a:srgbClr val="000000"/>
                  </a:outerShdw>
                </a:effectLst>
              </a:rPr>
              <a:t>0</a:t>
            </a:r>
            <a:endParaRPr lang="en-US" altLang="zh-CN">
              <a:effectLst>
                <a:outerShdw blurRad="38100" dist="38100" dir="2700000" algn="tl">
                  <a:srgbClr val="000000"/>
                </a:outerShdw>
              </a:effectLst>
            </a:endParaRPr>
          </a:p>
        </p:txBody>
      </p:sp>
      <p:sp>
        <p:nvSpPr>
          <p:cNvPr id="444454" name="Rectangle 38"/>
          <p:cNvSpPr>
            <a:spLocks noChangeArrowheads="1"/>
          </p:cNvSpPr>
          <p:nvPr/>
        </p:nvSpPr>
        <p:spPr bwMode="auto">
          <a:xfrm>
            <a:off x="5810251" y="5410201"/>
            <a:ext cx="435292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zh-CN" altLang="en-US">
                <a:effectLst>
                  <a:outerShdw blurRad="38100" dist="38100" dir="2700000" algn="tl">
                    <a:srgbClr val="000000"/>
                  </a:outerShdw>
                </a:effectLst>
                <a:latin typeface="Times New Roman" panose="02020603050405020304" pitchFamily="18" charset="0"/>
              </a:rPr>
              <a:t>不能认为该机器的性能未达到设计要求</a:t>
            </a:r>
            <a:r>
              <a:rPr lang="zh-CN" altLang="en-US">
                <a:effectLst>
                  <a:outerShdw blurRad="38100" dist="38100" dir="2700000" algn="tl">
                    <a:srgbClr val="000000"/>
                  </a:outerShdw>
                </a:effectLst>
              </a:rPr>
              <a:t> </a:t>
            </a:r>
            <a:endParaRPr lang="zh-CN" altLang="en-US">
              <a:effectLst>
                <a:outerShdw blurRad="38100" dist="38100" dir="2700000" algn="tl">
                  <a:srgbClr val="000000"/>
                </a:outerShdw>
              </a:effectLst>
            </a:endParaRPr>
          </a:p>
        </p:txBody>
      </p:sp>
      <p:grpSp>
        <p:nvGrpSpPr>
          <p:cNvPr id="444500" name="Group 84"/>
          <p:cNvGrpSpPr/>
          <p:nvPr/>
        </p:nvGrpSpPr>
        <p:grpSpPr bwMode="auto">
          <a:xfrm>
            <a:off x="2141539" y="4275138"/>
            <a:ext cx="3425825" cy="2027119"/>
            <a:chOff x="389" y="2669"/>
            <a:chExt cx="2158" cy="1301"/>
          </a:xfrm>
        </p:grpSpPr>
        <p:sp>
          <p:nvSpPr>
            <p:cNvPr id="444418" name="Freeform 2" descr="60%"/>
            <p:cNvSpPr/>
            <p:nvPr/>
          </p:nvSpPr>
          <p:spPr bwMode="auto">
            <a:xfrm>
              <a:off x="531" y="3247"/>
              <a:ext cx="208" cy="387"/>
            </a:xfrm>
            <a:custGeom>
              <a:avLst/>
              <a:gdLst>
                <a:gd name="T0" fmla="*/ 0 w 208"/>
                <a:gd name="T1" fmla="*/ 378 h 387"/>
                <a:gd name="T2" fmla="*/ 69 w 208"/>
                <a:gd name="T3" fmla="*/ 325 h 387"/>
                <a:gd name="T4" fmla="*/ 113 w 208"/>
                <a:gd name="T5" fmla="*/ 261 h 387"/>
                <a:gd name="T6" fmla="*/ 148 w 208"/>
                <a:gd name="T7" fmla="*/ 181 h 387"/>
                <a:gd name="T8" fmla="*/ 182 w 208"/>
                <a:gd name="T9" fmla="*/ 71 h 387"/>
                <a:gd name="T10" fmla="*/ 207 w 208"/>
                <a:gd name="T11" fmla="*/ 0 h 387"/>
                <a:gd name="T12" fmla="*/ 207 w 208"/>
                <a:gd name="T13" fmla="*/ 386 h 387"/>
                <a:gd name="T14" fmla="*/ 0 w 208"/>
                <a:gd name="T15" fmla="*/ 386 h 387"/>
                <a:gd name="T16" fmla="*/ 0 w 208"/>
                <a:gd name="T17" fmla="*/ 378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8" h="387">
                  <a:moveTo>
                    <a:pt x="0" y="378"/>
                  </a:moveTo>
                  <a:lnTo>
                    <a:pt x="69" y="325"/>
                  </a:lnTo>
                  <a:lnTo>
                    <a:pt x="113" y="261"/>
                  </a:lnTo>
                  <a:lnTo>
                    <a:pt x="148" y="181"/>
                  </a:lnTo>
                  <a:lnTo>
                    <a:pt x="182" y="71"/>
                  </a:lnTo>
                  <a:lnTo>
                    <a:pt x="207" y="0"/>
                  </a:lnTo>
                  <a:lnTo>
                    <a:pt x="207" y="386"/>
                  </a:lnTo>
                  <a:lnTo>
                    <a:pt x="0" y="386"/>
                  </a:lnTo>
                  <a:lnTo>
                    <a:pt x="0" y="378"/>
                  </a:lnTo>
                </a:path>
              </a:pathLst>
            </a:custGeom>
            <a:pattFill prst="pct60">
              <a:fgClr>
                <a:schemeClr val="hlink"/>
              </a:fgClr>
              <a:bgClr>
                <a:srgbClr val="FFFFFF"/>
              </a:bgClr>
            </a:pattFill>
            <a:ln w="12700" cap="rnd" cmpd="sng">
              <a:solidFill>
                <a:srgbClr val="000000"/>
              </a:solidFill>
              <a:prstDash val="solid"/>
              <a:round/>
              <a:headEnd type="none" w="med" len="med"/>
              <a:tailEnd type="none" w="med" len="med"/>
            </a:ln>
            <a:effectLst>
              <a:outerShdw dist="35921" dir="2700000" algn="ctr" rotWithShape="0">
                <a:schemeClr val="bg2"/>
              </a:outerShdw>
            </a:effectLst>
          </p:spPr>
          <p:txBody>
            <a:bodyPr/>
            <a:lstStyle/>
            <a:p>
              <a:endParaRPr lang="zh-CN" altLang="en-US"/>
            </a:p>
          </p:txBody>
        </p:sp>
        <p:sp>
          <p:nvSpPr>
            <p:cNvPr id="444419" name="Freeform 3" descr="60%"/>
            <p:cNvSpPr/>
            <p:nvPr/>
          </p:nvSpPr>
          <p:spPr bwMode="auto">
            <a:xfrm>
              <a:off x="1692" y="3430"/>
              <a:ext cx="472" cy="204"/>
            </a:xfrm>
            <a:custGeom>
              <a:avLst/>
              <a:gdLst>
                <a:gd name="T0" fmla="*/ 423 w 424"/>
                <a:gd name="T1" fmla="*/ 204 h 216"/>
                <a:gd name="T2" fmla="*/ 279 w 424"/>
                <a:gd name="T3" fmla="*/ 154 h 216"/>
                <a:gd name="T4" fmla="*/ 244 w 424"/>
                <a:gd name="T5" fmla="*/ 140 h 216"/>
                <a:gd name="T6" fmla="*/ 212 w 424"/>
                <a:gd name="T7" fmla="*/ 125 h 216"/>
                <a:gd name="T8" fmla="*/ 181 w 424"/>
                <a:gd name="T9" fmla="*/ 108 h 216"/>
                <a:gd name="T10" fmla="*/ 98 w 424"/>
                <a:gd name="T11" fmla="*/ 71 h 216"/>
                <a:gd name="T12" fmla="*/ 54 w 424"/>
                <a:gd name="T13" fmla="*/ 42 h 216"/>
                <a:gd name="T14" fmla="*/ 0 w 424"/>
                <a:gd name="T15" fmla="*/ 0 h 216"/>
                <a:gd name="T16" fmla="*/ 0 w 424"/>
                <a:gd name="T17" fmla="*/ 215 h 216"/>
                <a:gd name="T18" fmla="*/ 423 w 424"/>
                <a:gd name="T19" fmla="*/ 209 h 216"/>
                <a:gd name="T20" fmla="*/ 423 w 424"/>
                <a:gd name="T21" fmla="*/ 20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4" h="216">
                  <a:moveTo>
                    <a:pt x="423" y="204"/>
                  </a:moveTo>
                  <a:lnTo>
                    <a:pt x="279" y="154"/>
                  </a:lnTo>
                  <a:lnTo>
                    <a:pt x="244" y="140"/>
                  </a:lnTo>
                  <a:lnTo>
                    <a:pt x="212" y="125"/>
                  </a:lnTo>
                  <a:lnTo>
                    <a:pt x="181" y="108"/>
                  </a:lnTo>
                  <a:lnTo>
                    <a:pt x="98" y="71"/>
                  </a:lnTo>
                  <a:lnTo>
                    <a:pt x="54" y="42"/>
                  </a:lnTo>
                  <a:lnTo>
                    <a:pt x="0" y="0"/>
                  </a:lnTo>
                  <a:lnTo>
                    <a:pt x="0" y="215"/>
                  </a:lnTo>
                  <a:lnTo>
                    <a:pt x="423" y="209"/>
                  </a:lnTo>
                  <a:lnTo>
                    <a:pt x="423" y="204"/>
                  </a:lnTo>
                </a:path>
              </a:pathLst>
            </a:custGeom>
            <a:pattFill prst="pct60">
              <a:fgClr>
                <a:schemeClr val="hlink"/>
              </a:fgClr>
              <a:bgClr>
                <a:srgbClr val="FFFFFF"/>
              </a:bgClr>
            </a:pattFill>
            <a:ln w="12700" cap="rnd" cmpd="sng">
              <a:solidFill>
                <a:srgbClr val="000000"/>
              </a:solidFill>
              <a:prstDash val="solid"/>
              <a:round/>
              <a:headEnd type="none" w="med" len="med"/>
              <a:tailEnd type="none" w="med" len="med"/>
            </a:ln>
            <a:effectLst>
              <a:outerShdw dist="35921" dir="2700000" algn="ctr" rotWithShape="0">
                <a:schemeClr val="bg2"/>
              </a:outerShdw>
            </a:effectLst>
          </p:spPr>
          <p:txBody>
            <a:bodyPr/>
            <a:lstStyle/>
            <a:p>
              <a:endParaRPr lang="zh-CN" altLang="en-US"/>
            </a:p>
          </p:txBody>
        </p:sp>
        <p:sp>
          <p:nvSpPr>
            <p:cNvPr id="444420" name="Freeform 4"/>
            <p:cNvSpPr/>
            <p:nvPr/>
          </p:nvSpPr>
          <p:spPr bwMode="auto">
            <a:xfrm>
              <a:off x="892" y="2733"/>
              <a:ext cx="1481" cy="901"/>
            </a:xfrm>
            <a:custGeom>
              <a:avLst/>
              <a:gdLst>
                <a:gd name="T0" fmla="*/ 1480 w 1481"/>
                <a:gd name="T1" fmla="*/ 900 h 901"/>
                <a:gd name="T2" fmla="*/ 1325 w 1481"/>
                <a:gd name="T3" fmla="*/ 891 h 901"/>
                <a:gd name="T4" fmla="*/ 1246 w 1481"/>
                <a:gd name="T5" fmla="*/ 879 h 901"/>
                <a:gd name="T6" fmla="*/ 1169 w 1481"/>
                <a:gd name="T7" fmla="*/ 866 h 901"/>
                <a:gd name="T8" fmla="*/ 1090 w 1481"/>
                <a:gd name="T9" fmla="*/ 844 h 901"/>
                <a:gd name="T10" fmla="*/ 1013 w 1481"/>
                <a:gd name="T11" fmla="*/ 816 h 901"/>
                <a:gd name="T12" fmla="*/ 935 w 1481"/>
                <a:gd name="T13" fmla="*/ 779 h 901"/>
                <a:gd name="T14" fmla="*/ 779 w 1481"/>
                <a:gd name="T15" fmla="*/ 676 h 901"/>
                <a:gd name="T16" fmla="*/ 624 w 1481"/>
                <a:gd name="T17" fmla="*/ 528 h 901"/>
                <a:gd name="T18" fmla="*/ 466 w 1481"/>
                <a:gd name="T19" fmla="*/ 351 h 901"/>
                <a:gd name="T20" fmla="*/ 389 w 1481"/>
                <a:gd name="T21" fmla="*/ 261 h 901"/>
                <a:gd name="T22" fmla="*/ 311 w 1481"/>
                <a:gd name="T23" fmla="*/ 178 h 901"/>
                <a:gd name="T24" fmla="*/ 234 w 1481"/>
                <a:gd name="T25" fmla="*/ 105 h 901"/>
                <a:gd name="T26" fmla="*/ 155 w 1481"/>
                <a:gd name="T27" fmla="*/ 48 h 901"/>
                <a:gd name="T28" fmla="*/ 76 w 1481"/>
                <a:gd name="T29" fmla="*/ 11 h 901"/>
                <a:gd name="T30" fmla="*/ 0 w 1481"/>
                <a:gd name="T31" fmla="*/ 0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81" h="901">
                  <a:moveTo>
                    <a:pt x="1480" y="900"/>
                  </a:moveTo>
                  <a:lnTo>
                    <a:pt x="1325" y="891"/>
                  </a:lnTo>
                  <a:lnTo>
                    <a:pt x="1246" y="879"/>
                  </a:lnTo>
                  <a:lnTo>
                    <a:pt x="1169" y="866"/>
                  </a:lnTo>
                  <a:lnTo>
                    <a:pt x="1090" y="844"/>
                  </a:lnTo>
                  <a:lnTo>
                    <a:pt x="1013" y="816"/>
                  </a:lnTo>
                  <a:lnTo>
                    <a:pt x="935" y="779"/>
                  </a:lnTo>
                  <a:lnTo>
                    <a:pt x="779" y="676"/>
                  </a:lnTo>
                  <a:lnTo>
                    <a:pt x="624" y="528"/>
                  </a:lnTo>
                  <a:lnTo>
                    <a:pt x="466" y="351"/>
                  </a:lnTo>
                  <a:lnTo>
                    <a:pt x="389" y="261"/>
                  </a:lnTo>
                  <a:lnTo>
                    <a:pt x="311" y="178"/>
                  </a:lnTo>
                  <a:lnTo>
                    <a:pt x="234" y="105"/>
                  </a:lnTo>
                  <a:lnTo>
                    <a:pt x="155" y="48"/>
                  </a:lnTo>
                  <a:lnTo>
                    <a:pt x="76" y="11"/>
                  </a:lnTo>
                  <a:lnTo>
                    <a:pt x="0" y="0"/>
                  </a:lnTo>
                </a:path>
              </a:pathLst>
            </a:custGeom>
            <a:noFill/>
            <a:ln w="50800" cap="rnd" cmpd="sng">
              <a:solidFill>
                <a:srgbClr val="FF0000"/>
              </a:solidFill>
              <a:prstDash val="solid"/>
              <a:round/>
              <a:headEnd type="none" w="med" len="med"/>
              <a:tailEnd type="non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zh-CN" altLang="en-US"/>
            </a:p>
          </p:txBody>
        </p:sp>
        <p:sp>
          <p:nvSpPr>
            <p:cNvPr id="444421" name="Freeform 5"/>
            <p:cNvSpPr/>
            <p:nvPr/>
          </p:nvSpPr>
          <p:spPr bwMode="auto">
            <a:xfrm>
              <a:off x="500" y="2733"/>
              <a:ext cx="393" cy="901"/>
            </a:xfrm>
            <a:custGeom>
              <a:avLst/>
              <a:gdLst>
                <a:gd name="T0" fmla="*/ 0 w 393"/>
                <a:gd name="T1" fmla="*/ 900 h 901"/>
                <a:gd name="T2" fmla="*/ 42 w 393"/>
                <a:gd name="T3" fmla="*/ 891 h 901"/>
                <a:gd name="T4" fmla="*/ 61 w 393"/>
                <a:gd name="T5" fmla="*/ 879 h 901"/>
                <a:gd name="T6" fmla="*/ 82 w 393"/>
                <a:gd name="T7" fmla="*/ 866 h 901"/>
                <a:gd name="T8" fmla="*/ 104 w 393"/>
                <a:gd name="T9" fmla="*/ 844 h 901"/>
                <a:gd name="T10" fmla="*/ 123 w 393"/>
                <a:gd name="T11" fmla="*/ 816 h 901"/>
                <a:gd name="T12" fmla="*/ 144 w 393"/>
                <a:gd name="T13" fmla="*/ 779 h 901"/>
                <a:gd name="T14" fmla="*/ 186 w 393"/>
                <a:gd name="T15" fmla="*/ 676 h 901"/>
                <a:gd name="T16" fmla="*/ 227 w 393"/>
                <a:gd name="T17" fmla="*/ 528 h 901"/>
                <a:gd name="T18" fmla="*/ 267 w 393"/>
                <a:gd name="T19" fmla="*/ 351 h 901"/>
                <a:gd name="T20" fmla="*/ 288 w 393"/>
                <a:gd name="T21" fmla="*/ 261 h 901"/>
                <a:gd name="T22" fmla="*/ 309 w 393"/>
                <a:gd name="T23" fmla="*/ 178 h 901"/>
                <a:gd name="T24" fmla="*/ 330 w 393"/>
                <a:gd name="T25" fmla="*/ 105 h 901"/>
                <a:gd name="T26" fmla="*/ 349 w 393"/>
                <a:gd name="T27" fmla="*/ 48 h 901"/>
                <a:gd name="T28" fmla="*/ 371 w 393"/>
                <a:gd name="T29" fmla="*/ 11 h 901"/>
                <a:gd name="T30" fmla="*/ 392 w 393"/>
                <a:gd name="T31" fmla="*/ 0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3" h="901">
                  <a:moveTo>
                    <a:pt x="0" y="900"/>
                  </a:moveTo>
                  <a:lnTo>
                    <a:pt x="42" y="891"/>
                  </a:lnTo>
                  <a:lnTo>
                    <a:pt x="61" y="879"/>
                  </a:lnTo>
                  <a:lnTo>
                    <a:pt x="82" y="866"/>
                  </a:lnTo>
                  <a:lnTo>
                    <a:pt x="104" y="844"/>
                  </a:lnTo>
                  <a:lnTo>
                    <a:pt x="123" y="816"/>
                  </a:lnTo>
                  <a:lnTo>
                    <a:pt x="144" y="779"/>
                  </a:lnTo>
                  <a:lnTo>
                    <a:pt x="186" y="676"/>
                  </a:lnTo>
                  <a:lnTo>
                    <a:pt x="227" y="528"/>
                  </a:lnTo>
                  <a:lnTo>
                    <a:pt x="267" y="351"/>
                  </a:lnTo>
                  <a:lnTo>
                    <a:pt x="288" y="261"/>
                  </a:lnTo>
                  <a:lnTo>
                    <a:pt x="309" y="178"/>
                  </a:lnTo>
                  <a:lnTo>
                    <a:pt x="330" y="105"/>
                  </a:lnTo>
                  <a:lnTo>
                    <a:pt x="349" y="48"/>
                  </a:lnTo>
                  <a:lnTo>
                    <a:pt x="371" y="11"/>
                  </a:lnTo>
                  <a:lnTo>
                    <a:pt x="392" y="0"/>
                  </a:lnTo>
                </a:path>
              </a:pathLst>
            </a:custGeom>
            <a:noFill/>
            <a:ln w="50800" cap="rnd" cmpd="sng">
              <a:solidFill>
                <a:srgbClr val="FF0000"/>
              </a:solidFill>
              <a:prstDash val="solid"/>
              <a:round/>
              <a:headEnd type="none" w="med" len="med"/>
              <a:tailEnd type="non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zh-CN" altLang="en-US"/>
            </a:p>
          </p:txBody>
        </p:sp>
        <p:sp>
          <p:nvSpPr>
            <p:cNvPr id="444422" name="Freeform 6"/>
            <p:cNvSpPr/>
            <p:nvPr/>
          </p:nvSpPr>
          <p:spPr bwMode="auto">
            <a:xfrm>
              <a:off x="500" y="2669"/>
              <a:ext cx="1873" cy="965"/>
            </a:xfrm>
            <a:custGeom>
              <a:avLst/>
              <a:gdLst>
                <a:gd name="T0" fmla="*/ 0 w 1873"/>
                <a:gd name="T1" fmla="*/ 0 h 965"/>
                <a:gd name="T2" fmla="*/ 0 w 1873"/>
                <a:gd name="T3" fmla="*/ 964 h 965"/>
                <a:gd name="T4" fmla="*/ 1872 w 1873"/>
                <a:gd name="T5" fmla="*/ 964 h 965"/>
              </a:gdLst>
              <a:ahLst/>
              <a:cxnLst>
                <a:cxn ang="0">
                  <a:pos x="T0" y="T1"/>
                </a:cxn>
                <a:cxn ang="0">
                  <a:pos x="T2" y="T3"/>
                </a:cxn>
                <a:cxn ang="0">
                  <a:pos x="T4" y="T5"/>
                </a:cxn>
              </a:cxnLst>
              <a:rect l="0" t="0" r="r" b="b"/>
              <a:pathLst>
                <a:path w="1873" h="965">
                  <a:moveTo>
                    <a:pt x="0" y="0"/>
                  </a:moveTo>
                  <a:lnTo>
                    <a:pt x="0" y="964"/>
                  </a:lnTo>
                  <a:lnTo>
                    <a:pt x="1872" y="964"/>
                  </a:lnTo>
                </a:path>
              </a:pathLst>
            </a:custGeom>
            <a:noFill/>
            <a:ln w="25400" cap="rnd" cmpd="sng">
              <a:solidFill>
                <a:schemeClr val="tx1"/>
              </a:solidFill>
              <a:prstDash val="solid"/>
              <a:round/>
              <a:headEnd type="none" w="med" len="med"/>
              <a:tailEnd type="non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zh-CN" altLang="en-US"/>
            </a:p>
          </p:txBody>
        </p:sp>
        <p:sp>
          <p:nvSpPr>
            <p:cNvPr id="444433" name="Line 17"/>
            <p:cNvSpPr>
              <a:spLocks noChangeShapeType="1"/>
            </p:cNvSpPr>
            <p:nvPr/>
          </p:nvSpPr>
          <p:spPr bwMode="auto">
            <a:xfrm>
              <a:off x="2372" y="3633"/>
              <a:ext cx="0" cy="14"/>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34" name="Line 18"/>
            <p:cNvSpPr>
              <a:spLocks noChangeShapeType="1"/>
            </p:cNvSpPr>
            <p:nvPr/>
          </p:nvSpPr>
          <p:spPr bwMode="auto">
            <a:xfrm>
              <a:off x="2186" y="3633"/>
              <a:ext cx="0" cy="14"/>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35" name="Line 19"/>
            <p:cNvSpPr>
              <a:spLocks noChangeShapeType="1"/>
            </p:cNvSpPr>
            <p:nvPr/>
          </p:nvSpPr>
          <p:spPr bwMode="auto">
            <a:xfrm>
              <a:off x="1998" y="3633"/>
              <a:ext cx="0" cy="14"/>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36" name="Line 20"/>
            <p:cNvSpPr>
              <a:spLocks noChangeShapeType="1"/>
            </p:cNvSpPr>
            <p:nvPr/>
          </p:nvSpPr>
          <p:spPr bwMode="auto">
            <a:xfrm>
              <a:off x="1811" y="3633"/>
              <a:ext cx="0" cy="14"/>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37" name="Line 21"/>
            <p:cNvSpPr>
              <a:spLocks noChangeShapeType="1"/>
            </p:cNvSpPr>
            <p:nvPr/>
          </p:nvSpPr>
          <p:spPr bwMode="auto">
            <a:xfrm>
              <a:off x="1623" y="3633"/>
              <a:ext cx="0" cy="14"/>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38" name="Line 22"/>
            <p:cNvSpPr>
              <a:spLocks noChangeShapeType="1"/>
            </p:cNvSpPr>
            <p:nvPr/>
          </p:nvSpPr>
          <p:spPr bwMode="auto">
            <a:xfrm>
              <a:off x="1437" y="3633"/>
              <a:ext cx="0" cy="14"/>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39" name="Line 23"/>
            <p:cNvSpPr>
              <a:spLocks noChangeShapeType="1"/>
            </p:cNvSpPr>
            <p:nvPr/>
          </p:nvSpPr>
          <p:spPr bwMode="auto">
            <a:xfrm>
              <a:off x="1249" y="3633"/>
              <a:ext cx="0" cy="14"/>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40" name="Line 24"/>
            <p:cNvSpPr>
              <a:spLocks noChangeShapeType="1"/>
            </p:cNvSpPr>
            <p:nvPr/>
          </p:nvSpPr>
          <p:spPr bwMode="auto">
            <a:xfrm>
              <a:off x="1063" y="3633"/>
              <a:ext cx="0" cy="14"/>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41" name="Line 25"/>
            <p:cNvSpPr>
              <a:spLocks noChangeShapeType="1"/>
            </p:cNvSpPr>
            <p:nvPr/>
          </p:nvSpPr>
          <p:spPr bwMode="auto">
            <a:xfrm>
              <a:off x="874" y="3633"/>
              <a:ext cx="0" cy="14"/>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44499" name="Group 83"/>
            <p:cNvGrpSpPr/>
            <p:nvPr/>
          </p:nvGrpSpPr>
          <p:grpSpPr bwMode="auto">
            <a:xfrm>
              <a:off x="485" y="2669"/>
              <a:ext cx="203" cy="978"/>
              <a:chOff x="485" y="2669"/>
              <a:chExt cx="203" cy="978"/>
            </a:xfrm>
          </p:grpSpPr>
          <p:sp>
            <p:nvSpPr>
              <p:cNvPr id="444423" name="Line 7"/>
              <p:cNvSpPr>
                <a:spLocks noChangeShapeType="1"/>
              </p:cNvSpPr>
              <p:nvPr/>
            </p:nvSpPr>
            <p:spPr bwMode="auto">
              <a:xfrm>
                <a:off x="485" y="2669"/>
                <a:ext cx="7" cy="0"/>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24" name="Line 8"/>
              <p:cNvSpPr>
                <a:spLocks noChangeShapeType="1"/>
              </p:cNvSpPr>
              <p:nvPr/>
            </p:nvSpPr>
            <p:spPr bwMode="auto">
              <a:xfrm>
                <a:off x="485" y="2765"/>
                <a:ext cx="7" cy="0"/>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25" name="Line 9"/>
              <p:cNvSpPr>
                <a:spLocks noChangeShapeType="1"/>
              </p:cNvSpPr>
              <p:nvPr/>
            </p:nvSpPr>
            <p:spPr bwMode="auto">
              <a:xfrm>
                <a:off x="485" y="2861"/>
                <a:ext cx="7" cy="0"/>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26" name="Line 10"/>
              <p:cNvSpPr>
                <a:spLocks noChangeShapeType="1"/>
              </p:cNvSpPr>
              <p:nvPr/>
            </p:nvSpPr>
            <p:spPr bwMode="auto">
              <a:xfrm>
                <a:off x="485" y="2957"/>
                <a:ext cx="7" cy="0"/>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27" name="Line 11"/>
              <p:cNvSpPr>
                <a:spLocks noChangeShapeType="1"/>
              </p:cNvSpPr>
              <p:nvPr/>
            </p:nvSpPr>
            <p:spPr bwMode="auto">
              <a:xfrm>
                <a:off x="485" y="3055"/>
                <a:ext cx="7" cy="0"/>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28" name="Line 12"/>
              <p:cNvSpPr>
                <a:spLocks noChangeShapeType="1"/>
              </p:cNvSpPr>
              <p:nvPr/>
            </p:nvSpPr>
            <p:spPr bwMode="auto">
              <a:xfrm>
                <a:off x="485" y="3151"/>
                <a:ext cx="7" cy="0"/>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29" name="Line 13"/>
              <p:cNvSpPr>
                <a:spLocks noChangeShapeType="1"/>
              </p:cNvSpPr>
              <p:nvPr/>
            </p:nvSpPr>
            <p:spPr bwMode="auto">
              <a:xfrm>
                <a:off x="485" y="3247"/>
                <a:ext cx="7" cy="0"/>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30" name="Line 14"/>
              <p:cNvSpPr>
                <a:spLocks noChangeShapeType="1"/>
              </p:cNvSpPr>
              <p:nvPr/>
            </p:nvSpPr>
            <p:spPr bwMode="auto">
              <a:xfrm>
                <a:off x="485" y="3345"/>
                <a:ext cx="7" cy="0"/>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31" name="Line 15"/>
              <p:cNvSpPr>
                <a:spLocks noChangeShapeType="1"/>
              </p:cNvSpPr>
              <p:nvPr/>
            </p:nvSpPr>
            <p:spPr bwMode="auto">
              <a:xfrm>
                <a:off x="485" y="3441"/>
                <a:ext cx="7" cy="0"/>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32" name="Line 16"/>
              <p:cNvSpPr>
                <a:spLocks noChangeShapeType="1"/>
              </p:cNvSpPr>
              <p:nvPr/>
            </p:nvSpPr>
            <p:spPr bwMode="auto">
              <a:xfrm>
                <a:off x="485" y="3537"/>
                <a:ext cx="7" cy="0"/>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42" name="Line 26"/>
              <p:cNvSpPr>
                <a:spLocks noChangeShapeType="1"/>
              </p:cNvSpPr>
              <p:nvPr/>
            </p:nvSpPr>
            <p:spPr bwMode="auto">
              <a:xfrm>
                <a:off x="688" y="3633"/>
                <a:ext cx="0" cy="14"/>
              </a:xfrm>
              <a:prstGeom prst="line">
                <a:avLst/>
              </a:prstGeom>
              <a:noFill/>
              <a:ln w="25400">
                <a:solidFill>
                  <a:srgbClr val="CDCDCD"/>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44444" name="Rectangle 28"/>
            <p:cNvSpPr>
              <a:spLocks noChangeArrowheads="1"/>
            </p:cNvSpPr>
            <p:nvPr/>
          </p:nvSpPr>
          <p:spPr bwMode="auto">
            <a:xfrm>
              <a:off x="2088" y="3616"/>
              <a:ext cx="248" cy="354"/>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90488" tIns="44450" rIns="90488" bIns="44450">
              <a:spAutoFit/>
            </a:bodyPr>
            <a:lstStyle/>
            <a:p>
              <a:pPr>
                <a:spcBef>
                  <a:spcPct val="0"/>
                </a:spcBef>
              </a:pPr>
              <a:r>
                <a:rPr lang="en-US" altLang="zh-CN" sz="3000" b="1">
                  <a:effectLst>
                    <a:outerShdw blurRad="38100" dist="38100" dir="2700000" algn="tl">
                      <a:srgbClr val="000000"/>
                    </a:outerShdw>
                  </a:effectLst>
                  <a:latin typeface="Symbol" panose="05050102010706020507" pitchFamily="18" charset="2"/>
                </a:rPr>
                <a:t></a:t>
              </a:r>
              <a:endParaRPr lang="en-US" altLang="zh-CN" sz="3000" b="1">
                <a:effectLst>
                  <a:outerShdw blurRad="38100" dist="38100" dir="2700000" algn="tl">
                    <a:srgbClr val="000000"/>
                  </a:outerShdw>
                </a:effectLst>
                <a:latin typeface="Symbol" panose="05050102010706020507" pitchFamily="18" charset="2"/>
              </a:endParaRPr>
            </a:p>
          </p:txBody>
        </p:sp>
        <p:sp>
          <p:nvSpPr>
            <p:cNvPr id="444445" name="Rectangle 29"/>
            <p:cNvSpPr>
              <a:spLocks noChangeArrowheads="1"/>
            </p:cNvSpPr>
            <p:nvPr/>
          </p:nvSpPr>
          <p:spPr bwMode="auto">
            <a:xfrm>
              <a:off x="2223" y="3609"/>
              <a:ext cx="203" cy="253"/>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90488" tIns="44450" rIns="90488" bIns="44450">
              <a:spAutoFit/>
            </a:bodyPr>
            <a:lstStyle/>
            <a:p>
              <a:pPr>
                <a:spcBef>
                  <a:spcPct val="0"/>
                </a:spcBef>
              </a:pPr>
              <a:r>
                <a:rPr lang="en-US" altLang="zh-CN" sz="2000" b="1">
                  <a:effectLst>
                    <a:outerShdw blurRad="38100" dist="38100" dir="2700000" algn="tl">
                      <a:srgbClr val="000000"/>
                    </a:outerShdw>
                  </a:effectLst>
                </a:rPr>
                <a:t>2</a:t>
              </a:r>
              <a:endParaRPr lang="en-US" altLang="zh-CN" sz="2000" b="1">
                <a:effectLst>
                  <a:outerShdw blurRad="38100" dist="38100" dir="2700000" algn="tl">
                    <a:srgbClr val="000000"/>
                  </a:outerShdw>
                </a:effectLst>
              </a:endParaRPr>
            </a:p>
          </p:txBody>
        </p:sp>
        <p:sp>
          <p:nvSpPr>
            <p:cNvPr id="444446" name="Rectangle 30"/>
            <p:cNvSpPr>
              <a:spLocks noChangeArrowheads="1"/>
            </p:cNvSpPr>
            <p:nvPr/>
          </p:nvSpPr>
          <p:spPr bwMode="auto">
            <a:xfrm>
              <a:off x="2314" y="3756"/>
              <a:ext cx="116" cy="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4447" name="Rectangle 31"/>
            <p:cNvSpPr>
              <a:spLocks noChangeArrowheads="1"/>
            </p:cNvSpPr>
            <p:nvPr/>
          </p:nvSpPr>
          <p:spPr bwMode="auto">
            <a:xfrm>
              <a:off x="389" y="3657"/>
              <a:ext cx="192" cy="23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90488" tIns="44450" rIns="90488" bIns="44450">
              <a:spAutoFit/>
            </a:bodyPr>
            <a:lstStyle/>
            <a:p>
              <a:pPr>
                <a:spcBef>
                  <a:spcPct val="0"/>
                </a:spcBef>
              </a:pPr>
              <a:r>
                <a:rPr lang="en-US" altLang="zh-CN" b="1">
                  <a:effectLst>
                    <a:outerShdw blurRad="38100" dist="38100" dir="2700000" algn="tl">
                      <a:srgbClr val="000000"/>
                    </a:outerShdw>
                  </a:effectLst>
                </a:rPr>
                <a:t>0</a:t>
              </a:r>
              <a:endParaRPr lang="en-US" altLang="zh-CN" b="1">
                <a:effectLst>
                  <a:outerShdw blurRad="38100" dist="38100" dir="2700000" algn="tl">
                    <a:srgbClr val="000000"/>
                  </a:outerShdw>
                </a:effectLst>
              </a:endParaRPr>
            </a:p>
          </p:txBody>
        </p:sp>
        <p:sp>
          <p:nvSpPr>
            <p:cNvPr id="444448" name="Rectangle 32"/>
            <p:cNvSpPr>
              <a:spLocks noChangeArrowheads="1"/>
            </p:cNvSpPr>
            <p:nvPr/>
          </p:nvSpPr>
          <p:spPr bwMode="auto">
            <a:xfrm>
              <a:off x="1345" y="3657"/>
              <a:ext cx="459" cy="23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90488" tIns="44450" rIns="90488" bIns="44450">
              <a:spAutoFit/>
            </a:bodyPr>
            <a:lstStyle/>
            <a:p>
              <a:pPr>
                <a:spcBef>
                  <a:spcPct val="0"/>
                </a:spcBef>
              </a:pPr>
              <a:r>
                <a:rPr lang="en-US" altLang="zh-CN" b="1">
                  <a:solidFill>
                    <a:srgbClr val="00FFFF"/>
                  </a:solidFill>
                  <a:effectLst>
                    <a:outerShdw blurRad="38100" dist="38100" dir="2700000" algn="tl">
                      <a:srgbClr val="000000"/>
                    </a:outerShdw>
                  </a:effectLst>
                </a:rPr>
                <a:t>39.36</a:t>
              </a:r>
              <a:endParaRPr lang="en-US" altLang="zh-CN" b="1">
                <a:solidFill>
                  <a:srgbClr val="00FFFF"/>
                </a:solidFill>
                <a:effectLst>
                  <a:outerShdw blurRad="38100" dist="38100" dir="2700000" algn="tl">
                    <a:srgbClr val="000000"/>
                  </a:outerShdw>
                </a:effectLst>
              </a:endParaRPr>
            </a:p>
          </p:txBody>
        </p:sp>
        <p:sp>
          <p:nvSpPr>
            <p:cNvPr id="444449" name="Rectangle 33"/>
            <p:cNvSpPr>
              <a:spLocks noChangeArrowheads="1"/>
            </p:cNvSpPr>
            <p:nvPr/>
          </p:nvSpPr>
          <p:spPr bwMode="auto">
            <a:xfrm>
              <a:off x="606" y="3657"/>
              <a:ext cx="459" cy="23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90488" tIns="44450" rIns="90488" bIns="44450">
              <a:spAutoFit/>
            </a:bodyPr>
            <a:lstStyle/>
            <a:p>
              <a:pPr>
                <a:spcBef>
                  <a:spcPct val="0"/>
                </a:spcBef>
              </a:pPr>
              <a:r>
                <a:rPr lang="en-US" altLang="zh-CN" b="1">
                  <a:solidFill>
                    <a:srgbClr val="00FFFF"/>
                  </a:solidFill>
                  <a:effectLst>
                    <a:outerShdw blurRad="38100" dist="38100" dir="2700000" algn="tl">
                      <a:srgbClr val="000000"/>
                    </a:outerShdw>
                  </a:effectLst>
                </a:rPr>
                <a:t>12.40</a:t>
              </a:r>
              <a:endParaRPr lang="en-US" altLang="zh-CN" b="1">
                <a:solidFill>
                  <a:srgbClr val="00FFFF"/>
                </a:solidFill>
                <a:effectLst>
                  <a:outerShdw blurRad="38100" dist="38100" dir="2700000" algn="tl">
                    <a:srgbClr val="000000"/>
                  </a:outerShdw>
                </a:effectLst>
              </a:endParaRPr>
            </a:p>
          </p:txBody>
        </p:sp>
        <p:sp>
          <p:nvSpPr>
            <p:cNvPr id="444455" name="Rectangle 39"/>
            <p:cNvSpPr>
              <a:spLocks noChangeArrowheads="1"/>
            </p:cNvSpPr>
            <p:nvPr/>
          </p:nvSpPr>
          <p:spPr bwMode="auto">
            <a:xfrm>
              <a:off x="1415" y="2749"/>
              <a:ext cx="1132" cy="23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spAutoFit/>
            </a:bodyPr>
            <a:lstStyle/>
            <a:p>
              <a:r>
                <a:rPr lang="en-US" altLang="zh-CN" b="1">
                  <a:effectLst>
                    <a:outerShdw blurRad="38100" dist="38100" dir="2700000" algn="tl">
                      <a:srgbClr val="000000"/>
                    </a:outerShdw>
                  </a:effectLst>
                  <a:latin typeface="Symbol" panose="05050102010706020507" pitchFamily="18" charset="2"/>
                </a:rPr>
                <a:t></a:t>
              </a:r>
              <a:r>
                <a:rPr lang="en-US" altLang="zh-CN" b="1">
                  <a:effectLst>
                    <a:outerShdw blurRad="38100" dist="38100" dir="2700000" algn="tl">
                      <a:srgbClr val="000000"/>
                    </a:outerShdw>
                  </a:effectLst>
                </a:rPr>
                <a:t> /2 =.05</a:t>
              </a:r>
              <a:endParaRPr lang="en-US" altLang="zh-CN" b="1">
                <a:effectLst>
                  <a:outerShdw blurRad="38100" dist="38100" dir="2700000" algn="tl">
                    <a:srgbClr val="000000"/>
                  </a:outerShdw>
                </a:effectLst>
              </a:endParaRPr>
            </a:p>
          </p:txBody>
        </p:sp>
        <p:sp>
          <p:nvSpPr>
            <p:cNvPr id="444456" name="Line 40"/>
            <p:cNvSpPr>
              <a:spLocks noChangeShapeType="1"/>
            </p:cNvSpPr>
            <p:nvPr/>
          </p:nvSpPr>
          <p:spPr bwMode="auto">
            <a:xfrm>
              <a:off x="1758" y="3023"/>
              <a:ext cx="62" cy="561"/>
            </a:xfrm>
            <a:prstGeom prst="line">
              <a:avLst/>
            </a:prstGeom>
            <a:noFill/>
            <a:ln w="12700">
              <a:solidFill>
                <a:schemeClr val="folHlink"/>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57" name="Line 41"/>
            <p:cNvSpPr>
              <a:spLocks noChangeShapeType="1"/>
            </p:cNvSpPr>
            <p:nvPr/>
          </p:nvSpPr>
          <p:spPr bwMode="auto">
            <a:xfrm flipH="1">
              <a:off x="764" y="3023"/>
              <a:ext cx="706" cy="417"/>
            </a:xfrm>
            <a:prstGeom prst="line">
              <a:avLst/>
            </a:prstGeom>
            <a:noFill/>
            <a:ln w="12700">
              <a:solidFill>
                <a:schemeClr val="folHlink"/>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44493" name="Text Box 77"/>
          <p:cNvSpPr txBox="1">
            <a:spLocks noChangeArrowheads="1"/>
          </p:cNvSpPr>
          <p:nvPr/>
        </p:nvSpPr>
        <p:spPr bwMode="auto">
          <a:xfrm>
            <a:off x="5810250" y="3810001"/>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t>决策</a:t>
            </a:r>
            <a:r>
              <a:rPr lang="en-US" altLang="zh-CN" sz="2800" b="1"/>
              <a:t>:</a:t>
            </a:r>
            <a:endParaRPr lang="en-US" altLang="zh-CN" sz="2800" b="1"/>
          </a:p>
        </p:txBody>
      </p:sp>
      <p:sp>
        <p:nvSpPr>
          <p:cNvPr id="444494" name="Text Box 78"/>
          <p:cNvSpPr txBox="1">
            <a:spLocks noChangeArrowheads="1"/>
          </p:cNvSpPr>
          <p:nvPr/>
        </p:nvSpPr>
        <p:spPr bwMode="auto">
          <a:xfrm>
            <a:off x="5810250" y="4876801"/>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t>结论</a:t>
            </a:r>
            <a:r>
              <a:rPr lang="en-US" altLang="zh-CN" sz="2800" b="1"/>
              <a:t>:</a:t>
            </a:r>
            <a:endParaRPr lang="en-US" altLang="zh-CN" sz="2800" b="1"/>
          </a:p>
        </p:txBody>
      </p:sp>
      <p:sp>
        <p:nvSpPr>
          <p:cNvPr id="444495" name="Text Box 79"/>
          <p:cNvSpPr txBox="1">
            <a:spLocks noChangeArrowheads="1"/>
          </p:cNvSpPr>
          <p:nvPr/>
        </p:nvSpPr>
        <p:spPr bwMode="auto">
          <a:xfrm>
            <a:off x="5505450" y="2514600"/>
            <a:ext cx="3124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a:effectLst>
                <a:outerShdw blurRad="38100" dist="38100" dir="2700000" algn="tl">
                  <a:srgbClr val="000000"/>
                </a:outerShdw>
              </a:effectLst>
            </a:endParaRPr>
          </a:p>
        </p:txBody>
      </p:sp>
      <mc:AlternateContent xmlns:mc="http://schemas.openxmlformats.org/markup-compatibility/2006">
        <mc:Choice xmlns:a14="http://schemas.microsoft.com/office/drawing/2010/main" Requires="a14">
          <p:sp>
            <p:nvSpPr>
              <p:cNvPr id="444498" name="Object 82">
                <a:hlinkClick r:id="" action="ppaction://ole?verb=0"/>
              </p:cNvPr>
              <p:cNvSpPr txBox="1"/>
              <p:nvPr/>
            </p:nvSpPr>
            <p:spPr bwMode="auto">
              <a:xfrm>
                <a:off x="5988050" y="2179639"/>
                <a:ext cx="3665538" cy="1804987"/>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𝜒</m:t>
                          </m:r>
                        </m:e>
                        <m:sup>
                          <m:r>
                            <a:rPr lang="zh-CN" altLang="en-US" i="1">
                              <a:solidFill>
                                <a:srgbClr val="000000"/>
                              </a:solidFill>
                              <a:latin typeface="Cambria Math" panose="02040503050406030204" pitchFamily="18" charset="0"/>
                            </a:rPr>
                            <m:t>2</m:t>
                          </m:r>
                        </m:sup>
                      </m:sSup>
                      <m:r>
                        <m:rPr>
                          <m:aln/>
                        </m:rP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𝑠</m:t>
                              </m:r>
                            </m:e>
                            <m:sup>
                              <m:r>
                                <a:rPr lang="zh-CN" altLang="en-US" i="1">
                                  <a:solidFill>
                                    <a:srgbClr val="000000"/>
                                  </a:solidFill>
                                  <a:latin typeface="Cambria Math" panose="02040503050406030204" pitchFamily="18" charset="0"/>
                                </a:rPr>
                                <m:t>2</m:t>
                              </m:r>
                            </m:sup>
                          </m:sSup>
                        </m:num>
                        <m:den>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𝜎</m:t>
                              </m:r>
                            </m:e>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2</m:t>
                              </m:r>
                            </m:sup>
                          </m:sSubSup>
                        </m:den>
                      </m:f>
                    </m:oMath>
                    <m:oMath xmlns:m="http://schemas.openxmlformats.org/officeDocument/2006/math">
                      <m:r>
                        <m:rPr>
                          <m:aln/>
                        </m:rP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25</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866</m:t>
                          </m:r>
                        </m:num>
                        <m:den>
                          <m:r>
                            <a:rPr lang="zh-CN" altLang="en-US" i="1">
                              <a:solidFill>
                                <a:srgbClr val="000000"/>
                              </a:solidFill>
                              <a:latin typeface="Cambria Math" panose="02040503050406030204" pitchFamily="18" charset="0"/>
                            </a:rPr>
                            <m:t>1</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8</m:t>
                      </m:r>
                    </m:oMath>
                  </m:oMathPara>
                </a14:m>
                <a:endParaRPr lang="zh-CN" altLang="en-US"/>
              </a:p>
            </p:txBody>
          </p:sp>
        </mc:Choice>
        <mc:Fallback>
          <p:sp>
            <p:nvSpPr>
              <p:cNvPr id="444498" name="Object 82">
                <a:hlinkClick r:id="" action="ppaction://ole?verb=0"/>
              </p:cNvPr>
              <p:cNvSpPr txBox="1">
                <a:spLocks noRot="1" noChangeAspect="1" noMove="1" noResize="1" noEditPoints="1" noAdjustHandles="1" noChangeArrowheads="1" noChangeShapeType="1" noTextEdit="1"/>
              </p:cNvSpPr>
              <p:nvPr/>
            </p:nvSpPr>
            <p:spPr bwMode="auto">
              <a:xfrm>
                <a:off x="5988050" y="2179639"/>
                <a:ext cx="3665538" cy="1804987"/>
              </a:xfrm>
              <a:prstGeom prst="rect">
                <a:avLst/>
              </a:prstGeom>
              <a:blipFill rotWithShape="1">
                <a:blip r:embed="rId1"/>
                <a:stretch>
                  <a:fillRect t="-18" r="-338" b="-704"/>
                </a:stretch>
              </a:blipFill>
              <a:ln>
                <a:noFill/>
              </a:ln>
              <a:effectLst>
                <a:outerShdw dist="17961" dir="2700000" algn="ctr" rotWithShape="0">
                  <a:schemeClr val="bg2"/>
                </a:outerShdw>
              </a:effectLst>
            </p:spPr>
            <p:txBody>
              <a:bodyPr/>
              <a:lstStyle/>
              <a:p>
                <a:r>
                  <a:rPr lang="zh-CN" altLang="en-US">
                    <a:noFill/>
                  </a:rPr>
                  <a:t> </a:t>
                </a:r>
              </a:p>
            </p:txBody>
          </p:sp>
        </mc:Fallback>
      </mc:AlternateContent>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4451">
                                            <p:txEl>
                                              <p:pRg st="0" end="0"/>
                                            </p:txEl>
                                          </p:spTgt>
                                        </p:tgtEl>
                                        <p:attrNameLst>
                                          <p:attrName>style.visibility</p:attrName>
                                        </p:attrNameLst>
                                      </p:cBhvr>
                                      <p:to>
                                        <p:strVal val="visible"/>
                                      </p:to>
                                    </p:set>
                                    <p:animEffect transition="in" filter="wipe(left)">
                                      <p:cBhvr>
                                        <p:cTn id="7" dur="500"/>
                                        <p:tgtEl>
                                          <p:spTgt spid="4444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4451">
                                            <p:txEl>
                                              <p:pRg st="1" end="1"/>
                                            </p:txEl>
                                          </p:spTgt>
                                        </p:tgtEl>
                                        <p:attrNameLst>
                                          <p:attrName>style.visibility</p:attrName>
                                        </p:attrNameLst>
                                      </p:cBhvr>
                                      <p:to>
                                        <p:strVal val="visible"/>
                                      </p:to>
                                    </p:set>
                                    <p:animEffect transition="in" filter="wipe(left)">
                                      <p:cBhvr>
                                        <p:cTn id="12" dur="500"/>
                                        <p:tgtEl>
                                          <p:spTgt spid="4444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44451">
                                            <p:txEl>
                                              <p:pRg st="2" end="2"/>
                                            </p:txEl>
                                          </p:spTgt>
                                        </p:tgtEl>
                                        <p:attrNameLst>
                                          <p:attrName>style.visibility</p:attrName>
                                        </p:attrNameLst>
                                      </p:cBhvr>
                                      <p:to>
                                        <p:strVal val="visible"/>
                                      </p:to>
                                    </p:set>
                                    <p:animEffect transition="in" filter="wipe(left)">
                                      <p:cBhvr>
                                        <p:cTn id="17" dur="500"/>
                                        <p:tgtEl>
                                          <p:spTgt spid="4444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4451">
                                            <p:txEl>
                                              <p:pRg st="3" end="3"/>
                                            </p:txEl>
                                          </p:spTgt>
                                        </p:tgtEl>
                                        <p:attrNameLst>
                                          <p:attrName>style.visibility</p:attrName>
                                        </p:attrNameLst>
                                      </p:cBhvr>
                                      <p:to>
                                        <p:strVal val="visible"/>
                                      </p:to>
                                    </p:set>
                                    <p:animEffect transition="in" filter="wipe(left)">
                                      <p:cBhvr>
                                        <p:cTn id="22" dur="500"/>
                                        <p:tgtEl>
                                          <p:spTgt spid="4444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44451">
                                            <p:txEl>
                                              <p:pRg st="4" end="4"/>
                                            </p:txEl>
                                          </p:spTgt>
                                        </p:tgtEl>
                                        <p:attrNameLst>
                                          <p:attrName>style.visibility</p:attrName>
                                        </p:attrNameLst>
                                      </p:cBhvr>
                                      <p:to>
                                        <p:strVal val="visible"/>
                                      </p:to>
                                    </p:set>
                                    <p:animEffect transition="in" filter="wipe(left)">
                                      <p:cBhvr>
                                        <p:cTn id="27" dur="500"/>
                                        <p:tgtEl>
                                          <p:spTgt spid="44445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44500"/>
                                        </p:tgtEl>
                                        <p:attrNameLst>
                                          <p:attrName>style.visibility</p:attrName>
                                        </p:attrNameLst>
                                      </p:cBhvr>
                                      <p:to>
                                        <p:strVal val="visible"/>
                                      </p:to>
                                    </p:set>
                                    <p:animEffect transition="in" filter="dissolve">
                                      <p:cBhvr>
                                        <p:cTn id="32" dur="500"/>
                                        <p:tgtEl>
                                          <p:spTgt spid="44450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44452">
                                            <p:txEl>
                                              <p:pRg st="0" end="0"/>
                                            </p:txEl>
                                          </p:spTgt>
                                        </p:tgtEl>
                                        <p:attrNameLst>
                                          <p:attrName>style.visibility</p:attrName>
                                        </p:attrNameLst>
                                      </p:cBhvr>
                                      <p:to>
                                        <p:strVal val="visible"/>
                                      </p:to>
                                    </p:set>
                                    <p:animEffect transition="in" filter="wipe(left)">
                                      <p:cBhvr>
                                        <p:cTn id="37" dur="500"/>
                                        <p:tgtEl>
                                          <p:spTgt spid="44445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44493">
                                            <p:txEl>
                                              <p:pRg st="0" end="0"/>
                                            </p:txEl>
                                          </p:spTgt>
                                        </p:tgtEl>
                                        <p:attrNameLst>
                                          <p:attrName>style.visibility</p:attrName>
                                        </p:attrNameLst>
                                      </p:cBhvr>
                                      <p:to>
                                        <p:strVal val="visible"/>
                                      </p:to>
                                    </p:set>
                                    <p:animEffect transition="in" filter="wipe(left)">
                                      <p:cBhvr>
                                        <p:cTn id="42" dur="500"/>
                                        <p:tgtEl>
                                          <p:spTgt spid="444493">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44453">
                                            <p:txEl>
                                              <p:pRg st="0" end="0"/>
                                            </p:txEl>
                                          </p:spTgt>
                                        </p:tgtEl>
                                        <p:attrNameLst>
                                          <p:attrName>style.visibility</p:attrName>
                                        </p:attrNameLst>
                                      </p:cBhvr>
                                      <p:to>
                                        <p:strVal val="visible"/>
                                      </p:to>
                                    </p:set>
                                    <p:animEffect transition="in" filter="wipe(left)">
                                      <p:cBhvr>
                                        <p:cTn id="47" dur="500"/>
                                        <p:tgtEl>
                                          <p:spTgt spid="444453">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44494">
                                            <p:txEl>
                                              <p:pRg st="0" end="0"/>
                                            </p:txEl>
                                          </p:spTgt>
                                        </p:tgtEl>
                                        <p:attrNameLst>
                                          <p:attrName>style.visibility</p:attrName>
                                        </p:attrNameLst>
                                      </p:cBhvr>
                                      <p:to>
                                        <p:strVal val="visible"/>
                                      </p:to>
                                    </p:set>
                                    <p:animEffect transition="in" filter="wipe(left)">
                                      <p:cBhvr>
                                        <p:cTn id="52" dur="500"/>
                                        <p:tgtEl>
                                          <p:spTgt spid="444494">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44454">
                                            <p:txEl>
                                              <p:pRg st="0" end="0"/>
                                            </p:txEl>
                                          </p:spTgt>
                                        </p:tgtEl>
                                        <p:attrNameLst>
                                          <p:attrName>style.visibility</p:attrName>
                                        </p:attrNameLst>
                                      </p:cBhvr>
                                      <p:to>
                                        <p:strVal val="visible"/>
                                      </p:to>
                                    </p:set>
                                    <p:animEffect transition="in" filter="wipe(left)">
                                      <p:cBhvr>
                                        <p:cTn id="57" dur="500"/>
                                        <p:tgtEl>
                                          <p:spTgt spid="4444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51" grpId="0" autoUpdateAnimBg="0" build="p"/>
      <p:bldP spid="444452" grpId="0" autoUpdateAnimBg="0" build="p"/>
      <p:bldP spid="444453" grpId="0" autoUpdateAnimBg="0" build="p"/>
      <p:bldP spid="444454" grpId="0" autoUpdateAnimBg="0" build="p"/>
      <p:bldP spid="444493" grpId="0" autoUpdateAnimBg="0" build="p"/>
      <p:bldP spid="444494" grpId="0" autoUpdateAnimBg="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38"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339" name="Rectangle 3"/>
          <p:cNvSpPr>
            <a:spLocks noChangeArrowheads="1"/>
          </p:cNvSpPr>
          <p:nvPr/>
        </p:nvSpPr>
        <p:spPr bwMode="auto">
          <a:xfrm>
            <a:off x="3431704" y="32048"/>
            <a:ext cx="69151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nchorCtr="1"/>
          <a:lstStyle>
            <a:lvl1pPr algn="ctr">
              <a:lnSpc>
                <a:spcPct val="95000"/>
              </a:lnSpc>
              <a:spcBef>
                <a:spcPct val="0"/>
              </a:spcBef>
              <a:defRPr kumimoji="1" sz="4400" b="1">
                <a:solidFill>
                  <a:schemeClr val="tx1"/>
                </a:solidFill>
                <a:effectLst>
                  <a:outerShdw blurRad="38100" dist="38100" dir="2700000" algn="tl">
                    <a:srgbClr val="000000"/>
                  </a:outerShdw>
                </a:effectLst>
                <a:latin typeface="Book Antiqua" panose="02040602050305030304" pitchFamily="18" charset="0"/>
                <a:ea typeface="宋体" pitchFamily="2" charset="-122"/>
              </a:defRPr>
            </a:lvl1pPr>
            <a:lvl2pPr algn="ctr">
              <a:lnSpc>
                <a:spcPct val="95000"/>
              </a:lnSpc>
              <a:spcBef>
                <a:spcPct val="0"/>
              </a:spcBef>
              <a:defRPr kumimoji="1" sz="4400" b="1">
                <a:solidFill>
                  <a:schemeClr val="tx1"/>
                </a:solidFill>
                <a:effectLst>
                  <a:outerShdw blurRad="38100" dist="38100" dir="2700000" algn="tl">
                    <a:srgbClr val="000000"/>
                  </a:outerShdw>
                </a:effectLst>
                <a:latin typeface="Book Antiqua" panose="02040602050305030304" pitchFamily="18" charset="0"/>
                <a:ea typeface="宋体" pitchFamily="2" charset="-122"/>
              </a:defRPr>
            </a:lvl2pPr>
            <a:lvl3pPr algn="ctr">
              <a:lnSpc>
                <a:spcPct val="95000"/>
              </a:lnSpc>
              <a:spcBef>
                <a:spcPct val="0"/>
              </a:spcBef>
              <a:defRPr kumimoji="1" sz="4400" b="1">
                <a:solidFill>
                  <a:schemeClr val="tx1"/>
                </a:solidFill>
                <a:effectLst>
                  <a:outerShdw blurRad="38100" dist="38100" dir="2700000" algn="tl">
                    <a:srgbClr val="000000"/>
                  </a:outerShdw>
                </a:effectLst>
                <a:latin typeface="Book Antiqua" panose="02040602050305030304" pitchFamily="18" charset="0"/>
                <a:ea typeface="宋体" pitchFamily="2" charset="-122"/>
              </a:defRPr>
            </a:lvl3pPr>
            <a:lvl4pPr algn="ctr">
              <a:lnSpc>
                <a:spcPct val="95000"/>
              </a:lnSpc>
              <a:spcBef>
                <a:spcPct val="0"/>
              </a:spcBef>
              <a:defRPr kumimoji="1" sz="4400" b="1">
                <a:solidFill>
                  <a:schemeClr val="tx1"/>
                </a:solidFill>
                <a:effectLst>
                  <a:outerShdw blurRad="38100" dist="38100" dir="2700000" algn="tl">
                    <a:srgbClr val="000000"/>
                  </a:outerShdw>
                </a:effectLst>
                <a:latin typeface="Book Antiqua" panose="02040602050305030304" pitchFamily="18" charset="0"/>
                <a:ea typeface="宋体" pitchFamily="2" charset="-122"/>
              </a:defRPr>
            </a:lvl4pPr>
            <a:lvl5pPr algn="ctr">
              <a:lnSpc>
                <a:spcPct val="95000"/>
              </a:lnSpc>
              <a:spcBef>
                <a:spcPct val="0"/>
              </a:spcBef>
              <a:defRPr kumimoji="1" sz="4400" b="1">
                <a:solidFill>
                  <a:schemeClr val="tx1"/>
                </a:solidFill>
                <a:effectLst>
                  <a:outerShdw blurRad="38100" dist="38100" dir="2700000" algn="tl">
                    <a:srgbClr val="000000"/>
                  </a:outerShdw>
                </a:effectLst>
                <a:latin typeface="Book Antiqua" panose="02040602050305030304" pitchFamily="18" charset="0"/>
                <a:ea typeface="宋体" pitchFamily="2" charset="-122"/>
              </a:defRPr>
            </a:lvl5pPr>
            <a:lvl6pPr marL="457200" algn="ctr" eaLnBrk="0" fontAlgn="base" hangingPunct="0">
              <a:lnSpc>
                <a:spcPct val="95000"/>
              </a:lnSpc>
              <a:spcBef>
                <a:spcPct val="0"/>
              </a:spcBef>
              <a:spcAft>
                <a:spcPct val="0"/>
              </a:spcAft>
              <a:defRPr kumimoji="1" sz="4400" b="1">
                <a:solidFill>
                  <a:schemeClr val="tx1"/>
                </a:solidFill>
                <a:effectLst>
                  <a:outerShdw blurRad="38100" dist="38100" dir="2700000" algn="tl">
                    <a:srgbClr val="000000"/>
                  </a:outerShdw>
                </a:effectLst>
                <a:latin typeface="Book Antiqua" panose="02040602050305030304" pitchFamily="18" charset="0"/>
                <a:ea typeface="宋体" pitchFamily="2" charset="-122"/>
              </a:defRPr>
            </a:lvl6pPr>
            <a:lvl7pPr marL="914400" algn="ctr" eaLnBrk="0" fontAlgn="base" hangingPunct="0">
              <a:lnSpc>
                <a:spcPct val="95000"/>
              </a:lnSpc>
              <a:spcBef>
                <a:spcPct val="0"/>
              </a:spcBef>
              <a:spcAft>
                <a:spcPct val="0"/>
              </a:spcAft>
              <a:defRPr kumimoji="1" sz="4400" b="1">
                <a:solidFill>
                  <a:schemeClr val="tx1"/>
                </a:solidFill>
                <a:effectLst>
                  <a:outerShdw blurRad="38100" dist="38100" dir="2700000" algn="tl">
                    <a:srgbClr val="000000"/>
                  </a:outerShdw>
                </a:effectLst>
                <a:latin typeface="Book Antiqua" panose="02040602050305030304" pitchFamily="18" charset="0"/>
                <a:ea typeface="宋体" pitchFamily="2" charset="-122"/>
              </a:defRPr>
            </a:lvl7pPr>
            <a:lvl8pPr marL="1371600" algn="ctr" eaLnBrk="0" fontAlgn="base" hangingPunct="0">
              <a:lnSpc>
                <a:spcPct val="95000"/>
              </a:lnSpc>
              <a:spcBef>
                <a:spcPct val="0"/>
              </a:spcBef>
              <a:spcAft>
                <a:spcPct val="0"/>
              </a:spcAft>
              <a:defRPr kumimoji="1" sz="4400" b="1">
                <a:solidFill>
                  <a:schemeClr val="tx1"/>
                </a:solidFill>
                <a:effectLst>
                  <a:outerShdw blurRad="38100" dist="38100" dir="2700000" algn="tl">
                    <a:srgbClr val="000000"/>
                  </a:outerShdw>
                </a:effectLst>
                <a:latin typeface="Book Antiqua" panose="02040602050305030304" pitchFamily="18" charset="0"/>
                <a:ea typeface="宋体" pitchFamily="2" charset="-122"/>
              </a:defRPr>
            </a:lvl8pPr>
            <a:lvl9pPr marL="1828800" algn="ctr" eaLnBrk="0" fontAlgn="base" hangingPunct="0">
              <a:lnSpc>
                <a:spcPct val="95000"/>
              </a:lnSpc>
              <a:spcBef>
                <a:spcPct val="0"/>
              </a:spcBef>
              <a:spcAft>
                <a:spcPct val="0"/>
              </a:spcAft>
              <a:defRPr kumimoji="1" sz="4400" b="1">
                <a:solidFill>
                  <a:schemeClr val="tx1"/>
                </a:solidFill>
                <a:effectLst>
                  <a:outerShdw blurRad="38100" dist="38100" dir="2700000" algn="tl">
                    <a:srgbClr val="000000"/>
                  </a:outerShdw>
                </a:effectLst>
                <a:latin typeface="Book Antiqua" panose="02040602050305030304" pitchFamily="18" charset="0"/>
                <a:ea typeface="宋体" pitchFamily="2" charset="-122"/>
              </a:defRPr>
            </a:lvl9pPr>
          </a:lstStyle>
          <a:p>
            <a:r>
              <a:rPr lang="en-US" altLang="zh-CN" sz="3600" dirty="0">
                <a:effectLst/>
                <a:latin typeface="Arial" panose="020B0604020202090204" pitchFamily="34" charset="0"/>
                <a:cs typeface="Arial" panose="020B0604020202090204" pitchFamily="34" charset="0"/>
              </a:rPr>
              <a:t>8.3  </a:t>
            </a:r>
            <a:r>
              <a:rPr lang="zh-CN" altLang="en-US" sz="3600" dirty="0">
                <a:effectLst/>
              </a:rPr>
              <a:t>两个总体参数的检验</a:t>
            </a:r>
            <a:endParaRPr lang="zh-CN" altLang="en-US" sz="3600" dirty="0">
              <a:effectLst/>
            </a:endParaRPr>
          </a:p>
        </p:txBody>
      </p:sp>
      <p:sp>
        <p:nvSpPr>
          <p:cNvPr id="1038340" name="Rectangle 4"/>
          <p:cNvSpPr>
            <a:spLocks noChangeArrowheads="1"/>
          </p:cNvSpPr>
          <p:nvPr/>
        </p:nvSpPr>
        <p:spPr bwMode="auto">
          <a:xfrm>
            <a:off x="2193925" y="1981200"/>
            <a:ext cx="80327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812800" indent="-812800" algn="ctr">
              <a:spcBef>
                <a:spcPct val="20000"/>
              </a:spcBef>
              <a:defRPr kumimoji="1" sz="3200">
                <a:solidFill>
                  <a:schemeClr val="tx1"/>
                </a:solidFill>
                <a:effectLst>
                  <a:outerShdw blurRad="38100" dist="38100" dir="2700000" algn="tl">
                    <a:srgbClr val="000000"/>
                  </a:outerShdw>
                </a:effectLst>
                <a:latin typeface="Arial" panose="020B0604020202090204" pitchFamily="34" charset="0"/>
                <a:ea typeface="宋体" pitchFamily="2" charset="-122"/>
              </a:defRPr>
            </a:lvl1pPr>
            <a:lvl2pPr indent="228600" algn="ctr">
              <a:spcBef>
                <a:spcPct val="20000"/>
              </a:spcBef>
              <a:buClr>
                <a:schemeClr val="hlink"/>
              </a:buClr>
              <a:buSzPct val="65000"/>
              <a:buFont typeface="Wingdings" panose="05000000000000000000" pitchFamily="2" charset="2"/>
              <a:defRPr kumimoji="1" sz="2800">
                <a:solidFill>
                  <a:schemeClr val="tx1"/>
                </a:solidFill>
                <a:effectLst>
                  <a:outerShdw blurRad="38100" dist="38100" dir="2700000" algn="tl">
                    <a:srgbClr val="000000"/>
                  </a:outerShdw>
                </a:effectLst>
                <a:latin typeface="Arial" panose="020B0604020202090204" pitchFamily="34" charset="0"/>
                <a:ea typeface="宋体" pitchFamily="2" charset="-122"/>
              </a:defRPr>
            </a:lvl2pPr>
            <a:lvl3pPr indent="171450" algn="ctr">
              <a:spcBef>
                <a:spcPct val="20000"/>
              </a:spcBef>
              <a:buClr>
                <a:schemeClr val="tx2"/>
              </a:buClr>
              <a:buSzPct val="65000"/>
              <a:buFont typeface="Wingdings" panose="05000000000000000000" pitchFamily="2" charset="2"/>
              <a:defRPr kumimoji="1" sz="2400">
                <a:solidFill>
                  <a:schemeClr val="tx1"/>
                </a:solidFill>
                <a:effectLst>
                  <a:outerShdw blurRad="38100" dist="38100" dir="2700000" algn="tl">
                    <a:srgbClr val="000000"/>
                  </a:outerShdw>
                </a:effectLst>
                <a:latin typeface="Arial" panose="020B0604020202090204" pitchFamily="34" charset="0"/>
                <a:ea typeface="宋体" pitchFamily="2" charset="-122"/>
              </a:defRPr>
            </a:lvl3pPr>
            <a:lvl4pPr indent="57150" algn="ctr">
              <a:spcBef>
                <a:spcPct val="20000"/>
              </a:spcBef>
              <a:buClr>
                <a:schemeClr val="accent1"/>
              </a:buClr>
              <a:buSzPct val="65000"/>
              <a:buFont typeface="Monotype Sorts" panose="05000000000000000000" pitchFamily="2" charset="2"/>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4pPr>
            <a:lvl5pPr marL="2336800" indent="-508000" algn="ctr">
              <a:spcBef>
                <a:spcPct val="20000"/>
              </a:spcBef>
              <a:buClr>
                <a:schemeClr val="folHlink"/>
              </a:buClr>
              <a:buSzPct val="100000"/>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5pPr>
            <a:lvl6pPr marL="2794000" indent="-508000" algn="ctr" eaLnBrk="0" fontAlgn="base" hangingPunct="0">
              <a:spcBef>
                <a:spcPct val="20000"/>
              </a:spcBef>
              <a:spcAft>
                <a:spcPct val="0"/>
              </a:spcAft>
              <a:buClr>
                <a:schemeClr val="folHlink"/>
              </a:buClr>
              <a:buSzPct val="100000"/>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6pPr>
            <a:lvl7pPr marL="3251200" indent="-508000" algn="ctr" eaLnBrk="0" fontAlgn="base" hangingPunct="0">
              <a:spcBef>
                <a:spcPct val="20000"/>
              </a:spcBef>
              <a:spcAft>
                <a:spcPct val="0"/>
              </a:spcAft>
              <a:buClr>
                <a:schemeClr val="folHlink"/>
              </a:buClr>
              <a:buSzPct val="100000"/>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7pPr>
            <a:lvl8pPr marL="3708400" indent="-508000" algn="ctr" eaLnBrk="0" fontAlgn="base" hangingPunct="0">
              <a:spcBef>
                <a:spcPct val="20000"/>
              </a:spcBef>
              <a:spcAft>
                <a:spcPct val="0"/>
              </a:spcAft>
              <a:buClr>
                <a:schemeClr val="folHlink"/>
              </a:buClr>
              <a:buSzPct val="100000"/>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8pPr>
            <a:lvl9pPr marL="4165600" indent="-508000" algn="ctr" eaLnBrk="0" fontAlgn="base" hangingPunct="0">
              <a:spcBef>
                <a:spcPct val="20000"/>
              </a:spcBef>
              <a:spcAft>
                <a:spcPct val="0"/>
              </a:spcAft>
              <a:buClr>
                <a:schemeClr val="folHlink"/>
              </a:buClr>
              <a:buSzPct val="100000"/>
              <a:defRPr kumimoji="1" sz="2000">
                <a:solidFill>
                  <a:schemeClr val="tx1"/>
                </a:solidFill>
                <a:effectLst>
                  <a:outerShdw blurRad="38100" dist="38100" dir="2700000" algn="tl">
                    <a:srgbClr val="000000"/>
                  </a:outerShdw>
                </a:effectLst>
                <a:latin typeface="Arial" panose="020B0604020202090204" pitchFamily="34" charset="0"/>
                <a:ea typeface="宋体" pitchFamily="2" charset="-122"/>
              </a:defRPr>
            </a:lvl9pPr>
          </a:lstStyle>
          <a:p>
            <a:pPr algn="l">
              <a:spcBef>
                <a:spcPct val="24000"/>
              </a:spcBef>
            </a:pPr>
            <a:r>
              <a:rPr lang="en-US" altLang="zh-CN" b="1" dirty="0">
                <a:effectLst/>
              </a:rPr>
              <a:t>8.3.1  </a:t>
            </a:r>
            <a:r>
              <a:rPr lang="zh-CN" altLang="en-US" b="1" dirty="0">
                <a:effectLst/>
              </a:rPr>
              <a:t>检验统计量的确定</a:t>
            </a:r>
            <a:endParaRPr lang="zh-CN" altLang="en-US" b="1" dirty="0">
              <a:effectLst/>
            </a:endParaRPr>
          </a:p>
          <a:p>
            <a:pPr algn="l">
              <a:spcBef>
                <a:spcPct val="24000"/>
              </a:spcBef>
            </a:pPr>
            <a:r>
              <a:rPr lang="en-US" altLang="zh-CN" b="1" dirty="0">
                <a:effectLst/>
              </a:rPr>
              <a:t>8.3.2  </a:t>
            </a:r>
            <a:r>
              <a:rPr lang="zh-CN" altLang="en-US" b="1" dirty="0">
                <a:effectLst/>
              </a:rPr>
              <a:t>两个总体均值之差的检验</a:t>
            </a:r>
            <a:endParaRPr lang="zh-CN" altLang="en-US" b="1" dirty="0">
              <a:effectLst/>
            </a:endParaRPr>
          </a:p>
          <a:p>
            <a:pPr algn="l">
              <a:spcBef>
                <a:spcPct val="24000"/>
              </a:spcBef>
            </a:pPr>
            <a:r>
              <a:rPr lang="en-US" altLang="zh-CN" b="1" dirty="0">
                <a:effectLst/>
              </a:rPr>
              <a:t>8.3.3  </a:t>
            </a:r>
            <a:r>
              <a:rPr lang="zh-CN" altLang="en-US" b="1" dirty="0">
                <a:effectLst/>
              </a:rPr>
              <a:t>两个总体比例之差的检验</a:t>
            </a:r>
            <a:endParaRPr lang="zh-CN" altLang="en-US" b="1" dirty="0">
              <a:effectLst/>
            </a:endParaRPr>
          </a:p>
          <a:p>
            <a:pPr algn="l">
              <a:spcBef>
                <a:spcPct val="24000"/>
              </a:spcBef>
            </a:pPr>
            <a:r>
              <a:rPr lang="en-US" altLang="zh-CN" b="1" dirty="0">
                <a:effectLst/>
              </a:rPr>
              <a:t>8.3.4  </a:t>
            </a:r>
            <a:r>
              <a:rPr lang="zh-CN" altLang="en-US" b="1" dirty="0">
                <a:effectLst/>
              </a:rPr>
              <a:t>两个总体方差比的检验</a:t>
            </a:r>
            <a:endParaRPr lang="zh-CN" altLang="en-US" b="1" dirty="0">
              <a:effectLst/>
            </a:endParaRPr>
          </a:p>
          <a:p>
            <a:pPr algn="l">
              <a:spcBef>
                <a:spcPct val="24000"/>
              </a:spcBef>
            </a:pPr>
            <a:r>
              <a:rPr lang="en-US" altLang="zh-CN" b="1" dirty="0">
                <a:effectLst/>
              </a:rPr>
              <a:t>8.3.5  </a:t>
            </a:r>
            <a:r>
              <a:rPr lang="zh-CN" altLang="en-US" b="1" dirty="0">
                <a:effectLst/>
              </a:rPr>
              <a:t>检验中的匹配样本</a:t>
            </a:r>
            <a:endParaRPr lang="zh-CN" altLang="en-US" b="1" dirty="0">
              <a:effectLst/>
            </a:endParaRPr>
          </a:p>
        </p:txBody>
      </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2" name="Rectangle 2"/>
          <p:cNvSpPr>
            <a:spLocks noGrp="1" noChangeArrowheads="1"/>
          </p:cNvSpPr>
          <p:nvPr>
            <p:ph type="ctrTitle"/>
          </p:nvPr>
        </p:nvSpPr>
        <p:spPr>
          <a:xfrm>
            <a:off x="2209800" y="2286000"/>
            <a:ext cx="7772400" cy="1143000"/>
          </a:xfrm>
          <a:noFill/>
        </p:spPr>
        <p:txBody>
          <a:bodyPr anchor="ctr" anchorCtr="0"/>
          <a:lstStyle/>
          <a:p>
            <a:r>
              <a:rPr lang="zh-CN" altLang="en-US" sz="4400"/>
              <a:t>独立样本总体均值之差的检验</a:t>
            </a:r>
            <a:endParaRPr lang="zh-CN" altLang="en-US" sz="4400"/>
          </a:p>
        </p:txBody>
      </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5474" name="Rectangle 2"/>
          <p:cNvSpPr>
            <a:spLocks noGrp="1" noChangeArrowheads="1"/>
          </p:cNvSpPr>
          <p:nvPr>
            <p:ph type="title"/>
          </p:nvPr>
        </p:nvSpPr>
        <p:spPr>
          <a:noFill/>
        </p:spPr>
        <p:txBody>
          <a:bodyPr>
            <a:normAutofit fontScale="90000"/>
          </a:bodyPr>
          <a:lstStyle/>
          <a:p>
            <a:r>
              <a:rPr lang="zh-CN" altLang="en-US" sz="4000"/>
              <a:t>两个总体均值之差的</a:t>
            </a:r>
            <a:r>
              <a:rPr lang="zh-CN" altLang="en-US" sz="4000">
                <a:latin typeface="Arial" panose="020B0604020202090204" pitchFamily="34" charset="0"/>
              </a:rPr>
              <a:t>检验</a:t>
            </a:r>
            <a:br>
              <a:rPr lang="zh-CN" altLang="en-US" sz="4000">
                <a:latin typeface="Arial" panose="020B0604020202090204" pitchFamily="34" charset="0"/>
              </a:rPr>
            </a:br>
            <a:r>
              <a:rPr lang="zh-CN" altLang="en-US" sz="4000">
                <a:latin typeface="Arial" panose="020B0604020202090204" pitchFamily="34" charset="0"/>
              </a:rPr>
              <a:t> </a:t>
            </a:r>
            <a:r>
              <a:rPr lang="en-US" altLang="zh-CN" sz="4000">
                <a:solidFill>
                  <a:schemeClr val="hlink"/>
                </a:solidFill>
                <a:latin typeface="Arial" panose="020B0604020202090204" pitchFamily="34" charset="0"/>
              </a:rPr>
              <a:t>(</a:t>
            </a:r>
            <a:r>
              <a:rPr lang="en-US" altLang="zh-CN" sz="4000">
                <a:solidFill>
                  <a:schemeClr val="hlink"/>
                </a:solidFill>
                <a:latin typeface="Symbol" panose="05050102010706020507" pitchFamily="18" charset="2"/>
              </a:rPr>
              <a:t></a:t>
            </a:r>
            <a:r>
              <a:rPr lang="en-US" altLang="zh-CN" sz="4000" baseline="-25000">
                <a:solidFill>
                  <a:schemeClr val="hlink"/>
                </a:solidFill>
                <a:latin typeface="Arial" panose="020B0604020202090204" pitchFamily="34" charset="0"/>
              </a:rPr>
              <a:t>1</a:t>
            </a:r>
            <a:r>
              <a:rPr lang="en-US" altLang="zh-CN" sz="4000" baseline="30000">
                <a:solidFill>
                  <a:schemeClr val="hlink"/>
                </a:solidFill>
                <a:latin typeface="Arial" panose="020B0604020202090204" pitchFamily="34" charset="0"/>
              </a:rPr>
              <a:t>2</a:t>
            </a:r>
            <a:r>
              <a:rPr lang="zh-CN" altLang="en-US" sz="4000">
                <a:solidFill>
                  <a:schemeClr val="hlink"/>
                </a:solidFill>
                <a:latin typeface="Arial" panose="020B0604020202090204" pitchFamily="34" charset="0"/>
              </a:rPr>
              <a:t>、</a:t>
            </a:r>
            <a:r>
              <a:rPr lang="zh-CN" altLang="en-US" sz="4000">
                <a:solidFill>
                  <a:schemeClr val="hlink"/>
                </a:solidFill>
                <a:latin typeface="Symbol" panose="05050102010706020507" pitchFamily="18" charset="2"/>
              </a:rPr>
              <a:t> </a:t>
            </a:r>
            <a:r>
              <a:rPr lang="en-US" altLang="zh-CN" sz="4000" baseline="-25000">
                <a:solidFill>
                  <a:schemeClr val="hlink"/>
                </a:solidFill>
                <a:latin typeface="Arial" panose="020B0604020202090204" pitchFamily="34" charset="0"/>
              </a:rPr>
              <a:t>2</a:t>
            </a:r>
            <a:r>
              <a:rPr lang="en-US" altLang="zh-CN" sz="4000" baseline="30000">
                <a:solidFill>
                  <a:schemeClr val="hlink"/>
                </a:solidFill>
                <a:latin typeface="Arial" panose="020B0604020202090204" pitchFamily="34" charset="0"/>
              </a:rPr>
              <a:t>2</a:t>
            </a:r>
            <a:r>
              <a:rPr lang="en-US" altLang="zh-CN" sz="4000">
                <a:solidFill>
                  <a:schemeClr val="hlink"/>
                </a:solidFill>
                <a:latin typeface="Arial" panose="020B0604020202090204" pitchFamily="34" charset="0"/>
              </a:rPr>
              <a:t> </a:t>
            </a:r>
            <a:r>
              <a:rPr lang="zh-CN" altLang="en-US" sz="4000">
                <a:solidFill>
                  <a:schemeClr val="hlink"/>
                </a:solidFill>
                <a:latin typeface="Arial" panose="020B0604020202090204" pitchFamily="34" charset="0"/>
              </a:rPr>
              <a:t>已知</a:t>
            </a:r>
            <a:r>
              <a:rPr lang="en-US" altLang="zh-CN" sz="4000">
                <a:solidFill>
                  <a:schemeClr val="hlink"/>
                </a:solidFill>
                <a:latin typeface="Arial" panose="020B0604020202090204" pitchFamily="34" charset="0"/>
              </a:rPr>
              <a:t>)</a:t>
            </a:r>
            <a:endParaRPr lang="en-US" altLang="zh-CN" sz="4000">
              <a:solidFill>
                <a:schemeClr val="hlink"/>
              </a:solidFill>
              <a:latin typeface="Arial" panose="020B0604020202090204" pitchFamily="34" charset="0"/>
            </a:endParaRPr>
          </a:p>
        </p:txBody>
      </p:sp>
      <p:sp>
        <p:nvSpPr>
          <p:cNvPr id="745475" name="Rectangle 3"/>
          <p:cNvSpPr>
            <a:spLocks noGrp="1" noChangeArrowheads="1"/>
          </p:cNvSpPr>
          <p:nvPr>
            <p:ph type="body" idx="1"/>
          </p:nvPr>
        </p:nvSpPr>
        <p:spPr>
          <a:xfrm>
            <a:off x="2249489" y="1751013"/>
            <a:ext cx="7826375" cy="4552950"/>
          </a:xfrm>
          <a:noFill/>
        </p:spPr>
        <p:txBody>
          <a:bodyPr/>
          <a:lstStyle/>
          <a:p>
            <a:pPr marL="609600" indent="-609600"/>
            <a:r>
              <a:rPr lang="en-US" altLang="zh-CN" sz="2800"/>
              <a:t>1.	</a:t>
            </a:r>
            <a:r>
              <a:rPr lang="zh-CN" altLang="en-US" sz="2800"/>
              <a:t>假定条件</a:t>
            </a:r>
            <a:endParaRPr lang="zh-CN" altLang="en-US" sz="2800"/>
          </a:p>
          <a:p>
            <a:pPr marL="1219200" lvl="1" indent="-533400"/>
            <a:r>
              <a:rPr lang="zh-CN" altLang="en-US" sz="2400">
                <a:sym typeface="Wingdings" panose="05000000000000000000" pitchFamily="2" charset="2"/>
              </a:rPr>
              <a:t>两个样本是独立的随机样本</a:t>
            </a:r>
            <a:endParaRPr lang="zh-CN" altLang="en-US" sz="2400"/>
          </a:p>
          <a:p>
            <a:pPr marL="1219200" lvl="1" indent="-533400"/>
            <a:r>
              <a:rPr lang="zh-CN" altLang="en-US" sz="2400">
                <a:sym typeface="Wingdings" panose="05000000000000000000" pitchFamily="2" charset="2"/>
              </a:rPr>
              <a:t>两个</a:t>
            </a:r>
            <a:r>
              <a:rPr lang="zh-CN" altLang="en-US" sz="2400"/>
              <a:t>总体都是正态分布</a:t>
            </a:r>
            <a:endParaRPr lang="zh-CN" altLang="en-US" sz="2400"/>
          </a:p>
          <a:p>
            <a:pPr marL="1219200" lvl="1" indent="-533400"/>
            <a:r>
              <a:rPr lang="zh-CN" altLang="en-US" sz="2400"/>
              <a:t>若不是正态分布</a:t>
            </a:r>
            <a:r>
              <a:rPr lang="en-US" altLang="zh-CN" sz="2400"/>
              <a:t>, </a:t>
            </a:r>
            <a:r>
              <a:rPr lang="zh-CN" altLang="en-US" sz="2400"/>
              <a:t>可以用正态分布来近似</a:t>
            </a:r>
            <a:r>
              <a:rPr lang="en-US" altLang="zh-CN" sz="2400"/>
              <a:t>(</a:t>
            </a:r>
            <a:r>
              <a:rPr lang="en-US" altLang="zh-CN" sz="2400" i="1"/>
              <a:t>n</a:t>
            </a:r>
            <a:r>
              <a:rPr lang="en-US" altLang="zh-CN" sz="2400" baseline="-25000"/>
              <a:t>1</a:t>
            </a:r>
            <a:r>
              <a:rPr lang="en-US" altLang="zh-CN" sz="2400">
                <a:sym typeface="Symbol" panose="05050102010706020507" pitchFamily="18" charset="2"/>
              </a:rPr>
              <a:t></a:t>
            </a:r>
            <a:r>
              <a:rPr lang="en-US" altLang="zh-CN" sz="2400"/>
              <a:t>30</a:t>
            </a:r>
            <a:r>
              <a:rPr lang="zh-CN" altLang="en-US" sz="2400"/>
              <a:t>和 </a:t>
            </a:r>
            <a:r>
              <a:rPr lang="en-US" altLang="zh-CN" sz="2400" i="1"/>
              <a:t>n</a:t>
            </a:r>
            <a:r>
              <a:rPr lang="en-US" altLang="zh-CN" sz="2400" baseline="-25000"/>
              <a:t>2</a:t>
            </a:r>
            <a:r>
              <a:rPr lang="en-US" altLang="zh-CN" sz="2400">
                <a:sym typeface="Symbol" panose="05050102010706020507" pitchFamily="18" charset="2"/>
              </a:rPr>
              <a:t></a:t>
            </a:r>
            <a:r>
              <a:rPr lang="en-US" altLang="zh-CN" sz="2400"/>
              <a:t>30)</a:t>
            </a:r>
            <a:endParaRPr lang="en-US" altLang="zh-CN" sz="2400"/>
          </a:p>
          <a:p>
            <a:pPr marL="609600" indent="-609600">
              <a:buFontTx/>
              <a:buAutoNum type="arabicPeriod" startAt="2"/>
            </a:pPr>
            <a:r>
              <a:rPr lang="zh-CN" altLang="en-US" sz="2800"/>
              <a:t>检验统计量为</a:t>
            </a:r>
            <a:endParaRPr lang="zh-CN" altLang="en-US" sz="2800"/>
          </a:p>
        </p:txBody>
      </p:sp>
      <mc:AlternateContent xmlns:mc="http://schemas.openxmlformats.org/markup-compatibility/2006">
        <mc:Choice xmlns:a14="http://schemas.microsoft.com/office/drawing/2010/main" Requires="a14">
          <p:sp>
            <p:nvSpPr>
              <p:cNvPr id="745479" name="Object 7">
                <a:hlinkClick r:id="" action="ppaction://ole?verb=0"/>
              </p:cNvPr>
              <p:cNvSpPr txBox="1"/>
              <p:nvPr/>
            </p:nvSpPr>
            <p:spPr bwMode="auto">
              <a:xfrm>
                <a:off x="3100388" y="4595814"/>
                <a:ext cx="5486400" cy="1773237"/>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𝑍</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𝑋</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𝑋</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num>
                        <m:den>
                          <m:rad>
                            <m:radPr>
                              <m:degHide m:val="on"/>
                              <m:ctrlPr>
                                <a:rPr lang="zh-CN" altLang="en-US" i="1">
                                  <a:solidFill>
                                    <a:srgbClr val="000000"/>
                                  </a:solidFill>
                                  <a:latin typeface="Cambria Math" panose="02040503050406030204" pitchFamily="18" charset="0"/>
                                </a:rPr>
                              </m:ctrlPr>
                            </m:radPr>
                            <m:deg/>
                            <m:e>
                              <m:f>
                                <m:fPr>
                                  <m:ctrlPr>
                                    <a:rPr lang="zh-CN" altLang="en-US" i="1">
                                      <a:solidFill>
                                        <a:srgbClr val="000000"/>
                                      </a:solidFill>
                                      <a:latin typeface="Cambria Math" panose="02040503050406030204" pitchFamily="18" charset="0"/>
                                    </a:rPr>
                                  </m:ctrlPr>
                                </m:fPr>
                                <m:num>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𝜎</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sSubSup>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𝜎</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den>
                              </m:f>
                            </m:e>
                          </m:rad>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𝑁</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oMath>
                  </m:oMathPara>
                </a14:m>
                <a:endParaRPr lang="zh-CN" altLang="en-US"/>
              </a:p>
            </p:txBody>
          </p:sp>
        </mc:Choice>
        <mc:Fallback>
          <p:sp>
            <p:nvSpPr>
              <p:cNvPr id="745479" name="Object 7">
                <a:hlinkClick r:id="" action="ppaction://ole?verb=0"/>
              </p:cNvPr>
              <p:cNvSpPr txBox="1">
                <a:spLocks noRot="1" noChangeAspect="1" noMove="1" noResize="1" noEditPoints="1" noAdjustHandles="1" noChangeArrowheads="1" noChangeShapeType="1" noTextEdit="1"/>
              </p:cNvSpPr>
              <p:nvPr/>
            </p:nvSpPr>
            <p:spPr bwMode="auto">
              <a:xfrm>
                <a:off x="3100388" y="4595814"/>
                <a:ext cx="5486400" cy="1773237"/>
              </a:xfrm>
              <a:prstGeom prst="rect">
                <a:avLst/>
              </a:prstGeom>
              <a:blipFill rotWithShape="1">
                <a:blip r:embed="rId1"/>
                <a:stretch>
                  <a:fillRect l="-6" t="-18" r="-226" b="-716"/>
                </a:stretch>
              </a:blipFill>
              <a:ln>
                <a:noFill/>
              </a:ln>
              <a:effectLst>
                <a:outerShdw dist="17961" dir="2700000" algn="ctr" rotWithShape="0">
                  <a:schemeClr val="bg2"/>
                </a:outerShdw>
              </a:effectLst>
            </p:spPr>
            <p:txBody>
              <a:bodyPr/>
              <a:lstStyle/>
              <a:p>
                <a:r>
                  <a:rPr lang="zh-CN" altLang="en-US">
                    <a:noFill/>
                  </a:rPr>
                  <a:t> </a:t>
                </a:r>
              </a:p>
            </p:txBody>
          </p:sp>
        </mc:Fallback>
      </mc:AlternateContent>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5475">
                                            <p:txEl>
                                              <p:pRg st="0" end="0"/>
                                            </p:txEl>
                                          </p:spTgt>
                                        </p:tgtEl>
                                        <p:attrNameLst>
                                          <p:attrName>style.visibility</p:attrName>
                                        </p:attrNameLst>
                                      </p:cBhvr>
                                      <p:to>
                                        <p:strVal val="visible"/>
                                      </p:to>
                                    </p:set>
                                    <p:animEffect transition="in" filter="wipe(left)">
                                      <p:cBhvr>
                                        <p:cTn id="7" dur="500"/>
                                        <p:tgtEl>
                                          <p:spTgt spid="745475">
                                            <p:txEl>
                                              <p:pRg st="0" end="0"/>
                                            </p:txEl>
                                          </p:spTgt>
                                        </p:tgtEl>
                                      </p:cBhvr>
                                    </p:animEffect>
                                  </p:childTnLst>
                                  <p:subTnLst>
                                    <p:animClr clrSpc="rgb" dir="cw">
                                      <p:cBhvr override="childStyle">
                                        <p:cTn dur="1" fill="hold" display="0" masterRel="nextClick" afterEffect="1"/>
                                        <p:tgtEl>
                                          <p:spTgt spid="745475">
                                            <p:txEl>
                                              <p:pRg st="0" end="0"/>
                                            </p:txEl>
                                          </p:spTgt>
                                        </p:tgtEl>
                                        <p:attrNameLst>
                                          <p:attrName>ppt_c</p:attrName>
                                        </p:attrNameLst>
                                      </p:cBhvr>
                                      <p:to>
                                        <a:schemeClr val="folHlink"/>
                                      </p:to>
                                    </p:animClr>
                                  </p:subTnLst>
                                </p:cTn>
                              </p:par>
                              <p:par>
                                <p:cTn id="8" presetID="22" presetClass="entr" presetSubtype="8" fill="hold" grpId="0" nodeType="withEffect">
                                  <p:stCondLst>
                                    <p:cond delay="0"/>
                                  </p:stCondLst>
                                  <p:childTnLst>
                                    <p:set>
                                      <p:cBhvr>
                                        <p:cTn id="9" dur="1" fill="hold">
                                          <p:stCondLst>
                                            <p:cond delay="0"/>
                                          </p:stCondLst>
                                        </p:cTn>
                                        <p:tgtEl>
                                          <p:spTgt spid="745475">
                                            <p:txEl>
                                              <p:pRg st="1" end="1"/>
                                            </p:txEl>
                                          </p:spTgt>
                                        </p:tgtEl>
                                        <p:attrNameLst>
                                          <p:attrName>style.visibility</p:attrName>
                                        </p:attrNameLst>
                                      </p:cBhvr>
                                      <p:to>
                                        <p:strVal val="visible"/>
                                      </p:to>
                                    </p:set>
                                    <p:animEffect transition="in" filter="wipe(left)">
                                      <p:cBhvr>
                                        <p:cTn id="10" dur="500"/>
                                        <p:tgtEl>
                                          <p:spTgt spid="745475">
                                            <p:txEl>
                                              <p:pRg st="1" end="1"/>
                                            </p:txEl>
                                          </p:spTgt>
                                        </p:tgtEl>
                                      </p:cBhvr>
                                    </p:animEffect>
                                  </p:childTnLst>
                                  <p:subTnLst>
                                    <p:animClr clrSpc="rgb" dir="cw">
                                      <p:cBhvr override="childStyle">
                                        <p:cTn dur="1" fill="hold" display="0" masterRel="nextClick" afterEffect="1"/>
                                        <p:tgtEl>
                                          <p:spTgt spid="745475">
                                            <p:txEl>
                                              <p:pRg st="1" end="1"/>
                                            </p:txEl>
                                          </p:spTgt>
                                        </p:tgtEl>
                                        <p:attrNameLst>
                                          <p:attrName>ppt_c</p:attrName>
                                        </p:attrNameLst>
                                      </p:cBhvr>
                                      <p:to>
                                        <a:schemeClr val="folHlink"/>
                                      </p:to>
                                    </p:animClr>
                                  </p:subTnLst>
                                </p:cTn>
                              </p:par>
                              <p:par>
                                <p:cTn id="11" presetID="22" presetClass="entr" presetSubtype="8" fill="hold" grpId="0" nodeType="withEffect">
                                  <p:stCondLst>
                                    <p:cond delay="0"/>
                                  </p:stCondLst>
                                  <p:childTnLst>
                                    <p:set>
                                      <p:cBhvr>
                                        <p:cTn id="12" dur="1" fill="hold">
                                          <p:stCondLst>
                                            <p:cond delay="0"/>
                                          </p:stCondLst>
                                        </p:cTn>
                                        <p:tgtEl>
                                          <p:spTgt spid="745475">
                                            <p:txEl>
                                              <p:pRg st="2" end="2"/>
                                            </p:txEl>
                                          </p:spTgt>
                                        </p:tgtEl>
                                        <p:attrNameLst>
                                          <p:attrName>style.visibility</p:attrName>
                                        </p:attrNameLst>
                                      </p:cBhvr>
                                      <p:to>
                                        <p:strVal val="visible"/>
                                      </p:to>
                                    </p:set>
                                    <p:animEffect transition="in" filter="wipe(left)">
                                      <p:cBhvr>
                                        <p:cTn id="13" dur="500"/>
                                        <p:tgtEl>
                                          <p:spTgt spid="745475">
                                            <p:txEl>
                                              <p:pRg st="2" end="2"/>
                                            </p:txEl>
                                          </p:spTgt>
                                        </p:tgtEl>
                                      </p:cBhvr>
                                    </p:animEffect>
                                  </p:childTnLst>
                                  <p:subTnLst>
                                    <p:animClr clrSpc="rgb" dir="cw">
                                      <p:cBhvr override="childStyle">
                                        <p:cTn dur="1" fill="hold" display="0" masterRel="nextClick" afterEffect="1"/>
                                        <p:tgtEl>
                                          <p:spTgt spid="745475">
                                            <p:txEl>
                                              <p:pRg st="2" end="2"/>
                                            </p:txEl>
                                          </p:spTgt>
                                        </p:tgtEl>
                                        <p:attrNameLst>
                                          <p:attrName>ppt_c</p:attrName>
                                        </p:attrNameLst>
                                      </p:cBhvr>
                                      <p:to>
                                        <a:schemeClr val="folHlink"/>
                                      </p:to>
                                    </p:animClr>
                                  </p:subTnLst>
                                </p:cTn>
                              </p:par>
                              <p:par>
                                <p:cTn id="14" presetID="22" presetClass="entr" presetSubtype="8" fill="hold" grpId="0" nodeType="withEffect">
                                  <p:stCondLst>
                                    <p:cond delay="0"/>
                                  </p:stCondLst>
                                  <p:childTnLst>
                                    <p:set>
                                      <p:cBhvr>
                                        <p:cTn id="15" dur="1" fill="hold">
                                          <p:stCondLst>
                                            <p:cond delay="0"/>
                                          </p:stCondLst>
                                        </p:cTn>
                                        <p:tgtEl>
                                          <p:spTgt spid="745475">
                                            <p:txEl>
                                              <p:pRg st="3" end="3"/>
                                            </p:txEl>
                                          </p:spTgt>
                                        </p:tgtEl>
                                        <p:attrNameLst>
                                          <p:attrName>style.visibility</p:attrName>
                                        </p:attrNameLst>
                                      </p:cBhvr>
                                      <p:to>
                                        <p:strVal val="visible"/>
                                      </p:to>
                                    </p:set>
                                    <p:animEffect transition="in" filter="wipe(left)">
                                      <p:cBhvr>
                                        <p:cTn id="16" dur="500"/>
                                        <p:tgtEl>
                                          <p:spTgt spid="745475">
                                            <p:txEl>
                                              <p:pRg st="3" end="3"/>
                                            </p:txEl>
                                          </p:spTgt>
                                        </p:tgtEl>
                                      </p:cBhvr>
                                    </p:animEffect>
                                  </p:childTnLst>
                                  <p:subTnLst>
                                    <p:animClr clrSpc="rgb" dir="cw">
                                      <p:cBhvr override="childStyle">
                                        <p:cTn dur="1" fill="hold" display="0" masterRel="nextClick" afterEffect="1"/>
                                        <p:tgtEl>
                                          <p:spTgt spid="745475">
                                            <p:txEl>
                                              <p:pRg st="3" end="3"/>
                                            </p:txEl>
                                          </p:spTgt>
                                        </p:tgtEl>
                                        <p:attrNameLst>
                                          <p:attrName>ppt_c</p:attrName>
                                        </p:attrNameLst>
                                      </p:cBhvr>
                                      <p:to>
                                        <a:schemeClr val="folHlink"/>
                                      </p:to>
                                    </p:animClr>
                                  </p:sub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45475">
                                            <p:txEl>
                                              <p:pRg st="4" end="4"/>
                                            </p:txEl>
                                          </p:spTgt>
                                        </p:tgtEl>
                                        <p:attrNameLst>
                                          <p:attrName>style.visibility</p:attrName>
                                        </p:attrNameLst>
                                      </p:cBhvr>
                                      <p:to>
                                        <p:strVal val="visible"/>
                                      </p:to>
                                    </p:set>
                                    <p:animEffect transition="in" filter="wipe(left)">
                                      <p:cBhvr>
                                        <p:cTn id="21" dur="500"/>
                                        <p:tgtEl>
                                          <p:spTgt spid="745475">
                                            <p:txEl>
                                              <p:pRg st="4" end="4"/>
                                            </p:txEl>
                                          </p:spTgt>
                                        </p:tgtEl>
                                      </p:cBhvr>
                                    </p:animEffect>
                                  </p:childTnLst>
                                  <p:subTnLst>
                                    <p:animClr clrSpc="rgb" dir="cw">
                                      <p:cBhvr override="childStyle">
                                        <p:cTn dur="1" fill="hold" display="0" masterRel="nextClick" afterEffect="1"/>
                                        <p:tgtEl>
                                          <p:spTgt spid="745475">
                                            <p:txEl>
                                              <p:pRg st="4" end="4"/>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5475" grpId="0" autoUpdateAnimBg="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p:cNvSpPr>
            <a:spLocks noGrp="1" noChangeArrowheads="1"/>
          </p:cNvSpPr>
          <p:nvPr>
            <p:ph type="title"/>
          </p:nvPr>
        </p:nvSpPr>
        <p:spPr>
          <a:noFill/>
        </p:spPr>
        <p:txBody>
          <a:bodyPr>
            <a:normAutofit fontScale="90000"/>
          </a:bodyPr>
          <a:lstStyle/>
          <a:p>
            <a:r>
              <a:rPr lang="zh-CN" altLang="en-US" sz="4000">
                <a:latin typeface="Arial" panose="020B0604020202090204" pitchFamily="34" charset="0"/>
              </a:rPr>
              <a:t>两个总体均值之差的检验</a:t>
            </a:r>
            <a:br>
              <a:rPr lang="zh-CN" altLang="en-US" sz="4000">
                <a:latin typeface="Arial" panose="020B0604020202090204" pitchFamily="34" charset="0"/>
              </a:rPr>
            </a:br>
            <a:r>
              <a:rPr lang="zh-CN" altLang="en-US" sz="4000">
                <a:latin typeface="Arial" panose="020B0604020202090204" pitchFamily="34" charset="0"/>
              </a:rPr>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763907" name="Rectangle 3"/>
          <p:cNvSpPr>
            <a:spLocks noGrp="1" noChangeArrowheads="1"/>
          </p:cNvSpPr>
          <p:nvPr>
            <p:ph type="body" idx="1"/>
          </p:nvPr>
        </p:nvSpPr>
        <p:spPr>
          <a:xfrm>
            <a:off x="1889125" y="1849438"/>
            <a:ext cx="5937250" cy="4495800"/>
          </a:xfrm>
          <a:noFill/>
        </p:spPr>
        <p:txBody>
          <a:bodyPr/>
          <a:lstStyle/>
          <a:p>
            <a:pPr marL="609600" indent="-609600" algn="just"/>
            <a:r>
              <a:rPr lang="en-US" altLang="zh-CN" sz="3000"/>
              <a:t>      </a:t>
            </a:r>
            <a:endParaRPr lang="en-US" altLang="zh-CN" sz="3800" b="1"/>
          </a:p>
        </p:txBody>
      </p:sp>
      <p:grpSp>
        <p:nvGrpSpPr>
          <p:cNvPr id="763911" name="Group 7"/>
          <p:cNvGrpSpPr/>
          <p:nvPr/>
        </p:nvGrpSpPr>
        <p:grpSpPr bwMode="auto">
          <a:xfrm>
            <a:off x="7192963" y="3260725"/>
            <a:ext cx="3149600" cy="3124200"/>
            <a:chOff x="3408" y="1440"/>
            <a:chExt cx="1984" cy="1968"/>
          </a:xfrm>
        </p:grpSpPr>
        <p:sp>
          <p:nvSpPr>
            <p:cNvPr id="763912" name="Freeform 8"/>
            <p:cNvSpPr/>
            <p:nvPr/>
          </p:nvSpPr>
          <p:spPr bwMode="auto">
            <a:xfrm>
              <a:off x="3408" y="1440"/>
              <a:ext cx="1600" cy="1584"/>
            </a:xfrm>
            <a:custGeom>
              <a:avLst/>
              <a:gdLst>
                <a:gd name="T0" fmla="*/ 0 w 1312"/>
                <a:gd name="T1" fmla="*/ 1632 h 1632"/>
                <a:gd name="T2" fmla="*/ 960 w 1312"/>
                <a:gd name="T3" fmla="*/ 768 h 1632"/>
                <a:gd name="T4" fmla="*/ 912 w 1312"/>
                <a:gd name="T5" fmla="*/ 288 h 1632"/>
                <a:gd name="T6" fmla="*/ 1248 w 1312"/>
                <a:gd name="T7" fmla="*/ 96 h 1632"/>
                <a:gd name="T8" fmla="*/ 1296 w 1312"/>
                <a:gd name="T9" fmla="*/ 0 h 1632"/>
              </a:gdLst>
              <a:ahLst/>
              <a:cxnLst>
                <a:cxn ang="0">
                  <a:pos x="T0" y="T1"/>
                </a:cxn>
                <a:cxn ang="0">
                  <a:pos x="T2" y="T3"/>
                </a:cxn>
                <a:cxn ang="0">
                  <a:pos x="T4" y="T5"/>
                </a:cxn>
                <a:cxn ang="0">
                  <a:pos x="T6" y="T7"/>
                </a:cxn>
                <a:cxn ang="0">
                  <a:pos x="T8" y="T9"/>
                </a:cxn>
              </a:cxnLst>
              <a:rect l="0" t="0" r="r" b="b"/>
              <a:pathLst>
                <a:path w="1312" h="1632">
                  <a:moveTo>
                    <a:pt x="0" y="1632"/>
                  </a:moveTo>
                  <a:cubicBezTo>
                    <a:pt x="404" y="1312"/>
                    <a:pt x="808" y="992"/>
                    <a:pt x="960" y="768"/>
                  </a:cubicBezTo>
                  <a:cubicBezTo>
                    <a:pt x="1112" y="544"/>
                    <a:pt x="864" y="400"/>
                    <a:pt x="912" y="288"/>
                  </a:cubicBezTo>
                  <a:cubicBezTo>
                    <a:pt x="960" y="176"/>
                    <a:pt x="1184" y="144"/>
                    <a:pt x="1248" y="96"/>
                  </a:cubicBezTo>
                  <a:cubicBezTo>
                    <a:pt x="1312" y="48"/>
                    <a:pt x="1304" y="24"/>
                    <a:pt x="1296" y="0"/>
                  </a:cubicBezTo>
                </a:path>
              </a:pathLst>
            </a:custGeom>
            <a:noFill/>
            <a:ln w="57150" cap="flat" cmpd="sng">
              <a:solidFill>
                <a:srgbClr val="FF139F"/>
              </a:solidFill>
              <a:prstDash val="solid"/>
              <a:round/>
              <a:headEnd type="none" w="med" len="med"/>
              <a:tailEnd type="non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763913" name="Freeform 9"/>
            <p:cNvSpPr/>
            <p:nvPr/>
          </p:nvSpPr>
          <p:spPr bwMode="auto">
            <a:xfrm>
              <a:off x="3504" y="1536"/>
              <a:ext cx="1600" cy="1584"/>
            </a:xfrm>
            <a:custGeom>
              <a:avLst/>
              <a:gdLst>
                <a:gd name="T0" fmla="*/ 0 w 1312"/>
                <a:gd name="T1" fmla="*/ 1632 h 1632"/>
                <a:gd name="T2" fmla="*/ 960 w 1312"/>
                <a:gd name="T3" fmla="*/ 768 h 1632"/>
                <a:gd name="T4" fmla="*/ 912 w 1312"/>
                <a:gd name="T5" fmla="*/ 288 h 1632"/>
                <a:gd name="T6" fmla="*/ 1248 w 1312"/>
                <a:gd name="T7" fmla="*/ 96 h 1632"/>
                <a:gd name="T8" fmla="*/ 1296 w 1312"/>
                <a:gd name="T9" fmla="*/ 0 h 1632"/>
              </a:gdLst>
              <a:ahLst/>
              <a:cxnLst>
                <a:cxn ang="0">
                  <a:pos x="T0" y="T1"/>
                </a:cxn>
                <a:cxn ang="0">
                  <a:pos x="T2" y="T3"/>
                </a:cxn>
                <a:cxn ang="0">
                  <a:pos x="T4" y="T5"/>
                </a:cxn>
                <a:cxn ang="0">
                  <a:pos x="T6" y="T7"/>
                </a:cxn>
                <a:cxn ang="0">
                  <a:pos x="T8" y="T9"/>
                </a:cxn>
              </a:cxnLst>
              <a:rect l="0" t="0" r="r" b="b"/>
              <a:pathLst>
                <a:path w="1312" h="1632">
                  <a:moveTo>
                    <a:pt x="0" y="1632"/>
                  </a:moveTo>
                  <a:cubicBezTo>
                    <a:pt x="404" y="1312"/>
                    <a:pt x="808" y="992"/>
                    <a:pt x="960" y="768"/>
                  </a:cubicBezTo>
                  <a:cubicBezTo>
                    <a:pt x="1112" y="544"/>
                    <a:pt x="864" y="400"/>
                    <a:pt x="912" y="288"/>
                  </a:cubicBezTo>
                  <a:cubicBezTo>
                    <a:pt x="960" y="176"/>
                    <a:pt x="1184" y="144"/>
                    <a:pt x="1248" y="96"/>
                  </a:cubicBezTo>
                  <a:cubicBezTo>
                    <a:pt x="1312" y="48"/>
                    <a:pt x="1304" y="24"/>
                    <a:pt x="1296" y="0"/>
                  </a:cubicBezTo>
                </a:path>
              </a:pathLst>
            </a:custGeom>
            <a:noFill/>
            <a:ln w="57150" cap="flat" cmpd="sng">
              <a:solidFill>
                <a:schemeClr val="hlink"/>
              </a:solidFill>
              <a:prstDash val="solid"/>
              <a:round/>
              <a:headEnd type="none" w="med" len="med"/>
              <a:tailEnd type="non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763914" name="Freeform 10"/>
            <p:cNvSpPr/>
            <p:nvPr/>
          </p:nvSpPr>
          <p:spPr bwMode="auto">
            <a:xfrm>
              <a:off x="3600" y="1632"/>
              <a:ext cx="1600" cy="1584"/>
            </a:xfrm>
            <a:custGeom>
              <a:avLst/>
              <a:gdLst>
                <a:gd name="T0" fmla="*/ 0 w 1312"/>
                <a:gd name="T1" fmla="*/ 1632 h 1632"/>
                <a:gd name="T2" fmla="*/ 960 w 1312"/>
                <a:gd name="T3" fmla="*/ 768 h 1632"/>
                <a:gd name="T4" fmla="*/ 912 w 1312"/>
                <a:gd name="T5" fmla="*/ 288 h 1632"/>
                <a:gd name="T6" fmla="*/ 1248 w 1312"/>
                <a:gd name="T7" fmla="*/ 96 h 1632"/>
                <a:gd name="T8" fmla="*/ 1296 w 1312"/>
                <a:gd name="T9" fmla="*/ 0 h 1632"/>
              </a:gdLst>
              <a:ahLst/>
              <a:cxnLst>
                <a:cxn ang="0">
                  <a:pos x="T0" y="T1"/>
                </a:cxn>
                <a:cxn ang="0">
                  <a:pos x="T2" y="T3"/>
                </a:cxn>
                <a:cxn ang="0">
                  <a:pos x="T4" y="T5"/>
                </a:cxn>
                <a:cxn ang="0">
                  <a:pos x="T6" y="T7"/>
                </a:cxn>
                <a:cxn ang="0">
                  <a:pos x="T8" y="T9"/>
                </a:cxn>
              </a:cxnLst>
              <a:rect l="0" t="0" r="r" b="b"/>
              <a:pathLst>
                <a:path w="1312" h="1632">
                  <a:moveTo>
                    <a:pt x="0" y="1632"/>
                  </a:moveTo>
                  <a:cubicBezTo>
                    <a:pt x="404" y="1312"/>
                    <a:pt x="808" y="992"/>
                    <a:pt x="960" y="768"/>
                  </a:cubicBezTo>
                  <a:cubicBezTo>
                    <a:pt x="1112" y="544"/>
                    <a:pt x="864" y="400"/>
                    <a:pt x="912" y="288"/>
                  </a:cubicBezTo>
                  <a:cubicBezTo>
                    <a:pt x="960" y="176"/>
                    <a:pt x="1184" y="144"/>
                    <a:pt x="1248" y="96"/>
                  </a:cubicBezTo>
                  <a:cubicBezTo>
                    <a:pt x="1312" y="48"/>
                    <a:pt x="1304" y="24"/>
                    <a:pt x="1296" y="0"/>
                  </a:cubicBezTo>
                </a:path>
              </a:pathLst>
            </a:custGeom>
            <a:noFill/>
            <a:ln w="57150" cap="flat" cmpd="sng">
              <a:solidFill>
                <a:srgbClr val="27E7DE"/>
              </a:solidFill>
              <a:prstDash val="solid"/>
              <a:round/>
              <a:headEnd type="none" w="med" len="med"/>
              <a:tailEnd type="non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763915" name="Freeform 11"/>
            <p:cNvSpPr/>
            <p:nvPr/>
          </p:nvSpPr>
          <p:spPr bwMode="auto">
            <a:xfrm>
              <a:off x="3696" y="1728"/>
              <a:ext cx="1600" cy="1584"/>
            </a:xfrm>
            <a:custGeom>
              <a:avLst/>
              <a:gdLst>
                <a:gd name="T0" fmla="*/ 0 w 1312"/>
                <a:gd name="T1" fmla="*/ 1632 h 1632"/>
                <a:gd name="T2" fmla="*/ 960 w 1312"/>
                <a:gd name="T3" fmla="*/ 768 h 1632"/>
                <a:gd name="T4" fmla="*/ 912 w 1312"/>
                <a:gd name="T5" fmla="*/ 288 h 1632"/>
                <a:gd name="T6" fmla="*/ 1248 w 1312"/>
                <a:gd name="T7" fmla="*/ 96 h 1632"/>
                <a:gd name="T8" fmla="*/ 1296 w 1312"/>
                <a:gd name="T9" fmla="*/ 0 h 1632"/>
              </a:gdLst>
              <a:ahLst/>
              <a:cxnLst>
                <a:cxn ang="0">
                  <a:pos x="T0" y="T1"/>
                </a:cxn>
                <a:cxn ang="0">
                  <a:pos x="T2" y="T3"/>
                </a:cxn>
                <a:cxn ang="0">
                  <a:pos x="T4" y="T5"/>
                </a:cxn>
                <a:cxn ang="0">
                  <a:pos x="T6" y="T7"/>
                </a:cxn>
                <a:cxn ang="0">
                  <a:pos x="T8" y="T9"/>
                </a:cxn>
              </a:cxnLst>
              <a:rect l="0" t="0" r="r" b="b"/>
              <a:pathLst>
                <a:path w="1312" h="1632">
                  <a:moveTo>
                    <a:pt x="0" y="1632"/>
                  </a:moveTo>
                  <a:cubicBezTo>
                    <a:pt x="404" y="1312"/>
                    <a:pt x="808" y="992"/>
                    <a:pt x="960" y="768"/>
                  </a:cubicBezTo>
                  <a:cubicBezTo>
                    <a:pt x="1112" y="544"/>
                    <a:pt x="864" y="400"/>
                    <a:pt x="912" y="288"/>
                  </a:cubicBezTo>
                  <a:cubicBezTo>
                    <a:pt x="960" y="176"/>
                    <a:pt x="1184" y="144"/>
                    <a:pt x="1248" y="96"/>
                  </a:cubicBezTo>
                  <a:cubicBezTo>
                    <a:pt x="1312" y="48"/>
                    <a:pt x="1304" y="24"/>
                    <a:pt x="1296" y="0"/>
                  </a:cubicBezTo>
                </a:path>
              </a:pathLst>
            </a:custGeom>
            <a:noFill/>
            <a:ln w="57150" cap="flat" cmpd="sng">
              <a:solidFill>
                <a:schemeClr val="tx2"/>
              </a:solidFill>
              <a:prstDash val="solid"/>
              <a:round/>
              <a:headEnd type="none" w="med" len="med"/>
              <a:tailEnd type="non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763916" name="Freeform 12"/>
            <p:cNvSpPr/>
            <p:nvPr/>
          </p:nvSpPr>
          <p:spPr bwMode="auto">
            <a:xfrm>
              <a:off x="3792" y="1824"/>
              <a:ext cx="1600" cy="1584"/>
            </a:xfrm>
            <a:custGeom>
              <a:avLst/>
              <a:gdLst>
                <a:gd name="T0" fmla="*/ 0 w 1312"/>
                <a:gd name="T1" fmla="*/ 1632 h 1632"/>
                <a:gd name="T2" fmla="*/ 960 w 1312"/>
                <a:gd name="T3" fmla="*/ 768 h 1632"/>
                <a:gd name="T4" fmla="*/ 912 w 1312"/>
                <a:gd name="T5" fmla="*/ 288 h 1632"/>
                <a:gd name="T6" fmla="*/ 1248 w 1312"/>
                <a:gd name="T7" fmla="*/ 96 h 1632"/>
                <a:gd name="T8" fmla="*/ 1296 w 1312"/>
                <a:gd name="T9" fmla="*/ 0 h 1632"/>
              </a:gdLst>
              <a:ahLst/>
              <a:cxnLst>
                <a:cxn ang="0">
                  <a:pos x="T0" y="T1"/>
                </a:cxn>
                <a:cxn ang="0">
                  <a:pos x="T2" y="T3"/>
                </a:cxn>
                <a:cxn ang="0">
                  <a:pos x="T4" y="T5"/>
                </a:cxn>
                <a:cxn ang="0">
                  <a:pos x="T6" y="T7"/>
                </a:cxn>
                <a:cxn ang="0">
                  <a:pos x="T8" y="T9"/>
                </a:cxn>
              </a:cxnLst>
              <a:rect l="0" t="0" r="r" b="b"/>
              <a:pathLst>
                <a:path w="1312" h="1632">
                  <a:moveTo>
                    <a:pt x="0" y="1632"/>
                  </a:moveTo>
                  <a:cubicBezTo>
                    <a:pt x="404" y="1312"/>
                    <a:pt x="808" y="992"/>
                    <a:pt x="960" y="768"/>
                  </a:cubicBezTo>
                  <a:cubicBezTo>
                    <a:pt x="1112" y="544"/>
                    <a:pt x="864" y="400"/>
                    <a:pt x="912" y="288"/>
                  </a:cubicBezTo>
                  <a:cubicBezTo>
                    <a:pt x="960" y="176"/>
                    <a:pt x="1184" y="144"/>
                    <a:pt x="1248" y="96"/>
                  </a:cubicBezTo>
                  <a:cubicBezTo>
                    <a:pt x="1312" y="48"/>
                    <a:pt x="1304" y="24"/>
                    <a:pt x="1296" y="0"/>
                  </a:cubicBezTo>
                </a:path>
              </a:pathLst>
            </a:custGeom>
            <a:noFill/>
            <a:ln w="57150" cap="flat" cmpd="sng">
              <a:solidFill>
                <a:schemeClr val="accent1"/>
              </a:solidFill>
              <a:prstDash val="solid"/>
              <a:round/>
              <a:headEnd type="none" w="med" len="med"/>
              <a:tailEnd type="non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763918" name="AutoShape 14"/>
          <p:cNvSpPr>
            <a:spLocks noChangeArrowheads="1"/>
          </p:cNvSpPr>
          <p:nvPr/>
        </p:nvSpPr>
        <p:spPr bwMode="auto">
          <a:xfrm>
            <a:off x="7888289" y="2058988"/>
            <a:ext cx="2205037" cy="982662"/>
          </a:xfrm>
          <a:prstGeom prst="cloudCallout">
            <a:avLst>
              <a:gd name="adj1" fmla="val -55903"/>
              <a:gd name="adj2" fmla="val 167125"/>
            </a:avLst>
          </a:prstGeom>
          <a:noFill/>
          <a:ln w="12700">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lang="zh-CN" altLang="en-US">
                <a:solidFill>
                  <a:schemeClr val="accent2"/>
                </a:solidFill>
                <a:effectLst>
                  <a:outerShdw blurRad="38100" dist="38100" dir="2700000" algn="tl">
                    <a:srgbClr val="000000"/>
                  </a:outerShdw>
                </a:effectLst>
              </a:rPr>
              <a:t>双侧检验！</a:t>
            </a:r>
            <a:endParaRPr lang="zh-CN" altLang="en-US">
              <a:solidFill>
                <a:schemeClr val="accent2"/>
              </a:solidFill>
              <a:effectLst>
                <a:outerShdw blurRad="38100" dist="38100" dir="2700000" algn="tl">
                  <a:srgbClr val="000000"/>
                </a:outerShdw>
              </a:effectLst>
            </a:endParaRPr>
          </a:p>
        </p:txBody>
      </p:sp>
      <p:sp>
        <p:nvSpPr>
          <p:cNvPr id="763920" name="Rectangle 16"/>
          <p:cNvSpPr>
            <a:spLocks noChangeArrowheads="1"/>
          </p:cNvSpPr>
          <p:nvPr/>
        </p:nvSpPr>
        <p:spPr bwMode="auto">
          <a:xfrm>
            <a:off x="1889126" y="1822451"/>
            <a:ext cx="5635625"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0"/>
              </a:spcBef>
            </a:pPr>
            <a:r>
              <a:rPr lang="en-US" altLang="zh-CN" sz="2600" b="1" dirty="0"/>
              <a:t>【</a:t>
            </a:r>
            <a:r>
              <a:rPr lang="zh-CN" altLang="en-US" sz="2600" b="1" dirty="0"/>
              <a:t>例</a:t>
            </a:r>
            <a:r>
              <a:rPr lang="en-US" altLang="zh-CN" sz="2600" b="1" dirty="0"/>
              <a:t>】</a:t>
            </a:r>
            <a:r>
              <a:rPr lang="zh-CN" altLang="en-US" sz="2600" dirty="0"/>
              <a:t>有两种方法可用于制造某种以抗拉强度为重要特征的产品。根据以往的资料得知，第一种方法生产出的产品其抗拉强度的标准差为</a:t>
            </a:r>
            <a:r>
              <a:rPr lang="en-US" altLang="zh-CN" sz="2600" b="1" dirty="0"/>
              <a:t>8</a:t>
            </a:r>
            <a:r>
              <a:rPr lang="zh-CN" altLang="en-US" sz="2600" dirty="0"/>
              <a:t>公斤，第二种方法的标准差为</a:t>
            </a:r>
            <a:r>
              <a:rPr lang="en-US" altLang="zh-CN" sz="2600" b="1" dirty="0"/>
              <a:t>10</a:t>
            </a:r>
            <a:r>
              <a:rPr lang="zh-CN" altLang="en-US" sz="2600" dirty="0"/>
              <a:t>公斤。从两种方法生产的产品中各抽取一个随机样本，样本量分别为</a:t>
            </a:r>
            <a:r>
              <a:rPr lang="en-US" altLang="zh-CN" sz="2600" b="1" i="1" dirty="0">
                <a:latin typeface="Times New Roman" panose="02020603050405020304" pitchFamily="18" charset="0"/>
              </a:rPr>
              <a:t>n</a:t>
            </a:r>
            <a:r>
              <a:rPr lang="en-US" altLang="zh-CN" sz="2600" b="1" baseline="-25000" dirty="0"/>
              <a:t>1</a:t>
            </a:r>
            <a:r>
              <a:rPr lang="en-US" altLang="zh-CN" sz="2600" b="1" dirty="0"/>
              <a:t>=32</a:t>
            </a:r>
            <a:r>
              <a:rPr lang="zh-CN" altLang="en-US" sz="2600" dirty="0"/>
              <a:t>，</a:t>
            </a:r>
            <a:r>
              <a:rPr lang="en-US" altLang="zh-CN" sz="2600" b="1" i="1" dirty="0">
                <a:latin typeface="Times New Roman" panose="02020603050405020304" pitchFamily="18" charset="0"/>
              </a:rPr>
              <a:t>n</a:t>
            </a:r>
            <a:r>
              <a:rPr lang="en-US" altLang="zh-CN" sz="2600" b="1" baseline="-25000" dirty="0"/>
              <a:t>2</a:t>
            </a:r>
            <a:r>
              <a:rPr lang="en-US" altLang="zh-CN" sz="2600" b="1" dirty="0"/>
              <a:t>=40</a:t>
            </a:r>
            <a:r>
              <a:rPr lang="zh-CN" altLang="en-US" sz="2600" dirty="0"/>
              <a:t>，测得</a:t>
            </a:r>
            <a:r>
              <a:rPr lang="zh-CN" altLang="en-US" sz="2600" dirty="0">
                <a:sym typeface="Symbol" panose="05050102010706020507" pitchFamily="18" charset="2"/>
              </a:rPr>
              <a:t></a:t>
            </a:r>
            <a:r>
              <a:rPr lang="en-US" altLang="zh-CN" sz="2600" i="1" dirty="0">
                <a:latin typeface="Times New Roman" panose="02020603050405020304" pitchFamily="18" charset="0"/>
              </a:rPr>
              <a:t>x</a:t>
            </a:r>
            <a:r>
              <a:rPr lang="en-US" altLang="zh-CN" sz="2600" baseline="-25000" dirty="0">
                <a:latin typeface="Times New Roman" panose="02020603050405020304" pitchFamily="18" charset="0"/>
              </a:rPr>
              <a:t>1</a:t>
            </a:r>
            <a:r>
              <a:rPr lang="en-US" altLang="zh-CN" sz="2600" dirty="0">
                <a:latin typeface="Monotype Corsiva" panose="03010101010201010101" pitchFamily="66" charset="0"/>
              </a:rPr>
              <a:t>= </a:t>
            </a:r>
            <a:r>
              <a:rPr lang="en-US" altLang="zh-CN" sz="2600" b="1" dirty="0"/>
              <a:t>50</a:t>
            </a:r>
            <a:r>
              <a:rPr lang="zh-CN" altLang="en-US" sz="2600" dirty="0">
                <a:latin typeface="Monotype Corsiva" panose="03010101010201010101" pitchFamily="66" charset="0"/>
              </a:rPr>
              <a:t>公斤，</a:t>
            </a:r>
            <a:r>
              <a:rPr lang="zh-CN" altLang="en-US" sz="2600" dirty="0">
                <a:latin typeface="Monotype Corsiva" panose="03010101010201010101" pitchFamily="66" charset="0"/>
                <a:sym typeface="Symbol" panose="05050102010706020507" pitchFamily="18" charset="2"/>
              </a:rPr>
              <a:t></a:t>
            </a:r>
            <a:r>
              <a:rPr lang="en-US" altLang="zh-CN" sz="2600" i="1" dirty="0">
                <a:latin typeface="Times New Roman" panose="02020603050405020304" pitchFamily="18" charset="0"/>
              </a:rPr>
              <a:t>x</a:t>
            </a:r>
            <a:r>
              <a:rPr lang="en-US" altLang="zh-CN" sz="2600" baseline="-25000" dirty="0">
                <a:latin typeface="Times New Roman" panose="02020603050405020304" pitchFamily="18" charset="0"/>
              </a:rPr>
              <a:t>2</a:t>
            </a:r>
            <a:r>
              <a:rPr lang="en-US" altLang="zh-CN" sz="2600" dirty="0">
                <a:latin typeface="Monotype Corsiva" panose="03010101010201010101" pitchFamily="66" charset="0"/>
              </a:rPr>
              <a:t>= </a:t>
            </a:r>
            <a:r>
              <a:rPr lang="en-US" altLang="zh-CN" sz="2600" b="1" dirty="0"/>
              <a:t>44</a:t>
            </a:r>
            <a:r>
              <a:rPr lang="zh-CN" altLang="en-US" sz="2600" dirty="0">
                <a:latin typeface="Monotype Corsiva" panose="03010101010201010101" pitchFamily="66" charset="0"/>
              </a:rPr>
              <a:t>公斤。问这两种方法生产的产品平均抗拉强度是否有显著差别？ </a:t>
            </a:r>
            <a:r>
              <a:rPr lang="en-US" altLang="zh-CN" sz="2600" b="1" dirty="0"/>
              <a:t>(</a:t>
            </a:r>
            <a:r>
              <a:rPr lang="en-US" altLang="zh-CN" sz="2600" b="1" i="1" dirty="0">
                <a:latin typeface="Symbol" panose="05050102010706020507" pitchFamily="18" charset="2"/>
              </a:rPr>
              <a:t></a:t>
            </a:r>
            <a:r>
              <a:rPr lang="en-US" altLang="zh-CN" sz="2600" b="1" dirty="0"/>
              <a:t> = 0.05)</a:t>
            </a:r>
            <a:endParaRPr lang="en-US" altLang="zh-CN" sz="2600" b="1" dirty="0"/>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02" name="Rectangle 2"/>
          <p:cNvSpPr>
            <a:spLocks noGrp="1" noChangeArrowheads="1"/>
          </p:cNvSpPr>
          <p:nvPr>
            <p:ph type="title"/>
          </p:nvPr>
        </p:nvSpPr>
        <p:spPr>
          <a:noFill/>
        </p:spPr>
        <p:txBody>
          <a:bodyPr>
            <a:normAutofit fontScale="90000"/>
          </a:bodyPr>
          <a:lstStyle/>
          <a:p>
            <a:r>
              <a:rPr lang="zh-CN" altLang="en-US" sz="4000"/>
              <a:t>两个总体均值之差的检验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768003" name="Rectangle 3"/>
          <p:cNvSpPr>
            <a:spLocks noGrp="1" noChangeArrowheads="1"/>
          </p:cNvSpPr>
          <p:nvPr>
            <p:ph type="body" sz="half" idx="1"/>
          </p:nvPr>
        </p:nvSpPr>
        <p:spPr>
          <a:xfrm>
            <a:off x="2133600" y="1708150"/>
            <a:ext cx="3848100" cy="4114800"/>
          </a:xfrm>
          <a:noFill/>
        </p:spPr>
        <p:txBody>
          <a:bodyPr/>
          <a:lstStyle/>
          <a:p>
            <a:pPr marL="0" indent="0"/>
            <a:r>
              <a:rPr lang="en-US" altLang="zh-CN" sz="2800" b="1" dirty="0"/>
              <a:t>H</a:t>
            </a:r>
            <a:r>
              <a:rPr lang="en-US" altLang="zh-CN" sz="2000" b="1" dirty="0"/>
              <a:t>0</a:t>
            </a:r>
            <a:r>
              <a:rPr lang="en-US" altLang="zh-CN" sz="2800" b="1" dirty="0"/>
              <a:t>: </a:t>
            </a:r>
            <a:r>
              <a:rPr lang="en-US" altLang="zh-CN" sz="2800" b="1" dirty="0">
                <a:latin typeface="Symbol" panose="05050102010706020507" pitchFamily="18" charset="2"/>
              </a:rPr>
              <a:t></a:t>
            </a:r>
            <a:r>
              <a:rPr lang="en-US" altLang="zh-CN" sz="2800" b="1" baseline="-25000" dirty="0">
                <a:latin typeface="Symbol" panose="05050102010706020507" pitchFamily="18" charset="2"/>
              </a:rPr>
              <a:t>1</a:t>
            </a:r>
            <a:r>
              <a:rPr lang="en-US" altLang="zh-CN" sz="2800" b="1" dirty="0"/>
              <a:t>- </a:t>
            </a:r>
            <a:r>
              <a:rPr lang="en-US" altLang="zh-CN" sz="2800" b="1" dirty="0">
                <a:latin typeface="Symbol" panose="05050102010706020507" pitchFamily="18" charset="2"/>
              </a:rPr>
              <a:t></a:t>
            </a:r>
            <a:r>
              <a:rPr lang="en-US" altLang="zh-CN" sz="2800" b="1" baseline="-25000" dirty="0">
                <a:latin typeface="Symbol" panose="05050102010706020507" pitchFamily="18" charset="2"/>
              </a:rPr>
              <a:t>2</a:t>
            </a:r>
            <a:r>
              <a:rPr lang="en-US" altLang="zh-CN" sz="2800" b="1" dirty="0"/>
              <a:t> = 0</a:t>
            </a:r>
            <a:endParaRPr lang="en-US" altLang="zh-CN" sz="2800" b="1" dirty="0"/>
          </a:p>
          <a:p>
            <a:pPr marL="0" indent="0"/>
            <a:r>
              <a:rPr lang="en-US" altLang="zh-CN" sz="2800" b="1" dirty="0"/>
              <a:t>H</a:t>
            </a:r>
            <a:r>
              <a:rPr lang="en-US" altLang="zh-CN" sz="2000" b="1" dirty="0"/>
              <a:t>1</a:t>
            </a:r>
            <a:r>
              <a:rPr lang="en-US" altLang="zh-CN" sz="2800" b="1" dirty="0"/>
              <a:t>: </a:t>
            </a:r>
            <a:r>
              <a:rPr lang="en-US" altLang="zh-CN" sz="2800" b="1" dirty="0">
                <a:latin typeface="Symbol" panose="05050102010706020507" pitchFamily="18" charset="2"/>
              </a:rPr>
              <a:t></a:t>
            </a:r>
            <a:r>
              <a:rPr lang="en-US" altLang="zh-CN" sz="2800" b="1" baseline="-25000" dirty="0">
                <a:latin typeface="Symbol" panose="05050102010706020507" pitchFamily="18" charset="2"/>
              </a:rPr>
              <a:t>1</a:t>
            </a:r>
            <a:r>
              <a:rPr lang="en-US" altLang="zh-CN" sz="2800" b="1" dirty="0"/>
              <a:t>- </a:t>
            </a:r>
            <a:r>
              <a:rPr lang="en-US" altLang="zh-CN" sz="2800" b="1" dirty="0">
                <a:latin typeface="Symbol" panose="05050102010706020507" pitchFamily="18" charset="2"/>
              </a:rPr>
              <a:t></a:t>
            </a:r>
            <a:r>
              <a:rPr lang="en-US" altLang="zh-CN" sz="2800" b="1" baseline="-25000" dirty="0">
                <a:latin typeface="Symbol" panose="05050102010706020507" pitchFamily="18" charset="2"/>
              </a:rPr>
              <a:t>2</a:t>
            </a:r>
            <a:r>
              <a:rPr lang="en-US" altLang="zh-CN" sz="2800" b="1" dirty="0"/>
              <a:t> </a:t>
            </a:r>
            <a:r>
              <a:rPr lang="en-US" altLang="zh-CN" sz="2800" b="1" dirty="0">
                <a:sym typeface="Symbol" panose="05050102010706020507" pitchFamily="18" charset="2"/>
              </a:rPr>
              <a:t> </a:t>
            </a:r>
            <a:r>
              <a:rPr lang="en-US" altLang="zh-CN" sz="2800" b="1" dirty="0"/>
              <a:t>0</a:t>
            </a:r>
            <a:endParaRPr lang="en-US" altLang="zh-CN" sz="2800" b="1" dirty="0"/>
          </a:p>
          <a:p>
            <a:pPr marL="0" indent="0"/>
            <a:r>
              <a:rPr lang="en-US" altLang="zh-CN" sz="2800" b="1" dirty="0">
                <a:latin typeface="Symbol" panose="05050102010706020507" pitchFamily="18" charset="2"/>
              </a:rPr>
              <a:t></a:t>
            </a:r>
            <a:r>
              <a:rPr lang="en-US" altLang="zh-CN" sz="2800" b="1" dirty="0"/>
              <a:t> = 0.05</a:t>
            </a:r>
            <a:endParaRPr lang="en-US" altLang="zh-CN" sz="2800" b="1" dirty="0"/>
          </a:p>
          <a:p>
            <a:pPr marL="0" indent="0"/>
            <a:r>
              <a:rPr lang="en-US" altLang="zh-CN" sz="2800" b="1" i="1" dirty="0">
                <a:latin typeface="Times New Roman" panose="02020603050405020304" pitchFamily="18" charset="0"/>
              </a:rPr>
              <a:t>n</a:t>
            </a:r>
            <a:r>
              <a:rPr lang="en-US" altLang="zh-CN" sz="2400" b="1" baseline="-25000" dirty="0"/>
              <a:t>1</a:t>
            </a:r>
            <a:r>
              <a:rPr lang="en-US" altLang="zh-CN" sz="2800" b="1" dirty="0"/>
              <a:t> = 32</a:t>
            </a:r>
            <a:r>
              <a:rPr lang="zh-CN" altLang="en-US" sz="2800" b="1" dirty="0"/>
              <a:t>，</a:t>
            </a:r>
            <a:r>
              <a:rPr lang="en-US" altLang="zh-CN" sz="2800" b="1" i="1" dirty="0">
                <a:latin typeface="Times New Roman" panose="02020603050405020304" pitchFamily="18" charset="0"/>
              </a:rPr>
              <a:t>n</a:t>
            </a:r>
            <a:r>
              <a:rPr lang="en-US" altLang="zh-CN" sz="2400" b="1" baseline="-25000" dirty="0"/>
              <a:t>2</a:t>
            </a:r>
            <a:r>
              <a:rPr lang="en-US" altLang="zh-CN" sz="2400" b="1" dirty="0"/>
              <a:t> </a:t>
            </a:r>
            <a:r>
              <a:rPr lang="en-US" altLang="zh-CN" sz="2800" b="1" dirty="0"/>
              <a:t>= 40</a:t>
            </a:r>
            <a:endParaRPr lang="en-US" altLang="zh-CN" sz="2800" b="1" dirty="0"/>
          </a:p>
          <a:p>
            <a:pPr marL="0" indent="0">
              <a:spcBef>
                <a:spcPct val="24000"/>
              </a:spcBef>
            </a:pPr>
            <a:r>
              <a:rPr lang="zh-CN" altLang="en-US" sz="2800" b="1" dirty="0"/>
              <a:t>临界值</a:t>
            </a:r>
            <a:r>
              <a:rPr lang="en-US" altLang="zh-CN" sz="2800" b="1" dirty="0"/>
              <a:t>(s):</a:t>
            </a:r>
            <a:endParaRPr lang="en-US" altLang="zh-CN" sz="2800" b="1" dirty="0"/>
          </a:p>
          <a:p>
            <a:pPr marL="0" indent="0"/>
            <a:endParaRPr lang="en-US" altLang="zh-CN" sz="2800" b="1" dirty="0"/>
          </a:p>
        </p:txBody>
      </p:sp>
      <p:sp>
        <p:nvSpPr>
          <p:cNvPr id="768004" name="Rectangle 4"/>
          <p:cNvSpPr>
            <a:spLocks noChangeArrowheads="1"/>
          </p:cNvSpPr>
          <p:nvPr/>
        </p:nvSpPr>
        <p:spPr bwMode="auto">
          <a:xfrm>
            <a:off x="5638800" y="1738313"/>
            <a:ext cx="236220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latin typeface="Arial" panose="020B0604020202090204" pitchFamily="34" charset="0"/>
              </a:rPr>
              <a:t>检验统计量</a:t>
            </a:r>
            <a:r>
              <a:rPr lang="en-US" altLang="zh-CN" sz="2800" b="1">
                <a:latin typeface="Arial" panose="020B0604020202090204" pitchFamily="34" charset="0"/>
              </a:rPr>
              <a:t>:</a:t>
            </a:r>
            <a:endParaRPr lang="en-US" altLang="zh-CN" sz="2800" b="1">
              <a:latin typeface="Arial" panose="020B0604020202090204" pitchFamily="34" charset="0"/>
            </a:endParaRPr>
          </a:p>
        </p:txBody>
      </p:sp>
      <p:sp>
        <p:nvSpPr>
          <p:cNvPr id="768010" name="Rectangle 10"/>
          <p:cNvSpPr>
            <a:spLocks noChangeArrowheads="1"/>
          </p:cNvSpPr>
          <p:nvPr/>
        </p:nvSpPr>
        <p:spPr bwMode="auto">
          <a:xfrm>
            <a:off x="5715000" y="3657600"/>
            <a:ext cx="2362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latin typeface="Arial" panose="020B0604020202090204" pitchFamily="34" charset="0"/>
              </a:rPr>
              <a:t>决策</a:t>
            </a:r>
            <a:r>
              <a:rPr lang="en-US" altLang="zh-CN" sz="2800" b="1">
                <a:latin typeface="Arial" panose="020B0604020202090204" pitchFamily="34" charset="0"/>
              </a:rPr>
              <a:t>:</a:t>
            </a:r>
            <a:endParaRPr lang="en-US" altLang="zh-CN" sz="2800" b="1">
              <a:latin typeface="Arial" panose="020B0604020202090204" pitchFamily="34" charset="0"/>
            </a:endParaRPr>
          </a:p>
        </p:txBody>
      </p:sp>
      <p:sp>
        <p:nvSpPr>
          <p:cNvPr id="768011" name="Rectangle 11"/>
          <p:cNvSpPr>
            <a:spLocks noChangeArrowheads="1"/>
          </p:cNvSpPr>
          <p:nvPr/>
        </p:nvSpPr>
        <p:spPr bwMode="auto">
          <a:xfrm>
            <a:off x="5715000" y="4724400"/>
            <a:ext cx="1371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latin typeface="Arial" panose="020B0604020202090204" pitchFamily="34" charset="0"/>
              </a:rPr>
              <a:t>结论</a:t>
            </a:r>
            <a:r>
              <a:rPr lang="en-US" altLang="zh-CN" sz="2800" b="1">
                <a:latin typeface="Arial" panose="020B0604020202090204" pitchFamily="34" charset="0"/>
              </a:rPr>
              <a:t>:</a:t>
            </a:r>
            <a:r>
              <a:rPr lang="en-US" altLang="zh-CN" b="1">
                <a:latin typeface="Arial" panose="020B0604020202090204" pitchFamily="34" charset="0"/>
              </a:rPr>
              <a:t> </a:t>
            </a:r>
            <a:endParaRPr lang="en-US" altLang="zh-CN" b="1">
              <a:latin typeface="Arial" panose="020B0604020202090204" pitchFamily="34" charset="0"/>
            </a:endParaRPr>
          </a:p>
        </p:txBody>
      </p:sp>
      <p:sp>
        <p:nvSpPr>
          <p:cNvPr id="768012" name="Text Box 12"/>
          <p:cNvSpPr txBox="1">
            <a:spLocks noChangeArrowheads="1"/>
          </p:cNvSpPr>
          <p:nvPr/>
        </p:nvSpPr>
        <p:spPr bwMode="auto">
          <a:xfrm>
            <a:off x="5791200" y="4191000"/>
            <a:ext cx="42862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effectLst>
                  <a:outerShdw blurRad="38100" dist="38100" dir="2700000" algn="tl">
                    <a:srgbClr val="000000"/>
                  </a:outerShdw>
                </a:effectLst>
              </a:rPr>
              <a:t>在 </a:t>
            </a:r>
            <a:r>
              <a:rPr lang="zh-CN" altLang="en-US">
                <a:effectLst>
                  <a:outerShdw blurRad="38100" dist="38100" dir="2700000" algn="tl">
                    <a:srgbClr val="000000"/>
                  </a:outerShdw>
                </a:effectLst>
                <a:latin typeface="Symbol" panose="05050102010706020507" pitchFamily="18" charset="2"/>
              </a:rPr>
              <a:t></a:t>
            </a:r>
            <a:r>
              <a:rPr lang="zh-CN" altLang="en-US">
                <a:effectLst>
                  <a:outerShdw blurRad="38100" dist="38100" dir="2700000" algn="tl">
                    <a:srgbClr val="000000"/>
                  </a:outerShdw>
                </a:effectLst>
              </a:rPr>
              <a:t> </a:t>
            </a:r>
            <a:r>
              <a:rPr lang="en-US" altLang="zh-CN">
                <a:effectLst>
                  <a:outerShdw blurRad="38100" dist="38100" dir="2700000" algn="tl">
                    <a:srgbClr val="000000"/>
                  </a:outerShdw>
                </a:effectLst>
              </a:rPr>
              <a:t>= 0.05</a:t>
            </a:r>
            <a:r>
              <a:rPr lang="zh-CN" altLang="en-US">
                <a:effectLst>
                  <a:outerShdw blurRad="38100" dist="38100" dir="2700000" algn="tl">
                    <a:srgbClr val="000000"/>
                  </a:outerShdw>
                </a:effectLst>
              </a:rPr>
              <a:t>的水平上拒绝</a:t>
            </a:r>
            <a:r>
              <a:rPr lang="en-US" altLang="zh-CN">
                <a:effectLst>
                  <a:outerShdw blurRad="38100" dist="38100" dir="2700000" algn="tl">
                    <a:srgbClr val="000000"/>
                  </a:outerShdw>
                </a:effectLst>
              </a:rPr>
              <a:t>H</a:t>
            </a:r>
            <a:r>
              <a:rPr lang="en-US" altLang="zh-CN" baseline="-25000">
                <a:effectLst>
                  <a:outerShdw blurRad="38100" dist="38100" dir="2700000" algn="tl">
                    <a:srgbClr val="000000"/>
                  </a:outerShdw>
                </a:effectLst>
              </a:rPr>
              <a:t>0</a:t>
            </a:r>
            <a:endParaRPr lang="en-US" altLang="zh-CN" baseline="-25000">
              <a:effectLst>
                <a:outerShdw blurRad="38100" dist="38100" dir="2700000" algn="tl">
                  <a:srgbClr val="000000"/>
                </a:outerShdw>
              </a:effectLst>
            </a:endParaRPr>
          </a:p>
        </p:txBody>
      </p:sp>
      <p:sp>
        <p:nvSpPr>
          <p:cNvPr id="768013" name="Text Box 13"/>
          <p:cNvSpPr txBox="1">
            <a:spLocks noChangeArrowheads="1"/>
          </p:cNvSpPr>
          <p:nvPr/>
        </p:nvSpPr>
        <p:spPr bwMode="auto">
          <a:xfrm>
            <a:off x="5791200" y="5297489"/>
            <a:ext cx="44196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effectLst>
                  <a:outerShdw blurRad="38100" dist="38100" dir="2700000" algn="tl">
                    <a:srgbClr val="000000"/>
                  </a:outerShdw>
                </a:effectLst>
              </a:rPr>
              <a:t>有证据表明两种方法生产的产品其抗拉强度有显著差异</a:t>
            </a:r>
            <a:endParaRPr lang="zh-CN" altLang="en-US">
              <a:effectLst>
                <a:outerShdw blurRad="38100" dist="38100" dir="2700000" algn="tl">
                  <a:srgbClr val="000000"/>
                </a:outerShdw>
              </a:effectLst>
            </a:endParaRPr>
          </a:p>
        </p:txBody>
      </p:sp>
      <mc:AlternateContent xmlns:mc="http://schemas.openxmlformats.org/markup-compatibility/2006">
        <mc:Choice xmlns:a14="http://schemas.microsoft.com/office/drawing/2010/main" Requires="a14">
          <p:sp>
            <p:nvSpPr>
              <p:cNvPr id="768016" name="Object 16">
                <a:hlinkClick r:id="" action="ppaction://ole?verb=0"/>
              </p:cNvPr>
              <p:cNvSpPr txBox="1"/>
              <p:nvPr/>
            </p:nvSpPr>
            <p:spPr bwMode="auto">
              <a:xfrm>
                <a:off x="5724526" y="2284413"/>
                <a:ext cx="4487863" cy="1287462"/>
              </a:xfrm>
              <a:prstGeom prst="rect">
                <a:avLst/>
              </a:prstGeom>
              <a:noFill/>
              <a:ln>
                <a:noFill/>
              </a:ln>
              <a:effectLst>
                <a:outerShdw dist="17961" dir="2700000" algn="ctr" rotWithShape="0">
                  <a:schemeClr val="bg2"/>
                </a:outerShdw>
              </a:effectLst>
            </p:spPr>
            <p:txBody>
              <a:bodyPr>
                <a:normAutofit fontScale="85000" lnSpcReduction="10000"/>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𝑧</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𝑥</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𝑥</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num>
                        <m:den>
                          <m:rad>
                            <m:radPr>
                              <m:degHide m:val="on"/>
                              <m:ctrlPr>
                                <a:rPr lang="zh-CN" altLang="en-US" i="1">
                                  <a:solidFill>
                                    <a:srgbClr val="000000"/>
                                  </a:solidFill>
                                  <a:latin typeface="Cambria Math" panose="02040503050406030204" pitchFamily="18" charset="0"/>
                                </a:rPr>
                              </m:ctrlPr>
                            </m:radPr>
                            <m:deg/>
                            <m:e>
                              <m:f>
                                <m:fPr>
                                  <m:ctrlPr>
                                    <a:rPr lang="zh-CN" altLang="en-US" i="1">
                                      <a:solidFill>
                                        <a:srgbClr val="000000"/>
                                      </a:solidFill>
                                      <a:latin typeface="Cambria Math" panose="02040503050406030204" pitchFamily="18" charset="0"/>
                                    </a:rPr>
                                  </m:ctrlPr>
                                </m:fPr>
                                <m:num>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𝜎</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sSubSup>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𝜎</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den>
                              </m:f>
                            </m:e>
                          </m:rad>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50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44</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num>
                        <m:den>
                          <m:rad>
                            <m:radPr>
                              <m:degHide m:val="on"/>
                              <m:ctrlPr>
                                <a:rPr lang="zh-CN" altLang="en-US" i="1">
                                  <a:solidFill>
                                    <a:srgbClr val="000000"/>
                                  </a:solidFill>
                                  <a:latin typeface="Cambria Math" panose="02040503050406030204" pitchFamily="18" charset="0"/>
                                </a:rPr>
                              </m:ctrlPr>
                            </m:radPr>
                            <m:deg/>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64</m:t>
                                  </m:r>
                                </m:num>
                                <m:den>
                                  <m:r>
                                    <a:rPr lang="zh-CN" altLang="en-US" i="1">
                                      <a:solidFill>
                                        <a:srgbClr val="000000"/>
                                      </a:solidFill>
                                      <a:latin typeface="Cambria Math" panose="02040503050406030204" pitchFamily="18" charset="0"/>
                                    </a:rPr>
                                    <m:t>32</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100</m:t>
                                  </m:r>
                                </m:num>
                                <m:den>
                                  <m:r>
                                    <a:rPr lang="zh-CN" altLang="en-US" i="1">
                                      <a:solidFill>
                                        <a:srgbClr val="000000"/>
                                      </a:solidFill>
                                      <a:latin typeface="Cambria Math" panose="02040503050406030204" pitchFamily="18" charset="0"/>
                                    </a:rPr>
                                    <m:t>40</m:t>
                                  </m:r>
                                </m:den>
                              </m:f>
                            </m:e>
                          </m:rad>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83</m:t>
                      </m:r>
                    </m:oMath>
                  </m:oMathPara>
                </a14:m>
                <a:endParaRPr lang="zh-CN" altLang="en-US"/>
              </a:p>
            </p:txBody>
          </p:sp>
        </mc:Choice>
        <mc:Fallback>
          <p:sp>
            <p:nvSpPr>
              <p:cNvPr id="768016" name="Object 16">
                <a:hlinkClick r:id="" action="ppaction://ole?verb=0"/>
              </p:cNvPr>
              <p:cNvSpPr txBox="1">
                <a:spLocks noRot="1" noChangeAspect="1" noMove="1" noResize="1" noEditPoints="1" noAdjustHandles="1" noChangeArrowheads="1" noChangeShapeType="1" noTextEdit="1"/>
              </p:cNvSpPr>
              <p:nvPr/>
            </p:nvSpPr>
            <p:spPr bwMode="auto">
              <a:xfrm>
                <a:off x="5724526" y="2284413"/>
                <a:ext cx="4487863" cy="1287462"/>
              </a:xfrm>
              <a:prstGeom prst="rect">
                <a:avLst/>
              </a:prstGeom>
              <a:blipFill rotWithShape="1">
                <a:blip r:embed="rId1"/>
                <a:stretch>
                  <a:fillRect t="-25" r="-276" b="-986"/>
                </a:stretch>
              </a:blipFill>
              <a:ln>
                <a:noFill/>
              </a:ln>
              <a:effectLst>
                <a:outerShdw dist="17961" dir="2700000" algn="ctr" rotWithShape="0">
                  <a:schemeClr val="bg2"/>
                </a:outerShdw>
              </a:effectLst>
            </p:spPr>
            <p:txBody>
              <a:bodyPr/>
              <a:lstStyle/>
              <a:p>
                <a:r>
                  <a:rPr lang="zh-CN" altLang="en-US">
                    <a:noFill/>
                  </a:rPr>
                  <a:t> </a:t>
                </a:r>
              </a:p>
            </p:txBody>
          </p:sp>
        </mc:Fallback>
      </mc:AlternateContent>
      <p:grpSp>
        <p:nvGrpSpPr>
          <p:cNvPr id="768017" name="Group 17"/>
          <p:cNvGrpSpPr/>
          <p:nvPr/>
        </p:nvGrpSpPr>
        <p:grpSpPr bwMode="auto">
          <a:xfrm>
            <a:off x="2141539" y="4368800"/>
            <a:ext cx="2960687" cy="1836738"/>
            <a:chOff x="449" y="2824"/>
            <a:chExt cx="1865" cy="1157"/>
          </a:xfrm>
        </p:grpSpPr>
        <p:sp>
          <p:nvSpPr>
            <p:cNvPr id="768018" name="Line 18"/>
            <p:cNvSpPr>
              <a:spLocks noChangeShapeType="1"/>
            </p:cNvSpPr>
            <p:nvPr/>
          </p:nvSpPr>
          <p:spPr bwMode="auto">
            <a:xfrm>
              <a:off x="1376" y="2871"/>
              <a:ext cx="1" cy="848"/>
            </a:xfrm>
            <a:prstGeom prst="line">
              <a:avLst/>
            </a:prstGeom>
            <a:noFill/>
            <a:ln w="17463">
              <a:solidFill>
                <a:schemeClr val="tx1"/>
              </a:solidFill>
              <a:roun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68019" name="Freeform 19" descr="60%"/>
            <p:cNvSpPr/>
            <p:nvPr/>
          </p:nvSpPr>
          <p:spPr bwMode="auto">
            <a:xfrm>
              <a:off x="575" y="3248"/>
              <a:ext cx="483" cy="484"/>
            </a:xfrm>
            <a:custGeom>
              <a:avLst/>
              <a:gdLst>
                <a:gd name="T0" fmla="*/ 447 w 447"/>
                <a:gd name="T1" fmla="*/ 0 h 436"/>
                <a:gd name="T2" fmla="*/ 447 w 447"/>
                <a:gd name="T3" fmla="*/ 436 h 436"/>
                <a:gd name="T4" fmla="*/ 0 w 447"/>
                <a:gd name="T5" fmla="*/ 436 h 436"/>
                <a:gd name="T6" fmla="*/ 54 w 447"/>
                <a:gd name="T7" fmla="*/ 412 h 436"/>
                <a:gd name="T8" fmla="*/ 106 w 447"/>
                <a:gd name="T9" fmla="*/ 386 h 436"/>
                <a:gd name="T10" fmla="*/ 156 w 447"/>
                <a:gd name="T11" fmla="*/ 355 h 436"/>
                <a:gd name="T12" fmla="*/ 203 w 447"/>
                <a:gd name="T13" fmla="*/ 321 h 436"/>
                <a:gd name="T14" fmla="*/ 248 w 447"/>
                <a:gd name="T15" fmla="*/ 284 h 436"/>
                <a:gd name="T16" fmla="*/ 290 w 447"/>
                <a:gd name="T17" fmla="*/ 243 h 436"/>
                <a:gd name="T18" fmla="*/ 329 w 447"/>
                <a:gd name="T19" fmla="*/ 199 h 436"/>
                <a:gd name="T20" fmla="*/ 364 w 447"/>
                <a:gd name="T21" fmla="*/ 152 h 436"/>
                <a:gd name="T22" fmla="*/ 395 w 447"/>
                <a:gd name="T23" fmla="*/ 104 h 436"/>
                <a:gd name="T24" fmla="*/ 423 w 447"/>
                <a:gd name="T25" fmla="*/ 54 h 436"/>
                <a:gd name="T26" fmla="*/ 447 w 447"/>
                <a:gd name="T27"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7" h="436">
                  <a:moveTo>
                    <a:pt x="447" y="0"/>
                  </a:moveTo>
                  <a:lnTo>
                    <a:pt x="447" y="436"/>
                  </a:lnTo>
                  <a:lnTo>
                    <a:pt x="0" y="436"/>
                  </a:lnTo>
                  <a:lnTo>
                    <a:pt x="54" y="412"/>
                  </a:lnTo>
                  <a:lnTo>
                    <a:pt x="106" y="386"/>
                  </a:lnTo>
                  <a:lnTo>
                    <a:pt x="156" y="355"/>
                  </a:lnTo>
                  <a:lnTo>
                    <a:pt x="203" y="321"/>
                  </a:lnTo>
                  <a:lnTo>
                    <a:pt x="248" y="284"/>
                  </a:lnTo>
                  <a:lnTo>
                    <a:pt x="290" y="243"/>
                  </a:lnTo>
                  <a:lnTo>
                    <a:pt x="329" y="199"/>
                  </a:lnTo>
                  <a:lnTo>
                    <a:pt x="364" y="152"/>
                  </a:lnTo>
                  <a:lnTo>
                    <a:pt x="395" y="104"/>
                  </a:lnTo>
                  <a:lnTo>
                    <a:pt x="423" y="54"/>
                  </a:lnTo>
                  <a:lnTo>
                    <a:pt x="447"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68020" name="Freeform 20" descr="60%"/>
            <p:cNvSpPr/>
            <p:nvPr/>
          </p:nvSpPr>
          <p:spPr bwMode="auto">
            <a:xfrm>
              <a:off x="1721" y="3270"/>
              <a:ext cx="484" cy="462"/>
            </a:xfrm>
            <a:custGeom>
              <a:avLst/>
              <a:gdLst>
                <a:gd name="T0" fmla="*/ 0 w 424"/>
                <a:gd name="T1" fmla="*/ 0 h 414"/>
                <a:gd name="T2" fmla="*/ 0 w 424"/>
                <a:gd name="T3" fmla="*/ 414 h 414"/>
                <a:gd name="T4" fmla="*/ 424 w 424"/>
                <a:gd name="T5" fmla="*/ 414 h 414"/>
                <a:gd name="T6" fmla="*/ 372 w 424"/>
                <a:gd name="T7" fmla="*/ 392 h 414"/>
                <a:gd name="T8" fmla="*/ 323 w 424"/>
                <a:gd name="T9" fmla="*/ 366 h 414"/>
                <a:gd name="T10" fmla="*/ 276 w 424"/>
                <a:gd name="T11" fmla="*/ 337 h 414"/>
                <a:gd name="T12" fmla="*/ 230 w 424"/>
                <a:gd name="T13" fmla="*/ 304 h 414"/>
                <a:gd name="T14" fmla="*/ 188 w 424"/>
                <a:gd name="T15" fmla="*/ 268 h 414"/>
                <a:gd name="T16" fmla="*/ 148 w 424"/>
                <a:gd name="T17" fmla="*/ 230 h 414"/>
                <a:gd name="T18" fmla="*/ 112 w 424"/>
                <a:gd name="T19" fmla="*/ 188 h 414"/>
                <a:gd name="T20" fmla="*/ 78 w 424"/>
                <a:gd name="T21" fmla="*/ 145 h 414"/>
                <a:gd name="T22" fmla="*/ 48 w 424"/>
                <a:gd name="T23" fmla="*/ 99 h 414"/>
                <a:gd name="T24" fmla="*/ 22 w 424"/>
                <a:gd name="T25" fmla="*/ 50 h 414"/>
                <a:gd name="T26" fmla="*/ 0 w 424"/>
                <a:gd name="T27"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4" h="414">
                  <a:moveTo>
                    <a:pt x="0" y="0"/>
                  </a:moveTo>
                  <a:lnTo>
                    <a:pt x="0" y="414"/>
                  </a:lnTo>
                  <a:lnTo>
                    <a:pt x="424" y="414"/>
                  </a:lnTo>
                  <a:lnTo>
                    <a:pt x="372" y="392"/>
                  </a:lnTo>
                  <a:lnTo>
                    <a:pt x="323" y="366"/>
                  </a:lnTo>
                  <a:lnTo>
                    <a:pt x="276" y="337"/>
                  </a:lnTo>
                  <a:lnTo>
                    <a:pt x="230" y="304"/>
                  </a:lnTo>
                  <a:lnTo>
                    <a:pt x="188" y="268"/>
                  </a:lnTo>
                  <a:lnTo>
                    <a:pt x="148" y="230"/>
                  </a:lnTo>
                  <a:lnTo>
                    <a:pt x="112" y="188"/>
                  </a:lnTo>
                  <a:lnTo>
                    <a:pt x="78" y="145"/>
                  </a:lnTo>
                  <a:lnTo>
                    <a:pt x="48" y="99"/>
                  </a:lnTo>
                  <a:lnTo>
                    <a:pt x="22" y="50"/>
                  </a:lnTo>
                  <a:lnTo>
                    <a:pt x="0"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768021" name="Group 21"/>
            <p:cNvGrpSpPr/>
            <p:nvPr/>
          </p:nvGrpSpPr>
          <p:grpSpPr bwMode="auto">
            <a:xfrm>
              <a:off x="472" y="2857"/>
              <a:ext cx="1808" cy="838"/>
              <a:chOff x="472" y="2857"/>
              <a:chExt cx="1808" cy="838"/>
            </a:xfrm>
          </p:grpSpPr>
          <p:sp>
            <p:nvSpPr>
              <p:cNvPr id="768022" name="Freeform 22"/>
              <p:cNvSpPr/>
              <p:nvPr/>
            </p:nvSpPr>
            <p:spPr bwMode="auto">
              <a:xfrm>
                <a:off x="1376" y="2857"/>
                <a:ext cx="904" cy="838"/>
              </a:xfrm>
              <a:custGeom>
                <a:avLst/>
                <a:gdLst>
                  <a:gd name="T0" fmla="*/ 904 w 904"/>
                  <a:gd name="T1" fmla="*/ 838 h 838"/>
                  <a:gd name="T2" fmla="*/ 809 w 904"/>
                  <a:gd name="T3" fmla="*/ 828 h 838"/>
                  <a:gd name="T4" fmla="*/ 762 w 904"/>
                  <a:gd name="T5" fmla="*/ 818 h 838"/>
                  <a:gd name="T6" fmla="*/ 714 w 904"/>
                  <a:gd name="T7" fmla="*/ 805 h 838"/>
                  <a:gd name="T8" fmla="*/ 667 w 904"/>
                  <a:gd name="T9" fmla="*/ 785 h 838"/>
                  <a:gd name="T10" fmla="*/ 619 w 904"/>
                  <a:gd name="T11" fmla="*/ 759 h 838"/>
                  <a:gd name="T12" fmla="*/ 572 w 904"/>
                  <a:gd name="T13" fmla="*/ 724 h 838"/>
                  <a:gd name="T14" fmla="*/ 476 w 904"/>
                  <a:gd name="T15" fmla="*/ 627 h 838"/>
                  <a:gd name="T16" fmla="*/ 381 w 904"/>
                  <a:gd name="T17" fmla="*/ 491 h 838"/>
                  <a:gd name="T18" fmla="*/ 286 w 904"/>
                  <a:gd name="T19" fmla="*/ 326 h 838"/>
                  <a:gd name="T20" fmla="*/ 239 w 904"/>
                  <a:gd name="T21" fmla="*/ 243 h 838"/>
                  <a:gd name="T22" fmla="*/ 191 w 904"/>
                  <a:gd name="T23" fmla="*/ 165 h 838"/>
                  <a:gd name="T24" fmla="*/ 144 w 904"/>
                  <a:gd name="T25" fmla="*/ 98 h 838"/>
                  <a:gd name="T26" fmla="*/ 95 w 904"/>
                  <a:gd name="T27" fmla="*/ 44 h 838"/>
                  <a:gd name="T28" fmla="*/ 48 w 904"/>
                  <a:gd name="T29" fmla="*/ 11 h 838"/>
                  <a:gd name="T30" fmla="*/ 0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904" y="838"/>
                    </a:moveTo>
                    <a:lnTo>
                      <a:pt x="809" y="828"/>
                    </a:lnTo>
                    <a:lnTo>
                      <a:pt x="762" y="818"/>
                    </a:lnTo>
                    <a:lnTo>
                      <a:pt x="714" y="805"/>
                    </a:lnTo>
                    <a:lnTo>
                      <a:pt x="667" y="785"/>
                    </a:lnTo>
                    <a:lnTo>
                      <a:pt x="619" y="759"/>
                    </a:lnTo>
                    <a:lnTo>
                      <a:pt x="572" y="724"/>
                    </a:lnTo>
                    <a:lnTo>
                      <a:pt x="476" y="627"/>
                    </a:lnTo>
                    <a:lnTo>
                      <a:pt x="381" y="491"/>
                    </a:lnTo>
                    <a:lnTo>
                      <a:pt x="286" y="326"/>
                    </a:lnTo>
                    <a:lnTo>
                      <a:pt x="239" y="243"/>
                    </a:lnTo>
                    <a:lnTo>
                      <a:pt x="191" y="165"/>
                    </a:lnTo>
                    <a:lnTo>
                      <a:pt x="144" y="98"/>
                    </a:lnTo>
                    <a:lnTo>
                      <a:pt x="95" y="44"/>
                    </a:lnTo>
                    <a:lnTo>
                      <a:pt x="48" y="11"/>
                    </a:lnTo>
                    <a:lnTo>
                      <a:pt x="0"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023" name="Freeform 23"/>
              <p:cNvSpPr/>
              <p:nvPr/>
            </p:nvSpPr>
            <p:spPr bwMode="auto">
              <a:xfrm>
                <a:off x="472" y="2857"/>
                <a:ext cx="904" cy="838"/>
              </a:xfrm>
              <a:custGeom>
                <a:avLst/>
                <a:gdLst>
                  <a:gd name="T0" fmla="*/ 0 w 904"/>
                  <a:gd name="T1" fmla="*/ 838 h 838"/>
                  <a:gd name="T2" fmla="*/ 95 w 904"/>
                  <a:gd name="T3" fmla="*/ 828 h 838"/>
                  <a:gd name="T4" fmla="*/ 144 w 904"/>
                  <a:gd name="T5" fmla="*/ 818 h 838"/>
                  <a:gd name="T6" fmla="*/ 191 w 904"/>
                  <a:gd name="T7" fmla="*/ 805 h 838"/>
                  <a:gd name="T8" fmla="*/ 238 w 904"/>
                  <a:gd name="T9" fmla="*/ 785 h 838"/>
                  <a:gd name="T10" fmla="*/ 286 w 904"/>
                  <a:gd name="T11" fmla="*/ 759 h 838"/>
                  <a:gd name="T12" fmla="*/ 333 w 904"/>
                  <a:gd name="T13" fmla="*/ 724 h 838"/>
                  <a:gd name="T14" fmla="*/ 429 w 904"/>
                  <a:gd name="T15" fmla="*/ 627 h 838"/>
                  <a:gd name="T16" fmla="*/ 523 w 904"/>
                  <a:gd name="T17" fmla="*/ 491 h 838"/>
                  <a:gd name="T18" fmla="*/ 619 w 904"/>
                  <a:gd name="T19" fmla="*/ 326 h 838"/>
                  <a:gd name="T20" fmla="*/ 667 w 904"/>
                  <a:gd name="T21" fmla="*/ 243 h 838"/>
                  <a:gd name="T22" fmla="*/ 714 w 904"/>
                  <a:gd name="T23" fmla="*/ 165 h 838"/>
                  <a:gd name="T24" fmla="*/ 762 w 904"/>
                  <a:gd name="T25" fmla="*/ 98 h 838"/>
                  <a:gd name="T26" fmla="*/ 809 w 904"/>
                  <a:gd name="T27" fmla="*/ 44 h 838"/>
                  <a:gd name="T28" fmla="*/ 857 w 904"/>
                  <a:gd name="T29" fmla="*/ 11 h 838"/>
                  <a:gd name="T30" fmla="*/ 904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0" y="838"/>
                    </a:moveTo>
                    <a:lnTo>
                      <a:pt x="95" y="828"/>
                    </a:lnTo>
                    <a:lnTo>
                      <a:pt x="144" y="818"/>
                    </a:lnTo>
                    <a:lnTo>
                      <a:pt x="191" y="805"/>
                    </a:lnTo>
                    <a:lnTo>
                      <a:pt x="238" y="785"/>
                    </a:lnTo>
                    <a:lnTo>
                      <a:pt x="286" y="759"/>
                    </a:lnTo>
                    <a:lnTo>
                      <a:pt x="333" y="724"/>
                    </a:lnTo>
                    <a:lnTo>
                      <a:pt x="429" y="627"/>
                    </a:lnTo>
                    <a:lnTo>
                      <a:pt x="523" y="491"/>
                    </a:lnTo>
                    <a:lnTo>
                      <a:pt x="619" y="326"/>
                    </a:lnTo>
                    <a:lnTo>
                      <a:pt x="667" y="243"/>
                    </a:lnTo>
                    <a:lnTo>
                      <a:pt x="714" y="165"/>
                    </a:lnTo>
                    <a:lnTo>
                      <a:pt x="762" y="98"/>
                    </a:lnTo>
                    <a:lnTo>
                      <a:pt x="809" y="44"/>
                    </a:lnTo>
                    <a:lnTo>
                      <a:pt x="857" y="11"/>
                    </a:lnTo>
                    <a:lnTo>
                      <a:pt x="904"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68024" name="Line 24"/>
            <p:cNvSpPr>
              <a:spLocks noChangeShapeType="1"/>
            </p:cNvSpPr>
            <p:nvPr/>
          </p:nvSpPr>
          <p:spPr bwMode="auto">
            <a:xfrm>
              <a:off x="1946" y="3692"/>
              <a:ext cx="1" cy="8"/>
            </a:xfrm>
            <a:prstGeom prst="line">
              <a:avLst/>
            </a:prstGeom>
            <a:noFill/>
            <a:ln w="25400">
              <a:solidFill>
                <a:srgbClr val="CDCDCD"/>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025" name="Line 25"/>
            <p:cNvSpPr>
              <a:spLocks noChangeShapeType="1"/>
            </p:cNvSpPr>
            <p:nvPr/>
          </p:nvSpPr>
          <p:spPr bwMode="auto">
            <a:xfrm>
              <a:off x="1762" y="3692"/>
              <a:ext cx="1" cy="8"/>
            </a:xfrm>
            <a:prstGeom prst="line">
              <a:avLst/>
            </a:prstGeom>
            <a:noFill/>
            <a:ln w="25400">
              <a:solidFill>
                <a:srgbClr val="CDCDCD"/>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026" name="Line 26"/>
            <p:cNvSpPr>
              <a:spLocks noChangeShapeType="1"/>
            </p:cNvSpPr>
            <p:nvPr/>
          </p:nvSpPr>
          <p:spPr bwMode="auto">
            <a:xfrm>
              <a:off x="841" y="3692"/>
              <a:ext cx="1" cy="8"/>
            </a:xfrm>
            <a:prstGeom prst="line">
              <a:avLst/>
            </a:prstGeom>
            <a:noFill/>
            <a:ln w="25400">
              <a:solidFill>
                <a:srgbClr val="CDCDCD"/>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768027" name="Group 27"/>
            <p:cNvGrpSpPr/>
            <p:nvPr/>
          </p:nvGrpSpPr>
          <p:grpSpPr bwMode="auto">
            <a:xfrm>
              <a:off x="449" y="3039"/>
              <a:ext cx="1865" cy="697"/>
              <a:chOff x="449" y="3003"/>
              <a:chExt cx="1865" cy="697"/>
            </a:xfrm>
          </p:grpSpPr>
          <p:sp>
            <p:nvSpPr>
              <p:cNvPr id="768028" name="Freeform 28"/>
              <p:cNvSpPr/>
              <p:nvPr/>
            </p:nvSpPr>
            <p:spPr bwMode="auto">
              <a:xfrm>
                <a:off x="472" y="3003"/>
                <a:ext cx="1842" cy="689"/>
              </a:xfrm>
              <a:custGeom>
                <a:avLst/>
                <a:gdLst>
                  <a:gd name="T0" fmla="*/ 0 w 1842"/>
                  <a:gd name="T1" fmla="*/ 0 h 689"/>
                  <a:gd name="T2" fmla="*/ 0 w 1842"/>
                  <a:gd name="T3" fmla="*/ 689 h 689"/>
                  <a:gd name="T4" fmla="*/ 1842 w 1842"/>
                  <a:gd name="T5" fmla="*/ 689 h 689"/>
                </a:gdLst>
                <a:ahLst/>
                <a:cxnLst>
                  <a:cxn ang="0">
                    <a:pos x="T0" y="T1"/>
                  </a:cxn>
                  <a:cxn ang="0">
                    <a:pos x="T2" y="T3"/>
                  </a:cxn>
                  <a:cxn ang="0">
                    <a:pos x="T4" y="T5"/>
                  </a:cxn>
                </a:cxnLst>
                <a:rect l="0" t="0" r="r" b="b"/>
                <a:pathLst>
                  <a:path w="1842" h="689">
                    <a:moveTo>
                      <a:pt x="0" y="0"/>
                    </a:moveTo>
                    <a:lnTo>
                      <a:pt x="0" y="689"/>
                    </a:lnTo>
                    <a:lnTo>
                      <a:pt x="1842" y="689"/>
                    </a:lnTo>
                  </a:path>
                </a:pathLst>
              </a:custGeom>
              <a:noFill/>
              <a:ln w="19050" cmpd="sng">
                <a:solidFill>
                  <a:srgbClr val="F0F0F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68029" name="Group 29"/>
              <p:cNvGrpSpPr/>
              <p:nvPr/>
            </p:nvGrpSpPr>
            <p:grpSpPr bwMode="auto">
              <a:xfrm>
                <a:off x="449" y="3003"/>
                <a:ext cx="209" cy="697"/>
                <a:chOff x="449" y="3003"/>
                <a:chExt cx="209" cy="697"/>
              </a:xfrm>
            </p:grpSpPr>
            <p:sp>
              <p:nvSpPr>
                <p:cNvPr id="768030" name="Line 30"/>
                <p:cNvSpPr>
                  <a:spLocks noChangeShapeType="1"/>
                </p:cNvSpPr>
                <p:nvPr/>
              </p:nvSpPr>
              <p:spPr bwMode="auto">
                <a:xfrm>
                  <a:off x="449" y="3003"/>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68031" name="Line 31"/>
                <p:cNvSpPr>
                  <a:spLocks noChangeShapeType="1"/>
                </p:cNvSpPr>
                <p:nvPr/>
              </p:nvSpPr>
              <p:spPr bwMode="auto">
                <a:xfrm>
                  <a:off x="449" y="3072"/>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68032" name="Line 32"/>
                <p:cNvSpPr>
                  <a:spLocks noChangeShapeType="1"/>
                </p:cNvSpPr>
                <p:nvPr/>
              </p:nvSpPr>
              <p:spPr bwMode="auto">
                <a:xfrm>
                  <a:off x="449" y="3142"/>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68033" name="Line 33"/>
                <p:cNvSpPr>
                  <a:spLocks noChangeShapeType="1"/>
                </p:cNvSpPr>
                <p:nvPr/>
              </p:nvSpPr>
              <p:spPr bwMode="auto">
                <a:xfrm>
                  <a:off x="449" y="3210"/>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68034" name="Line 34"/>
                <p:cNvSpPr>
                  <a:spLocks noChangeShapeType="1"/>
                </p:cNvSpPr>
                <p:nvPr/>
              </p:nvSpPr>
              <p:spPr bwMode="auto">
                <a:xfrm>
                  <a:off x="449" y="3279"/>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68035" name="Line 35"/>
                <p:cNvSpPr>
                  <a:spLocks noChangeShapeType="1"/>
                </p:cNvSpPr>
                <p:nvPr/>
              </p:nvSpPr>
              <p:spPr bwMode="auto">
                <a:xfrm>
                  <a:off x="449" y="3347"/>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68036" name="Line 36"/>
                <p:cNvSpPr>
                  <a:spLocks noChangeShapeType="1"/>
                </p:cNvSpPr>
                <p:nvPr/>
              </p:nvSpPr>
              <p:spPr bwMode="auto">
                <a:xfrm>
                  <a:off x="449" y="3417"/>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68037" name="Line 37"/>
                <p:cNvSpPr>
                  <a:spLocks noChangeShapeType="1"/>
                </p:cNvSpPr>
                <p:nvPr/>
              </p:nvSpPr>
              <p:spPr bwMode="auto">
                <a:xfrm>
                  <a:off x="449" y="3485"/>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68038" name="Line 38"/>
                <p:cNvSpPr>
                  <a:spLocks noChangeShapeType="1"/>
                </p:cNvSpPr>
                <p:nvPr/>
              </p:nvSpPr>
              <p:spPr bwMode="auto">
                <a:xfrm>
                  <a:off x="449" y="3554"/>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68039" name="Line 39"/>
                <p:cNvSpPr>
                  <a:spLocks noChangeShapeType="1"/>
                </p:cNvSpPr>
                <p:nvPr/>
              </p:nvSpPr>
              <p:spPr bwMode="auto">
                <a:xfrm>
                  <a:off x="449" y="3623"/>
                  <a:ext cx="23" cy="1"/>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68040" name="Line 40"/>
                <p:cNvSpPr>
                  <a:spLocks noChangeShapeType="1"/>
                </p:cNvSpPr>
                <p:nvPr/>
              </p:nvSpPr>
              <p:spPr bwMode="auto">
                <a:xfrm>
                  <a:off x="657" y="3692"/>
                  <a:ext cx="1" cy="8"/>
                </a:xfrm>
                <a:prstGeom prst="line">
                  <a:avLst/>
                </a:prstGeom>
                <a:noFill/>
                <a:ln w="19050">
                  <a:solidFill>
                    <a:srgbClr val="F0F0F0"/>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sp>
          <p:nvSpPr>
            <p:cNvPr id="768041" name="Rectangle 41"/>
            <p:cNvSpPr>
              <a:spLocks noChangeArrowheads="1"/>
            </p:cNvSpPr>
            <p:nvPr/>
          </p:nvSpPr>
          <p:spPr bwMode="auto">
            <a:xfrm>
              <a:off x="2167" y="3729"/>
              <a:ext cx="1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600">
                  <a:solidFill>
                    <a:srgbClr val="F0F0F0"/>
                  </a:solidFill>
                  <a:effectLst>
                    <a:outerShdw blurRad="38100" dist="38100" dir="2700000" algn="tl">
                      <a:srgbClr val="000000"/>
                    </a:outerShdw>
                  </a:effectLst>
                </a:rPr>
                <a:t>Z</a:t>
              </a:r>
              <a:endParaRPr lang="en-US" altLang="zh-CN" sz="2600">
                <a:solidFill>
                  <a:srgbClr val="F0F0F0"/>
                </a:solidFill>
                <a:effectLst>
                  <a:outerShdw blurRad="38100" dist="38100" dir="2700000" algn="tl">
                    <a:srgbClr val="000000"/>
                  </a:outerShdw>
                </a:effectLst>
              </a:endParaRPr>
            </a:p>
          </p:txBody>
        </p:sp>
        <p:sp>
          <p:nvSpPr>
            <p:cNvPr id="768042" name="Rectangle 42"/>
            <p:cNvSpPr>
              <a:spLocks noChangeArrowheads="1"/>
            </p:cNvSpPr>
            <p:nvPr/>
          </p:nvSpPr>
          <p:spPr bwMode="auto">
            <a:xfrm>
              <a:off x="1315" y="3726"/>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600">
                  <a:solidFill>
                    <a:srgbClr val="F0F0F0"/>
                  </a:solidFill>
                  <a:effectLst>
                    <a:outerShdw blurRad="38100" dist="38100" dir="2700000" algn="tl">
                      <a:srgbClr val="000000"/>
                    </a:outerShdw>
                  </a:effectLst>
                </a:rPr>
                <a:t>0</a:t>
              </a:r>
              <a:endParaRPr lang="en-US" altLang="zh-CN" sz="2600">
                <a:solidFill>
                  <a:srgbClr val="F0F0F0"/>
                </a:solidFill>
                <a:effectLst>
                  <a:outerShdw blurRad="38100" dist="38100" dir="2700000" algn="tl">
                    <a:srgbClr val="000000"/>
                  </a:outerShdw>
                </a:effectLst>
              </a:endParaRPr>
            </a:p>
          </p:txBody>
        </p:sp>
        <p:sp>
          <p:nvSpPr>
            <p:cNvPr id="768043" name="Rectangle 43"/>
            <p:cNvSpPr>
              <a:spLocks noChangeArrowheads="1"/>
            </p:cNvSpPr>
            <p:nvPr/>
          </p:nvSpPr>
          <p:spPr bwMode="auto">
            <a:xfrm>
              <a:off x="1563" y="3750"/>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solidFill>
                    <a:srgbClr val="F0F0F0"/>
                  </a:solidFill>
                  <a:effectLst>
                    <a:outerShdw blurRad="38100" dist="38100" dir="2700000" algn="tl">
                      <a:srgbClr val="000000"/>
                    </a:outerShdw>
                  </a:effectLst>
                </a:rPr>
                <a:t>1.96</a:t>
              </a:r>
              <a:endParaRPr lang="en-US" altLang="zh-CN">
                <a:solidFill>
                  <a:srgbClr val="F0F0F0"/>
                </a:solidFill>
                <a:effectLst>
                  <a:outerShdw blurRad="38100" dist="38100" dir="2700000" algn="tl">
                    <a:srgbClr val="000000"/>
                  </a:outerShdw>
                </a:effectLst>
              </a:endParaRPr>
            </a:p>
          </p:txBody>
        </p:sp>
        <p:sp>
          <p:nvSpPr>
            <p:cNvPr id="768044" name="Rectangle 44"/>
            <p:cNvSpPr>
              <a:spLocks noChangeArrowheads="1"/>
            </p:cNvSpPr>
            <p:nvPr/>
          </p:nvSpPr>
          <p:spPr bwMode="auto">
            <a:xfrm>
              <a:off x="785" y="3762"/>
              <a:ext cx="3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solidFill>
                    <a:srgbClr val="F0F0F0"/>
                  </a:solidFill>
                  <a:effectLst>
                    <a:outerShdw blurRad="38100" dist="38100" dir="2700000" algn="tl">
                      <a:srgbClr val="000000"/>
                    </a:outerShdw>
                  </a:effectLst>
                </a:rPr>
                <a:t>-1.96</a:t>
              </a:r>
              <a:endParaRPr lang="en-US" altLang="zh-CN">
                <a:solidFill>
                  <a:srgbClr val="F0F0F0"/>
                </a:solidFill>
                <a:effectLst>
                  <a:outerShdw blurRad="38100" dist="38100" dir="2700000" algn="tl">
                    <a:srgbClr val="000000"/>
                  </a:outerShdw>
                </a:effectLst>
              </a:endParaRPr>
            </a:p>
          </p:txBody>
        </p:sp>
        <p:sp>
          <p:nvSpPr>
            <p:cNvPr id="768045" name="Rectangle 45"/>
            <p:cNvSpPr>
              <a:spLocks noChangeArrowheads="1"/>
            </p:cNvSpPr>
            <p:nvPr/>
          </p:nvSpPr>
          <p:spPr bwMode="auto">
            <a:xfrm>
              <a:off x="1947" y="3170"/>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solidFill>
                    <a:srgbClr val="F0F0F0"/>
                  </a:solidFill>
                  <a:effectLst>
                    <a:outerShdw blurRad="38100" dist="38100" dir="2700000" algn="tl">
                      <a:srgbClr val="000000"/>
                    </a:outerShdw>
                  </a:effectLst>
                </a:rPr>
                <a:t>.025</a:t>
              </a:r>
              <a:endParaRPr lang="en-US" altLang="zh-CN">
                <a:solidFill>
                  <a:srgbClr val="F0F0F0"/>
                </a:solidFill>
                <a:effectLst>
                  <a:outerShdw blurRad="38100" dist="38100" dir="2700000" algn="tl">
                    <a:srgbClr val="000000"/>
                  </a:outerShdw>
                </a:effectLst>
              </a:endParaRPr>
            </a:p>
          </p:txBody>
        </p:sp>
        <p:sp>
          <p:nvSpPr>
            <p:cNvPr id="768046" name="Freeform 46"/>
            <p:cNvSpPr/>
            <p:nvPr/>
          </p:nvSpPr>
          <p:spPr bwMode="auto">
            <a:xfrm>
              <a:off x="808" y="3352"/>
              <a:ext cx="134" cy="274"/>
            </a:xfrm>
            <a:custGeom>
              <a:avLst/>
              <a:gdLst>
                <a:gd name="T0" fmla="*/ 0 w 110"/>
                <a:gd name="T1" fmla="*/ 0 h 238"/>
                <a:gd name="T2" fmla="*/ 19 w 110"/>
                <a:gd name="T3" fmla="*/ 1 h 238"/>
                <a:gd name="T4" fmla="*/ 37 w 110"/>
                <a:gd name="T5" fmla="*/ 5 h 238"/>
                <a:gd name="T6" fmla="*/ 52 w 110"/>
                <a:gd name="T7" fmla="*/ 14 h 238"/>
                <a:gd name="T8" fmla="*/ 67 w 110"/>
                <a:gd name="T9" fmla="*/ 25 h 238"/>
                <a:gd name="T10" fmla="*/ 78 w 110"/>
                <a:gd name="T11" fmla="*/ 39 h 238"/>
                <a:gd name="T12" fmla="*/ 86 w 110"/>
                <a:gd name="T13" fmla="*/ 55 h 238"/>
                <a:gd name="T14" fmla="*/ 90 w 110"/>
                <a:gd name="T15" fmla="*/ 73 h 238"/>
                <a:gd name="T16" fmla="*/ 90 w 110"/>
                <a:gd name="T17" fmla="*/ 90 h 238"/>
                <a:gd name="T18" fmla="*/ 86 w 110"/>
                <a:gd name="T19" fmla="*/ 108 h 238"/>
                <a:gd name="T20" fmla="*/ 78 w 110"/>
                <a:gd name="T21" fmla="*/ 124 h 238"/>
                <a:gd name="T22" fmla="*/ 70 w 110"/>
                <a:gd name="T23" fmla="*/ 140 h 238"/>
                <a:gd name="T24" fmla="*/ 67 w 110"/>
                <a:gd name="T25" fmla="*/ 157 h 238"/>
                <a:gd name="T26" fmla="*/ 67 w 110"/>
                <a:gd name="T27" fmla="*/ 175 h 238"/>
                <a:gd name="T28" fmla="*/ 70 w 110"/>
                <a:gd name="T29" fmla="*/ 192 h 238"/>
                <a:gd name="T30" fmla="*/ 79 w 110"/>
                <a:gd name="T31" fmla="*/ 209 h 238"/>
                <a:gd name="T32" fmla="*/ 90 w 110"/>
                <a:gd name="T33" fmla="*/ 222 h 238"/>
                <a:gd name="T34" fmla="*/ 103 w 110"/>
                <a:gd name="T35" fmla="*/ 234 h 238"/>
                <a:gd name="T36" fmla="*/ 110 w 110"/>
                <a:gd name="T3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238">
                  <a:moveTo>
                    <a:pt x="0" y="0"/>
                  </a:moveTo>
                  <a:lnTo>
                    <a:pt x="19" y="1"/>
                  </a:lnTo>
                  <a:lnTo>
                    <a:pt x="37" y="5"/>
                  </a:lnTo>
                  <a:lnTo>
                    <a:pt x="52" y="14"/>
                  </a:lnTo>
                  <a:lnTo>
                    <a:pt x="67" y="25"/>
                  </a:lnTo>
                  <a:lnTo>
                    <a:pt x="78" y="39"/>
                  </a:lnTo>
                  <a:lnTo>
                    <a:pt x="86" y="55"/>
                  </a:lnTo>
                  <a:lnTo>
                    <a:pt x="90" y="73"/>
                  </a:lnTo>
                  <a:lnTo>
                    <a:pt x="90" y="90"/>
                  </a:lnTo>
                  <a:lnTo>
                    <a:pt x="86" y="108"/>
                  </a:lnTo>
                  <a:lnTo>
                    <a:pt x="78" y="124"/>
                  </a:lnTo>
                  <a:lnTo>
                    <a:pt x="70" y="140"/>
                  </a:lnTo>
                  <a:lnTo>
                    <a:pt x="67" y="157"/>
                  </a:lnTo>
                  <a:lnTo>
                    <a:pt x="67" y="175"/>
                  </a:lnTo>
                  <a:lnTo>
                    <a:pt x="70" y="192"/>
                  </a:lnTo>
                  <a:lnTo>
                    <a:pt x="79" y="209"/>
                  </a:lnTo>
                  <a:lnTo>
                    <a:pt x="90" y="222"/>
                  </a:lnTo>
                  <a:lnTo>
                    <a:pt x="103" y="234"/>
                  </a:lnTo>
                  <a:lnTo>
                    <a:pt x="110" y="238"/>
                  </a:lnTo>
                </a:path>
              </a:pathLst>
            </a:custGeom>
            <a:noFill/>
            <a:ln w="12700"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047" name="Freeform 47"/>
            <p:cNvSpPr/>
            <p:nvPr/>
          </p:nvSpPr>
          <p:spPr bwMode="auto">
            <a:xfrm>
              <a:off x="1837" y="3340"/>
              <a:ext cx="294" cy="236"/>
            </a:xfrm>
            <a:custGeom>
              <a:avLst/>
              <a:gdLst>
                <a:gd name="T0" fmla="*/ 294 w 294"/>
                <a:gd name="T1" fmla="*/ 0 h 188"/>
                <a:gd name="T2" fmla="*/ 291 w 294"/>
                <a:gd name="T3" fmla="*/ 23 h 188"/>
                <a:gd name="T4" fmla="*/ 283 w 294"/>
                <a:gd name="T5" fmla="*/ 46 h 188"/>
                <a:gd name="T6" fmla="*/ 271 w 294"/>
                <a:gd name="T7" fmla="*/ 66 h 188"/>
                <a:gd name="T8" fmla="*/ 255 w 294"/>
                <a:gd name="T9" fmla="*/ 84 h 188"/>
                <a:gd name="T10" fmla="*/ 236 w 294"/>
                <a:gd name="T11" fmla="*/ 99 h 188"/>
                <a:gd name="T12" fmla="*/ 214 w 294"/>
                <a:gd name="T13" fmla="*/ 110 h 188"/>
                <a:gd name="T14" fmla="*/ 190 w 294"/>
                <a:gd name="T15" fmla="*/ 117 h 188"/>
                <a:gd name="T16" fmla="*/ 166 w 294"/>
                <a:gd name="T17" fmla="*/ 118 h 188"/>
                <a:gd name="T18" fmla="*/ 142 w 294"/>
                <a:gd name="T19" fmla="*/ 116 h 188"/>
                <a:gd name="T20" fmla="*/ 117 w 294"/>
                <a:gd name="T21" fmla="*/ 113 h 188"/>
                <a:gd name="T22" fmla="*/ 92 w 294"/>
                <a:gd name="T23" fmla="*/ 116 h 188"/>
                <a:gd name="T24" fmla="*/ 70 w 294"/>
                <a:gd name="T25" fmla="*/ 123 h 188"/>
                <a:gd name="T26" fmla="*/ 47 w 294"/>
                <a:gd name="T27" fmla="*/ 133 h 188"/>
                <a:gd name="T28" fmla="*/ 27 w 294"/>
                <a:gd name="T29" fmla="*/ 147 h 188"/>
                <a:gd name="T30" fmla="*/ 12 w 294"/>
                <a:gd name="T31" fmla="*/ 166 h 188"/>
                <a:gd name="T32" fmla="*/ 0 w 294"/>
                <a:gd name="T33" fmla="*/ 186 h 188"/>
                <a:gd name="T34" fmla="*/ 0 w 294"/>
                <a:gd name="T35" fmla="*/ 18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4" h="188">
                  <a:moveTo>
                    <a:pt x="294" y="0"/>
                  </a:moveTo>
                  <a:lnTo>
                    <a:pt x="291" y="23"/>
                  </a:lnTo>
                  <a:lnTo>
                    <a:pt x="283" y="46"/>
                  </a:lnTo>
                  <a:lnTo>
                    <a:pt x="271" y="66"/>
                  </a:lnTo>
                  <a:lnTo>
                    <a:pt x="255" y="84"/>
                  </a:lnTo>
                  <a:lnTo>
                    <a:pt x="236" y="99"/>
                  </a:lnTo>
                  <a:lnTo>
                    <a:pt x="214" y="110"/>
                  </a:lnTo>
                  <a:lnTo>
                    <a:pt x="190" y="117"/>
                  </a:lnTo>
                  <a:lnTo>
                    <a:pt x="166" y="118"/>
                  </a:lnTo>
                  <a:lnTo>
                    <a:pt x="142" y="116"/>
                  </a:lnTo>
                  <a:lnTo>
                    <a:pt x="117" y="113"/>
                  </a:lnTo>
                  <a:lnTo>
                    <a:pt x="92" y="116"/>
                  </a:lnTo>
                  <a:lnTo>
                    <a:pt x="70" y="123"/>
                  </a:lnTo>
                  <a:lnTo>
                    <a:pt x="47" y="133"/>
                  </a:lnTo>
                  <a:lnTo>
                    <a:pt x="27" y="147"/>
                  </a:lnTo>
                  <a:lnTo>
                    <a:pt x="12" y="166"/>
                  </a:lnTo>
                  <a:lnTo>
                    <a:pt x="0" y="186"/>
                  </a:lnTo>
                  <a:lnTo>
                    <a:pt x="0" y="188"/>
                  </a:lnTo>
                </a:path>
              </a:pathLst>
            </a:custGeom>
            <a:noFill/>
            <a:ln w="12700"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048" name="Rectangle 48"/>
            <p:cNvSpPr>
              <a:spLocks noChangeArrowheads="1"/>
            </p:cNvSpPr>
            <p:nvPr/>
          </p:nvSpPr>
          <p:spPr bwMode="auto">
            <a:xfrm>
              <a:off x="501" y="2824"/>
              <a:ext cx="5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2000">
                  <a:solidFill>
                    <a:srgbClr val="F0F0F0"/>
                  </a:solidFill>
                  <a:effectLst>
                    <a:outerShdw blurRad="38100" dist="38100" dir="2700000" algn="tl">
                      <a:srgbClr val="000000"/>
                    </a:outerShdw>
                  </a:effectLst>
                </a:rPr>
                <a:t>拒绝 </a:t>
              </a:r>
              <a:r>
                <a:rPr lang="en-US" altLang="zh-CN" sz="2000">
                  <a:solidFill>
                    <a:srgbClr val="F0F0F0"/>
                  </a:solidFill>
                  <a:effectLst>
                    <a:outerShdw blurRad="38100" dist="38100" dir="2700000" algn="tl">
                      <a:srgbClr val="000000"/>
                    </a:outerShdw>
                  </a:effectLst>
                </a:rPr>
                <a:t>H</a:t>
              </a:r>
              <a:r>
                <a:rPr lang="en-US" altLang="zh-CN" sz="2000" baseline="-25000">
                  <a:solidFill>
                    <a:srgbClr val="F0F0F0"/>
                  </a:solidFill>
                  <a:effectLst>
                    <a:outerShdw blurRad="38100" dist="38100" dir="2700000" algn="tl">
                      <a:srgbClr val="000000"/>
                    </a:outerShdw>
                  </a:effectLst>
                </a:rPr>
                <a:t>0</a:t>
              </a:r>
              <a:endParaRPr lang="en-US" altLang="zh-CN" sz="2000">
                <a:solidFill>
                  <a:srgbClr val="F0F0F0"/>
                </a:solidFill>
                <a:effectLst>
                  <a:outerShdw blurRad="38100" dist="38100" dir="2700000" algn="tl">
                    <a:srgbClr val="000000"/>
                  </a:outerShdw>
                </a:effectLst>
              </a:endParaRPr>
            </a:p>
          </p:txBody>
        </p:sp>
        <p:sp>
          <p:nvSpPr>
            <p:cNvPr id="768049" name="Rectangle 49"/>
            <p:cNvSpPr>
              <a:spLocks noChangeArrowheads="1"/>
            </p:cNvSpPr>
            <p:nvPr/>
          </p:nvSpPr>
          <p:spPr bwMode="auto">
            <a:xfrm>
              <a:off x="1697" y="2824"/>
              <a:ext cx="5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2000">
                  <a:solidFill>
                    <a:srgbClr val="F0F0F0"/>
                  </a:solidFill>
                  <a:effectLst>
                    <a:outerShdw blurRad="38100" dist="38100" dir="2700000" algn="tl">
                      <a:srgbClr val="000000"/>
                    </a:outerShdw>
                  </a:effectLst>
                </a:rPr>
                <a:t>拒绝 </a:t>
              </a:r>
              <a:r>
                <a:rPr lang="en-US" altLang="zh-CN" sz="2000">
                  <a:solidFill>
                    <a:srgbClr val="F0F0F0"/>
                  </a:solidFill>
                  <a:effectLst>
                    <a:outerShdw blurRad="38100" dist="38100" dir="2700000" algn="tl">
                      <a:srgbClr val="000000"/>
                    </a:outerShdw>
                  </a:effectLst>
                </a:rPr>
                <a:t>H</a:t>
              </a:r>
              <a:r>
                <a:rPr lang="en-US" altLang="zh-CN" sz="2000" baseline="-25000">
                  <a:solidFill>
                    <a:srgbClr val="F0F0F0"/>
                  </a:solidFill>
                  <a:effectLst>
                    <a:outerShdw blurRad="38100" dist="38100" dir="2700000" algn="tl">
                      <a:srgbClr val="000000"/>
                    </a:outerShdw>
                  </a:effectLst>
                </a:rPr>
                <a:t>0</a:t>
              </a:r>
              <a:endParaRPr lang="en-US" altLang="zh-CN" sz="2000">
                <a:solidFill>
                  <a:srgbClr val="F0F0F0"/>
                </a:solidFill>
                <a:effectLst>
                  <a:outerShdw blurRad="38100" dist="38100" dir="2700000" algn="tl">
                    <a:srgbClr val="000000"/>
                  </a:outerShdw>
                </a:effectLst>
              </a:endParaRPr>
            </a:p>
          </p:txBody>
        </p:sp>
        <p:grpSp>
          <p:nvGrpSpPr>
            <p:cNvPr id="768050" name="Group 50"/>
            <p:cNvGrpSpPr/>
            <p:nvPr/>
          </p:nvGrpSpPr>
          <p:grpSpPr bwMode="auto">
            <a:xfrm>
              <a:off x="758" y="3048"/>
              <a:ext cx="301" cy="670"/>
              <a:chOff x="758" y="3048"/>
              <a:chExt cx="301" cy="670"/>
            </a:xfrm>
          </p:grpSpPr>
          <p:sp>
            <p:nvSpPr>
              <p:cNvPr id="768051" name="Line 51"/>
              <p:cNvSpPr>
                <a:spLocks noChangeShapeType="1"/>
              </p:cNvSpPr>
              <p:nvPr/>
            </p:nvSpPr>
            <p:spPr bwMode="auto">
              <a:xfrm>
                <a:off x="758" y="3048"/>
                <a:ext cx="300" cy="1"/>
              </a:xfrm>
              <a:prstGeom prst="line">
                <a:avLst/>
              </a:prstGeom>
              <a:noFill/>
              <a:ln w="17463">
                <a:solidFill>
                  <a:schemeClr val="tx1"/>
                </a:solidFill>
                <a:round/>
                <a:headEnd type="triangle" w="med" len="me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68052" name="Line 52"/>
              <p:cNvSpPr>
                <a:spLocks noChangeShapeType="1"/>
              </p:cNvSpPr>
              <p:nvPr/>
            </p:nvSpPr>
            <p:spPr bwMode="auto">
              <a:xfrm flipV="1">
                <a:off x="1058" y="3048"/>
                <a:ext cx="1" cy="670"/>
              </a:xfrm>
              <a:prstGeom prst="line">
                <a:avLst/>
              </a:prstGeom>
              <a:noFill/>
              <a:ln w="17463">
                <a:solidFill>
                  <a:schemeClr val="tx1"/>
                </a:solidFill>
                <a:roun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768053" name="Group 53"/>
            <p:cNvGrpSpPr/>
            <p:nvPr/>
          </p:nvGrpSpPr>
          <p:grpSpPr bwMode="auto">
            <a:xfrm>
              <a:off x="1721" y="3048"/>
              <a:ext cx="322" cy="676"/>
              <a:chOff x="1721" y="3048"/>
              <a:chExt cx="322" cy="676"/>
            </a:xfrm>
          </p:grpSpPr>
          <p:sp>
            <p:nvSpPr>
              <p:cNvPr id="768054" name="Line 54"/>
              <p:cNvSpPr>
                <a:spLocks noChangeShapeType="1"/>
              </p:cNvSpPr>
              <p:nvPr/>
            </p:nvSpPr>
            <p:spPr bwMode="auto">
              <a:xfrm flipH="1">
                <a:off x="1721" y="3048"/>
                <a:ext cx="322" cy="1"/>
              </a:xfrm>
              <a:prstGeom prst="line">
                <a:avLst/>
              </a:prstGeom>
              <a:noFill/>
              <a:ln w="17463">
                <a:solidFill>
                  <a:schemeClr val="tx1"/>
                </a:solidFill>
                <a:round/>
                <a:headEnd type="triangle" w="med" len="me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68055" name="Line 55"/>
              <p:cNvSpPr>
                <a:spLocks noChangeShapeType="1"/>
              </p:cNvSpPr>
              <p:nvPr/>
            </p:nvSpPr>
            <p:spPr bwMode="auto">
              <a:xfrm flipV="1">
                <a:off x="1721" y="3048"/>
                <a:ext cx="1" cy="676"/>
              </a:xfrm>
              <a:prstGeom prst="line">
                <a:avLst/>
              </a:prstGeom>
              <a:noFill/>
              <a:ln w="17463">
                <a:solidFill>
                  <a:schemeClr val="tx1"/>
                </a:solidFill>
                <a:round/>
              </a:ln>
              <a:effectLst>
                <a:outerShdw dist="127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768056" name="Rectangle 56"/>
            <p:cNvSpPr>
              <a:spLocks noChangeArrowheads="1"/>
            </p:cNvSpPr>
            <p:nvPr/>
          </p:nvSpPr>
          <p:spPr bwMode="auto">
            <a:xfrm>
              <a:off x="553" y="3170"/>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solidFill>
                    <a:srgbClr val="F0F0F0"/>
                  </a:solidFill>
                  <a:effectLst>
                    <a:outerShdw blurRad="38100" dist="38100" dir="2700000" algn="tl">
                      <a:srgbClr val="000000"/>
                    </a:outerShdw>
                  </a:effectLst>
                </a:rPr>
                <a:t>.025</a:t>
              </a:r>
              <a:endParaRPr lang="en-US" altLang="zh-CN">
                <a:solidFill>
                  <a:srgbClr val="F0F0F0"/>
                </a:solidFill>
                <a:effectLst>
                  <a:outerShdw blurRad="38100" dist="38100" dir="2700000" algn="tl">
                    <a:srgbClr val="000000"/>
                  </a:outerShdw>
                </a:effectLst>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68003">
                                            <p:txEl>
                                              <p:pRg st="0" end="0"/>
                                            </p:txEl>
                                          </p:spTgt>
                                        </p:tgtEl>
                                        <p:attrNameLst>
                                          <p:attrName>style.visibility</p:attrName>
                                        </p:attrNameLst>
                                      </p:cBhvr>
                                      <p:to>
                                        <p:strVal val="visible"/>
                                      </p:to>
                                    </p:set>
                                    <p:animEffect transition="in" filter="wipe(left)">
                                      <p:cBhvr>
                                        <p:cTn id="7" dur="500"/>
                                        <p:tgtEl>
                                          <p:spTgt spid="7680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68003">
                                            <p:txEl>
                                              <p:pRg st="1" end="1"/>
                                            </p:txEl>
                                          </p:spTgt>
                                        </p:tgtEl>
                                        <p:attrNameLst>
                                          <p:attrName>style.visibility</p:attrName>
                                        </p:attrNameLst>
                                      </p:cBhvr>
                                      <p:to>
                                        <p:strVal val="visible"/>
                                      </p:to>
                                    </p:set>
                                    <p:animEffect transition="in" filter="wipe(left)">
                                      <p:cBhvr>
                                        <p:cTn id="12" dur="500"/>
                                        <p:tgtEl>
                                          <p:spTgt spid="7680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68003">
                                            <p:txEl>
                                              <p:pRg st="2" end="2"/>
                                            </p:txEl>
                                          </p:spTgt>
                                        </p:tgtEl>
                                        <p:attrNameLst>
                                          <p:attrName>style.visibility</p:attrName>
                                        </p:attrNameLst>
                                      </p:cBhvr>
                                      <p:to>
                                        <p:strVal val="visible"/>
                                      </p:to>
                                    </p:set>
                                    <p:animEffect transition="in" filter="wipe(left)">
                                      <p:cBhvr>
                                        <p:cTn id="17" dur="500"/>
                                        <p:tgtEl>
                                          <p:spTgt spid="7680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68003">
                                            <p:txEl>
                                              <p:pRg st="3" end="3"/>
                                            </p:txEl>
                                          </p:spTgt>
                                        </p:tgtEl>
                                        <p:attrNameLst>
                                          <p:attrName>style.visibility</p:attrName>
                                        </p:attrNameLst>
                                      </p:cBhvr>
                                      <p:to>
                                        <p:strVal val="visible"/>
                                      </p:to>
                                    </p:set>
                                    <p:animEffect transition="in" filter="wipe(left)">
                                      <p:cBhvr>
                                        <p:cTn id="22" dur="500"/>
                                        <p:tgtEl>
                                          <p:spTgt spid="7680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68003">
                                            <p:txEl>
                                              <p:pRg st="4" end="4"/>
                                            </p:txEl>
                                          </p:spTgt>
                                        </p:tgtEl>
                                        <p:attrNameLst>
                                          <p:attrName>style.visibility</p:attrName>
                                        </p:attrNameLst>
                                      </p:cBhvr>
                                      <p:to>
                                        <p:strVal val="visible"/>
                                      </p:to>
                                    </p:set>
                                    <p:animEffect transition="in" filter="wipe(left)">
                                      <p:cBhvr>
                                        <p:cTn id="27" dur="500"/>
                                        <p:tgtEl>
                                          <p:spTgt spid="7680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768017"/>
                                        </p:tgtEl>
                                        <p:attrNameLst>
                                          <p:attrName>style.visibility</p:attrName>
                                        </p:attrNameLst>
                                      </p:cBhvr>
                                      <p:to>
                                        <p:strVal val="visible"/>
                                      </p:to>
                                    </p:set>
                                    <p:animEffect transition="in" filter="barn(outVertical)">
                                      <p:cBhvr>
                                        <p:cTn id="32" dur="500"/>
                                        <p:tgtEl>
                                          <p:spTgt spid="7680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68004">
                                            <p:txEl>
                                              <p:pRg st="0" end="0"/>
                                            </p:txEl>
                                          </p:spTgt>
                                        </p:tgtEl>
                                        <p:attrNameLst>
                                          <p:attrName>style.visibility</p:attrName>
                                        </p:attrNameLst>
                                      </p:cBhvr>
                                      <p:to>
                                        <p:strVal val="visible"/>
                                      </p:to>
                                    </p:set>
                                    <p:animEffect transition="in" filter="wipe(left)">
                                      <p:cBhvr>
                                        <p:cTn id="37" dur="500"/>
                                        <p:tgtEl>
                                          <p:spTgt spid="76800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68010">
                                            <p:txEl>
                                              <p:pRg st="0" end="0"/>
                                            </p:txEl>
                                          </p:spTgt>
                                        </p:tgtEl>
                                        <p:attrNameLst>
                                          <p:attrName>style.visibility</p:attrName>
                                        </p:attrNameLst>
                                      </p:cBhvr>
                                      <p:to>
                                        <p:strVal val="visible"/>
                                      </p:to>
                                    </p:set>
                                    <p:animEffect transition="in" filter="wipe(left)">
                                      <p:cBhvr>
                                        <p:cTn id="42" dur="500"/>
                                        <p:tgtEl>
                                          <p:spTgt spid="76801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68012">
                                            <p:txEl>
                                              <p:pRg st="0" end="0"/>
                                            </p:txEl>
                                          </p:spTgt>
                                        </p:tgtEl>
                                        <p:attrNameLst>
                                          <p:attrName>style.visibility</p:attrName>
                                        </p:attrNameLst>
                                      </p:cBhvr>
                                      <p:to>
                                        <p:strVal val="visible"/>
                                      </p:to>
                                    </p:set>
                                    <p:animEffect transition="in" filter="wipe(left)">
                                      <p:cBhvr>
                                        <p:cTn id="47" dur="500"/>
                                        <p:tgtEl>
                                          <p:spTgt spid="768012">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68011">
                                            <p:txEl>
                                              <p:pRg st="0" end="0"/>
                                            </p:txEl>
                                          </p:spTgt>
                                        </p:tgtEl>
                                        <p:attrNameLst>
                                          <p:attrName>style.visibility</p:attrName>
                                        </p:attrNameLst>
                                      </p:cBhvr>
                                      <p:to>
                                        <p:strVal val="visible"/>
                                      </p:to>
                                    </p:set>
                                    <p:animEffect transition="in" filter="wipe(left)">
                                      <p:cBhvr>
                                        <p:cTn id="52" dur="500"/>
                                        <p:tgtEl>
                                          <p:spTgt spid="768011">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768013">
                                            <p:txEl>
                                              <p:pRg st="0" end="0"/>
                                            </p:txEl>
                                          </p:spTgt>
                                        </p:tgtEl>
                                        <p:attrNameLst>
                                          <p:attrName>style.visibility</p:attrName>
                                        </p:attrNameLst>
                                      </p:cBhvr>
                                      <p:to>
                                        <p:strVal val="visible"/>
                                      </p:to>
                                    </p:set>
                                    <p:animEffect transition="in" filter="wipe(left)">
                                      <p:cBhvr>
                                        <p:cTn id="57" dur="500"/>
                                        <p:tgtEl>
                                          <p:spTgt spid="7680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03" grpId="0" autoUpdateAnimBg="0" build="p"/>
      <p:bldP spid="768004" grpId="0" autoUpdateAnimBg="0" build="p"/>
      <p:bldP spid="768010" grpId="0" autoUpdateAnimBg="0" build="p"/>
      <p:bldP spid="768011" grpId="0" autoUpdateAnimBg="0" build="p"/>
      <p:bldP spid="768012" grpId="0" autoUpdateAnimBg="0" build="p"/>
      <p:bldP spid="768013" grpId="0" autoUpdateAnimBg="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1618" name="Rectangle 2"/>
          <p:cNvSpPr>
            <a:spLocks noGrp="1" noChangeArrowheads="1"/>
          </p:cNvSpPr>
          <p:nvPr>
            <p:ph type="title"/>
          </p:nvPr>
        </p:nvSpPr>
        <p:spPr>
          <a:xfrm>
            <a:off x="3333750" y="228600"/>
            <a:ext cx="7086600" cy="1143000"/>
          </a:xfrm>
          <a:noFill/>
        </p:spPr>
        <p:txBody>
          <a:bodyPr>
            <a:normAutofit fontScale="90000"/>
          </a:bodyPr>
          <a:lstStyle/>
          <a:p>
            <a:r>
              <a:rPr lang="zh-CN" altLang="en-US" sz="4000"/>
              <a:t>两个总体均值之差的</a:t>
            </a:r>
            <a:r>
              <a:rPr lang="zh-CN" altLang="en-US" sz="4000">
                <a:latin typeface="Arial" panose="020B0604020202090204" pitchFamily="34" charset="0"/>
              </a:rPr>
              <a:t>检验</a:t>
            </a:r>
            <a:br>
              <a:rPr lang="zh-CN" altLang="en-US" sz="4000">
                <a:latin typeface="Arial" panose="020B0604020202090204" pitchFamily="34" charset="0"/>
              </a:rPr>
            </a:br>
            <a:r>
              <a:rPr lang="zh-CN" altLang="en-US" sz="4000">
                <a:latin typeface="Arial" panose="020B0604020202090204" pitchFamily="34" charset="0"/>
              </a:rPr>
              <a:t> </a:t>
            </a:r>
            <a:r>
              <a:rPr lang="en-US" altLang="zh-CN" sz="3600">
                <a:solidFill>
                  <a:schemeClr val="hlink"/>
                </a:solidFill>
                <a:latin typeface="Arial" panose="020B0604020202090204" pitchFamily="34" charset="0"/>
              </a:rPr>
              <a:t>(</a:t>
            </a:r>
            <a:r>
              <a:rPr lang="en-US" altLang="zh-CN" sz="3600">
                <a:solidFill>
                  <a:schemeClr val="hlink"/>
                </a:solidFill>
                <a:latin typeface="Symbol" panose="05050102010706020507" pitchFamily="18" charset="2"/>
              </a:rPr>
              <a:t></a:t>
            </a:r>
            <a:r>
              <a:rPr lang="en-US" altLang="zh-CN" sz="3600" baseline="-25000">
                <a:solidFill>
                  <a:schemeClr val="hlink"/>
                </a:solidFill>
                <a:latin typeface="Arial" panose="020B0604020202090204" pitchFamily="34" charset="0"/>
              </a:rPr>
              <a:t>1</a:t>
            </a:r>
            <a:r>
              <a:rPr lang="en-US" altLang="zh-CN" sz="3600" baseline="30000">
                <a:solidFill>
                  <a:schemeClr val="hlink"/>
                </a:solidFill>
                <a:latin typeface="Arial" panose="020B0604020202090204" pitchFamily="34" charset="0"/>
              </a:rPr>
              <a:t>2</a:t>
            </a:r>
            <a:r>
              <a:rPr lang="zh-CN" altLang="en-US" sz="3600">
                <a:solidFill>
                  <a:schemeClr val="hlink"/>
                </a:solidFill>
                <a:latin typeface="Arial" panose="020B0604020202090204" pitchFamily="34" charset="0"/>
              </a:rPr>
              <a:t>、</a:t>
            </a:r>
            <a:r>
              <a:rPr lang="zh-CN" altLang="en-US" sz="3600">
                <a:solidFill>
                  <a:schemeClr val="hlink"/>
                </a:solidFill>
                <a:latin typeface="Symbol" panose="05050102010706020507" pitchFamily="18" charset="2"/>
              </a:rPr>
              <a:t> </a:t>
            </a:r>
            <a:r>
              <a:rPr lang="en-US" altLang="zh-CN" sz="3600" baseline="-25000">
                <a:solidFill>
                  <a:schemeClr val="hlink"/>
                </a:solidFill>
                <a:latin typeface="Arial" panose="020B0604020202090204" pitchFamily="34" charset="0"/>
              </a:rPr>
              <a:t>2</a:t>
            </a:r>
            <a:r>
              <a:rPr lang="en-US" altLang="zh-CN" sz="3600" baseline="30000">
                <a:solidFill>
                  <a:schemeClr val="hlink"/>
                </a:solidFill>
                <a:latin typeface="Arial" panose="020B0604020202090204" pitchFamily="34" charset="0"/>
              </a:rPr>
              <a:t>2</a:t>
            </a:r>
            <a:r>
              <a:rPr lang="en-US" altLang="zh-CN" sz="3600">
                <a:solidFill>
                  <a:schemeClr val="hlink"/>
                </a:solidFill>
                <a:latin typeface="Arial" panose="020B0604020202090204" pitchFamily="34" charset="0"/>
              </a:rPr>
              <a:t> </a:t>
            </a:r>
            <a:r>
              <a:rPr lang="zh-CN" altLang="en-US" sz="3600">
                <a:solidFill>
                  <a:schemeClr val="hlink"/>
                </a:solidFill>
                <a:latin typeface="Arial" panose="020B0604020202090204" pitchFamily="34" charset="0"/>
              </a:rPr>
              <a:t>未知且相等</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小样本</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751619" name="Rectangle 3"/>
          <p:cNvSpPr>
            <a:spLocks noGrp="1" noChangeArrowheads="1"/>
          </p:cNvSpPr>
          <p:nvPr>
            <p:ph type="body" idx="1"/>
          </p:nvPr>
        </p:nvSpPr>
        <p:spPr>
          <a:xfrm>
            <a:off x="1905000" y="1752600"/>
            <a:ext cx="8477250" cy="4495800"/>
          </a:xfrm>
          <a:noFill/>
        </p:spPr>
        <p:txBody>
          <a:bodyPr/>
          <a:lstStyle/>
          <a:p>
            <a:pPr marL="609600" indent="-609600">
              <a:buFontTx/>
              <a:buAutoNum type="arabicPeriod"/>
            </a:pPr>
            <a:r>
              <a:rPr lang="zh-CN" altLang="en-US" sz="2800"/>
              <a:t>检验具有不等方差的两个总体的均值</a:t>
            </a:r>
            <a:endParaRPr lang="zh-CN" altLang="en-US" sz="2800"/>
          </a:p>
          <a:p>
            <a:pPr marL="609600" indent="-609600">
              <a:buFontTx/>
              <a:buAutoNum type="arabicPeriod"/>
            </a:pPr>
            <a:r>
              <a:rPr lang="zh-CN" altLang="en-US" sz="2800"/>
              <a:t>假定</a:t>
            </a:r>
            <a:r>
              <a:rPr lang="zh-CN" altLang="en-US" sz="2800">
                <a:latin typeface="Times New Roman" panose="02020603050405020304" pitchFamily="18" charset="0"/>
              </a:rPr>
              <a:t>条件</a:t>
            </a:r>
            <a:endParaRPr lang="zh-CN" altLang="en-US" sz="2800">
              <a:latin typeface="Times New Roman" panose="02020603050405020304" pitchFamily="18" charset="0"/>
            </a:endParaRPr>
          </a:p>
          <a:p>
            <a:pPr marL="1219200" lvl="1" indent="-533400"/>
            <a:r>
              <a:rPr lang="zh-CN" altLang="en-US" sz="2400">
                <a:latin typeface="宋体" pitchFamily="2" charset="-122"/>
                <a:sym typeface="Wingdings" panose="05000000000000000000" pitchFamily="2" charset="2"/>
              </a:rPr>
              <a:t>两个样本是独立的随机样本</a:t>
            </a:r>
            <a:endParaRPr lang="zh-CN" altLang="en-US" sz="2400">
              <a:latin typeface="宋体" pitchFamily="2" charset="-122"/>
            </a:endParaRPr>
          </a:p>
          <a:p>
            <a:pPr marL="1219200" lvl="1" indent="-533400"/>
            <a:r>
              <a:rPr lang="zh-CN" altLang="en-US" sz="2400">
                <a:latin typeface="宋体" pitchFamily="2" charset="-122"/>
                <a:sym typeface="Wingdings" panose="05000000000000000000" pitchFamily="2" charset="2"/>
              </a:rPr>
              <a:t>两个</a:t>
            </a:r>
            <a:r>
              <a:rPr lang="zh-CN" altLang="en-US" sz="2400">
                <a:latin typeface="宋体" pitchFamily="2" charset="-122"/>
              </a:rPr>
              <a:t>总体都是正态分布</a:t>
            </a:r>
            <a:endParaRPr lang="zh-CN" altLang="en-US" sz="2400">
              <a:latin typeface="宋体" pitchFamily="2" charset="-122"/>
            </a:endParaRPr>
          </a:p>
          <a:p>
            <a:pPr marL="1219200" lvl="1" indent="-533400"/>
            <a:r>
              <a:rPr lang="zh-CN" altLang="en-US" sz="2400">
                <a:latin typeface="宋体" pitchFamily="2" charset="-122"/>
                <a:sym typeface="Wingdings" panose="05000000000000000000" pitchFamily="2" charset="2"/>
              </a:rPr>
              <a:t>两个总体方差未知且不相等</a:t>
            </a:r>
            <a:r>
              <a:rPr lang="zh-CN" altLang="en-US" sz="2400">
                <a:latin typeface="Symbol" panose="05050102010706020507" pitchFamily="18" charset="2"/>
              </a:rPr>
              <a:t></a:t>
            </a:r>
            <a:r>
              <a:rPr lang="en-US" altLang="zh-CN" sz="2400" baseline="-25000">
                <a:latin typeface="Symbol" panose="05050102010706020507" pitchFamily="18" charset="2"/>
              </a:rPr>
              <a:t>1</a:t>
            </a:r>
            <a:r>
              <a:rPr lang="en-US" altLang="zh-CN" sz="2400" baseline="30000">
                <a:latin typeface="Symbol" panose="05050102010706020507" pitchFamily="18" charset="2"/>
              </a:rPr>
              <a:t>2 </a:t>
            </a:r>
            <a:r>
              <a:rPr lang="en-US" altLang="zh-CN" sz="2400">
                <a:solidFill>
                  <a:schemeClr val="hlink"/>
                </a:solidFill>
                <a:latin typeface="Symbol" panose="05050102010706020507" pitchFamily="18" charset="2"/>
                <a:sym typeface="Symbol" panose="05050102010706020507" pitchFamily="18" charset="2"/>
              </a:rPr>
              <a:t>=</a:t>
            </a:r>
            <a:r>
              <a:rPr lang="en-US" altLang="zh-CN" sz="2400">
                <a:latin typeface="Symbol" panose="05050102010706020507" pitchFamily="18" charset="2"/>
              </a:rPr>
              <a:t> </a:t>
            </a:r>
            <a:r>
              <a:rPr lang="en-US" altLang="zh-CN" sz="2400" baseline="-25000">
                <a:latin typeface="Symbol" panose="05050102010706020507" pitchFamily="18" charset="2"/>
              </a:rPr>
              <a:t>2</a:t>
            </a:r>
            <a:r>
              <a:rPr lang="en-US" altLang="zh-CN" sz="2400" baseline="30000">
                <a:latin typeface="Symbol" panose="05050102010706020507" pitchFamily="18" charset="2"/>
              </a:rPr>
              <a:t>2</a:t>
            </a:r>
            <a:endParaRPr lang="en-US" altLang="zh-CN" sz="2400">
              <a:latin typeface="宋体" pitchFamily="2" charset="-122"/>
            </a:endParaRPr>
          </a:p>
          <a:p>
            <a:pPr marL="609600" indent="-609600">
              <a:buFontTx/>
              <a:buAutoNum type="arabicPeriod"/>
            </a:pPr>
            <a:r>
              <a:rPr lang="zh-CN" altLang="en-US" sz="2800"/>
              <a:t>检验</a:t>
            </a:r>
            <a:r>
              <a:rPr lang="zh-CN" altLang="en-US" sz="2800">
                <a:latin typeface="Times New Roman" panose="02020603050405020304" pitchFamily="18" charset="0"/>
              </a:rPr>
              <a:t>统计量</a:t>
            </a:r>
            <a:endParaRPr lang="zh-CN" altLang="en-US" sz="280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751631" name="Object 15">
                <a:hlinkClick r:id="" action="ppaction://ole?verb=0"/>
              </p:cNvPr>
              <p:cNvSpPr txBox="1"/>
              <p:nvPr/>
            </p:nvSpPr>
            <p:spPr bwMode="auto">
              <a:xfrm>
                <a:off x="2498726" y="4654550"/>
                <a:ext cx="3482975" cy="1543050"/>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𝑋</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𝑋</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𝑆</m:t>
                              </m:r>
                            </m:e>
                            <m:sub>
                              <m:r>
                                <a:rPr lang="zh-CN" altLang="en-US" i="1">
                                  <a:solidFill>
                                    <a:srgbClr val="000000"/>
                                  </a:solidFill>
                                  <a:latin typeface="Cambria Math" panose="02040503050406030204" pitchFamily="18" charset="0"/>
                                </a:rPr>
                                <m:t>𝑝</m:t>
                              </m:r>
                            </m:sub>
                          </m:sSub>
                          <m:rad>
                            <m:radPr>
                              <m:degHide m:val="on"/>
                              <m:ctrlPr>
                                <a:rPr lang="zh-CN" altLang="en-US" i="1">
                                  <a:solidFill>
                                    <a:srgbClr val="000000"/>
                                  </a:solidFill>
                                  <a:latin typeface="Cambria Math" panose="02040503050406030204" pitchFamily="18" charset="0"/>
                                </a:rPr>
                              </m:ctrlPr>
                            </m:radPr>
                            <m:deg/>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den>
                              </m:f>
                            </m:e>
                          </m:rad>
                        </m:den>
                      </m:f>
                    </m:oMath>
                  </m:oMathPara>
                </a14:m>
                <a:endParaRPr lang="zh-CN" altLang="en-US"/>
              </a:p>
            </p:txBody>
          </p:sp>
        </mc:Choice>
        <mc:Fallback>
          <p:sp>
            <p:nvSpPr>
              <p:cNvPr id="751631" name="Object 15">
                <a:hlinkClick r:id="" action="ppaction://ole?verb=0"/>
              </p:cNvPr>
              <p:cNvSpPr txBox="1">
                <a:spLocks noRot="1" noChangeAspect="1" noMove="1" noResize="1" noEditPoints="1" noAdjustHandles="1" noChangeArrowheads="1" noChangeShapeType="1" noTextEdit="1"/>
              </p:cNvSpPr>
              <p:nvPr/>
            </p:nvSpPr>
            <p:spPr bwMode="auto">
              <a:xfrm>
                <a:off x="2498726" y="4654550"/>
                <a:ext cx="3482975" cy="1543050"/>
              </a:xfrm>
              <a:prstGeom prst="rect">
                <a:avLst/>
              </a:prstGeom>
              <a:blipFill rotWithShape="1">
                <a:blip r:embed="rId1"/>
                <a:stretch>
                  <a:fillRect r="-365" b="-823"/>
                </a:stretch>
              </a:blipFill>
              <a:ln>
                <a:noFill/>
              </a:ln>
              <a:effectLst>
                <a:outerShdw dist="17961" dir="2700000" algn="ctr" rotWithShape="0">
                  <a:schemeClr val="bg2"/>
                </a:outerShdw>
              </a:effectLst>
            </p:spPr>
            <p:txBody>
              <a:bodyPr/>
              <a:lstStyle/>
              <a:p>
                <a:r>
                  <a:rPr lang="zh-CN" altLang="en-US">
                    <a:noFill/>
                  </a:rPr>
                  <a:t> </a:t>
                </a:r>
              </a:p>
            </p:txBody>
          </p:sp>
        </mc:Fallback>
      </mc:AlternateContent>
      <p:grpSp>
        <p:nvGrpSpPr>
          <p:cNvPr id="751635" name="Group 19"/>
          <p:cNvGrpSpPr/>
          <p:nvPr/>
        </p:nvGrpSpPr>
        <p:grpSpPr bwMode="auto">
          <a:xfrm>
            <a:off x="5943600" y="4964114"/>
            <a:ext cx="4286250" cy="987425"/>
            <a:chOff x="2784" y="3127"/>
            <a:chExt cx="2700" cy="622"/>
          </a:xfrm>
        </p:grpSpPr>
        <p:sp>
          <p:nvSpPr>
            <p:cNvPr id="751626" name="Text Box 10"/>
            <p:cNvSpPr txBox="1">
              <a:spLocks noChangeArrowheads="1"/>
            </p:cNvSpPr>
            <p:nvPr/>
          </p:nvSpPr>
          <p:spPr bwMode="auto">
            <a:xfrm>
              <a:off x="2784" y="3308"/>
              <a:ext cx="695" cy="233"/>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solidFill>
                    <a:schemeClr val="tx1"/>
                  </a:solidFill>
                  <a:miter lim="800000"/>
                  <a:headEnd/>
                  <a:tailEnd/>
                </a14:hiddenLine>
              </a:ext>
            </a:extLst>
          </p:spPr>
          <p:txBody>
            <a:bodyPr>
              <a:spAutoFit/>
            </a:bodyPr>
            <a:lstStyle/>
            <a:p>
              <a:r>
                <a:rPr lang="zh-CN" altLang="en-US">
                  <a:solidFill>
                    <a:srgbClr val="FFFFCC"/>
                  </a:solidFill>
                  <a:effectLst>
                    <a:outerShdw blurRad="38100" dist="38100" dir="2700000" algn="tl">
                      <a:srgbClr val="000000"/>
                    </a:outerShdw>
                  </a:effectLst>
                </a:rPr>
                <a:t>其中：</a:t>
              </a:r>
              <a:endParaRPr lang="zh-CN" altLang="en-US">
                <a:solidFill>
                  <a:srgbClr val="FFFFCC"/>
                </a:solidFill>
                <a:effectLst>
                  <a:outerShdw blurRad="38100" dist="38100" dir="2700000" algn="tl">
                    <a:srgbClr val="000000"/>
                  </a:outerShdw>
                </a:effectLst>
              </a:endParaRPr>
            </a:p>
          </p:txBody>
        </p:sp>
        <mc:AlternateContent xmlns:mc="http://schemas.openxmlformats.org/markup-compatibility/2006">
          <mc:Choice xmlns:a14="http://schemas.microsoft.com/office/drawing/2010/main" Requires="a14">
            <p:sp>
              <p:nvSpPr>
                <p:cNvPr id="751632" name="Object 16">
                  <a:hlinkClick r:id="" action="ppaction://ole?verb=0"/>
                </p:cNvPr>
                <p:cNvSpPr txBox="1"/>
                <p:nvPr/>
              </p:nvSpPr>
              <p:spPr bwMode="auto">
                <a:xfrm>
                  <a:off x="3379" y="3127"/>
                  <a:ext cx="2105" cy="622"/>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𝑆</m:t>
                            </m:r>
                          </m:e>
                          <m:sub>
                            <m:r>
                              <a:rPr lang="zh-CN" altLang="en-US" i="1">
                                <a:solidFill>
                                  <a:srgbClr val="000000"/>
                                </a:solidFill>
                                <a:latin typeface="Cambria Math" panose="02040503050406030204" pitchFamily="18" charset="0"/>
                              </a:rPr>
                              <m:t>𝑝</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𝑆</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𝑆</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m:t>
                            </m:r>
                          </m:den>
                        </m:f>
                      </m:oMath>
                    </m:oMathPara>
                  </a14:m>
                  <a:endParaRPr lang="zh-CN" altLang="en-US"/>
                </a:p>
              </p:txBody>
            </p:sp>
          </mc:Choice>
          <mc:Fallback>
            <p:sp>
              <p:nvSpPr>
                <p:cNvPr id="751632" name="Object 16">
                  <a:hlinkClick r:id="" action="ppaction://ole?verb=0"/>
                </p:cNvPr>
                <p:cNvSpPr txBox="1">
                  <a:spLocks noRot="1" noChangeAspect="1" noMove="1" noResize="1" noEditPoints="1" noAdjustHandles="1" noChangeArrowheads="1" noChangeShapeType="1" noTextEdit="1"/>
                </p:cNvSpPr>
                <p:nvPr/>
              </p:nvSpPr>
              <p:spPr bwMode="auto">
                <a:xfrm>
                  <a:off x="3379" y="3127"/>
                  <a:ext cx="2105" cy="622"/>
                </a:xfrm>
                <a:prstGeom prst="rect">
                  <a:avLst/>
                </a:prstGeom>
                <a:blipFill rotWithShape="1">
                  <a:blip r:embed="rId2"/>
                </a:blipFill>
                <a:ln>
                  <a:noFill/>
                </a:ln>
                <a:effectLst>
                  <a:outerShdw dist="17961" dir="2700000" algn="ctr" rotWithShape="0">
                    <a:schemeClr val="bg2"/>
                  </a:outerShdw>
                </a:effectLst>
              </p:spPr>
              <p:txBody>
                <a:bodyPr/>
                <a:lstStyle/>
                <a:p>
                  <a:r>
                    <a:rPr lang="zh-CN" altLang="en-US">
                      <a:noFill/>
                    </a:rPr>
                    <a:t> </a:t>
                  </a:r>
                </a:p>
              </p:txBody>
            </p:sp>
          </mc:Fallback>
        </mc:AlternateContent>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1619">
                                            <p:txEl>
                                              <p:pRg st="0" end="0"/>
                                            </p:txEl>
                                          </p:spTgt>
                                        </p:tgtEl>
                                        <p:attrNameLst>
                                          <p:attrName>style.visibility</p:attrName>
                                        </p:attrNameLst>
                                      </p:cBhvr>
                                      <p:to>
                                        <p:strVal val="visible"/>
                                      </p:to>
                                    </p:set>
                                    <p:animEffect transition="in" filter="wipe(left)">
                                      <p:cBhvr>
                                        <p:cTn id="7" dur="500"/>
                                        <p:tgtEl>
                                          <p:spTgt spid="751619">
                                            <p:txEl>
                                              <p:pRg st="0" end="0"/>
                                            </p:txEl>
                                          </p:spTgt>
                                        </p:tgtEl>
                                      </p:cBhvr>
                                    </p:animEffect>
                                  </p:childTnLst>
                                  <p:subTnLst>
                                    <p:animClr clrSpc="rgb" dir="cw">
                                      <p:cBhvr override="childStyle">
                                        <p:cTn dur="1" fill="hold" display="0" masterRel="nextClick" afterEffect="1"/>
                                        <p:tgtEl>
                                          <p:spTgt spid="751619">
                                            <p:txEl>
                                              <p:pRg st="0" end="0"/>
                                            </p:txEl>
                                          </p:spTgt>
                                        </p:tgtEl>
                                        <p:attrNameLst>
                                          <p:attrName>ppt_c</p:attrName>
                                        </p:attrNameLst>
                                      </p:cBhvr>
                                      <p:to>
                                        <a:schemeClr val="folHlink"/>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1619">
                                            <p:txEl>
                                              <p:pRg st="1" end="1"/>
                                            </p:txEl>
                                          </p:spTgt>
                                        </p:tgtEl>
                                        <p:attrNameLst>
                                          <p:attrName>style.visibility</p:attrName>
                                        </p:attrNameLst>
                                      </p:cBhvr>
                                      <p:to>
                                        <p:strVal val="visible"/>
                                      </p:to>
                                    </p:set>
                                    <p:animEffect transition="in" filter="wipe(left)">
                                      <p:cBhvr>
                                        <p:cTn id="12" dur="500"/>
                                        <p:tgtEl>
                                          <p:spTgt spid="751619">
                                            <p:txEl>
                                              <p:pRg st="1" end="1"/>
                                            </p:txEl>
                                          </p:spTgt>
                                        </p:tgtEl>
                                      </p:cBhvr>
                                    </p:animEffect>
                                  </p:childTnLst>
                                  <p:subTnLst>
                                    <p:animClr clrSpc="rgb" dir="cw">
                                      <p:cBhvr override="childStyle">
                                        <p:cTn dur="1" fill="hold" display="0" masterRel="nextClick" afterEffect="1"/>
                                        <p:tgtEl>
                                          <p:spTgt spid="751619">
                                            <p:txEl>
                                              <p:pRg st="1" end="1"/>
                                            </p:txEl>
                                          </p:spTgt>
                                        </p:tgtEl>
                                        <p:attrNameLst>
                                          <p:attrName>ppt_c</p:attrName>
                                        </p:attrNameLst>
                                      </p:cBhvr>
                                      <p:to>
                                        <a:schemeClr val="folHlink"/>
                                      </p:to>
                                    </p:animClr>
                                  </p:subTnLst>
                                </p:cTn>
                              </p:par>
                              <p:par>
                                <p:cTn id="13" presetID="22" presetClass="entr" presetSubtype="8" fill="hold" grpId="0" nodeType="withEffect">
                                  <p:stCondLst>
                                    <p:cond delay="0"/>
                                  </p:stCondLst>
                                  <p:childTnLst>
                                    <p:set>
                                      <p:cBhvr>
                                        <p:cTn id="14" dur="1" fill="hold">
                                          <p:stCondLst>
                                            <p:cond delay="0"/>
                                          </p:stCondLst>
                                        </p:cTn>
                                        <p:tgtEl>
                                          <p:spTgt spid="751619">
                                            <p:txEl>
                                              <p:pRg st="2" end="2"/>
                                            </p:txEl>
                                          </p:spTgt>
                                        </p:tgtEl>
                                        <p:attrNameLst>
                                          <p:attrName>style.visibility</p:attrName>
                                        </p:attrNameLst>
                                      </p:cBhvr>
                                      <p:to>
                                        <p:strVal val="visible"/>
                                      </p:to>
                                    </p:set>
                                    <p:animEffect transition="in" filter="wipe(left)">
                                      <p:cBhvr>
                                        <p:cTn id="15" dur="500"/>
                                        <p:tgtEl>
                                          <p:spTgt spid="751619">
                                            <p:txEl>
                                              <p:pRg st="2" end="2"/>
                                            </p:txEl>
                                          </p:spTgt>
                                        </p:tgtEl>
                                      </p:cBhvr>
                                    </p:animEffect>
                                  </p:childTnLst>
                                  <p:subTnLst>
                                    <p:animClr clrSpc="rgb" dir="cw">
                                      <p:cBhvr override="childStyle">
                                        <p:cTn dur="1" fill="hold" display="0" masterRel="nextClick" afterEffect="1"/>
                                        <p:tgtEl>
                                          <p:spTgt spid="751619">
                                            <p:txEl>
                                              <p:pRg st="2" end="2"/>
                                            </p:txEl>
                                          </p:spTgt>
                                        </p:tgtEl>
                                        <p:attrNameLst>
                                          <p:attrName>ppt_c</p:attrName>
                                        </p:attrNameLst>
                                      </p:cBhvr>
                                      <p:to>
                                        <a:schemeClr val="folHlink"/>
                                      </p:to>
                                    </p:animClr>
                                  </p:subTnLst>
                                </p:cTn>
                              </p:par>
                              <p:par>
                                <p:cTn id="16" presetID="22" presetClass="entr" presetSubtype="8" fill="hold" grpId="0" nodeType="withEffect">
                                  <p:stCondLst>
                                    <p:cond delay="0"/>
                                  </p:stCondLst>
                                  <p:childTnLst>
                                    <p:set>
                                      <p:cBhvr>
                                        <p:cTn id="17" dur="1" fill="hold">
                                          <p:stCondLst>
                                            <p:cond delay="0"/>
                                          </p:stCondLst>
                                        </p:cTn>
                                        <p:tgtEl>
                                          <p:spTgt spid="751619">
                                            <p:txEl>
                                              <p:pRg st="3" end="3"/>
                                            </p:txEl>
                                          </p:spTgt>
                                        </p:tgtEl>
                                        <p:attrNameLst>
                                          <p:attrName>style.visibility</p:attrName>
                                        </p:attrNameLst>
                                      </p:cBhvr>
                                      <p:to>
                                        <p:strVal val="visible"/>
                                      </p:to>
                                    </p:set>
                                    <p:animEffect transition="in" filter="wipe(left)">
                                      <p:cBhvr>
                                        <p:cTn id="18" dur="500"/>
                                        <p:tgtEl>
                                          <p:spTgt spid="751619">
                                            <p:txEl>
                                              <p:pRg st="3" end="3"/>
                                            </p:txEl>
                                          </p:spTgt>
                                        </p:tgtEl>
                                      </p:cBhvr>
                                    </p:animEffect>
                                  </p:childTnLst>
                                  <p:subTnLst>
                                    <p:animClr clrSpc="rgb" dir="cw">
                                      <p:cBhvr override="childStyle">
                                        <p:cTn dur="1" fill="hold" display="0" masterRel="nextClick" afterEffect="1"/>
                                        <p:tgtEl>
                                          <p:spTgt spid="751619">
                                            <p:txEl>
                                              <p:pRg st="3" end="3"/>
                                            </p:txEl>
                                          </p:spTgt>
                                        </p:tgtEl>
                                        <p:attrNameLst>
                                          <p:attrName>ppt_c</p:attrName>
                                        </p:attrNameLst>
                                      </p:cBhvr>
                                      <p:to>
                                        <a:schemeClr val="folHlink"/>
                                      </p:to>
                                    </p:animClr>
                                  </p:subTnLst>
                                </p:cTn>
                              </p:par>
                              <p:par>
                                <p:cTn id="19" presetID="22" presetClass="entr" presetSubtype="8" fill="hold" grpId="0" nodeType="withEffect">
                                  <p:stCondLst>
                                    <p:cond delay="0"/>
                                  </p:stCondLst>
                                  <p:childTnLst>
                                    <p:set>
                                      <p:cBhvr>
                                        <p:cTn id="20" dur="1" fill="hold">
                                          <p:stCondLst>
                                            <p:cond delay="0"/>
                                          </p:stCondLst>
                                        </p:cTn>
                                        <p:tgtEl>
                                          <p:spTgt spid="751619">
                                            <p:txEl>
                                              <p:pRg st="4" end="4"/>
                                            </p:txEl>
                                          </p:spTgt>
                                        </p:tgtEl>
                                        <p:attrNameLst>
                                          <p:attrName>style.visibility</p:attrName>
                                        </p:attrNameLst>
                                      </p:cBhvr>
                                      <p:to>
                                        <p:strVal val="visible"/>
                                      </p:to>
                                    </p:set>
                                    <p:animEffect transition="in" filter="wipe(left)">
                                      <p:cBhvr>
                                        <p:cTn id="21" dur="500"/>
                                        <p:tgtEl>
                                          <p:spTgt spid="751619">
                                            <p:txEl>
                                              <p:pRg st="4" end="4"/>
                                            </p:txEl>
                                          </p:spTgt>
                                        </p:tgtEl>
                                      </p:cBhvr>
                                    </p:animEffect>
                                  </p:childTnLst>
                                  <p:subTnLst>
                                    <p:animClr clrSpc="rgb" dir="cw">
                                      <p:cBhvr override="childStyle">
                                        <p:cTn dur="1" fill="hold" display="0" masterRel="nextClick" afterEffect="1"/>
                                        <p:tgtEl>
                                          <p:spTgt spid="751619">
                                            <p:txEl>
                                              <p:pRg st="4" end="4"/>
                                            </p:txEl>
                                          </p:spTgt>
                                        </p:tgtEl>
                                        <p:attrNameLst>
                                          <p:attrName>ppt_c</p:attrName>
                                        </p:attrNameLst>
                                      </p:cBhvr>
                                      <p:to>
                                        <a:schemeClr val="folHlink"/>
                                      </p:to>
                                    </p:animClr>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51619">
                                            <p:txEl>
                                              <p:pRg st="5" end="5"/>
                                            </p:txEl>
                                          </p:spTgt>
                                        </p:tgtEl>
                                        <p:attrNameLst>
                                          <p:attrName>style.visibility</p:attrName>
                                        </p:attrNameLst>
                                      </p:cBhvr>
                                      <p:to>
                                        <p:strVal val="visible"/>
                                      </p:to>
                                    </p:set>
                                    <p:animEffect transition="in" filter="wipe(left)">
                                      <p:cBhvr>
                                        <p:cTn id="26" dur="500"/>
                                        <p:tgtEl>
                                          <p:spTgt spid="751619">
                                            <p:txEl>
                                              <p:pRg st="5" end="5"/>
                                            </p:txEl>
                                          </p:spTgt>
                                        </p:tgtEl>
                                      </p:cBhvr>
                                    </p:animEffect>
                                  </p:childTnLst>
                                  <p:subTnLst>
                                    <p:animClr clrSpc="rgb" dir="cw">
                                      <p:cBhvr override="childStyle">
                                        <p:cTn dur="1" fill="hold" display="0" masterRel="nextClick" afterEffect="1"/>
                                        <p:tgtEl>
                                          <p:spTgt spid="751619">
                                            <p:txEl>
                                              <p:pRg st="5" end="5"/>
                                            </p:txEl>
                                          </p:spTgt>
                                        </p:tgtEl>
                                        <p:attrNameLst>
                                          <p:attrName>ppt_c</p:attrName>
                                        </p:attrNameLst>
                                      </p:cBhvr>
                                      <p:to>
                                        <a:schemeClr val="folHlink"/>
                                      </p:to>
                                    </p:animClr>
                                  </p:sub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751635"/>
                                        </p:tgtEl>
                                        <p:attrNameLst>
                                          <p:attrName>style.visibility</p:attrName>
                                        </p:attrNameLst>
                                      </p:cBhvr>
                                      <p:to>
                                        <p:strVal val="visible"/>
                                      </p:to>
                                    </p:set>
                                    <p:animEffect transition="in" filter="wipe(left)">
                                      <p:cBhvr>
                                        <p:cTn id="31" dur="500"/>
                                        <p:tgtEl>
                                          <p:spTgt spid="751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619" grpId="0" autoUpdateAnimBg="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6226" name="Rectangle 2"/>
          <p:cNvSpPr>
            <a:spLocks noGrp="1" noChangeArrowheads="1"/>
          </p:cNvSpPr>
          <p:nvPr>
            <p:ph type="title"/>
          </p:nvPr>
        </p:nvSpPr>
        <p:spPr>
          <a:noFill/>
        </p:spPr>
        <p:txBody>
          <a:bodyPr>
            <a:normAutofit fontScale="90000"/>
          </a:bodyPr>
          <a:lstStyle/>
          <a:p>
            <a:r>
              <a:rPr lang="zh-CN" altLang="en-US" sz="4000"/>
              <a:t>两个总体均值之差的</a:t>
            </a:r>
            <a:r>
              <a:rPr lang="zh-CN" altLang="en-US" sz="4000">
                <a:latin typeface="Arial" panose="020B0604020202090204" pitchFamily="34" charset="0"/>
              </a:rPr>
              <a:t>检验</a:t>
            </a:r>
            <a:br>
              <a:rPr lang="zh-CN" altLang="en-US" sz="4000">
                <a:latin typeface="Arial" panose="020B0604020202090204" pitchFamily="34" charset="0"/>
              </a:rPr>
            </a:br>
            <a:r>
              <a:rPr lang="zh-CN" altLang="en-US" sz="4000">
                <a:latin typeface="Arial" panose="020B0604020202090204" pitchFamily="34" charset="0"/>
              </a:rPr>
              <a:t> </a:t>
            </a:r>
            <a:r>
              <a:rPr lang="en-US" altLang="zh-CN" sz="3600">
                <a:solidFill>
                  <a:schemeClr val="hlink"/>
                </a:solidFill>
                <a:latin typeface="Arial" panose="020B0604020202090204" pitchFamily="34" charset="0"/>
              </a:rPr>
              <a:t>(</a:t>
            </a:r>
            <a:r>
              <a:rPr lang="en-US" altLang="zh-CN" sz="3600">
                <a:solidFill>
                  <a:schemeClr val="hlink"/>
                </a:solidFill>
                <a:latin typeface="Symbol" panose="05050102010706020507" pitchFamily="18" charset="2"/>
              </a:rPr>
              <a:t></a:t>
            </a:r>
            <a:r>
              <a:rPr lang="en-US" altLang="zh-CN" sz="3600" baseline="-25000">
                <a:solidFill>
                  <a:schemeClr val="hlink"/>
                </a:solidFill>
                <a:latin typeface="Arial" panose="020B0604020202090204" pitchFamily="34" charset="0"/>
              </a:rPr>
              <a:t>1</a:t>
            </a:r>
            <a:r>
              <a:rPr lang="en-US" altLang="zh-CN" sz="3600" baseline="30000">
                <a:solidFill>
                  <a:schemeClr val="hlink"/>
                </a:solidFill>
                <a:latin typeface="Arial" panose="020B0604020202090204" pitchFamily="34" charset="0"/>
              </a:rPr>
              <a:t>2</a:t>
            </a:r>
            <a:r>
              <a:rPr lang="zh-CN" altLang="en-US" sz="3600">
                <a:solidFill>
                  <a:schemeClr val="hlink"/>
                </a:solidFill>
                <a:latin typeface="Arial" panose="020B0604020202090204" pitchFamily="34" charset="0"/>
              </a:rPr>
              <a:t>、</a:t>
            </a:r>
            <a:r>
              <a:rPr lang="zh-CN" altLang="en-US" sz="3600">
                <a:solidFill>
                  <a:schemeClr val="hlink"/>
                </a:solidFill>
                <a:latin typeface="Symbol" panose="05050102010706020507" pitchFamily="18" charset="2"/>
              </a:rPr>
              <a:t> </a:t>
            </a:r>
            <a:r>
              <a:rPr lang="en-US" altLang="zh-CN" sz="3600" baseline="-25000">
                <a:solidFill>
                  <a:schemeClr val="hlink"/>
                </a:solidFill>
                <a:latin typeface="Arial" panose="020B0604020202090204" pitchFamily="34" charset="0"/>
              </a:rPr>
              <a:t>2</a:t>
            </a:r>
            <a:r>
              <a:rPr lang="en-US" altLang="zh-CN" sz="3600" baseline="30000">
                <a:solidFill>
                  <a:schemeClr val="hlink"/>
                </a:solidFill>
                <a:latin typeface="Arial" panose="020B0604020202090204" pitchFamily="34" charset="0"/>
              </a:rPr>
              <a:t>2</a:t>
            </a:r>
            <a:r>
              <a:rPr lang="en-US" altLang="zh-CN" sz="3600">
                <a:solidFill>
                  <a:schemeClr val="hlink"/>
                </a:solidFill>
                <a:latin typeface="Arial" panose="020B0604020202090204" pitchFamily="34" charset="0"/>
              </a:rPr>
              <a:t> </a:t>
            </a:r>
            <a:r>
              <a:rPr lang="zh-CN" altLang="en-US" sz="3600">
                <a:solidFill>
                  <a:schemeClr val="hlink"/>
                </a:solidFill>
                <a:latin typeface="Arial" panose="020B0604020202090204" pitchFamily="34" charset="0"/>
              </a:rPr>
              <a:t>未知但</a:t>
            </a:r>
            <a:r>
              <a:rPr lang="zh-CN" altLang="en-US" sz="3600">
                <a:solidFill>
                  <a:schemeClr val="hlink"/>
                </a:solidFill>
                <a:latin typeface="Arial" panose="020B0604020202090204" pitchFamily="34" charset="0"/>
              </a:rPr>
              <a:t>不相等</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小样本</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1076227" name="Rectangle 3"/>
          <p:cNvSpPr>
            <a:spLocks noGrp="1" noChangeArrowheads="1"/>
          </p:cNvSpPr>
          <p:nvPr>
            <p:ph type="body" idx="1"/>
          </p:nvPr>
        </p:nvSpPr>
        <p:spPr>
          <a:xfrm>
            <a:off x="1905000" y="1752600"/>
            <a:ext cx="8477250" cy="4495800"/>
          </a:xfrm>
          <a:noFill/>
        </p:spPr>
        <p:txBody>
          <a:bodyPr/>
          <a:lstStyle/>
          <a:p>
            <a:pPr marL="609600" indent="-609600">
              <a:buFontTx/>
              <a:buAutoNum type="arabicPeriod"/>
            </a:pPr>
            <a:r>
              <a:rPr lang="zh-CN" altLang="en-US" sz="2800"/>
              <a:t>检验具有等方差的两个总体的均值</a:t>
            </a:r>
            <a:endParaRPr lang="zh-CN" altLang="en-US" sz="2800"/>
          </a:p>
          <a:p>
            <a:pPr marL="609600" indent="-609600">
              <a:buFontTx/>
              <a:buAutoNum type="arabicPeriod"/>
            </a:pPr>
            <a:r>
              <a:rPr lang="zh-CN" altLang="en-US" sz="2800"/>
              <a:t>假定</a:t>
            </a:r>
            <a:r>
              <a:rPr lang="zh-CN" altLang="en-US" sz="2800">
                <a:latin typeface="Times New Roman" panose="02020603050405020304" pitchFamily="18" charset="0"/>
              </a:rPr>
              <a:t>条件</a:t>
            </a:r>
            <a:endParaRPr lang="zh-CN" altLang="en-US" sz="2800">
              <a:latin typeface="Times New Roman" panose="02020603050405020304" pitchFamily="18" charset="0"/>
            </a:endParaRPr>
          </a:p>
          <a:p>
            <a:pPr marL="1219200" lvl="1" indent="-533400"/>
            <a:r>
              <a:rPr lang="zh-CN" altLang="en-US" sz="2400">
                <a:latin typeface="宋体" pitchFamily="2" charset="-122"/>
                <a:sym typeface="Wingdings" panose="05000000000000000000" pitchFamily="2" charset="2"/>
              </a:rPr>
              <a:t>两个样本是独立的随机样本</a:t>
            </a:r>
            <a:endParaRPr lang="zh-CN" altLang="en-US" sz="2400">
              <a:latin typeface="宋体" pitchFamily="2" charset="-122"/>
            </a:endParaRPr>
          </a:p>
          <a:p>
            <a:pPr marL="1219200" lvl="1" indent="-533400"/>
            <a:r>
              <a:rPr lang="zh-CN" altLang="en-US" sz="2400">
                <a:latin typeface="宋体" pitchFamily="2" charset="-122"/>
                <a:sym typeface="Wingdings" panose="05000000000000000000" pitchFamily="2" charset="2"/>
              </a:rPr>
              <a:t>两个</a:t>
            </a:r>
            <a:r>
              <a:rPr lang="zh-CN" altLang="en-US" sz="2400">
                <a:latin typeface="宋体" pitchFamily="2" charset="-122"/>
              </a:rPr>
              <a:t>总体都是正态分布</a:t>
            </a:r>
            <a:endParaRPr lang="zh-CN" altLang="en-US" sz="2400">
              <a:latin typeface="宋体" pitchFamily="2" charset="-122"/>
            </a:endParaRPr>
          </a:p>
          <a:p>
            <a:pPr marL="1219200" lvl="1" indent="-533400"/>
            <a:r>
              <a:rPr lang="zh-CN" altLang="en-US" sz="2400">
                <a:latin typeface="宋体" pitchFamily="2" charset="-122"/>
                <a:sym typeface="Wingdings" panose="05000000000000000000" pitchFamily="2" charset="2"/>
              </a:rPr>
              <a:t>两个总体方差未知但相等</a:t>
            </a:r>
            <a:r>
              <a:rPr lang="zh-CN" altLang="en-US" sz="2400">
                <a:latin typeface="Symbol" panose="05050102010706020507" pitchFamily="18" charset="2"/>
              </a:rPr>
              <a:t></a:t>
            </a:r>
            <a:r>
              <a:rPr lang="en-US" altLang="zh-CN" sz="2400" baseline="-25000">
                <a:latin typeface="Symbol" panose="05050102010706020507" pitchFamily="18" charset="2"/>
              </a:rPr>
              <a:t>1</a:t>
            </a:r>
            <a:r>
              <a:rPr lang="en-US" altLang="zh-CN" sz="2400" baseline="30000">
                <a:latin typeface="Symbol" panose="05050102010706020507" pitchFamily="18" charset="2"/>
              </a:rPr>
              <a:t>2 </a:t>
            </a:r>
            <a:r>
              <a:rPr lang="en-US" altLang="zh-CN" sz="2400">
                <a:solidFill>
                  <a:schemeClr val="hlink"/>
                </a:solidFill>
                <a:latin typeface="Symbol" panose="05050102010706020507" pitchFamily="18" charset="2"/>
                <a:sym typeface="Symbol" panose="05050102010706020507" pitchFamily="18" charset="2"/>
              </a:rPr>
              <a:t></a:t>
            </a:r>
            <a:r>
              <a:rPr lang="en-US" altLang="zh-CN" sz="2400">
                <a:latin typeface="Symbol" panose="05050102010706020507" pitchFamily="18" charset="2"/>
              </a:rPr>
              <a:t></a:t>
            </a:r>
            <a:r>
              <a:rPr lang="en-US" altLang="zh-CN" sz="2400" baseline="-25000">
                <a:latin typeface="Symbol" panose="05050102010706020507" pitchFamily="18" charset="2"/>
              </a:rPr>
              <a:t>2</a:t>
            </a:r>
            <a:r>
              <a:rPr lang="en-US" altLang="zh-CN" sz="2400" baseline="30000">
                <a:latin typeface="Symbol" panose="05050102010706020507" pitchFamily="18" charset="2"/>
              </a:rPr>
              <a:t>2</a:t>
            </a:r>
            <a:endParaRPr lang="en-US" altLang="zh-CN" sz="2400">
              <a:latin typeface="宋体" pitchFamily="2" charset="-122"/>
            </a:endParaRPr>
          </a:p>
          <a:p>
            <a:pPr marL="609600" indent="-609600">
              <a:buFontTx/>
              <a:buAutoNum type="arabicPeriod"/>
            </a:pPr>
            <a:r>
              <a:rPr lang="zh-CN" altLang="en-US" sz="2800"/>
              <a:t>检验</a:t>
            </a:r>
            <a:r>
              <a:rPr lang="zh-CN" altLang="en-US" sz="2800">
                <a:latin typeface="Times New Roman" panose="02020603050405020304" pitchFamily="18" charset="0"/>
              </a:rPr>
              <a:t>统计量</a:t>
            </a:r>
            <a:endParaRPr lang="zh-CN" altLang="en-US" sz="280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1076228" name="Object 4">
                <a:hlinkClick r:id="" action="ppaction://ole?verb=0"/>
              </p:cNvPr>
              <p:cNvSpPr txBox="1"/>
              <p:nvPr/>
            </p:nvSpPr>
            <p:spPr bwMode="auto">
              <a:xfrm>
                <a:off x="3057525" y="4570413"/>
                <a:ext cx="3906838" cy="1655762"/>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𝑋</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𝑋</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num>
                        <m:den>
                          <m:rad>
                            <m:radPr>
                              <m:degHide m:val="on"/>
                              <m:ctrlPr>
                                <a:rPr lang="zh-CN" altLang="en-US" i="1">
                                  <a:solidFill>
                                    <a:srgbClr val="000000"/>
                                  </a:solidFill>
                                  <a:latin typeface="Cambria Math" panose="02040503050406030204" pitchFamily="18" charset="0"/>
                                </a:rPr>
                              </m:ctrlPr>
                            </m:radPr>
                            <m:deg/>
                            <m:e>
                              <m:f>
                                <m:fPr>
                                  <m:ctrlPr>
                                    <a:rPr lang="zh-CN" altLang="en-US" i="1">
                                      <a:solidFill>
                                        <a:srgbClr val="000000"/>
                                      </a:solidFill>
                                      <a:latin typeface="Cambria Math" panose="02040503050406030204" pitchFamily="18" charset="0"/>
                                    </a:rPr>
                                  </m:ctrlPr>
                                </m:fPr>
                                <m:num>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𝑆</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sSubSup>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𝑆</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den>
                              </m:f>
                            </m:e>
                          </m:rad>
                        </m:den>
                      </m:f>
                    </m:oMath>
                  </m:oMathPara>
                </a14:m>
                <a:endParaRPr lang="zh-CN" altLang="en-US"/>
              </a:p>
            </p:txBody>
          </p:sp>
        </mc:Choice>
        <mc:Fallback>
          <p:sp>
            <p:nvSpPr>
              <p:cNvPr id="1076228" name="Object 4">
                <a:hlinkClick r:id="" action="ppaction://ole?verb=0"/>
              </p:cNvPr>
              <p:cNvSpPr txBox="1">
                <a:spLocks noRot="1" noChangeAspect="1" noMove="1" noResize="1" noEditPoints="1" noAdjustHandles="1" noChangeArrowheads="1" noChangeShapeType="1" noTextEdit="1"/>
              </p:cNvSpPr>
              <p:nvPr/>
            </p:nvSpPr>
            <p:spPr bwMode="auto">
              <a:xfrm>
                <a:off x="3057525" y="4570413"/>
                <a:ext cx="3906838" cy="1655762"/>
              </a:xfrm>
              <a:prstGeom prst="rect">
                <a:avLst/>
              </a:prstGeom>
              <a:blipFill rotWithShape="1">
                <a:blip r:embed="rId1"/>
                <a:stretch>
                  <a:fillRect t="-19" r="-317" b="-767"/>
                </a:stretch>
              </a:blipFill>
              <a:ln>
                <a:noFill/>
              </a:ln>
              <a:effectLst>
                <a:outerShdw dist="17961" dir="2700000" algn="ctr" rotWithShape="0">
                  <a:schemeClr val="bg2"/>
                </a:outerShdw>
              </a:effectLst>
            </p:spPr>
            <p:txBody>
              <a:bodyPr/>
              <a:lstStyle/>
              <a:p>
                <a:r>
                  <a:rPr lang="zh-CN" altLang="en-US">
                    <a:noFill/>
                  </a:rPr>
                  <a:t> </a:t>
                </a:r>
              </a:p>
            </p:txBody>
          </p:sp>
        </mc:Fallback>
      </mc:AlternateContent>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6227">
                                            <p:txEl>
                                              <p:pRg st="0" end="0"/>
                                            </p:txEl>
                                          </p:spTgt>
                                        </p:tgtEl>
                                        <p:attrNameLst>
                                          <p:attrName>style.visibility</p:attrName>
                                        </p:attrNameLst>
                                      </p:cBhvr>
                                      <p:to>
                                        <p:strVal val="visible"/>
                                      </p:to>
                                    </p:set>
                                    <p:animEffect transition="in" filter="wipe(left)">
                                      <p:cBhvr>
                                        <p:cTn id="7" dur="500"/>
                                        <p:tgtEl>
                                          <p:spTgt spid="1076227">
                                            <p:txEl>
                                              <p:pRg st="0" end="0"/>
                                            </p:txEl>
                                          </p:spTgt>
                                        </p:tgtEl>
                                      </p:cBhvr>
                                    </p:animEffect>
                                  </p:childTnLst>
                                  <p:subTnLst>
                                    <p:animClr clrSpc="rgb" dir="cw">
                                      <p:cBhvr override="childStyle">
                                        <p:cTn dur="1" fill="hold" display="0" masterRel="nextClick" afterEffect="1"/>
                                        <p:tgtEl>
                                          <p:spTgt spid="1076227">
                                            <p:txEl>
                                              <p:pRg st="0" end="0"/>
                                            </p:txEl>
                                          </p:spTgt>
                                        </p:tgtEl>
                                        <p:attrNameLst>
                                          <p:attrName>ppt_c</p:attrName>
                                        </p:attrNameLst>
                                      </p:cBhvr>
                                      <p:to>
                                        <a:schemeClr val="folHlink"/>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76227">
                                            <p:txEl>
                                              <p:pRg st="1" end="1"/>
                                            </p:txEl>
                                          </p:spTgt>
                                        </p:tgtEl>
                                        <p:attrNameLst>
                                          <p:attrName>style.visibility</p:attrName>
                                        </p:attrNameLst>
                                      </p:cBhvr>
                                      <p:to>
                                        <p:strVal val="visible"/>
                                      </p:to>
                                    </p:set>
                                    <p:animEffect transition="in" filter="wipe(left)">
                                      <p:cBhvr>
                                        <p:cTn id="12" dur="500"/>
                                        <p:tgtEl>
                                          <p:spTgt spid="1076227">
                                            <p:txEl>
                                              <p:pRg st="1" end="1"/>
                                            </p:txEl>
                                          </p:spTgt>
                                        </p:tgtEl>
                                      </p:cBhvr>
                                    </p:animEffect>
                                  </p:childTnLst>
                                  <p:subTnLst>
                                    <p:animClr clrSpc="rgb" dir="cw">
                                      <p:cBhvr override="childStyle">
                                        <p:cTn dur="1" fill="hold" display="0" masterRel="nextClick" afterEffect="1"/>
                                        <p:tgtEl>
                                          <p:spTgt spid="1076227">
                                            <p:txEl>
                                              <p:pRg st="1" end="1"/>
                                            </p:txEl>
                                          </p:spTgt>
                                        </p:tgtEl>
                                        <p:attrNameLst>
                                          <p:attrName>ppt_c</p:attrName>
                                        </p:attrNameLst>
                                      </p:cBhvr>
                                      <p:to>
                                        <a:schemeClr val="folHlink"/>
                                      </p:to>
                                    </p:animClr>
                                  </p:subTnLst>
                                </p:cTn>
                              </p:par>
                              <p:par>
                                <p:cTn id="13" presetID="22" presetClass="entr" presetSubtype="8" fill="hold" grpId="0" nodeType="withEffect">
                                  <p:stCondLst>
                                    <p:cond delay="0"/>
                                  </p:stCondLst>
                                  <p:childTnLst>
                                    <p:set>
                                      <p:cBhvr>
                                        <p:cTn id="14" dur="1" fill="hold">
                                          <p:stCondLst>
                                            <p:cond delay="0"/>
                                          </p:stCondLst>
                                        </p:cTn>
                                        <p:tgtEl>
                                          <p:spTgt spid="1076227">
                                            <p:txEl>
                                              <p:pRg st="2" end="2"/>
                                            </p:txEl>
                                          </p:spTgt>
                                        </p:tgtEl>
                                        <p:attrNameLst>
                                          <p:attrName>style.visibility</p:attrName>
                                        </p:attrNameLst>
                                      </p:cBhvr>
                                      <p:to>
                                        <p:strVal val="visible"/>
                                      </p:to>
                                    </p:set>
                                    <p:animEffect transition="in" filter="wipe(left)">
                                      <p:cBhvr>
                                        <p:cTn id="15" dur="500"/>
                                        <p:tgtEl>
                                          <p:spTgt spid="1076227">
                                            <p:txEl>
                                              <p:pRg st="2" end="2"/>
                                            </p:txEl>
                                          </p:spTgt>
                                        </p:tgtEl>
                                      </p:cBhvr>
                                    </p:animEffect>
                                  </p:childTnLst>
                                  <p:subTnLst>
                                    <p:animClr clrSpc="rgb" dir="cw">
                                      <p:cBhvr override="childStyle">
                                        <p:cTn dur="1" fill="hold" display="0" masterRel="nextClick" afterEffect="1"/>
                                        <p:tgtEl>
                                          <p:spTgt spid="1076227">
                                            <p:txEl>
                                              <p:pRg st="2" end="2"/>
                                            </p:txEl>
                                          </p:spTgt>
                                        </p:tgtEl>
                                        <p:attrNameLst>
                                          <p:attrName>ppt_c</p:attrName>
                                        </p:attrNameLst>
                                      </p:cBhvr>
                                      <p:to>
                                        <a:schemeClr val="folHlink"/>
                                      </p:to>
                                    </p:animClr>
                                  </p:subTnLst>
                                </p:cTn>
                              </p:par>
                              <p:par>
                                <p:cTn id="16" presetID="22" presetClass="entr" presetSubtype="8" fill="hold" grpId="0" nodeType="withEffect">
                                  <p:stCondLst>
                                    <p:cond delay="0"/>
                                  </p:stCondLst>
                                  <p:childTnLst>
                                    <p:set>
                                      <p:cBhvr>
                                        <p:cTn id="17" dur="1" fill="hold">
                                          <p:stCondLst>
                                            <p:cond delay="0"/>
                                          </p:stCondLst>
                                        </p:cTn>
                                        <p:tgtEl>
                                          <p:spTgt spid="1076227">
                                            <p:txEl>
                                              <p:pRg st="3" end="3"/>
                                            </p:txEl>
                                          </p:spTgt>
                                        </p:tgtEl>
                                        <p:attrNameLst>
                                          <p:attrName>style.visibility</p:attrName>
                                        </p:attrNameLst>
                                      </p:cBhvr>
                                      <p:to>
                                        <p:strVal val="visible"/>
                                      </p:to>
                                    </p:set>
                                    <p:animEffect transition="in" filter="wipe(left)">
                                      <p:cBhvr>
                                        <p:cTn id="18" dur="500"/>
                                        <p:tgtEl>
                                          <p:spTgt spid="1076227">
                                            <p:txEl>
                                              <p:pRg st="3" end="3"/>
                                            </p:txEl>
                                          </p:spTgt>
                                        </p:tgtEl>
                                      </p:cBhvr>
                                    </p:animEffect>
                                  </p:childTnLst>
                                  <p:subTnLst>
                                    <p:animClr clrSpc="rgb" dir="cw">
                                      <p:cBhvr override="childStyle">
                                        <p:cTn dur="1" fill="hold" display="0" masterRel="nextClick" afterEffect="1"/>
                                        <p:tgtEl>
                                          <p:spTgt spid="1076227">
                                            <p:txEl>
                                              <p:pRg st="3" end="3"/>
                                            </p:txEl>
                                          </p:spTgt>
                                        </p:tgtEl>
                                        <p:attrNameLst>
                                          <p:attrName>ppt_c</p:attrName>
                                        </p:attrNameLst>
                                      </p:cBhvr>
                                      <p:to>
                                        <a:schemeClr val="folHlink"/>
                                      </p:to>
                                    </p:animClr>
                                  </p:subTnLst>
                                </p:cTn>
                              </p:par>
                              <p:par>
                                <p:cTn id="19" presetID="22" presetClass="entr" presetSubtype="8" fill="hold" grpId="0" nodeType="withEffect">
                                  <p:stCondLst>
                                    <p:cond delay="0"/>
                                  </p:stCondLst>
                                  <p:childTnLst>
                                    <p:set>
                                      <p:cBhvr>
                                        <p:cTn id="20" dur="1" fill="hold">
                                          <p:stCondLst>
                                            <p:cond delay="0"/>
                                          </p:stCondLst>
                                        </p:cTn>
                                        <p:tgtEl>
                                          <p:spTgt spid="1076227">
                                            <p:txEl>
                                              <p:pRg st="4" end="4"/>
                                            </p:txEl>
                                          </p:spTgt>
                                        </p:tgtEl>
                                        <p:attrNameLst>
                                          <p:attrName>style.visibility</p:attrName>
                                        </p:attrNameLst>
                                      </p:cBhvr>
                                      <p:to>
                                        <p:strVal val="visible"/>
                                      </p:to>
                                    </p:set>
                                    <p:animEffect transition="in" filter="wipe(left)">
                                      <p:cBhvr>
                                        <p:cTn id="21" dur="500"/>
                                        <p:tgtEl>
                                          <p:spTgt spid="1076227">
                                            <p:txEl>
                                              <p:pRg st="4" end="4"/>
                                            </p:txEl>
                                          </p:spTgt>
                                        </p:tgtEl>
                                      </p:cBhvr>
                                    </p:animEffect>
                                  </p:childTnLst>
                                  <p:subTnLst>
                                    <p:animClr clrSpc="rgb" dir="cw">
                                      <p:cBhvr override="childStyle">
                                        <p:cTn dur="1" fill="hold" display="0" masterRel="nextClick" afterEffect="1"/>
                                        <p:tgtEl>
                                          <p:spTgt spid="1076227">
                                            <p:txEl>
                                              <p:pRg st="4" end="4"/>
                                            </p:txEl>
                                          </p:spTgt>
                                        </p:tgtEl>
                                        <p:attrNameLst>
                                          <p:attrName>ppt_c</p:attrName>
                                        </p:attrNameLst>
                                      </p:cBhvr>
                                      <p:to>
                                        <a:schemeClr val="folHlink"/>
                                      </p:to>
                                    </p:animClr>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76227">
                                            <p:txEl>
                                              <p:pRg st="5" end="5"/>
                                            </p:txEl>
                                          </p:spTgt>
                                        </p:tgtEl>
                                        <p:attrNameLst>
                                          <p:attrName>style.visibility</p:attrName>
                                        </p:attrNameLst>
                                      </p:cBhvr>
                                      <p:to>
                                        <p:strVal val="visible"/>
                                      </p:to>
                                    </p:set>
                                    <p:animEffect transition="in" filter="wipe(left)">
                                      <p:cBhvr>
                                        <p:cTn id="26" dur="500"/>
                                        <p:tgtEl>
                                          <p:spTgt spid="1076227">
                                            <p:txEl>
                                              <p:pRg st="5" end="5"/>
                                            </p:txEl>
                                          </p:spTgt>
                                        </p:tgtEl>
                                      </p:cBhvr>
                                    </p:animEffect>
                                  </p:childTnLst>
                                  <p:subTnLst>
                                    <p:animClr clrSpc="rgb" dir="cw">
                                      <p:cBhvr override="childStyle">
                                        <p:cTn dur="1" fill="hold" display="0" masterRel="nextClick" afterEffect="1"/>
                                        <p:tgtEl>
                                          <p:spTgt spid="1076227">
                                            <p:txEl>
                                              <p:pRg st="5" end="5"/>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6227" grpId="0" autoUpdateAnimBg="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p:cNvSpPr>
            <a:spLocks noGrp="1" noChangeArrowheads="1"/>
          </p:cNvSpPr>
          <p:nvPr>
            <p:ph type="title"/>
          </p:nvPr>
        </p:nvSpPr>
        <p:spPr>
          <a:noFill/>
        </p:spPr>
        <p:txBody>
          <a:bodyPr>
            <a:normAutofit fontScale="90000"/>
          </a:bodyPr>
          <a:lstStyle/>
          <a:p>
            <a:r>
              <a:rPr lang="zh-CN" altLang="en-US" sz="4000"/>
              <a:t>两个总体均值之差的检验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772112" name="AutoShape 16"/>
          <p:cNvSpPr>
            <a:spLocks noChangeArrowheads="1"/>
          </p:cNvSpPr>
          <p:nvPr/>
        </p:nvSpPr>
        <p:spPr bwMode="auto">
          <a:xfrm>
            <a:off x="7575550" y="1905001"/>
            <a:ext cx="2490788" cy="715963"/>
          </a:xfrm>
          <a:prstGeom prst="cloudCallout">
            <a:avLst>
              <a:gd name="adj1" fmla="val -59051"/>
              <a:gd name="adj2" fmla="val 162861"/>
            </a:avLst>
          </a:prstGeom>
          <a:noFill/>
          <a:ln w="12700">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solidFill>
                  <a:schemeClr val="accent2"/>
                </a:solidFill>
                <a:effectLst>
                  <a:outerShdw blurRad="38100" dist="38100" dir="2700000" algn="tl">
                    <a:srgbClr val="000000"/>
                  </a:outerShdw>
                </a:effectLst>
              </a:rPr>
              <a:t>单侧检验</a:t>
            </a:r>
            <a:endParaRPr lang="zh-CN" altLang="en-US">
              <a:effectLst>
                <a:outerShdw blurRad="38100" dist="38100" dir="2700000" algn="tl">
                  <a:srgbClr val="000000"/>
                </a:outerShdw>
              </a:effectLst>
            </a:endParaRPr>
          </a:p>
        </p:txBody>
      </p:sp>
      <p:sp>
        <p:nvSpPr>
          <p:cNvPr id="772114" name="Rectangle 18"/>
          <p:cNvSpPr>
            <a:spLocks noChangeArrowheads="1"/>
          </p:cNvSpPr>
          <p:nvPr/>
        </p:nvSpPr>
        <p:spPr bwMode="auto">
          <a:xfrm>
            <a:off x="2008188" y="1754189"/>
            <a:ext cx="5249862"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90000"/>
              </a:lnSpc>
              <a:spcBef>
                <a:spcPct val="20000"/>
              </a:spcBef>
            </a:pPr>
            <a:r>
              <a:rPr lang="en-US" altLang="zh-CN" sz="2800" dirty="0"/>
              <a:t> 【</a:t>
            </a:r>
            <a:r>
              <a:rPr lang="zh-CN" altLang="en-US" sz="2800" dirty="0"/>
              <a:t>例</a:t>
            </a:r>
            <a:r>
              <a:rPr lang="en-US" altLang="zh-CN" sz="2800" dirty="0"/>
              <a:t>】 “</a:t>
            </a:r>
            <a:r>
              <a:rPr lang="zh-CN" altLang="en-US" sz="2800" dirty="0"/>
              <a:t>多吃谷物，将有助于减肥。”为了验证这个假设，随机抽取了</a:t>
            </a:r>
            <a:r>
              <a:rPr lang="en-US" altLang="zh-CN" sz="2800" dirty="0">
                <a:cs typeface="Times New Roman" panose="02020603050405020304" pitchFamily="18" charset="0"/>
              </a:rPr>
              <a:t>35</a:t>
            </a:r>
            <a:r>
              <a:rPr lang="zh-CN" altLang="en-US" sz="2800" dirty="0"/>
              <a:t>人，询问他们早餐和午餐的通常食谱，根据他们的食谱，将其分为二类，一类为经常的谷类食用者</a:t>
            </a:r>
            <a:r>
              <a:rPr lang="en-US" altLang="zh-CN" sz="2800" dirty="0"/>
              <a:t>(</a:t>
            </a:r>
            <a:r>
              <a:rPr lang="zh-CN" altLang="en-US" sz="2800" dirty="0"/>
              <a:t>总体</a:t>
            </a:r>
            <a:r>
              <a:rPr lang="en-US" altLang="zh-CN" sz="2800" dirty="0">
                <a:cs typeface="Times New Roman" panose="02020603050405020304" pitchFamily="18" charset="0"/>
              </a:rPr>
              <a:t>1</a:t>
            </a:r>
            <a:r>
              <a:rPr lang="en-US" altLang="zh-CN" sz="2800" dirty="0"/>
              <a:t>)</a:t>
            </a:r>
            <a:r>
              <a:rPr lang="zh-CN" altLang="en-US" sz="2800" dirty="0"/>
              <a:t>，一类为非经常谷类食用者</a:t>
            </a:r>
            <a:r>
              <a:rPr lang="en-US" altLang="zh-CN" sz="2800" dirty="0"/>
              <a:t>(</a:t>
            </a:r>
            <a:r>
              <a:rPr lang="zh-CN" altLang="en-US" sz="2800" dirty="0"/>
              <a:t>总体</a:t>
            </a:r>
            <a:r>
              <a:rPr lang="en-US" altLang="zh-CN" sz="2800" dirty="0">
                <a:cs typeface="Times New Roman" panose="02020603050405020304" pitchFamily="18" charset="0"/>
              </a:rPr>
              <a:t>2</a:t>
            </a:r>
            <a:r>
              <a:rPr lang="en-US" altLang="zh-CN" sz="2800" dirty="0"/>
              <a:t>)</a:t>
            </a:r>
            <a:r>
              <a:rPr lang="zh-CN" altLang="en-US" sz="2800" dirty="0"/>
              <a:t>。然后测度每人午餐的大卡摄取量。经过一段时间的实验，得到如下结果：检验该假设 </a:t>
            </a:r>
            <a:r>
              <a:rPr lang="en-US" altLang="zh-CN" sz="2800" dirty="0"/>
              <a:t>(</a:t>
            </a:r>
            <a:r>
              <a:rPr lang="en-US" altLang="zh-CN" sz="2800" dirty="0">
                <a:latin typeface="Symbol" panose="05050102010706020507" pitchFamily="18" charset="2"/>
              </a:rPr>
              <a:t></a:t>
            </a:r>
            <a:r>
              <a:rPr lang="en-US" altLang="zh-CN" sz="2800" dirty="0"/>
              <a:t> = 0.05)</a:t>
            </a:r>
            <a:endParaRPr lang="en-US" altLang="zh-CN" sz="2800" dirty="0"/>
          </a:p>
        </p:txBody>
      </p:sp>
      <p:graphicFrame>
        <p:nvGraphicFramePr>
          <p:cNvPr id="772118" name="Object 22">
            <a:hlinkClick r:id="" action="ppaction://ole?verb=0"/>
            <a:hlinkHover r:id="" action="ppaction://noaction" highlightClick="1"/>
          </p:cNvPr>
          <p:cNvGraphicFramePr/>
          <p:nvPr/>
        </p:nvGraphicFramePr>
        <p:xfrm>
          <a:off x="7664450" y="2933701"/>
          <a:ext cx="2700338" cy="3400425"/>
        </p:xfrm>
        <a:graphic>
          <a:graphicData uri="http://schemas.openxmlformats.org/presentationml/2006/ole">
            <mc:AlternateContent xmlns:mc="http://schemas.openxmlformats.org/markup-compatibility/2006">
              <mc:Choice xmlns:v="urn:schemas-microsoft-com:vml" Requires="v">
                <p:oleObj spid="_x0000_s3074" name="ClipArt" r:id="rId1" imgW="6828155" imgH="8322945" progId="MS_ClipArt_Gallery.2">
                  <p:embed/>
                </p:oleObj>
              </mc:Choice>
              <mc:Fallback>
                <p:oleObj name="ClipArt" r:id="rId1" imgW="6828155" imgH="8322945" progId="MS_ClipArt_Gallery.2">
                  <p:embed/>
                  <p:pic>
                    <p:nvPicPr>
                      <p:cNvPr id="0" name="Object 22">
                        <a:hlinkClick r:id="" action="ppaction://ole?verb=0"/>
                        <a:hlinkHover r:id="" action="ppaction://noaction" highlightClick="1"/>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4450" y="2933701"/>
                        <a:ext cx="2700338" cy="340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0050" name="Rectangle 2"/>
          <p:cNvSpPr>
            <a:spLocks noGrp="1" noChangeArrowheads="1"/>
          </p:cNvSpPr>
          <p:nvPr>
            <p:ph type="title"/>
          </p:nvPr>
        </p:nvSpPr>
        <p:spPr>
          <a:noFill/>
        </p:spPr>
        <p:txBody>
          <a:bodyPr>
            <a:normAutofit fontScale="90000"/>
          </a:bodyPr>
          <a:lstStyle/>
          <a:p>
            <a:r>
              <a:rPr lang="zh-CN" altLang="en-US" sz="4000"/>
              <a:t>两个总体均值之差的检验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用统计量进行检验</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770051" name="Rectangle 3"/>
          <p:cNvSpPr>
            <a:spLocks noGrp="1" noChangeArrowheads="1"/>
          </p:cNvSpPr>
          <p:nvPr>
            <p:ph type="body" sz="half" idx="1"/>
          </p:nvPr>
        </p:nvSpPr>
        <p:spPr>
          <a:xfrm>
            <a:off x="2133600" y="1803400"/>
            <a:ext cx="3848100" cy="4019550"/>
          </a:xfrm>
          <a:noFill/>
        </p:spPr>
        <p:txBody>
          <a:bodyPr/>
          <a:lstStyle/>
          <a:p>
            <a:pPr marL="0" indent="0"/>
            <a:r>
              <a:rPr lang="en-US" altLang="zh-CN" sz="2800" b="1" dirty="0"/>
              <a:t>H</a:t>
            </a:r>
            <a:r>
              <a:rPr lang="en-US" altLang="zh-CN" sz="2000" b="1" dirty="0"/>
              <a:t>0</a:t>
            </a:r>
            <a:r>
              <a:rPr lang="en-US" altLang="zh-CN" sz="2800" b="1" dirty="0"/>
              <a:t>: </a:t>
            </a:r>
            <a:r>
              <a:rPr lang="en-US" altLang="zh-CN" sz="2800" b="1" dirty="0">
                <a:latin typeface="Symbol" panose="05050102010706020507" pitchFamily="18" charset="2"/>
              </a:rPr>
              <a:t></a:t>
            </a:r>
            <a:r>
              <a:rPr lang="en-US" altLang="zh-CN" sz="2800" b="1" baseline="-25000" dirty="0">
                <a:latin typeface="Symbol" panose="05050102010706020507" pitchFamily="18" charset="2"/>
              </a:rPr>
              <a:t>1</a:t>
            </a:r>
            <a:r>
              <a:rPr lang="en-US" altLang="zh-CN" sz="2800" b="1" dirty="0"/>
              <a:t>- </a:t>
            </a:r>
            <a:r>
              <a:rPr lang="en-US" altLang="zh-CN" sz="2800" b="1" dirty="0">
                <a:latin typeface="Symbol" panose="05050102010706020507" pitchFamily="18" charset="2"/>
              </a:rPr>
              <a:t></a:t>
            </a:r>
            <a:r>
              <a:rPr lang="en-US" altLang="zh-CN" sz="2800" b="1" baseline="-25000" dirty="0">
                <a:latin typeface="Symbol" panose="05050102010706020507" pitchFamily="18" charset="2"/>
              </a:rPr>
              <a:t>2</a:t>
            </a:r>
            <a:r>
              <a:rPr lang="en-US" altLang="zh-CN" sz="2800" b="1" dirty="0"/>
              <a:t> </a:t>
            </a:r>
            <a:r>
              <a:rPr lang="en-US" altLang="zh-CN" sz="2800" b="1" dirty="0">
                <a:sym typeface="Symbol" panose="05050102010706020507" pitchFamily="18" charset="2"/>
              </a:rPr>
              <a:t> </a:t>
            </a:r>
            <a:r>
              <a:rPr lang="en-US" altLang="zh-CN" sz="2800" b="1" dirty="0"/>
              <a:t>0</a:t>
            </a:r>
            <a:endParaRPr lang="en-US" altLang="zh-CN" sz="2800" b="1" dirty="0"/>
          </a:p>
          <a:p>
            <a:pPr marL="0" indent="0"/>
            <a:r>
              <a:rPr lang="en-US" altLang="zh-CN" sz="2800" b="1" dirty="0"/>
              <a:t>H</a:t>
            </a:r>
            <a:r>
              <a:rPr lang="en-US" altLang="zh-CN" sz="2000" b="1" dirty="0"/>
              <a:t>1</a:t>
            </a:r>
            <a:r>
              <a:rPr lang="en-US" altLang="zh-CN" sz="2800" b="1" dirty="0"/>
              <a:t>: </a:t>
            </a:r>
            <a:r>
              <a:rPr lang="en-US" altLang="zh-CN" sz="2800" b="1" dirty="0">
                <a:latin typeface="Symbol" panose="05050102010706020507" pitchFamily="18" charset="2"/>
              </a:rPr>
              <a:t></a:t>
            </a:r>
            <a:r>
              <a:rPr lang="en-US" altLang="zh-CN" sz="2800" b="1" baseline="-25000" dirty="0">
                <a:latin typeface="Symbol" panose="05050102010706020507" pitchFamily="18" charset="2"/>
              </a:rPr>
              <a:t>1</a:t>
            </a:r>
            <a:r>
              <a:rPr lang="en-US" altLang="zh-CN" sz="2800" b="1" dirty="0"/>
              <a:t>- </a:t>
            </a:r>
            <a:r>
              <a:rPr lang="en-US" altLang="zh-CN" sz="2800" b="1" dirty="0">
                <a:latin typeface="Symbol" panose="05050102010706020507" pitchFamily="18" charset="2"/>
              </a:rPr>
              <a:t></a:t>
            </a:r>
            <a:r>
              <a:rPr lang="en-US" altLang="zh-CN" sz="2800" b="1" baseline="-25000" dirty="0">
                <a:latin typeface="Symbol" panose="05050102010706020507" pitchFamily="18" charset="2"/>
              </a:rPr>
              <a:t>2</a:t>
            </a:r>
            <a:r>
              <a:rPr lang="en-US" altLang="zh-CN" sz="2800" b="1" dirty="0"/>
              <a:t> &lt; 0</a:t>
            </a:r>
            <a:endParaRPr lang="en-US" altLang="zh-CN" sz="2800" b="1" dirty="0"/>
          </a:p>
          <a:p>
            <a:pPr marL="0" indent="0"/>
            <a:r>
              <a:rPr lang="en-US" altLang="zh-CN" sz="2800" b="1" dirty="0">
                <a:latin typeface="Symbol" panose="05050102010706020507" pitchFamily="18" charset="2"/>
              </a:rPr>
              <a:t></a:t>
            </a:r>
            <a:r>
              <a:rPr lang="en-US" altLang="zh-CN" sz="2800" b="1" dirty="0"/>
              <a:t> = 0.05</a:t>
            </a:r>
            <a:endParaRPr lang="en-US" altLang="zh-CN" sz="2800" b="1" dirty="0"/>
          </a:p>
          <a:p>
            <a:pPr marL="0" indent="0"/>
            <a:r>
              <a:rPr lang="en-US" altLang="zh-CN" sz="2800" b="1" i="1" dirty="0"/>
              <a:t>n</a:t>
            </a:r>
            <a:r>
              <a:rPr lang="en-US" altLang="zh-CN" sz="2400" b="1" baseline="-25000" dirty="0"/>
              <a:t>1</a:t>
            </a:r>
            <a:r>
              <a:rPr lang="en-US" altLang="zh-CN" sz="2800" b="1" dirty="0"/>
              <a:t> = 15</a:t>
            </a:r>
            <a:r>
              <a:rPr lang="zh-CN" altLang="en-US" sz="2800" b="1" dirty="0"/>
              <a:t>，</a:t>
            </a:r>
            <a:r>
              <a:rPr lang="en-US" altLang="zh-CN" sz="2800" b="1" i="1" dirty="0"/>
              <a:t>n</a:t>
            </a:r>
            <a:r>
              <a:rPr lang="en-US" altLang="zh-CN" sz="2400" b="1" baseline="-25000" dirty="0"/>
              <a:t>2</a:t>
            </a:r>
            <a:r>
              <a:rPr lang="en-US" altLang="zh-CN" sz="2400" b="1" dirty="0"/>
              <a:t> </a:t>
            </a:r>
            <a:r>
              <a:rPr lang="en-US" altLang="zh-CN" sz="2800" b="1" dirty="0"/>
              <a:t>= 20</a:t>
            </a:r>
            <a:endParaRPr lang="en-US" altLang="zh-CN" sz="2800" b="1" dirty="0"/>
          </a:p>
          <a:p>
            <a:pPr marL="0" indent="0">
              <a:spcBef>
                <a:spcPct val="24000"/>
              </a:spcBef>
            </a:pPr>
            <a:r>
              <a:rPr lang="zh-CN" altLang="en-US" sz="2800" b="1" dirty="0"/>
              <a:t>临界值</a:t>
            </a:r>
            <a:r>
              <a:rPr lang="en-US" altLang="zh-CN" sz="2800" b="1" dirty="0"/>
              <a:t>(s):</a:t>
            </a:r>
            <a:endParaRPr lang="en-US" altLang="zh-CN" sz="2800" b="1" dirty="0"/>
          </a:p>
          <a:p>
            <a:pPr marL="0" indent="0"/>
            <a:endParaRPr lang="en-US" altLang="zh-CN" sz="2800" b="1" dirty="0"/>
          </a:p>
        </p:txBody>
      </p:sp>
      <p:sp>
        <p:nvSpPr>
          <p:cNvPr id="770052" name="Rectangle 4"/>
          <p:cNvSpPr>
            <a:spLocks noChangeArrowheads="1"/>
          </p:cNvSpPr>
          <p:nvPr/>
        </p:nvSpPr>
        <p:spPr bwMode="auto">
          <a:xfrm>
            <a:off x="5516563" y="1798638"/>
            <a:ext cx="236220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latin typeface="Arial" panose="020B0604020202090204" pitchFamily="34" charset="0"/>
              </a:rPr>
              <a:t>检验统计量</a:t>
            </a:r>
            <a:r>
              <a:rPr lang="en-US" altLang="zh-CN" sz="2800" b="1">
                <a:latin typeface="Arial" panose="020B0604020202090204" pitchFamily="34" charset="0"/>
              </a:rPr>
              <a:t>:</a:t>
            </a:r>
            <a:endParaRPr lang="en-US" altLang="zh-CN" sz="2800" b="1">
              <a:latin typeface="Arial" panose="020B0604020202090204" pitchFamily="34" charset="0"/>
            </a:endParaRPr>
          </a:p>
        </p:txBody>
      </p:sp>
      <p:sp>
        <p:nvSpPr>
          <p:cNvPr id="770057" name="Rectangle 9"/>
          <p:cNvSpPr>
            <a:spLocks noChangeArrowheads="1"/>
          </p:cNvSpPr>
          <p:nvPr/>
        </p:nvSpPr>
        <p:spPr bwMode="auto">
          <a:xfrm>
            <a:off x="5573713" y="3738563"/>
            <a:ext cx="2362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latin typeface="Arial" panose="020B0604020202090204" pitchFamily="34" charset="0"/>
              </a:rPr>
              <a:t>决策</a:t>
            </a:r>
            <a:r>
              <a:rPr lang="en-US" altLang="zh-CN" sz="2800" b="1">
                <a:latin typeface="Arial" panose="020B0604020202090204" pitchFamily="34" charset="0"/>
              </a:rPr>
              <a:t>:</a:t>
            </a:r>
            <a:endParaRPr lang="en-US" altLang="zh-CN" sz="2800" b="1">
              <a:latin typeface="Arial" panose="020B0604020202090204" pitchFamily="34" charset="0"/>
            </a:endParaRPr>
          </a:p>
        </p:txBody>
      </p:sp>
      <p:sp>
        <p:nvSpPr>
          <p:cNvPr id="770058" name="Rectangle 10"/>
          <p:cNvSpPr>
            <a:spLocks noChangeArrowheads="1"/>
          </p:cNvSpPr>
          <p:nvPr/>
        </p:nvSpPr>
        <p:spPr bwMode="auto">
          <a:xfrm>
            <a:off x="5573713" y="4805363"/>
            <a:ext cx="1371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latin typeface="Arial" panose="020B0604020202090204" pitchFamily="34" charset="0"/>
              </a:rPr>
              <a:t>结论</a:t>
            </a:r>
            <a:r>
              <a:rPr lang="en-US" altLang="zh-CN" sz="2800" b="1">
                <a:latin typeface="Arial" panose="020B0604020202090204" pitchFamily="34" charset="0"/>
              </a:rPr>
              <a:t>:</a:t>
            </a:r>
            <a:r>
              <a:rPr lang="en-US" altLang="zh-CN" b="1">
                <a:latin typeface="Arial" panose="020B0604020202090204" pitchFamily="34" charset="0"/>
              </a:rPr>
              <a:t> </a:t>
            </a:r>
            <a:endParaRPr lang="en-US" altLang="zh-CN" b="1">
              <a:latin typeface="Arial" panose="020B0604020202090204" pitchFamily="34" charset="0"/>
            </a:endParaRPr>
          </a:p>
        </p:txBody>
      </p:sp>
      <p:sp>
        <p:nvSpPr>
          <p:cNvPr id="770059" name="Text Box 11"/>
          <p:cNvSpPr txBox="1">
            <a:spLocks noChangeArrowheads="1"/>
          </p:cNvSpPr>
          <p:nvPr/>
        </p:nvSpPr>
        <p:spPr bwMode="auto">
          <a:xfrm>
            <a:off x="5649913" y="4271963"/>
            <a:ext cx="43243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effectLst>
                  <a:outerShdw blurRad="38100" dist="38100" dir="2700000" algn="tl">
                    <a:srgbClr val="000000"/>
                  </a:outerShdw>
                </a:effectLst>
              </a:rPr>
              <a:t>在 </a:t>
            </a:r>
            <a:r>
              <a:rPr lang="zh-CN" altLang="en-US">
                <a:effectLst>
                  <a:outerShdw blurRad="38100" dist="38100" dir="2700000" algn="tl">
                    <a:srgbClr val="000000"/>
                  </a:outerShdw>
                </a:effectLst>
                <a:latin typeface="Symbol" panose="05050102010706020507" pitchFamily="18" charset="2"/>
              </a:rPr>
              <a:t></a:t>
            </a:r>
            <a:r>
              <a:rPr lang="zh-CN" altLang="en-US">
                <a:effectLst>
                  <a:outerShdw blurRad="38100" dist="38100" dir="2700000" algn="tl">
                    <a:srgbClr val="000000"/>
                  </a:outerShdw>
                </a:effectLst>
              </a:rPr>
              <a:t> </a:t>
            </a:r>
            <a:r>
              <a:rPr lang="en-US" altLang="zh-CN">
                <a:effectLst>
                  <a:outerShdw blurRad="38100" dist="38100" dir="2700000" algn="tl">
                    <a:srgbClr val="000000"/>
                  </a:outerShdw>
                </a:effectLst>
              </a:rPr>
              <a:t>= 0.05</a:t>
            </a:r>
            <a:r>
              <a:rPr lang="zh-CN" altLang="en-US">
                <a:effectLst>
                  <a:outerShdw blurRad="38100" dist="38100" dir="2700000" algn="tl">
                    <a:srgbClr val="000000"/>
                  </a:outerShdw>
                </a:effectLst>
              </a:rPr>
              <a:t>的水平上拒绝</a:t>
            </a:r>
            <a:r>
              <a:rPr lang="en-US" altLang="zh-CN">
                <a:effectLst>
                  <a:outerShdw blurRad="38100" dist="38100" dir="2700000" algn="tl">
                    <a:srgbClr val="000000"/>
                  </a:outerShdw>
                </a:effectLst>
              </a:rPr>
              <a:t>H</a:t>
            </a:r>
            <a:r>
              <a:rPr lang="en-US" altLang="zh-CN" baseline="-25000">
                <a:effectLst>
                  <a:outerShdw blurRad="38100" dist="38100" dir="2700000" algn="tl">
                    <a:srgbClr val="000000"/>
                  </a:outerShdw>
                </a:effectLst>
              </a:rPr>
              <a:t>0</a:t>
            </a:r>
            <a:endParaRPr lang="en-US" altLang="zh-CN" baseline="-25000">
              <a:effectLst>
                <a:outerShdw blurRad="38100" dist="38100" dir="2700000" algn="tl">
                  <a:srgbClr val="000000"/>
                </a:outerShdw>
              </a:effectLst>
            </a:endParaRPr>
          </a:p>
        </p:txBody>
      </p:sp>
      <p:sp>
        <p:nvSpPr>
          <p:cNvPr id="770060" name="Text Box 12"/>
          <p:cNvSpPr txBox="1">
            <a:spLocks noChangeArrowheads="1"/>
          </p:cNvSpPr>
          <p:nvPr/>
        </p:nvSpPr>
        <p:spPr bwMode="auto">
          <a:xfrm>
            <a:off x="5610225" y="5357813"/>
            <a:ext cx="4419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effectLst>
                  <a:outerShdw blurRad="38100" dist="38100" dir="2700000" algn="tl">
                    <a:srgbClr val="000000"/>
                  </a:outerShdw>
                </a:effectLst>
              </a:rPr>
              <a:t>没有证据表明</a:t>
            </a:r>
            <a:r>
              <a:rPr lang="zh-CN" altLang="en-US">
                <a:solidFill>
                  <a:srgbClr val="F0F0F0"/>
                </a:solidFill>
                <a:effectLst>
                  <a:outerShdw blurRad="38100" dist="38100" dir="2700000" algn="tl">
                    <a:srgbClr val="000000"/>
                  </a:outerShdw>
                </a:effectLst>
              </a:rPr>
              <a:t>多吃谷物将有助于减肥</a:t>
            </a:r>
            <a:endParaRPr lang="zh-CN" altLang="en-US">
              <a:solidFill>
                <a:srgbClr val="F0F0F0"/>
              </a:solidFill>
              <a:effectLst>
                <a:outerShdw blurRad="38100" dist="38100" dir="2700000" algn="tl">
                  <a:srgbClr val="000000"/>
                </a:outerShdw>
              </a:effectLst>
            </a:endParaRPr>
          </a:p>
        </p:txBody>
      </p:sp>
      <mc:AlternateContent xmlns:mc="http://schemas.openxmlformats.org/markup-compatibility/2006">
        <mc:Choice xmlns:a14="http://schemas.microsoft.com/office/drawing/2010/main" Requires="a14">
          <p:sp>
            <p:nvSpPr>
              <p:cNvPr id="770069" name="Object 21">
                <a:hlinkClick r:id="" action="ppaction://ole?verb=0"/>
              </p:cNvPr>
              <p:cNvSpPr txBox="1"/>
              <p:nvPr/>
            </p:nvSpPr>
            <p:spPr bwMode="auto">
              <a:xfrm>
                <a:off x="5457825" y="2387601"/>
                <a:ext cx="5113338" cy="1319213"/>
              </a:xfrm>
              <a:prstGeom prst="rect">
                <a:avLst/>
              </a:prstGeom>
              <a:solidFill>
                <a:schemeClr val="tx1"/>
              </a:solid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589</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67</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629</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25</m:t>
                          </m:r>
                        </m:num>
                        <m:den>
                          <m:rad>
                            <m:radPr>
                              <m:degHide m:val="on"/>
                              <m:ctrlPr>
                                <a:rPr lang="zh-CN" altLang="en-US" i="1">
                                  <a:solidFill>
                                    <a:srgbClr val="000000"/>
                                  </a:solidFill>
                                  <a:latin typeface="Cambria Math" panose="02040503050406030204" pitchFamily="18" charset="0"/>
                                </a:rPr>
                              </m:ctrlPr>
                            </m:radPr>
                            <m:deg/>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2431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429</m:t>
                                  </m:r>
                                </m:num>
                                <m:den>
                                  <m:r>
                                    <a:rPr lang="zh-CN" altLang="en-US" i="1">
                                      <a:solidFill>
                                        <a:srgbClr val="000000"/>
                                      </a:solidFill>
                                      <a:latin typeface="Cambria Math" panose="02040503050406030204" pitchFamily="18" charset="0"/>
                                    </a:rPr>
                                    <m:t>15</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3675</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461</m:t>
                                  </m:r>
                                </m:num>
                                <m:den>
                                  <m:r>
                                    <a:rPr lang="zh-CN" altLang="en-US" i="1">
                                      <a:solidFill>
                                        <a:srgbClr val="000000"/>
                                      </a:solidFill>
                                      <a:latin typeface="Cambria Math" panose="02040503050406030204" pitchFamily="18" charset="0"/>
                                    </a:rPr>
                                    <m:t>20</m:t>
                                  </m:r>
                                </m:den>
                              </m:f>
                            </m:e>
                          </m:rad>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128</m:t>
                      </m:r>
                    </m:oMath>
                  </m:oMathPara>
                </a14:m>
                <a:endParaRPr lang="zh-CN" altLang="en-US"/>
              </a:p>
            </p:txBody>
          </p:sp>
        </mc:Choice>
        <mc:Fallback>
          <p:sp>
            <p:nvSpPr>
              <p:cNvPr id="770069" name="Object 21">
                <a:hlinkClick r:id="" action="ppaction://ole?verb=0"/>
              </p:cNvPr>
              <p:cNvSpPr txBox="1">
                <a:spLocks noRot="1" noChangeAspect="1" noMove="1" noResize="1" noEditPoints="1" noAdjustHandles="1" noChangeArrowheads="1" noChangeShapeType="1" noTextEdit="1"/>
              </p:cNvSpPr>
              <p:nvPr/>
            </p:nvSpPr>
            <p:spPr bwMode="auto">
              <a:xfrm>
                <a:off x="5457825" y="2387601"/>
                <a:ext cx="5113338" cy="1319213"/>
              </a:xfrm>
              <a:prstGeom prst="rect">
                <a:avLst/>
              </a:prstGeom>
              <a:blipFill rotWithShape="1">
                <a:blip r:embed="rId1"/>
                <a:stretch>
                  <a:fillRect r="-242" b="-939"/>
                </a:stretch>
              </a:blipFill>
              <a:ln>
                <a:noFill/>
              </a:ln>
              <a:effectLst>
                <a:outerShdw dist="17961" dir="2700000" algn="ctr" rotWithShape="0">
                  <a:schemeClr val="bg2"/>
                </a:outerShdw>
              </a:effectLst>
            </p:spPr>
            <p:txBody>
              <a:bodyPr/>
              <a:lstStyle/>
              <a:p>
                <a:r>
                  <a:rPr lang="zh-CN" altLang="en-US">
                    <a:noFill/>
                  </a:rPr>
                  <a:t> </a:t>
                </a:r>
              </a:p>
            </p:txBody>
          </p:sp>
        </mc:Fallback>
      </mc:AlternateContent>
      <p:grpSp>
        <p:nvGrpSpPr>
          <p:cNvPr id="770136" name="Group 88"/>
          <p:cNvGrpSpPr/>
          <p:nvPr/>
        </p:nvGrpSpPr>
        <p:grpSpPr bwMode="auto">
          <a:xfrm>
            <a:off x="2217739" y="4398963"/>
            <a:ext cx="2922587" cy="1871662"/>
            <a:chOff x="461" y="2735"/>
            <a:chExt cx="1841" cy="1179"/>
          </a:xfrm>
        </p:grpSpPr>
        <p:sp>
          <p:nvSpPr>
            <p:cNvPr id="770137" name="Text Box 89"/>
            <p:cNvSpPr txBox="1">
              <a:spLocks noChangeArrowheads="1"/>
            </p:cNvSpPr>
            <p:nvPr/>
          </p:nvSpPr>
          <p:spPr bwMode="auto">
            <a:xfrm>
              <a:off x="670" y="3642"/>
              <a:ext cx="69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a:effectLst>
                    <a:outerShdw blurRad="38100" dist="38100" dir="2700000" algn="tl">
                      <a:srgbClr val="000000"/>
                    </a:outerShdw>
                  </a:effectLst>
                </a:rPr>
                <a:t>-1.694</a:t>
              </a:r>
              <a:endParaRPr lang="en-US" altLang="zh-CN" sz="2000">
                <a:effectLst>
                  <a:outerShdw blurRad="38100" dist="38100" dir="2700000" algn="tl">
                    <a:srgbClr val="000000"/>
                  </a:outerShdw>
                </a:effectLst>
              </a:endParaRPr>
            </a:p>
          </p:txBody>
        </p:sp>
        <p:sp>
          <p:nvSpPr>
            <p:cNvPr id="770138" name="Line 90"/>
            <p:cNvSpPr>
              <a:spLocks noChangeShapeType="1"/>
            </p:cNvSpPr>
            <p:nvPr/>
          </p:nvSpPr>
          <p:spPr bwMode="auto">
            <a:xfrm>
              <a:off x="1377" y="2796"/>
              <a:ext cx="0" cy="855"/>
            </a:xfrm>
            <a:prstGeom prst="line">
              <a:avLst/>
            </a:prstGeom>
            <a:noFill/>
            <a:ln w="17463">
              <a:solidFill>
                <a:schemeClr val="tx1"/>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70139" name="Freeform 91" descr="60%"/>
            <p:cNvSpPr/>
            <p:nvPr/>
          </p:nvSpPr>
          <p:spPr bwMode="auto">
            <a:xfrm>
              <a:off x="510" y="3213"/>
              <a:ext cx="552" cy="451"/>
            </a:xfrm>
            <a:custGeom>
              <a:avLst/>
              <a:gdLst>
                <a:gd name="T0" fmla="*/ 447 w 447"/>
                <a:gd name="T1" fmla="*/ 0 h 436"/>
                <a:gd name="T2" fmla="*/ 447 w 447"/>
                <a:gd name="T3" fmla="*/ 436 h 436"/>
                <a:gd name="T4" fmla="*/ 0 w 447"/>
                <a:gd name="T5" fmla="*/ 436 h 436"/>
                <a:gd name="T6" fmla="*/ 54 w 447"/>
                <a:gd name="T7" fmla="*/ 412 h 436"/>
                <a:gd name="T8" fmla="*/ 106 w 447"/>
                <a:gd name="T9" fmla="*/ 386 h 436"/>
                <a:gd name="T10" fmla="*/ 156 w 447"/>
                <a:gd name="T11" fmla="*/ 355 h 436"/>
                <a:gd name="T12" fmla="*/ 203 w 447"/>
                <a:gd name="T13" fmla="*/ 321 h 436"/>
                <a:gd name="T14" fmla="*/ 248 w 447"/>
                <a:gd name="T15" fmla="*/ 284 h 436"/>
                <a:gd name="T16" fmla="*/ 290 w 447"/>
                <a:gd name="T17" fmla="*/ 243 h 436"/>
                <a:gd name="T18" fmla="*/ 329 w 447"/>
                <a:gd name="T19" fmla="*/ 199 h 436"/>
                <a:gd name="T20" fmla="*/ 364 w 447"/>
                <a:gd name="T21" fmla="*/ 152 h 436"/>
                <a:gd name="T22" fmla="*/ 395 w 447"/>
                <a:gd name="T23" fmla="*/ 104 h 436"/>
                <a:gd name="T24" fmla="*/ 423 w 447"/>
                <a:gd name="T25" fmla="*/ 54 h 436"/>
                <a:gd name="T26" fmla="*/ 447 w 447"/>
                <a:gd name="T27"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7" h="436">
                  <a:moveTo>
                    <a:pt x="447" y="0"/>
                  </a:moveTo>
                  <a:lnTo>
                    <a:pt x="447" y="436"/>
                  </a:lnTo>
                  <a:lnTo>
                    <a:pt x="0" y="436"/>
                  </a:lnTo>
                  <a:lnTo>
                    <a:pt x="54" y="412"/>
                  </a:lnTo>
                  <a:lnTo>
                    <a:pt x="106" y="386"/>
                  </a:lnTo>
                  <a:lnTo>
                    <a:pt x="156" y="355"/>
                  </a:lnTo>
                  <a:lnTo>
                    <a:pt x="203" y="321"/>
                  </a:lnTo>
                  <a:lnTo>
                    <a:pt x="248" y="284"/>
                  </a:lnTo>
                  <a:lnTo>
                    <a:pt x="290" y="243"/>
                  </a:lnTo>
                  <a:lnTo>
                    <a:pt x="329" y="199"/>
                  </a:lnTo>
                  <a:lnTo>
                    <a:pt x="364" y="152"/>
                  </a:lnTo>
                  <a:lnTo>
                    <a:pt x="395" y="104"/>
                  </a:lnTo>
                  <a:lnTo>
                    <a:pt x="423" y="54"/>
                  </a:lnTo>
                  <a:lnTo>
                    <a:pt x="447"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770140" name="Group 92"/>
            <p:cNvGrpSpPr/>
            <p:nvPr/>
          </p:nvGrpSpPr>
          <p:grpSpPr bwMode="auto">
            <a:xfrm>
              <a:off x="484" y="2782"/>
              <a:ext cx="1784" cy="844"/>
              <a:chOff x="472" y="2857"/>
              <a:chExt cx="1808" cy="838"/>
            </a:xfrm>
          </p:grpSpPr>
          <p:sp>
            <p:nvSpPr>
              <p:cNvPr id="770141" name="Freeform 93"/>
              <p:cNvSpPr/>
              <p:nvPr/>
            </p:nvSpPr>
            <p:spPr bwMode="auto">
              <a:xfrm>
                <a:off x="1376" y="2857"/>
                <a:ext cx="904" cy="838"/>
              </a:xfrm>
              <a:custGeom>
                <a:avLst/>
                <a:gdLst>
                  <a:gd name="T0" fmla="*/ 904 w 904"/>
                  <a:gd name="T1" fmla="*/ 838 h 838"/>
                  <a:gd name="T2" fmla="*/ 809 w 904"/>
                  <a:gd name="T3" fmla="*/ 828 h 838"/>
                  <a:gd name="T4" fmla="*/ 762 w 904"/>
                  <a:gd name="T5" fmla="*/ 818 h 838"/>
                  <a:gd name="T6" fmla="*/ 714 w 904"/>
                  <a:gd name="T7" fmla="*/ 805 h 838"/>
                  <a:gd name="T8" fmla="*/ 667 w 904"/>
                  <a:gd name="T9" fmla="*/ 785 h 838"/>
                  <a:gd name="T10" fmla="*/ 619 w 904"/>
                  <a:gd name="T11" fmla="*/ 759 h 838"/>
                  <a:gd name="T12" fmla="*/ 572 w 904"/>
                  <a:gd name="T13" fmla="*/ 724 h 838"/>
                  <a:gd name="T14" fmla="*/ 476 w 904"/>
                  <a:gd name="T15" fmla="*/ 627 h 838"/>
                  <a:gd name="T16" fmla="*/ 381 w 904"/>
                  <a:gd name="T17" fmla="*/ 491 h 838"/>
                  <a:gd name="T18" fmla="*/ 286 w 904"/>
                  <a:gd name="T19" fmla="*/ 326 h 838"/>
                  <a:gd name="T20" fmla="*/ 239 w 904"/>
                  <a:gd name="T21" fmla="*/ 243 h 838"/>
                  <a:gd name="T22" fmla="*/ 191 w 904"/>
                  <a:gd name="T23" fmla="*/ 165 h 838"/>
                  <a:gd name="T24" fmla="*/ 144 w 904"/>
                  <a:gd name="T25" fmla="*/ 98 h 838"/>
                  <a:gd name="T26" fmla="*/ 95 w 904"/>
                  <a:gd name="T27" fmla="*/ 44 h 838"/>
                  <a:gd name="T28" fmla="*/ 48 w 904"/>
                  <a:gd name="T29" fmla="*/ 11 h 838"/>
                  <a:gd name="T30" fmla="*/ 0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904" y="838"/>
                    </a:moveTo>
                    <a:lnTo>
                      <a:pt x="809" y="828"/>
                    </a:lnTo>
                    <a:lnTo>
                      <a:pt x="762" y="818"/>
                    </a:lnTo>
                    <a:lnTo>
                      <a:pt x="714" y="805"/>
                    </a:lnTo>
                    <a:lnTo>
                      <a:pt x="667" y="785"/>
                    </a:lnTo>
                    <a:lnTo>
                      <a:pt x="619" y="759"/>
                    </a:lnTo>
                    <a:lnTo>
                      <a:pt x="572" y="724"/>
                    </a:lnTo>
                    <a:lnTo>
                      <a:pt x="476" y="627"/>
                    </a:lnTo>
                    <a:lnTo>
                      <a:pt x="381" y="491"/>
                    </a:lnTo>
                    <a:lnTo>
                      <a:pt x="286" y="326"/>
                    </a:lnTo>
                    <a:lnTo>
                      <a:pt x="239" y="243"/>
                    </a:lnTo>
                    <a:lnTo>
                      <a:pt x="191" y="165"/>
                    </a:lnTo>
                    <a:lnTo>
                      <a:pt x="144" y="98"/>
                    </a:lnTo>
                    <a:lnTo>
                      <a:pt x="95" y="44"/>
                    </a:lnTo>
                    <a:lnTo>
                      <a:pt x="48" y="11"/>
                    </a:lnTo>
                    <a:lnTo>
                      <a:pt x="0"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0142" name="Freeform 94"/>
              <p:cNvSpPr/>
              <p:nvPr/>
            </p:nvSpPr>
            <p:spPr bwMode="auto">
              <a:xfrm>
                <a:off x="472" y="2857"/>
                <a:ext cx="904" cy="838"/>
              </a:xfrm>
              <a:custGeom>
                <a:avLst/>
                <a:gdLst>
                  <a:gd name="T0" fmla="*/ 0 w 904"/>
                  <a:gd name="T1" fmla="*/ 838 h 838"/>
                  <a:gd name="T2" fmla="*/ 95 w 904"/>
                  <a:gd name="T3" fmla="*/ 828 h 838"/>
                  <a:gd name="T4" fmla="*/ 144 w 904"/>
                  <a:gd name="T5" fmla="*/ 818 h 838"/>
                  <a:gd name="T6" fmla="*/ 191 w 904"/>
                  <a:gd name="T7" fmla="*/ 805 h 838"/>
                  <a:gd name="T8" fmla="*/ 238 w 904"/>
                  <a:gd name="T9" fmla="*/ 785 h 838"/>
                  <a:gd name="T10" fmla="*/ 286 w 904"/>
                  <a:gd name="T11" fmla="*/ 759 h 838"/>
                  <a:gd name="T12" fmla="*/ 333 w 904"/>
                  <a:gd name="T13" fmla="*/ 724 h 838"/>
                  <a:gd name="T14" fmla="*/ 429 w 904"/>
                  <a:gd name="T15" fmla="*/ 627 h 838"/>
                  <a:gd name="T16" fmla="*/ 523 w 904"/>
                  <a:gd name="T17" fmla="*/ 491 h 838"/>
                  <a:gd name="T18" fmla="*/ 619 w 904"/>
                  <a:gd name="T19" fmla="*/ 326 h 838"/>
                  <a:gd name="T20" fmla="*/ 667 w 904"/>
                  <a:gd name="T21" fmla="*/ 243 h 838"/>
                  <a:gd name="T22" fmla="*/ 714 w 904"/>
                  <a:gd name="T23" fmla="*/ 165 h 838"/>
                  <a:gd name="T24" fmla="*/ 762 w 904"/>
                  <a:gd name="T25" fmla="*/ 98 h 838"/>
                  <a:gd name="T26" fmla="*/ 809 w 904"/>
                  <a:gd name="T27" fmla="*/ 44 h 838"/>
                  <a:gd name="T28" fmla="*/ 857 w 904"/>
                  <a:gd name="T29" fmla="*/ 11 h 838"/>
                  <a:gd name="T30" fmla="*/ 904 w 904"/>
                  <a:gd name="T31"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4" h="838">
                    <a:moveTo>
                      <a:pt x="0" y="838"/>
                    </a:moveTo>
                    <a:lnTo>
                      <a:pt x="95" y="828"/>
                    </a:lnTo>
                    <a:lnTo>
                      <a:pt x="144" y="818"/>
                    </a:lnTo>
                    <a:lnTo>
                      <a:pt x="191" y="805"/>
                    </a:lnTo>
                    <a:lnTo>
                      <a:pt x="238" y="785"/>
                    </a:lnTo>
                    <a:lnTo>
                      <a:pt x="286" y="759"/>
                    </a:lnTo>
                    <a:lnTo>
                      <a:pt x="333" y="724"/>
                    </a:lnTo>
                    <a:lnTo>
                      <a:pt x="429" y="627"/>
                    </a:lnTo>
                    <a:lnTo>
                      <a:pt x="523" y="491"/>
                    </a:lnTo>
                    <a:lnTo>
                      <a:pt x="619" y="326"/>
                    </a:lnTo>
                    <a:lnTo>
                      <a:pt x="667" y="243"/>
                    </a:lnTo>
                    <a:lnTo>
                      <a:pt x="714" y="165"/>
                    </a:lnTo>
                    <a:lnTo>
                      <a:pt x="762" y="98"/>
                    </a:lnTo>
                    <a:lnTo>
                      <a:pt x="809" y="44"/>
                    </a:lnTo>
                    <a:lnTo>
                      <a:pt x="857" y="11"/>
                    </a:lnTo>
                    <a:lnTo>
                      <a:pt x="904" y="0"/>
                    </a:lnTo>
                  </a:path>
                </a:pathLst>
              </a:custGeom>
              <a:noFill/>
              <a:ln w="57150" cmpd="sng">
                <a:solidFill>
                  <a:srgbClr val="FF0000"/>
                </a:solidFill>
                <a:prstDash val="solid"/>
                <a:roun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70143" name="Line 95"/>
            <p:cNvSpPr>
              <a:spLocks noChangeShapeType="1"/>
            </p:cNvSpPr>
            <p:nvPr/>
          </p:nvSpPr>
          <p:spPr bwMode="auto">
            <a:xfrm>
              <a:off x="847" y="3624"/>
              <a:ext cx="2" cy="8"/>
            </a:xfrm>
            <a:prstGeom prst="line">
              <a:avLst/>
            </a:prstGeom>
            <a:noFill/>
            <a:ln w="25400">
              <a:solidFill>
                <a:srgbClr val="CDCDCD"/>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0144" name="Rectangle 96"/>
            <p:cNvSpPr>
              <a:spLocks noChangeArrowheads="1"/>
            </p:cNvSpPr>
            <p:nvPr/>
          </p:nvSpPr>
          <p:spPr bwMode="auto">
            <a:xfrm>
              <a:off x="2157" y="3662"/>
              <a:ext cx="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600" b="1">
                  <a:effectLst>
                    <a:outerShdw blurRad="38100" dist="38100" dir="2700000" algn="tl">
                      <a:srgbClr val="000000"/>
                    </a:outerShdw>
                  </a:effectLst>
                </a:rPr>
                <a:t>t</a:t>
              </a:r>
              <a:endParaRPr lang="en-US" altLang="zh-CN" sz="2600" b="1">
                <a:effectLst>
                  <a:outerShdw blurRad="38100" dist="38100" dir="2700000" algn="tl">
                    <a:srgbClr val="000000"/>
                  </a:outerShdw>
                </a:effectLst>
              </a:endParaRPr>
            </a:p>
          </p:txBody>
        </p:sp>
        <p:sp>
          <p:nvSpPr>
            <p:cNvPr id="770145" name="Rectangle 97"/>
            <p:cNvSpPr>
              <a:spLocks noChangeArrowheads="1"/>
            </p:cNvSpPr>
            <p:nvPr/>
          </p:nvSpPr>
          <p:spPr bwMode="auto">
            <a:xfrm>
              <a:off x="1315" y="3659"/>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600">
                  <a:effectLst>
                    <a:outerShdw blurRad="38100" dist="38100" dir="2700000" algn="tl">
                      <a:srgbClr val="000000"/>
                    </a:outerShdw>
                  </a:effectLst>
                </a:rPr>
                <a:t>0</a:t>
              </a:r>
              <a:endParaRPr lang="en-US" altLang="zh-CN" sz="2600">
                <a:effectLst>
                  <a:outerShdw blurRad="38100" dist="38100" dir="2700000" algn="tl">
                    <a:srgbClr val="000000"/>
                  </a:outerShdw>
                </a:effectLst>
              </a:endParaRPr>
            </a:p>
          </p:txBody>
        </p:sp>
        <p:sp>
          <p:nvSpPr>
            <p:cNvPr id="770146" name="Freeform 98"/>
            <p:cNvSpPr/>
            <p:nvPr/>
          </p:nvSpPr>
          <p:spPr bwMode="auto">
            <a:xfrm>
              <a:off x="749" y="3272"/>
              <a:ext cx="199" cy="284"/>
            </a:xfrm>
            <a:custGeom>
              <a:avLst/>
              <a:gdLst>
                <a:gd name="T0" fmla="*/ 0 w 110"/>
                <a:gd name="T1" fmla="*/ 0 h 238"/>
                <a:gd name="T2" fmla="*/ 19 w 110"/>
                <a:gd name="T3" fmla="*/ 1 h 238"/>
                <a:gd name="T4" fmla="*/ 37 w 110"/>
                <a:gd name="T5" fmla="*/ 5 h 238"/>
                <a:gd name="T6" fmla="*/ 52 w 110"/>
                <a:gd name="T7" fmla="*/ 14 h 238"/>
                <a:gd name="T8" fmla="*/ 67 w 110"/>
                <a:gd name="T9" fmla="*/ 25 h 238"/>
                <a:gd name="T10" fmla="*/ 78 w 110"/>
                <a:gd name="T11" fmla="*/ 39 h 238"/>
                <a:gd name="T12" fmla="*/ 86 w 110"/>
                <a:gd name="T13" fmla="*/ 55 h 238"/>
                <a:gd name="T14" fmla="*/ 90 w 110"/>
                <a:gd name="T15" fmla="*/ 73 h 238"/>
                <a:gd name="T16" fmla="*/ 90 w 110"/>
                <a:gd name="T17" fmla="*/ 90 h 238"/>
                <a:gd name="T18" fmla="*/ 86 w 110"/>
                <a:gd name="T19" fmla="*/ 108 h 238"/>
                <a:gd name="T20" fmla="*/ 78 w 110"/>
                <a:gd name="T21" fmla="*/ 124 h 238"/>
                <a:gd name="T22" fmla="*/ 70 w 110"/>
                <a:gd name="T23" fmla="*/ 140 h 238"/>
                <a:gd name="T24" fmla="*/ 67 w 110"/>
                <a:gd name="T25" fmla="*/ 157 h 238"/>
                <a:gd name="T26" fmla="*/ 67 w 110"/>
                <a:gd name="T27" fmla="*/ 175 h 238"/>
                <a:gd name="T28" fmla="*/ 70 w 110"/>
                <a:gd name="T29" fmla="*/ 192 h 238"/>
                <a:gd name="T30" fmla="*/ 79 w 110"/>
                <a:gd name="T31" fmla="*/ 209 h 238"/>
                <a:gd name="T32" fmla="*/ 90 w 110"/>
                <a:gd name="T33" fmla="*/ 222 h 238"/>
                <a:gd name="T34" fmla="*/ 103 w 110"/>
                <a:gd name="T35" fmla="*/ 234 h 238"/>
                <a:gd name="T36" fmla="*/ 110 w 110"/>
                <a:gd name="T3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238">
                  <a:moveTo>
                    <a:pt x="0" y="0"/>
                  </a:moveTo>
                  <a:lnTo>
                    <a:pt x="19" y="1"/>
                  </a:lnTo>
                  <a:lnTo>
                    <a:pt x="37" y="5"/>
                  </a:lnTo>
                  <a:lnTo>
                    <a:pt x="52" y="14"/>
                  </a:lnTo>
                  <a:lnTo>
                    <a:pt x="67" y="25"/>
                  </a:lnTo>
                  <a:lnTo>
                    <a:pt x="78" y="39"/>
                  </a:lnTo>
                  <a:lnTo>
                    <a:pt x="86" y="55"/>
                  </a:lnTo>
                  <a:lnTo>
                    <a:pt x="90" y="73"/>
                  </a:lnTo>
                  <a:lnTo>
                    <a:pt x="90" y="90"/>
                  </a:lnTo>
                  <a:lnTo>
                    <a:pt x="86" y="108"/>
                  </a:lnTo>
                  <a:lnTo>
                    <a:pt x="78" y="124"/>
                  </a:lnTo>
                  <a:lnTo>
                    <a:pt x="70" y="140"/>
                  </a:lnTo>
                  <a:lnTo>
                    <a:pt x="67" y="157"/>
                  </a:lnTo>
                  <a:lnTo>
                    <a:pt x="67" y="175"/>
                  </a:lnTo>
                  <a:lnTo>
                    <a:pt x="70" y="192"/>
                  </a:lnTo>
                  <a:lnTo>
                    <a:pt x="79" y="209"/>
                  </a:lnTo>
                  <a:lnTo>
                    <a:pt x="90" y="222"/>
                  </a:lnTo>
                  <a:lnTo>
                    <a:pt x="103" y="234"/>
                  </a:lnTo>
                  <a:lnTo>
                    <a:pt x="110" y="238"/>
                  </a:lnTo>
                </a:path>
              </a:pathLst>
            </a:custGeom>
            <a:noFill/>
            <a:ln w="12700" cmpd="sng">
              <a:solidFill>
                <a:schemeClr val="tx1"/>
              </a:solidFill>
              <a:prstDash val="solid"/>
              <a:round/>
              <a:headEnd type="none" w="med" len="med"/>
              <a:tailEnd type="triangle" w="med" len="med"/>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0147" name="Rectangle 99"/>
            <p:cNvSpPr>
              <a:spLocks noChangeArrowheads="1"/>
            </p:cNvSpPr>
            <p:nvPr/>
          </p:nvSpPr>
          <p:spPr bwMode="auto">
            <a:xfrm>
              <a:off x="611" y="2735"/>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2000">
                  <a:effectLst>
                    <a:outerShdw blurRad="38100" dist="38100" dir="2700000" algn="tl">
                      <a:srgbClr val="000000"/>
                    </a:outerShdw>
                  </a:effectLst>
                </a:rPr>
                <a:t>拒绝域</a:t>
              </a:r>
              <a:endParaRPr lang="zh-CN" altLang="en-US" sz="2000">
                <a:effectLst>
                  <a:outerShdw blurRad="38100" dist="38100" dir="2700000" algn="tl">
                    <a:srgbClr val="000000"/>
                  </a:outerShdw>
                </a:effectLst>
              </a:endParaRPr>
            </a:p>
          </p:txBody>
        </p:sp>
        <p:sp>
          <p:nvSpPr>
            <p:cNvPr id="770148" name="Line 100"/>
            <p:cNvSpPr>
              <a:spLocks noChangeShapeType="1"/>
            </p:cNvSpPr>
            <p:nvPr/>
          </p:nvSpPr>
          <p:spPr bwMode="auto">
            <a:xfrm>
              <a:off x="766" y="2975"/>
              <a:ext cx="296" cy="1"/>
            </a:xfrm>
            <a:prstGeom prst="line">
              <a:avLst/>
            </a:prstGeom>
            <a:noFill/>
            <a:ln w="17463">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0149" name="Rectangle 101"/>
            <p:cNvSpPr>
              <a:spLocks noChangeArrowheads="1"/>
            </p:cNvSpPr>
            <p:nvPr/>
          </p:nvSpPr>
          <p:spPr bwMode="auto">
            <a:xfrm>
              <a:off x="611" y="3067"/>
              <a:ext cx="21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2000">
                  <a:effectLst>
                    <a:outerShdw blurRad="38100" dist="38100" dir="2700000" algn="tl">
                      <a:srgbClr val="000000"/>
                    </a:outerShdw>
                  </a:effectLst>
                  <a:sym typeface="Symbol" panose="05050102010706020507" pitchFamily="18" charset="2"/>
                </a:rPr>
                <a:t>.05</a:t>
              </a:r>
              <a:endParaRPr lang="en-US" altLang="zh-CN" sz="2000">
                <a:effectLst>
                  <a:outerShdw blurRad="38100" dist="38100" dir="2700000" algn="tl">
                    <a:srgbClr val="000000"/>
                  </a:outerShdw>
                </a:effectLst>
              </a:endParaRPr>
            </a:p>
          </p:txBody>
        </p:sp>
        <p:sp>
          <p:nvSpPr>
            <p:cNvPr id="770150" name="Line 102"/>
            <p:cNvSpPr>
              <a:spLocks noChangeShapeType="1"/>
            </p:cNvSpPr>
            <p:nvPr/>
          </p:nvSpPr>
          <p:spPr bwMode="auto">
            <a:xfrm flipH="1">
              <a:off x="1056" y="2976"/>
              <a:ext cx="0" cy="672"/>
            </a:xfrm>
            <a:prstGeom prst="line">
              <a:avLst/>
            </a:prstGeom>
            <a:noFill/>
            <a:ln w="19050">
              <a:solidFill>
                <a:schemeClr val="tx1"/>
              </a:solidFill>
              <a:round/>
            </a:ln>
            <a:effectLst>
              <a:outerShdw dist="28398" dir="3806097"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770151" name="Group 103"/>
            <p:cNvGrpSpPr/>
            <p:nvPr/>
          </p:nvGrpSpPr>
          <p:grpSpPr bwMode="auto">
            <a:xfrm>
              <a:off x="461" y="2966"/>
              <a:ext cx="1841" cy="702"/>
              <a:chOff x="449" y="3003"/>
              <a:chExt cx="1865" cy="697"/>
            </a:xfrm>
          </p:grpSpPr>
          <p:sp>
            <p:nvSpPr>
              <p:cNvPr id="770152" name="Freeform 104"/>
              <p:cNvSpPr/>
              <p:nvPr/>
            </p:nvSpPr>
            <p:spPr bwMode="auto">
              <a:xfrm>
                <a:off x="472" y="3003"/>
                <a:ext cx="1842" cy="689"/>
              </a:xfrm>
              <a:custGeom>
                <a:avLst/>
                <a:gdLst>
                  <a:gd name="T0" fmla="*/ 0 w 1842"/>
                  <a:gd name="T1" fmla="*/ 0 h 689"/>
                  <a:gd name="T2" fmla="*/ 0 w 1842"/>
                  <a:gd name="T3" fmla="*/ 689 h 689"/>
                  <a:gd name="T4" fmla="*/ 1842 w 1842"/>
                  <a:gd name="T5" fmla="*/ 689 h 689"/>
                </a:gdLst>
                <a:ahLst/>
                <a:cxnLst>
                  <a:cxn ang="0">
                    <a:pos x="T0" y="T1"/>
                  </a:cxn>
                  <a:cxn ang="0">
                    <a:pos x="T2" y="T3"/>
                  </a:cxn>
                  <a:cxn ang="0">
                    <a:pos x="T4" y="T5"/>
                  </a:cxn>
                </a:cxnLst>
                <a:rect l="0" t="0" r="r" b="b"/>
                <a:pathLst>
                  <a:path w="1842" h="689">
                    <a:moveTo>
                      <a:pt x="0" y="0"/>
                    </a:moveTo>
                    <a:lnTo>
                      <a:pt x="0" y="689"/>
                    </a:lnTo>
                    <a:lnTo>
                      <a:pt x="1842" y="689"/>
                    </a:lnTo>
                  </a:path>
                </a:pathLst>
              </a:custGeom>
              <a:noFill/>
              <a:ln w="38100" cmpd="sng">
                <a:solidFill>
                  <a:srgbClr val="F0F0F0"/>
                </a:solidFill>
                <a:prstDash val="solid"/>
                <a:rou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70153" name="Group 105"/>
              <p:cNvGrpSpPr/>
              <p:nvPr/>
            </p:nvGrpSpPr>
            <p:grpSpPr bwMode="auto">
              <a:xfrm>
                <a:off x="449" y="3003"/>
                <a:ext cx="209" cy="697"/>
                <a:chOff x="449" y="3003"/>
                <a:chExt cx="209" cy="697"/>
              </a:xfrm>
            </p:grpSpPr>
            <p:sp>
              <p:nvSpPr>
                <p:cNvPr id="770154" name="Line 106"/>
                <p:cNvSpPr>
                  <a:spLocks noChangeShapeType="1"/>
                </p:cNvSpPr>
                <p:nvPr/>
              </p:nvSpPr>
              <p:spPr bwMode="auto">
                <a:xfrm>
                  <a:off x="449" y="3003"/>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70155" name="Line 107"/>
                <p:cNvSpPr>
                  <a:spLocks noChangeShapeType="1"/>
                </p:cNvSpPr>
                <p:nvPr/>
              </p:nvSpPr>
              <p:spPr bwMode="auto">
                <a:xfrm>
                  <a:off x="449" y="3072"/>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70156" name="Line 108"/>
                <p:cNvSpPr>
                  <a:spLocks noChangeShapeType="1"/>
                </p:cNvSpPr>
                <p:nvPr/>
              </p:nvSpPr>
              <p:spPr bwMode="auto">
                <a:xfrm>
                  <a:off x="449" y="3142"/>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70157" name="Line 109"/>
                <p:cNvSpPr>
                  <a:spLocks noChangeShapeType="1"/>
                </p:cNvSpPr>
                <p:nvPr/>
              </p:nvSpPr>
              <p:spPr bwMode="auto">
                <a:xfrm>
                  <a:off x="449" y="3210"/>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70158" name="Line 110"/>
                <p:cNvSpPr>
                  <a:spLocks noChangeShapeType="1"/>
                </p:cNvSpPr>
                <p:nvPr/>
              </p:nvSpPr>
              <p:spPr bwMode="auto">
                <a:xfrm>
                  <a:off x="449" y="3279"/>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70159" name="Line 111"/>
                <p:cNvSpPr>
                  <a:spLocks noChangeShapeType="1"/>
                </p:cNvSpPr>
                <p:nvPr/>
              </p:nvSpPr>
              <p:spPr bwMode="auto">
                <a:xfrm>
                  <a:off x="449" y="3347"/>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70160" name="Line 112"/>
                <p:cNvSpPr>
                  <a:spLocks noChangeShapeType="1"/>
                </p:cNvSpPr>
                <p:nvPr/>
              </p:nvSpPr>
              <p:spPr bwMode="auto">
                <a:xfrm>
                  <a:off x="449" y="3417"/>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70161" name="Line 113"/>
                <p:cNvSpPr>
                  <a:spLocks noChangeShapeType="1"/>
                </p:cNvSpPr>
                <p:nvPr/>
              </p:nvSpPr>
              <p:spPr bwMode="auto">
                <a:xfrm>
                  <a:off x="449" y="3485"/>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70162" name="Line 114"/>
                <p:cNvSpPr>
                  <a:spLocks noChangeShapeType="1"/>
                </p:cNvSpPr>
                <p:nvPr/>
              </p:nvSpPr>
              <p:spPr bwMode="auto">
                <a:xfrm>
                  <a:off x="449" y="3554"/>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70163" name="Line 115"/>
                <p:cNvSpPr>
                  <a:spLocks noChangeShapeType="1"/>
                </p:cNvSpPr>
                <p:nvPr/>
              </p:nvSpPr>
              <p:spPr bwMode="auto">
                <a:xfrm>
                  <a:off x="449" y="3623"/>
                  <a:ext cx="23" cy="1"/>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770164" name="Line 116"/>
                <p:cNvSpPr>
                  <a:spLocks noChangeShapeType="1"/>
                </p:cNvSpPr>
                <p:nvPr/>
              </p:nvSpPr>
              <p:spPr bwMode="auto">
                <a:xfrm>
                  <a:off x="657" y="3692"/>
                  <a:ext cx="1" cy="8"/>
                </a:xfrm>
                <a:prstGeom prst="line">
                  <a:avLst/>
                </a:prstGeom>
                <a:noFill/>
                <a:ln w="38100">
                  <a:solidFill>
                    <a:srgbClr val="F0F0F0"/>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0051">
                                            <p:txEl>
                                              <p:pRg st="0" end="0"/>
                                            </p:txEl>
                                          </p:spTgt>
                                        </p:tgtEl>
                                        <p:attrNameLst>
                                          <p:attrName>style.visibility</p:attrName>
                                        </p:attrNameLst>
                                      </p:cBhvr>
                                      <p:to>
                                        <p:strVal val="visible"/>
                                      </p:to>
                                    </p:set>
                                    <p:animEffect transition="in" filter="wipe(left)">
                                      <p:cBhvr>
                                        <p:cTn id="7" dur="500"/>
                                        <p:tgtEl>
                                          <p:spTgt spid="7700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0051">
                                            <p:txEl>
                                              <p:pRg st="1" end="1"/>
                                            </p:txEl>
                                          </p:spTgt>
                                        </p:tgtEl>
                                        <p:attrNameLst>
                                          <p:attrName>style.visibility</p:attrName>
                                        </p:attrNameLst>
                                      </p:cBhvr>
                                      <p:to>
                                        <p:strVal val="visible"/>
                                      </p:to>
                                    </p:set>
                                    <p:animEffect transition="in" filter="wipe(left)">
                                      <p:cBhvr>
                                        <p:cTn id="12" dur="500"/>
                                        <p:tgtEl>
                                          <p:spTgt spid="7700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70051">
                                            <p:txEl>
                                              <p:pRg st="2" end="2"/>
                                            </p:txEl>
                                          </p:spTgt>
                                        </p:tgtEl>
                                        <p:attrNameLst>
                                          <p:attrName>style.visibility</p:attrName>
                                        </p:attrNameLst>
                                      </p:cBhvr>
                                      <p:to>
                                        <p:strVal val="visible"/>
                                      </p:to>
                                    </p:set>
                                    <p:animEffect transition="in" filter="wipe(left)">
                                      <p:cBhvr>
                                        <p:cTn id="17" dur="500"/>
                                        <p:tgtEl>
                                          <p:spTgt spid="7700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70051">
                                            <p:txEl>
                                              <p:pRg st="3" end="3"/>
                                            </p:txEl>
                                          </p:spTgt>
                                        </p:tgtEl>
                                        <p:attrNameLst>
                                          <p:attrName>style.visibility</p:attrName>
                                        </p:attrNameLst>
                                      </p:cBhvr>
                                      <p:to>
                                        <p:strVal val="visible"/>
                                      </p:to>
                                    </p:set>
                                    <p:animEffect transition="in" filter="wipe(left)">
                                      <p:cBhvr>
                                        <p:cTn id="22" dur="500"/>
                                        <p:tgtEl>
                                          <p:spTgt spid="7700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70051">
                                            <p:txEl>
                                              <p:pRg st="4" end="4"/>
                                            </p:txEl>
                                          </p:spTgt>
                                        </p:tgtEl>
                                        <p:attrNameLst>
                                          <p:attrName>style.visibility</p:attrName>
                                        </p:attrNameLst>
                                      </p:cBhvr>
                                      <p:to>
                                        <p:strVal val="visible"/>
                                      </p:to>
                                    </p:set>
                                    <p:animEffect transition="in" filter="wipe(left)">
                                      <p:cBhvr>
                                        <p:cTn id="27" dur="500"/>
                                        <p:tgtEl>
                                          <p:spTgt spid="77005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770136"/>
                                        </p:tgtEl>
                                        <p:attrNameLst>
                                          <p:attrName>style.visibility</p:attrName>
                                        </p:attrNameLst>
                                      </p:cBhvr>
                                      <p:to>
                                        <p:strVal val="visible"/>
                                      </p:to>
                                    </p:set>
                                    <p:animEffect transition="in" filter="barn(outVertical)">
                                      <p:cBhvr>
                                        <p:cTn id="32" dur="500"/>
                                        <p:tgtEl>
                                          <p:spTgt spid="7701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70052">
                                            <p:txEl>
                                              <p:pRg st="0" end="0"/>
                                            </p:txEl>
                                          </p:spTgt>
                                        </p:tgtEl>
                                        <p:attrNameLst>
                                          <p:attrName>style.visibility</p:attrName>
                                        </p:attrNameLst>
                                      </p:cBhvr>
                                      <p:to>
                                        <p:strVal val="visible"/>
                                      </p:to>
                                    </p:set>
                                    <p:animEffect transition="in" filter="wipe(left)">
                                      <p:cBhvr>
                                        <p:cTn id="37" dur="500"/>
                                        <p:tgtEl>
                                          <p:spTgt spid="77005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70057">
                                            <p:txEl>
                                              <p:pRg st="0" end="0"/>
                                            </p:txEl>
                                          </p:spTgt>
                                        </p:tgtEl>
                                        <p:attrNameLst>
                                          <p:attrName>style.visibility</p:attrName>
                                        </p:attrNameLst>
                                      </p:cBhvr>
                                      <p:to>
                                        <p:strVal val="visible"/>
                                      </p:to>
                                    </p:set>
                                    <p:animEffect transition="in" filter="wipe(left)">
                                      <p:cBhvr>
                                        <p:cTn id="42" dur="500"/>
                                        <p:tgtEl>
                                          <p:spTgt spid="770057">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70059">
                                            <p:txEl>
                                              <p:pRg st="0" end="0"/>
                                            </p:txEl>
                                          </p:spTgt>
                                        </p:tgtEl>
                                        <p:attrNameLst>
                                          <p:attrName>style.visibility</p:attrName>
                                        </p:attrNameLst>
                                      </p:cBhvr>
                                      <p:to>
                                        <p:strVal val="visible"/>
                                      </p:to>
                                    </p:set>
                                    <p:animEffect transition="in" filter="wipe(left)">
                                      <p:cBhvr>
                                        <p:cTn id="47" dur="500"/>
                                        <p:tgtEl>
                                          <p:spTgt spid="77005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70058">
                                            <p:txEl>
                                              <p:pRg st="0" end="0"/>
                                            </p:txEl>
                                          </p:spTgt>
                                        </p:tgtEl>
                                        <p:attrNameLst>
                                          <p:attrName>style.visibility</p:attrName>
                                        </p:attrNameLst>
                                      </p:cBhvr>
                                      <p:to>
                                        <p:strVal val="visible"/>
                                      </p:to>
                                    </p:set>
                                    <p:animEffect transition="in" filter="wipe(left)">
                                      <p:cBhvr>
                                        <p:cTn id="52" dur="500"/>
                                        <p:tgtEl>
                                          <p:spTgt spid="770058">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770060">
                                            <p:txEl>
                                              <p:pRg st="0" end="0"/>
                                            </p:txEl>
                                          </p:spTgt>
                                        </p:tgtEl>
                                        <p:attrNameLst>
                                          <p:attrName>style.visibility</p:attrName>
                                        </p:attrNameLst>
                                      </p:cBhvr>
                                      <p:to>
                                        <p:strVal val="visible"/>
                                      </p:to>
                                    </p:set>
                                    <p:animEffect transition="in" filter="wipe(left)">
                                      <p:cBhvr>
                                        <p:cTn id="57" dur="500"/>
                                        <p:tgtEl>
                                          <p:spTgt spid="77006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0051" grpId="0" autoUpdateAnimBg="0" build="p"/>
      <p:bldP spid="770052" grpId="0" autoUpdateAnimBg="0" build="p"/>
      <p:bldP spid="770057" grpId="0" autoUpdateAnimBg="0" build="p"/>
      <p:bldP spid="770058" grpId="0" autoUpdateAnimBg="0" build="p"/>
      <p:bldP spid="770059" grpId="0" autoUpdateAnimBg="0" build="p"/>
      <p:bldP spid="770060" grpId="0" autoUpdateAnimBg="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4178" name="Rectangle 2"/>
          <p:cNvSpPr>
            <a:spLocks noGrp="1" noChangeArrowheads="1"/>
          </p:cNvSpPr>
          <p:nvPr>
            <p:ph type="title"/>
          </p:nvPr>
        </p:nvSpPr>
        <p:spPr>
          <a:noFill/>
        </p:spPr>
        <p:txBody>
          <a:bodyPr>
            <a:normAutofit fontScale="90000"/>
          </a:bodyPr>
          <a:lstStyle/>
          <a:p>
            <a:r>
              <a:rPr lang="zh-CN" altLang="en-US" sz="4000"/>
              <a:t>两个总体均值之差的检验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用</a:t>
            </a:r>
            <a:r>
              <a:rPr lang="en-US" altLang="zh-CN" sz="3600">
                <a:solidFill>
                  <a:schemeClr val="hlink"/>
                </a:solidFill>
                <a:latin typeface="Arial" panose="020B0604020202090204" pitchFamily="34" charset="0"/>
              </a:rPr>
              <a:t>Excel</a:t>
            </a:r>
            <a:r>
              <a:rPr lang="zh-CN" altLang="en-US" sz="3600">
                <a:solidFill>
                  <a:schemeClr val="hlink"/>
                </a:solidFill>
                <a:latin typeface="Arial" panose="020B0604020202090204" pitchFamily="34" charset="0"/>
              </a:rPr>
              <a:t>进行检验</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1074179" name="Rectangle 3"/>
          <p:cNvSpPr>
            <a:spLocks noGrp="1" noChangeArrowheads="1"/>
          </p:cNvSpPr>
          <p:nvPr>
            <p:ph type="body" sz="half" idx="1"/>
          </p:nvPr>
        </p:nvSpPr>
        <p:spPr>
          <a:xfrm>
            <a:off x="2038350" y="1789114"/>
            <a:ext cx="8153400" cy="4281487"/>
          </a:xfrm>
          <a:noFill/>
        </p:spPr>
        <p:txBody>
          <a:bodyPr>
            <a:normAutofit lnSpcReduction="10000"/>
          </a:bodyPr>
          <a:lstStyle/>
          <a:p>
            <a:pPr marL="0" indent="0" algn="just">
              <a:lnSpc>
                <a:spcPct val="90000"/>
              </a:lnSpc>
              <a:buNone/>
            </a:pPr>
            <a:r>
              <a:rPr lang="zh-CN" altLang="en-US" sz="2600" dirty="0"/>
              <a:t>第</a:t>
            </a:r>
            <a:r>
              <a:rPr lang="en-US" altLang="zh-CN" sz="2600" dirty="0"/>
              <a:t>1</a:t>
            </a:r>
            <a:r>
              <a:rPr lang="zh-CN" altLang="en-US" sz="2600" dirty="0"/>
              <a:t>步：选择“工具”下拉菜单</a:t>
            </a:r>
            <a:r>
              <a:rPr lang="zh-CN" altLang="en-US" sz="2600" dirty="0">
                <a:cs typeface="Times New Roman" panose="02020603050405020304" pitchFamily="18" charset="0"/>
              </a:rPr>
              <a:t>，并</a:t>
            </a:r>
            <a:r>
              <a:rPr lang="zh-CN" altLang="en-US" sz="2600" dirty="0"/>
              <a:t>选择“数据分析”选项</a:t>
            </a:r>
            <a:endParaRPr lang="zh-CN" altLang="en-US" sz="2600" dirty="0"/>
          </a:p>
          <a:p>
            <a:pPr marL="0" indent="0" algn="just">
              <a:lnSpc>
                <a:spcPct val="90000"/>
              </a:lnSpc>
              <a:buNone/>
            </a:pPr>
            <a:r>
              <a:rPr lang="zh-CN" altLang="en-US" sz="2600" dirty="0"/>
              <a:t>第</a:t>
            </a:r>
            <a:r>
              <a:rPr lang="en-US" altLang="zh-CN" sz="2600" dirty="0"/>
              <a:t>2</a:t>
            </a:r>
            <a:r>
              <a:rPr lang="zh-CN" altLang="en-US" sz="2600" dirty="0"/>
              <a:t>步：选择“</a:t>
            </a:r>
            <a:r>
              <a:rPr lang="en-US" altLang="zh-CN" sz="2600" b="1" dirty="0">
                <a:cs typeface="Times New Roman" panose="02020603050405020304" pitchFamily="18" charset="0"/>
              </a:rPr>
              <a:t>t</a:t>
            </a:r>
            <a:r>
              <a:rPr lang="zh-CN" altLang="en-US" sz="2600" b="1" dirty="0"/>
              <a:t>检验，双样本异方差假设</a:t>
            </a:r>
            <a:r>
              <a:rPr lang="zh-CN" altLang="en-US" sz="2600" dirty="0"/>
              <a:t>”</a:t>
            </a:r>
            <a:endParaRPr lang="zh-CN" altLang="en-US" sz="2600" dirty="0"/>
          </a:p>
          <a:p>
            <a:pPr marL="0" indent="0" algn="just">
              <a:lnSpc>
                <a:spcPct val="90000"/>
              </a:lnSpc>
              <a:buNone/>
            </a:pPr>
            <a:r>
              <a:rPr lang="zh-CN" altLang="en-US" sz="2600" dirty="0"/>
              <a:t>第</a:t>
            </a:r>
            <a:r>
              <a:rPr lang="en-US" altLang="zh-CN" sz="2600" dirty="0">
                <a:cs typeface="Times New Roman" panose="02020603050405020304" pitchFamily="18" charset="0"/>
              </a:rPr>
              <a:t>3</a:t>
            </a:r>
            <a:r>
              <a:rPr lang="zh-CN" altLang="en-US" sz="2600" dirty="0"/>
              <a:t>步：当出现对话框后</a:t>
            </a:r>
            <a:endParaRPr lang="zh-CN" altLang="en-US" sz="2600" dirty="0">
              <a:cs typeface="Times New Roman" panose="02020603050405020304" pitchFamily="18" charset="0"/>
            </a:endParaRPr>
          </a:p>
          <a:p>
            <a:pPr marL="0" indent="0" algn="just">
              <a:lnSpc>
                <a:spcPct val="90000"/>
              </a:lnSpc>
              <a:buNone/>
            </a:pPr>
            <a:r>
              <a:rPr lang="zh-CN" altLang="en-US" sz="2600" dirty="0">
                <a:cs typeface="Times New Roman" panose="02020603050405020304" pitchFamily="18" charset="0"/>
              </a:rPr>
              <a:t>           </a:t>
            </a:r>
            <a:r>
              <a:rPr lang="zh-CN" altLang="en-US" sz="2600" dirty="0"/>
              <a:t>在“变量</a:t>
            </a:r>
            <a:r>
              <a:rPr lang="en-US" altLang="zh-CN" sz="2600" dirty="0">
                <a:cs typeface="Times New Roman" panose="02020603050405020304" pitchFamily="18" charset="0"/>
              </a:rPr>
              <a:t>1</a:t>
            </a:r>
            <a:r>
              <a:rPr lang="zh-CN" altLang="en-US" sz="2600" dirty="0"/>
              <a:t>的区域”方框内键入</a:t>
            </a:r>
            <a:r>
              <a:rPr lang="zh-CN" altLang="en-US" sz="2600" dirty="0">
                <a:cs typeface="Times New Roman" panose="02020603050405020304" pitchFamily="18" charset="0"/>
              </a:rPr>
              <a:t>数据区域</a:t>
            </a:r>
            <a:endParaRPr lang="zh-CN" altLang="en-US" sz="2600" dirty="0">
              <a:cs typeface="Times New Roman" panose="02020603050405020304" pitchFamily="18" charset="0"/>
            </a:endParaRPr>
          </a:p>
          <a:p>
            <a:pPr marL="0" indent="0" algn="just">
              <a:lnSpc>
                <a:spcPct val="90000"/>
              </a:lnSpc>
              <a:buNone/>
            </a:pPr>
            <a:r>
              <a:rPr lang="zh-CN" altLang="en-US" sz="2600" dirty="0">
                <a:cs typeface="Times New Roman" panose="02020603050405020304" pitchFamily="18" charset="0"/>
              </a:rPr>
              <a:t>           </a:t>
            </a:r>
            <a:r>
              <a:rPr lang="zh-CN" altLang="en-US" sz="2600" dirty="0"/>
              <a:t>在“变量</a:t>
            </a:r>
            <a:r>
              <a:rPr lang="en-US" altLang="zh-CN" sz="2600" dirty="0">
                <a:cs typeface="Times New Roman" panose="02020603050405020304" pitchFamily="18" charset="0"/>
              </a:rPr>
              <a:t>2</a:t>
            </a:r>
            <a:r>
              <a:rPr lang="zh-CN" altLang="en-US" sz="2600" dirty="0"/>
              <a:t>的区域”方框内键入</a:t>
            </a:r>
            <a:r>
              <a:rPr lang="zh-CN" altLang="en-US" sz="2600" dirty="0">
                <a:cs typeface="Times New Roman" panose="02020603050405020304" pitchFamily="18" charset="0"/>
              </a:rPr>
              <a:t>数据区域</a:t>
            </a:r>
            <a:endParaRPr lang="zh-CN" altLang="en-US" sz="2600" dirty="0">
              <a:cs typeface="Times New Roman" panose="02020603050405020304" pitchFamily="18" charset="0"/>
            </a:endParaRPr>
          </a:p>
          <a:p>
            <a:pPr marL="0" indent="0" algn="just">
              <a:lnSpc>
                <a:spcPct val="90000"/>
              </a:lnSpc>
              <a:buNone/>
            </a:pPr>
            <a:r>
              <a:rPr lang="zh-CN" altLang="en-US" sz="2600" dirty="0">
                <a:cs typeface="Times New Roman" panose="02020603050405020304" pitchFamily="18" charset="0"/>
              </a:rPr>
              <a:t>                     </a:t>
            </a:r>
            <a:r>
              <a:rPr lang="zh-CN" altLang="en-US" sz="2600" dirty="0"/>
              <a:t>在“假设平均差”的方框内键入</a:t>
            </a:r>
            <a:r>
              <a:rPr lang="en-US" altLang="zh-CN" sz="2600" dirty="0">
                <a:cs typeface="Times New Roman" panose="02020603050405020304" pitchFamily="18" charset="0"/>
              </a:rPr>
              <a:t>0</a:t>
            </a:r>
            <a:endParaRPr lang="en-US" altLang="zh-CN" sz="2600" dirty="0">
              <a:cs typeface="Times New Roman" panose="02020603050405020304" pitchFamily="18" charset="0"/>
            </a:endParaRPr>
          </a:p>
          <a:p>
            <a:pPr marL="0" indent="0" algn="just">
              <a:lnSpc>
                <a:spcPct val="90000"/>
              </a:lnSpc>
              <a:buNone/>
            </a:pPr>
            <a:r>
              <a:rPr lang="en-US" altLang="zh-CN" sz="2600" dirty="0">
                <a:cs typeface="Times New Roman" panose="02020603050405020304" pitchFamily="18" charset="0"/>
              </a:rPr>
              <a:t>                     </a:t>
            </a:r>
            <a:r>
              <a:rPr lang="zh-CN" altLang="en-US" sz="2600" dirty="0"/>
              <a:t>在“</a:t>
            </a:r>
            <a:r>
              <a:rPr lang="el-GR" altLang="zh-CN" sz="2600" dirty="0">
                <a:cs typeface="Arial" panose="020B0604020202090204" pitchFamily="34" charset="0"/>
              </a:rPr>
              <a:t>α</a:t>
            </a:r>
            <a:r>
              <a:rPr lang="en-US" altLang="zh-CN" sz="2600" dirty="0">
                <a:cs typeface="Arial" panose="020B0604020202090204" pitchFamily="34" charset="0"/>
              </a:rPr>
              <a:t>(A)</a:t>
            </a:r>
            <a:r>
              <a:rPr lang="en-US" altLang="zh-CN" sz="2600" dirty="0"/>
              <a:t>”</a:t>
            </a:r>
            <a:r>
              <a:rPr lang="zh-CN" altLang="en-US" sz="2600" dirty="0"/>
              <a:t>框内键入</a:t>
            </a:r>
            <a:r>
              <a:rPr lang="en-US" altLang="zh-CN" sz="2600" dirty="0">
                <a:cs typeface="Times New Roman" panose="02020603050405020304" pitchFamily="18" charset="0"/>
              </a:rPr>
              <a:t>0.05</a:t>
            </a:r>
            <a:endParaRPr lang="en-US" altLang="zh-CN" sz="2600" dirty="0">
              <a:cs typeface="Times New Roman" panose="02020603050405020304" pitchFamily="18" charset="0"/>
            </a:endParaRPr>
          </a:p>
          <a:p>
            <a:pPr marL="0" indent="0" algn="just">
              <a:lnSpc>
                <a:spcPct val="90000"/>
              </a:lnSpc>
              <a:buNone/>
            </a:pPr>
            <a:r>
              <a:rPr lang="en-US" altLang="zh-CN" sz="2600" dirty="0">
                <a:cs typeface="Times New Roman" panose="02020603050405020304" pitchFamily="18" charset="0"/>
              </a:rPr>
              <a:t>                     </a:t>
            </a:r>
            <a:r>
              <a:rPr lang="zh-CN" altLang="en-US" sz="2600" dirty="0"/>
              <a:t>在“输出选项”中选择输出区域</a:t>
            </a:r>
            <a:endParaRPr lang="zh-CN" altLang="en-US" sz="2600" dirty="0">
              <a:cs typeface="Times New Roman" panose="02020603050405020304" pitchFamily="18" charset="0"/>
            </a:endParaRPr>
          </a:p>
          <a:p>
            <a:pPr marL="0" indent="0" algn="just">
              <a:lnSpc>
                <a:spcPct val="90000"/>
              </a:lnSpc>
              <a:buNone/>
            </a:pPr>
            <a:r>
              <a:rPr lang="zh-CN" altLang="en-US" sz="2600" dirty="0">
                <a:cs typeface="Times New Roman" panose="02020603050405020304" pitchFamily="18" charset="0"/>
              </a:rPr>
              <a:t>            </a:t>
            </a:r>
            <a:r>
              <a:rPr lang="zh-CN" altLang="en-US" sz="2600" dirty="0"/>
              <a:t>选择“确定”</a:t>
            </a:r>
            <a:endParaRPr lang="zh-CN" altLang="en-US" sz="2600" dirty="0"/>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274" name="Rectangle 2"/>
          <p:cNvSpPr>
            <a:spLocks noGrp="1" noChangeArrowheads="1"/>
          </p:cNvSpPr>
          <p:nvPr>
            <p:ph type="ctrTitle"/>
          </p:nvPr>
        </p:nvSpPr>
        <p:spPr>
          <a:xfrm>
            <a:off x="2209800" y="2286000"/>
            <a:ext cx="7772400" cy="1143000"/>
          </a:xfrm>
          <a:noFill/>
        </p:spPr>
        <p:txBody>
          <a:bodyPr anchor="ctr" anchorCtr="0"/>
          <a:lstStyle/>
          <a:p>
            <a:r>
              <a:rPr lang="zh-CN" altLang="en-US" sz="4400"/>
              <a:t>两个总体比例之差的检验</a:t>
            </a:r>
            <a:endParaRPr lang="zh-CN" altLang="en-US" sz="4400"/>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日期占位符 3"/>
          <p:cNvSpPr>
            <a:spLocks noGrp="1"/>
          </p:cNvSpPr>
          <p:nvPr>
            <p:ph type="dt" sz="quarter" idx="4294967295"/>
          </p:nvPr>
        </p:nvSpPr>
        <p:spPr>
          <a:xfrm>
            <a:off x="8543926" y="6381750"/>
            <a:ext cx="1655763" cy="331788"/>
          </a:xfrm>
          <a:prstGeom prst="rect">
            <a:avLst/>
          </a:prstGeom>
        </p:spPr>
        <p:txBody>
          <a:bodyPr/>
          <a:lstStyle/>
          <a:p>
            <a:pPr>
              <a:defRPr/>
            </a:pPr>
            <a:fld id="{8DA2C1A0-6143-401F-9032-A260CA8D1783}" type="datetimeyyyy-M-d">
              <a:rPr lang="en-US" altLang="zh-CN"/>
            </a:fld>
            <a:endParaRPr lang="en-US" altLang="zh-CN" dirty="0"/>
          </a:p>
        </p:txBody>
      </p:sp>
      <p:sp>
        <p:nvSpPr>
          <p:cNvPr id="2051081" name="Rectangle 9"/>
          <p:cNvSpPr>
            <a:spLocks noChangeArrowheads="1"/>
          </p:cNvSpPr>
          <p:nvPr/>
        </p:nvSpPr>
        <p:spPr bwMode="auto">
          <a:xfrm>
            <a:off x="2640014" y="3644901"/>
            <a:ext cx="7127875" cy="2735263"/>
          </a:xfrm>
          <a:prstGeom prst="rect">
            <a:avLst/>
          </a:prstGeom>
          <a:solidFill>
            <a:schemeClr val="bg2"/>
          </a:solidFill>
          <a:ln>
            <a:noFill/>
          </a:ln>
          <a:effectLst/>
        </p:spPr>
        <p:txBody>
          <a:bodyPr lIns="90488" tIns="44450" rIns="90488" bIns="44450"/>
          <a:lstStyle/>
          <a:p>
            <a:pPr marL="609600" indent="-609600">
              <a:defRPr/>
            </a:pPr>
            <a:endParaRPr lang="zh-CN" altLang="zh-CN" sz="3200">
              <a:effectLst>
                <a:outerShdw blurRad="38100" dist="38100" dir="2700000" algn="tl">
                  <a:srgbClr val="808080"/>
                </a:outerShdw>
              </a:effectLst>
              <a:latin typeface="Arial" panose="020B0604020202090204" pitchFamily="34" charset="0"/>
            </a:endParaRPr>
          </a:p>
        </p:txBody>
      </p:sp>
      <p:sp>
        <p:nvSpPr>
          <p:cNvPr id="2051074" name="Rectangle 2"/>
          <p:cNvSpPr>
            <a:spLocks noGrp="1" noChangeArrowheads="1"/>
          </p:cNvSpPr>
          <p:nvPr>
            <p:ph type="body" idx="1"/>
          </p:nvPr>
        </p:nvSpPr>
        <p:spPr>
          <a:xfrm>
            <a:off x="1992314" y="1557338"/>
            <a:ext cx="8074025" cy="4457700"/>
          </a:xfrm>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a:normAutofit/>
          </a:bodyPr>
          <a:lstStyle/>
          <a:p>
            <a:pPr marL="609600" indent="-609600">
              <a:defRPr/>
            </a:pPr>
            <a:r>
              <a:rPr lang="en-US" altLang="zh-CN" sz="3000" dirty="0"/>
              <a:t>1.	</a:t>
            </a:r>
            <a:r>
              <a:rPr lang="zh-CN" altLang="en-US" sz="3000"/>
              <a:t>假定条件</a:t>
            </a:r>
            <a:endParaRPr lang="zh-CN" altLang="en-US" sz="3000"/>
          </a:p>
          <a:p>
            <a:pPr marL="1219200" lvl="1" indent="-533400">
              <a:buSzPct val="80000"/>
              <a:defRPr/>
            </a:pPr>
            <a:r>
              <a:rPr lang="zh-CN" altLang="en-US">
                <a:sym typeface="Wingdings" panose="05000000000000000000" pitchFamily="2" charset="2"/>
              </a:rPr>
              <a:t>两个</a:t>
            </a:r>
            <a:r>
              <a:rPr lang="zh-CN" altLang="en-US"/>
              <a:t>总体都服从二项分布</a:t>
            </a:r>
            <a:endParaRPr lang="zh-CN" altLang="en-US"/>
          </a:p>
          <a:p>
            <a:pPr marL="1219200" lvl="1" indent="-533400">
              <a:buSzPct val="80000"/>
              <a:defRPr/>
            </a:pPr>
            <a:r>
              <a:rPr lang="zh-CN" altLang="en-US"/>
              <a:t>可以用正态分布来近似</a:t>
            </a:r>
            <a:endParaRPr lang="zh-CN" altLang="en-US"/>
          </a:p>
          <a:p>
            <a:pPr marL="609600" indent="-609600">
              <a:buFontTx/>
              <a:buAutoNum type="arabicPeriod" startAt="2"/>
              <a:defRPr/>
            </a:pPr>
            <a:r>
              <a:rPr lang="zh-CN" altLang="en-US" sz="3000"/>
              <a:t>检验统计量</a:t>
            </a:r>
            <a:endParaRPr lang="zh-CN" altLang="en-US" sz="3000"/>
          </a:p>
          <a:p>
            <a:pPr marL="1219200" lvl="1" indent="-533400">
              <a:buSzPct val="80000"/>
              <a:defRPr/>
            </a:pPr>
            <a:r>
              <a:rPr lang="zh-CN" altLang="en-US"/>
              <a:t>检验</a:t>
            </a:r>
            <a:r>
              <a:rPr lang="en-US" altLang="zh-CN" i="1" dirty="0"/>
              <a:t>H</a:t>
            </a:r>
            <a:r>
              <a:rPr lang="en-US" altLang="zh-CN" baseline="-25000" dirty="0"/>
              <a:t>0</a:t>
            </a:r>
            <a:r>
              <a:rPr lang="zh-CN" altLang="en-US"/>
              <a:t>：</a:t>
            </a:r>
            <a:r>
              <a:rPr lang="zh-CN" altLang="en-US" i="1">
                <a:sym typeface="Symbol" panose="05050102010706020507" pitchFamily="18" charset="2"/>
              </a:rPr>
              <a:t></a:t>
            </a:r>
            <a:r>
              <a:rPr lang="en-US" altLang="zh-CN" baseline="-25000" dirty="0">
                <a:sym typeface="Symbol" panose="05050102010706020507" pitchFamily="18" charset="2"/>
              </a:rPr>
              <a:t>1</a:t>
            </a:r>
            <a:r>
              <a:rPr lang="en-US" altLang="zh-CN" dirty="0"/>
              <a:t>-</a:t>
            </a:r>
            <a:r>
              <a:rPr lang="en-US" altLang="zh-CN" i="1" dirty="0">
                <a:sym typeface="Symbol" panose="05050102010706020507" pitchFamily="18" charset="2"/>
              </a:rPr>
              <a:t></a:t>
            </a:r>
            <a:r>
              <a:rPr lang="en-US" altLang="zh-CN" baseline="-25000" dirty="0">
                <a:sym typeface="Symbol" panose="05050102010706020507" pitchFamily="18" charset="2"/>
              </a:rPr>
              <a:t>2</a:t>
            </a:r>
            <a:r>
              <a:rPr lang="en-US" altLang="zh-CN" dirty="0">
                <a:sym typeface="Symbol" panose="05050102010706020507" pitchFamily="18" charset="2"/>
              </a:rPr>
              <a:t>=0</a:t>
            </a:r>
            <a:endParaRPr lang="en-US" altLang="zh-CN" dirty="0">
              <a:sym typeface="Symbol" panose="05050102010706020507" pitchFamily="18" charset="2"/>
            </a:endParaRPr>
          </a:p>
          <a:p>
            <a:pPr marL="1219200" lvl="1" indent="-533400">
              <a:buSzPct val="80000"/>
              <a:defRPr/>
            </a:pPr>
            <a:endParaRPr lang="en-US" altLang="zh-CN" dirty="0">
              <a:sym typeface="Symbol" panose="05050102010706020507" pitchFamily="18" charset="2"/>
            </a:endParaRPr>
          </a:p>
          <a:p>
            <a:pPr marL="1219200" lvl="1" indent="-533400">
              <a:buSzPct val="80000"/>
              <a:defRPr/>
            </a:pPr>
            <a:endParaRPr lang="en-US" altLang="zh-CN" sz="3000" dirty="0">
              <a:sym typeface="Symbol" panose="05050102010706020507" pitchFamily="18" charset="2"/>
            </a:endParaRPr>
          </a:p>
          <a:p>
            <a:pPr marL="1219200" lvl="1" indent="-533400">
              <a:buSzPct val="80000"/>
              <a:defRPr/>
            </a:pPr>
            <a:r>
              <a:rPr lang="zh-CN" altLang="en-US"/>
              <a:t>检验</a:t>
            </a:r>
            <a:r>
              <a:rPr lang="en-US" altLang="zh-CN" i="1" dirty="0"/>
              <a:t>H</a:t>
            </a:r>
            <a:r>
              <a:rPr lang="en-US" altLang="zh-CN" baseline="-25000" dirty="0"/>
              <a:t>0</a:t>
            </a:r>
            <a:r>
              <a:rPr lang="zh-CN" altLang="en-US"/>
              <a:t>：</a:t>
            </a:r>
            <a:r>
              <a:rPr lang="zh-CN" altLang="en-US" i="1">
                <a:sym typeface="Symbol" panose="05050102010706020507" pitchFamily="18" charset="2"/>
              </a:rPr>
              <a:t></a:t>
            </a:r>
            <a:r>
              <a:rPr lang="en-US" altLang="zh-CN" baseline="-25000" dirty="0">
                <a:sym typeface="Symbol" panose="05050102010706020507" pitchFamily="18" charset="2"/>
              </a:rPr>
              <a:t>1</a:t>
            </a:r>
            <a:r>
              <a:rPr lang="en-US" altLang="zh-CN" dirty="0"/>
              <a:t>-</a:t>
            </a:r>
            <a:r>
              <a:rPr lang="en-US" altLang="zh-CN" i="1" dirty="0">
                <a:sym typeface="Symbol" panose="05050102010706020507" pitchFamily="18" charset="2"/>
              </a:rPr>
              <a:t></a:t>
            </a:r>
            <a:r>
              <a:rPr lang="en-US" altLang="zh-CN" baseline="-25000" dirty="0">
                <a:sym typeface="Symbol" panose="05050102010706020507" pitchFamily="18" charset="2"/>
              </a:rPr>
              <a:t>2</a:t>
            </a:r>
            <a:r>
              <a:rPr lang="en-US" altLang="zh-CN" dirty="0">
                <a:sym typeface="Symbol" panose="05050102010706020507" pitchFamily="18" charset="2"/>
              </a:rPr>
              <a:t>=</a:t>
            </a:r>
            <a:r>
              <a:rPr lang="en-US" altLang="zh-CN" i="1" dirty="0">
                <a:sym typeface="Symbol" panose="05050102010706020507" pitchFamily="18" charset="2"/>
              </a:rPr>
              <a:t>d</a:t>
            </a:r>
            <a:r>
              <a:rPr lang="en-US" altLang="zh-CN" baseline="-25000" dirty="0">
                <a:sym typeface="Symbol" panose="05050102010706020507" pitchFamily="18" charset="2"/>
              </a:rPr>
              <a:t>0</a:t>
            </a:r>
            <a:endParaRPr lang="en-US" altLang="zh-CN" dirty="0">
              <a:sym typeface="Symbol" panose="05050102010706020507" pitchFamily="18" charset="2"/>
            </a:endParaRPr>
          </a:p>
          <a:p>
            <a:pPr marL="1219200" lvl="1" indent="-533400">
              <a:defRPr/>
            </a:pPr>
            <a:endParaRPr lang="en-US" altLang="zh-CN" baseline="-25000" dirty="0">
              <a:sym typeface="Symbol" panose="05050102010706020507" pitchFamily="18" charset="2"/>
            </a:endParaRPr>
          </a:p>
        </p:txBody>
      </p:sp>
      <p:sp>
        <p:nvSpPr>
          <p:cNvPr id="2051075" name="Rectangle 3"/>
          <p:cNvSpPr>
            <a:spLocks noGrp="1" noChangeArrowheads="1"/>
          </p:cNvSpPr>
          <p:nvPr>
            <p:ph type="title"/>
          </p:nvPr>
        </p:nvSpPr>
        <p:spPr>
          <a:xfrm>
            <a:off x="3616326" y="274638"/>
            <a:ext cx="6594475" cy="1143000"/>
          </a:xfrm>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anchor="ctr" anchorCtr="1">
            <a:normAutofit/>
          </a:bodyPr>
          <a:lstStyle/>
          <a:p>
            <a:pPr eaLnBrk="1" hangingPunct="1">
              <a:defRPr/>
            </a:pPr>
            <a:r>
              <a:rPr lang="zh-CN" altLang="en-US" sz="3600"/>
              <a:t>两个总体比例之差的检验</a:t>
            </a:r>
            <a:endParaRPr lang="zh-CN" altLang="en-US" sz="3600"/>
          </a:p>
        </p:txBody>
      </p:sp>
      <mc:AlternateContent xmlns:mc="http://schemas.openxmlformats.org/markup-compatibility/2006">
        <mc:Choice xmlns:a14="http://schemas.microsoft.com/office/drawing/2010/main" Requires="a14">
          <p:sp>
            <p:nvSpPr>
              <p:cNvPr id="99334" name="Object 4"/>
              <p:cNvSpPr txBox="1"/>
              <p:nvPr/>
            </p:nvSpPr>
            <p:spPr bwMode="auto">
              <a:xfrm>
                <a:off x="5995989" y="3552826"/>
                <a:ext cx="2763837" cy="1323975"/>
              </a:xfrm>
              <a:prstGeom prst="rect">
                <a:avLst/>
              </a:prstGeom>
              <a:noFill/>
              <a:ln>
                <a:noFill/>
              </a:ln>
              <a:effectLst>
                <a:outerShdw dist="17961" dir="2700000" algn="ctr" rotWithShape="0">
                  <a:schemeClr val="tx1"/>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𝑧</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2</m:t>
                              </m:r>
                            </m:sub>
                          </m:sSub>
                        </m:num>
                        <m:den>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den>
                                  </m:f>
                                </m:e>
                              </m:d>
                            </m:e>
                          </m:rad>
                        </m:den>
                      </m:f>
                    </m:oMath>
                  </m:oMathPara>
                </a14:m>
                <a:endParaRPr lang="zh-CN" altLang="en-US"/>
              </a:p>
            </p:txBody>
          </p:sp>
        </mc:Choice>
        <mc:Fallback>
          <p:sp>
            <p:nvSpPr>
              <p:cNvPr id="99334" name="Object 4"/>
              <p:cNvSpPr txBox="1">
                <a:spLocks noRot="1" noChangeAspect="1" noMove="1" noResize="1" noEditPoints="1" noAdjustHandles="1" noChangeArrowheads="1" noChangeShapeType="1" noTextEdit="1"/>
              </p:cNvSpPr>
              <p:nvPr/>
            </p:nvSpPr>
            <p:spPr bwMode="auto">
              <a:xfrm>
                <a:off x="5995989" y="3552826"/>
                <a:ext cx="2763837" cy="1323975"/>
              </a:xfrm>
              <a:prstGeom prst="rect">
                <a:avLst/>
              </a:prstGeom>
              <a:blipFill rotWithShape="1">
                <a:blip r:embed="rId1"/>
                <a:stretch>
                  <a:fillRect l="-12" r="-459" b="-959"/>
                </a:stretch>
              </a:blipFill>
              <a:ln>
                <a:noFill/>
              </a:ln>
              <a:effectLst>
                <a:outerShdw dist="17961" dir="2700000" algn="ctr" rotWithShape="0">
                  <a:schemeClr val="tx1"/>
                </a:outerShdw>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9335" name="Object 5"/>
              <p:cNvSpPr txBox="1"/>
              <p:nvPr/>
            </p:nvSpPr>
            <p:spPr bwMode="auto">
              <a:xfrm>
                <a:off x="5954714" y="5053014"/>
                <a:ext cx="3597275" cy="1311275"/>
              </a:xfrm>
              <a:prstGeom prst="rect">
                <a:avLst/>
              </a:prstGeom>
              <a:noFill/>
              <a:ln>
                <a:noFill/>
              </a:ln>
              <a:effectLst>
                <a:outerShdw dist="17961" dir="2700000" algn="ctr" rotWithShape="0">
                  <a:schemeClr val="tx1"/>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𝑧</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0</m:t>
                              </m:r>
                            </m:sub>
                          </m:sSub>
                        </m:num>
                        <m:den>
                          <m:rad>
                            <m:radPr>
                              <m:degHide m:val="on"/>
                              <m:ctrlPr>
                                <a:rPr lang="zh-CN" altLang="en-US" i="1">
                                  <a:solidFill>
                                    <a:srgbClr val="000000"/>
                                  </a:solidFill>
                                  <a:latin typeface="Cambria Math" panose="02040503050406030204" pitchFamily="18" charset="0"/>
                                </a:rPr>
                              </m:ctrlPr>
                            </m:radPr>
                            <m:deg/>
                            <m:e>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den>
                              </m:f>
                            </m:e>
                          </m:rad>
                        </m:den>
                      </m:f>
                    </m:oMath>
                  </m:oMathPara>
                </a14:m>
                <a:endParaRPr lang="zh-CN" altLang="en-US"/>
              </a:p>
            </p:txBody>
          </p:sp>
        </mc:Choice>
        <mc:Fallback>
          <p:sp>
            <p:nvSpPr>
              <p:cNvPr id="99335" name="Object 5"/>
              <p:cNvSpPr txBox="1">
                <a:spLocks noRot="1" noChangeAspect="1" noMove="1" noResize="1" noEditPoints="1" noAdjustHandles="1" noChangeArrowheads="1" noChangeShapeType="1" noTextEdit="1"/>
              </p:cNvSpPr>
              <p:nvPr/>
            </p:nvSpPr>
            <p:spPr bwMode="auto">
              <a:xfrm>
                <a:off x="5954714" y="5053014"/>
                <a:ext cx="3597275" cy="1311275"/>
              </a:xfrm>
              <a:prstGeom prst="rect">
                <a:avLst/>
              </a:prstGeom>
              <a:blipFill rotWithShape="1">
                <a:blip r:embed="rId2"/>
                <a:stretch>
                  <a:fillRect l="-9" t="-24" r="-344" b="-944"/>
                </a:stretch>
              </a:blipFill>
              <a:ln>
                <a:noFill/>
              </a:ln>
              <a:effectLst>
                <a:outerShdw dist="17961" dir="2700000" algn="ctr" rotWithShape="0">
                  <a:schemeClr val="tx1"/>
                </a:outerShdw>
              </a:effectLst>
            </p:spPr>
            <p:txBody>
              <a:bodyPr/>
              <a:lstStyle/>
              <a:p>
                <a:r>
                  <a:rPr lang="zh-CN" altLang="en-US">
                    <a:noFill/>
                  </a:rPr>
                  <a:t> </a:t>
                </a:r>
              </a:p>
            </p:txBody>
          </p:sp>
        </mc:Fallback>
      </mc:AlternateContent>
      <p:grpSp>
        <p:nvGrpSpPr>
          <p:cNvPr id="2051078" name="Group 6"/>
          <p:cNvGrpSpPr/>
          <p:nvPr/>
        </p:nvGrpSpPr>
        <p:grpSpPr bwMode="auto">
          <a:xfrm>
            <a:off x="6743701" y="2708276"/>
            <a:ext cx="3097213" cy="1647825"/>
            <a:chOff x="3396" y="1689"/>
            <a:chExt cx="2110" cy="1083"/>
          </a:xfrm>
        </p:grpSpPr>
        <mc:AlternateContent xmlns:mc="http://schemas.openxmlformats.org/markup-compatibility/2006">
          <mc:Choice xmlns:a14="http://schemas.microsoft.com/office/drawing/2010/main" Requires="a14">
            <p:sp>
              <p:nvSpPr>
                <p:cNvPr id="99337" name="Object 7"/>
                <p:cNvSpPr txBox="1"/>
                <p:nvPr/>
              </p:nvSpPr>
              <p:spPr bwMode="auto">
                <a:xfrm>
                  <a:off x="3507" y="1689"/>
                  <a:ext cx="1999" cy="608"/>
                </a:xfrm>
                <a:prstGeom prst="rect">
                  <a:avLst/>
                </a:prstGeom>
                <a:noFill/>
                <a:ln>
                  <a:noFill/>
                </a:ln>
                <a:effectLst>
                  <a:outerShdw dist="17961" dir="2700000" algn="ctr" rotWithShape="0">
                    <a:schemeClr val="tx1"/>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den>
                        </m:f>
                      </m:oMath>
                    </m:oMathPara>
                  </a14:m>
                  <a:endParaRPr lang="zh-CN" altLang="en-US"/>
                </a:p>
              </p:txBody>
            </p:sp>
          </mc:Choice>
          <mc:Fallback>
            <p:sp>
              <p:nvSpPr>
                <p:cNvPr id="99337" name="Object 7"/>
                <p:cNvSpPr txBox="1">
                  <a:spLocks noRot="1" noChangeAspect="1" noMove="1" noResize="1" noEditPoints="1" noAdjustHandles="1" noChangeArrowheads="1" noChangeShapeType="1" noTextEdit="1"/>
                </p:cNvSpPr>
                <p:nvPr/>
              </p:nvSpPr>
              <p:spPr bwMode="auto">
                <a:xfrm>
                  <a:off x="3507" y="1689"/>
                  <a:ext cx="1999" cy="608"/>
                </a:xfrm>
                <a:prstGeom prst="rect">
                  <a:avLst/>
                </a:prstGeom>
                <a:blipFill rotWithShape="1">
                  <a:blip r:embed="rId3"/>
                </a:blipFill>
                <a:ln>
                  <a:noFill/>
                </a:ln>
                <a:effectLst>
                  <a:outerShdw dist="17961" dir="2700000" algn="ctr" rotWithShape="0">
                    <a:schemeClr val="tx1"/>
                  </a:outerShdw>
                </a:effectLst>
              </p:spPr>
              <p:txBody>
                <a:bodyPr/>
                <a:lstStyle/>
                <a:p>
                  <a:r>
                    <a:rPr lang="zh-CN" altLang="en-US">
                      <a:noFill/>
                    </a:rPr>
                    <a:t> </a:t>
                  </a:r>
                </a:p>
              </p:txBody>
            </p:sp>
          </mc:Fallback>
        </mc:AlternateContent>
        <p:sp>
          <p:nvSpPr>
            <p:cNvPr id="2051080" name="Line 8"/>
            <p:cNvSpPr>
              <a:spLocks noChangeShapeType="1"/>
            </p:cNvSpPr>
            <p:nvPr/>
          </p:nvSpPr>
          <p:spPr bwMode="auto">
            <a:xfrm flipH="1">
              <a:off x="3396" y="2076"/>
              <a:ext cx="132" cy="696"/>
            </a:xfrm>
            <a:prstGeom prst="line">
              <a:avLst/>
            </a:prstGeom>
            <a:noFill/>
            <a:ln w="12700">
              <a:solidFill>
                <a:srgbClr val="FFFF99"/>
              </a:solidFill>
              <a:round/>
              <a:tailEnd type="triangle" w="med" len="med"/>
            </a:ln>
            <a:effectLst>
              <a:outerShdw dist="17961" dir="13500000" algn="ctr" rotWithShape="0">
                <a:schemeClr val="tx1"/>
              </a:outerShdw>
            </a:effectLst>
            <a:extLst>
              <a:ext uri="{909E8E84-426E-40DD-AFC4-6F175D3DCCD1}">
                <a14:hiddenFill xmlns:a14="http://schemas.microsoft.com/office/drawing/2010/main">
                  <a:noFill/>
                </a14:hiddenFill>
              </a:ext>
            </a:extLst>
          </p:spPr>
          <p:txBody>
            <a:bodyPr/>
            <a:lstStyle/>
            <a:p>
              <a:pPr>
                <a:defRPr/>
              </a:pPr>
              <a:endParaRPr lang="zh-CN" altLang="en-US">
                <a:latin typeface="Arial" panose="020B0604020202090204" pitchFamily="34" charset="0"/>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51078"/>
                                        </p:tgtEl>
                                        <p:attrNameLst>
                                          <p:attrName>style.visibility</p:attrName>
                                        </p:attrNameLst>
                                      </p:cBhvr>
                                      <p:to>
                                        <p:strVal val="visible"/>
                                      </p:to>
                                    </p:set>
                                    <p:animEffect transition="in" filter="dissolve">
                                      <p:cBhvr>
                                        <p:cTn id="7" dur="500"/>
                                        <p:tgtEl>
                                          <p:spTgt spid="2051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22" name="Rectangle 2"/>
          <p:cNvSpPr>
            <a:spLocks noGrp="1" noChangeArrowheads="1"/>
          </p:cNvSpPr>
          <p:nvPr>
            <p:ph type="title"/>
          </p:nvPr>
        </p:nvSpPr>
        <p:spPr>
          <a:noFill/>
        </p:spPr>
        <p:txBody>
          <a:bodyPr>
            <a:normAutofit fontScale="90000"/>
          </a:bodyPr>
          <a:lstStyle/>
          <a:p>
            <a:r>
              <a:rPr lang="zh-CN" altLang="en-US" sz="4000"/>
              <a:t>两个总体比例之差的</a:t>
            </a:r>
            <a:r>
              <a:rPr lang="en-US" altLang="zh-CN" sz="4000"/>
              <a:t>Z</a:t>
            </a:r>
            <a:r>
              <a:rPr lang="zh-CN" altLang="en-US" sz="4000"/>
              <a:t>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pic>
        <p:nvPicPr>
          <p:cNvPr id="2" name="图片 1"/>
          <p:cNvPicPr>
            <a:picLocks noChangeAspect="1"/>
          </p:cNvPicPr>
          <p:nvPr/>
        </p:nvPicPr>
        <p:blipFill>
          <a:blip r:embed="rId1"/>
          <a:stretch>
            <a:fillRect/>
          </a:stretch>
        </p:blipFill>
        <p:spPr>
          <a:xfrm>
            <a:off x="1840524" y="1670539"/>
            <a:ext cx="8510953" cy="4566773"/>
          </a:xfrm>
          <a:prstGeom prst="rect">
            <a:avLst/>
          </a:prstGeom>
        </p:spPr>
      </p:pic>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2818" name="Rectangle 2"/>
          <p:cNvSpPr>
            <a:spLocks noGrp="1" noChangeArrowheads="1"/>
          </p:cNvSpPr>
          <p:nvPr>
            <p:ph type="title"/>
          </p:nvPr>
        </p:nvSpPr>
        <p:spPr>
          <a:noFill/>
        </p:spPr>
        <p:txBody>
          <a:bodyPr>
            <a:normAutofit fontScale="90000"/>
          </a:bodyPr>
          <a:lstStyle/>
          <a:p>
            <a:r>
              <a:rPr lang="zh-CN" altLang="en-US" sz="4000"/>
              <a:t>两个总体比例之差的</a:t>
            </a:r>
            <a:r>
              <a:rPr lang="en-US" altLang="zh-CN" sz="4000"/>
              <a:t>Z</a:t>
            </a:r>
            <a:r>
              <a:rPr lang="zh-CN" altLang="en-US" sz="4000"/>
              <a:t>检验</a:t>
            </a:r>
            <a:br>
              <a:rPr lang="zh-CN" altLang="en-US" sz="4000"/>
            </a:br>
            <a:r>
              <a:rPr lang="zh-CN" altLang="en-US" sz="4000"/>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pic>
        <p:nvPicPr>
          <p:cNvPr id="3" name="图片 2"/>
          <p:cNvPicPr>
            <a:picLocks noChangeAspect="1"/>
          </p:cNvPicPr>
          <p:nvPr/>
        </p:nvPicPr>
        <p:blipFill>
          <a:blip r:embed="rId1"/>
          <a:stretch>
            <a:fillRect/>
          </a:stretch>
        </p:blipFill>
        <p:spPr>
          <a:xfrm>
            <a:off x="1942734" y="1760294"/>
            <a:ext cx="8268066" cy="2871457"/>
          </a:xfrm>
          <a:prstGeom prst="rect">
            <a:avLst/>
          </a:prstGeom>
        </p:spPr>
      </p:pic>
      <p:pic>
        <p:nvPicPr>
          <p:cNvPr id="4" name="图片 3"/>
          <p:cNvPicPr>
            <a:picLocks noChangeAspect="1"/>
          </p:cNvPicPr>
          <p:nvPr/>
        </p:nvPicPr>
        <p:blipFill>
          <a:blip r:embed="rId2"/>
          <a:stretch>
            <a:fillRect/>
          </a:stretch>
        </p:blipFill>
        <p:spPr>
          <a:xfrm>
            <a:off x="1942734" y="4631750"/>
            <a:ext cx="8268066" cy="1752600"/>
          </a:xfrm>
          <a:prstGeom prst="rect">
            <a:avLst/>
          </a:prstGeom>
        </p:spPr>
      </p:pic>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2370" name="Rectangle 2"/>
          <p:cNvSpPr>
            <a:spLocks noGrp="1" noChangeArrowheads="1"/>
          </p:cNvSpPr>
          <p:nvPr>
            <p:ph type="ctrTitle"/>
          </p:nvPr>
        </p:nvSpPr>
        <p:spPr>
          <a:xfrm>
            <a:off x="2209800" y="2286000"/>
            <a:ext cx="7772400" cy="1143000"/>
          </a:xfrm>
          <a:noFill/>
        </p:spPr>
        <p:txBody>
          <a:bodyPr anchor="ctr" anchorCtr="0"/>
          <a:lstStyle/>
          <a:p>
            <a:r>
              <a:rPr lang="zh-CN" altLang="en-US" sz="4400"/>
              <a:t>两个总体方差比的检验</a:t>
            </a:r>
            <a:endParaRPr lang="zh-CN" altLang="en-US" sz="4400"/>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6466" name="Rectangle 2"/>
          <p:cNvSpPr>
            <a:spLocks noGrp="1" noChangeArrowheads="1"/>
          </p:cNvSpPr>
          <p:nvPr>
            <p:ph type="title"/>
          </p:nvPr>
        </p:nvSpPr>
        <p:spPr>
          <a:xfrm>
            <a:off x="3200400" y="152400"/>
            <a:ext cx="7010400" cy="1219200"/>
          </a:xfrm>
          <a:noFill/>
        </p:spPr>
        <p:txBody>
          <a:bodyPr>
            <a:normAutofit fontScale="90000"/>
          </a:bodyPr>
          <a:lstStyle/>
          <a:p>
            <a:r>
              <a:rPr lang="zh-CN" altLang="en-US" sz="4000">
                <a:latin typeface="Arial" panose="020B0604020202090204" pitchFamily="34" charset="0"/>
              </a:rPr>
              <a:t>两个总体方差比的检验</a:t>
            </a:r>
            <a:br>
              <a:rPr lang="zh-CN" altLang="en-US" sz="4000">
                <a:latin typeface="Arial" panose="020B0604020202090204" pitchFamily="34" charset="0"/>
              </a:rPr>
            </a:br>
            <a:r>
              <a:rPr lang="en-US" altLang="zh-CN" sz="3600">
                <a:solidFill>
                  <a:schemeClr val="hlink"/>
                </a:solidFill>
                <a:latin typeface="Arial" panose="020B0604020202090204" pitchFamily="34" charset="0"/>
              </a:rPr>
              <a:t>(</a:t>
            </a:r>
            <a:r>
              <a:rPr lang="en-US" altLang="zh-CN" sz="3600" i="1">
                <a:solidFill>
                  <a:schemeClr val="hlink"/>
                </a:solidFill>
                <a:latin typeface="Arial" panose="020B0604020202090204" pitchFamily="34" charset="0"/>
              </a:rPr>
              <a:t>F</a:t>
            </a:r>
            <a:r>
              <a:rPr lang="en-US" altLang="zh-CN" sz="3600">
                <a:solidFill>
                  <a:schemeClr val="hlink"/>
                </a:solidFill>
                <a:latin typeface="Arial" panose="020B0604020202090204" pitchFamily="34" charset="0"/>
              </a:rPr>
              <a:t> </a:t>
            </a:r>
            <a:r>
              <a:rPr lang="zh-CN" altLang="en-US" sz="3600">
                <a:solidFill>
                  <a:schemeClr val="hlink"/>
                </a:solidFill>
                <a:latin typeface="Arial" panose="020B0604020202090204" pitchFamily="34" charset="0"/>
              </a:rPr>
              <a:t>检验</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1086467" name="Rectangle 3"/>
          <p:cNvSpPr>
            <a:spLocks noGrp="1" noChangeArrowheads="1"/>
          </p:cNvSpPr>
          <p:nvPr>
            <p:ph type="body" idx="1"/>
          </p:nvPr>
        </p:nvSpPr>
        <p:spPr>
          <a:xfrm>
            <a:off x="2133600" y="1714500"/>
            <a:ext cx="7848600" cy="4552950"/>
          </a:xfrm>
          <a:noFill/>
        </p:spPr>
        <p:txBody>
          <a:bodyPr/>
          <a:lstStyle/>
          <a:p>
            <a:pPr marL="609600" indent="-609600">
              <a:buFontTx/>
              <a:buAutoNum type="arabicPeriod"/>
            </a:pPr>
            <a:r>
              <a:rPr lang="zh-CN" altLang="en-US"/>
              <a:t>假定条件</a:t>
            </a:r>
            <a:endParaRPr lang="zh-CN" altLang="en-US"/>
          </a:p>
          <a:p>
            <a:pPr marL="1219200" lvl="1" indent="-533400"/>
            <a:r>
              <a:rPr lang="zh-CN" altLang="en-US"/>
              <a:t>两个总体都服从正态分布，且方差相等</a:t>
            </a:r>
            <a:endParaRPr lang="zh-CN" altLang="en-US"/>
          </a:p>
          <a:p>
            <a:pPr marL="1219200" lvl="1" indent="-533400"/>
            <a:r>
              <a:rPr lang="zh-CN" altLang="en-US"/>
              <a:t>两个独立的随机样本</a:t>
            </a:r>
            <a:endParaRPr lang="zh-CN" altLang="en-US"/>
          </a:p>
          <a:p>
            <a:pPr marL="609600" indent="-609600">
              <a:buFontTx/>
              <a:buAutoNum type="arabicPeriod"/>
            </a:pPr>
            <a:r>
              <a:rPr lang="zh-CN" altLang="en-US"/>
              <a:t>假定形式</a:t>
            </a:r>
            <a:endParaRPr lang="zh-CN" altLang="en-US"/>
          </a:p>
          <a:p>
            <a:pPr marL="1219200" lvl="1" indent="-533400"/>
            <a:r>
              <a:rPr lang="en-US" altLang="zh-CN"/>
              <a:t>H</a:t>
            </a:r>
            <a:r>
              <a:rPr lang="en-US" altLang="zh-CN" baseline="-25000"/>
              <a:t>0</a:t>
            </a:r>
            <a:r>
              <a:rPr lang="zh-CN" altLang="en-US"/>
              <a:t>：</a:t>
            </a:r>
            <a:r>
              <a:rPr lang="en-US" altLang="zh-CN">
                <a:latin typeface="Symbol" panose="05050102010706020507" pitchFamily="18" charset="2"/>
              </a:rPr>
              <a:t>s</a:t>
            </a:r>
            <a:r>
              <a:rPr lang="en-US" altLang="zh-CN" sz="2400" baseline="-25000"/>
              <a:t>1</a:t>
            </a:r>
            <a:r>
              <a:rPr lang="en-US" altLang="zh-CN" sz="2400" baseline="30000"/>
              <a:t>2</a:t>
            </a:r>
            <a:r>
              <a:rPr lang="en-US" altLang="zh-CN"/>
              <a:t> = </a:t>
            </a:r>
            <a:r>
              <a:rPr lang="en-US" altLang="zh-CN">
                <a:latin typeface="Symbol" panose="05050102010706020507" pitchFamily="18" charset="2"/>
              </a:rPr>
              <a:t>s</a:t>
            </a:r>
            <a:r>
              <a:rPr lang="en-US" altLang="zh-CN" sz="2400" baseline="-25000"/>
              <a:t>2</a:t>
            </a:r>
            <a:r>
              <a:rPr lang="en-US" altLang="zh-CN" sz="2400" baseline="30000"/>
              <a:t>2</a:t>
            </a:r>
            <a:r>
              <a:rPr lang="en-US" altLang="zh-CN" sz="2400"/>
              <a:t> </a:t>
            </a:r>
            <a:r>
              <a:rPr lang="en-US" altLang="zh-CN"/>
              <a:t>   </a:t>
            </a:r>
            <a:r>
              <a:rPr lang="zh-CN" altLang="en-US"/>
              <a:t>或    </a:t>
            </a:r>
            <a:r>
              <a:rPr lang="en-US" altLang="zh-CN"/>
              <a:t>H</a:t>
            </a:r>
            <a:r>
              <a:rPr lang="en-US" altLang="zh-CN" baseline="-25000"/>
              <a:t>0</a:t>
            </a:r>
            <a:r>
              <a:rPr lang="zh-CN" altLang="en-US"/>
              <a:t>：</a:t>
            </a:r>
            <a:r>
              <a:rPr lang="en-US" altLang="zh-CN">
                <a:latin typeface="Symbol" panose="05050102010706020507" pitchFamily="18" charset="2"/>
              </a:rPr>
              <a:t>s</a:t>
            </a:r>
            <a:r>
              <a:rPr lang="en-US" altLang="zh-CN" sz="2400" baseline="-25000"/>
              <a:t>1</a:t>
            </a:r>
            <a:r>
              <a:rPr lang="en-US" altLang="zh-CN" sz="2400" baseline="30000"/>
              <a:t>2</a:t>
            </a:r>
            <a:r>
              <a:rPr lang="en-US" altLang="zh-CN"/>
              <a:t> </a:t>
            </a:r>
            <a:r>
              <a:rPr lang="en-US" altLang="zh-CN">
                <a:latin typeface="Symbol" panose="05050102010706020507" pitchFamily="18" charset="2"/>
                <a:sym typeface="Symbol" panose="05050102010706020507" pitchFamily="18" charset="2"/>
              </a:rPr>
              <a:t></a:t>
            </a:r>
            <a:r>
              <a:rPr lang="en-US" altLang="zh-CN"/>
              <a:t> </a:t>
            </a:r>
            <a:r>
              <a:rPr lang="en-US" altLang="zh-CN">
                <a:latin typeface="Symbol" panose="05050102010706020507" pitchFamily="18" charset="2"/>
              </a:rPr>
              <a:t>s</a:t>
            </a:r>
            <a:r>
              <a:rPr lang="en-US" altLang="zh-CN" sz="2400" baseline="-25000"/>
              <a:t>2</a:t>
            </a:r>
            <a:r>
              <a:rPr lang="en-US" altLang="zh-CN" sz="2400" baseline="30000"/>
              <a:t>2 </a:t>
            </a:r>
            <a:r>
              <a:rPr lang="en-US" altLang="zh-CN" baseline="30000"/>
              <a:t> </a:t>
            </a:r>
            <a:r>
              <a:rPr lang="en-US" altLang="zh-CN"/>
              <a:t>(</a:t>
            </a:r>
            <a:r>
              <a:rPr lang="zh-CN" altLang="en-US"/>
              <a:t>或 </a:t>
            </a:r>
            <a:r>
              <a:rPr lang="zh-CN" altLang="en-US">
                <a:latin typeface="Symbol" panose="05050102010706020507" pitchFamily="18" charset="2"/>
                <a:sym typeface="Symbol" panose="05050102010706020507" pitchFamily="18" charset="2"/>
              </a:rPr>
              <a:t></a:t>
            </a:r>
            <a:r>
              <a:rPr lang="zh-CN" altLang="en-US">
                <a:latin typeface="Symbol" panose="05050102010706020507" pitchFamily="18" charset="2"/>
              </a:rPr>
              <a:t> </a:t>
            </a:r>
            <a:r>
              <a:rPr lang="en-US" altLang="zh-CN"/>
              <a:t>) </a:t>
            </a:r>
            <a:endParaRPr lang="en-US" altLang="zh-CN" baseline="30000"/>
          </a:p>
          <a:p>
            <a:pPr marL="1219200" lvl="1" indent="-533400">
              <a:buNone/>
            </a:pPr>
            <a:r>
              <a:rPr lang="en-US" altLang="zh-CN"/>
              <a:t>     H</a:t>
            </a:r>
            <a:r>
              <a:rPr lang="en-US" altLang="zh-CN" baseline="-25000"/>
              <a:t>1</a:t>
            </a:r>
            <a:r>
              <a:rPr lang="zh-CN" altLang="en-US"/>
              <a:t>：</a:t>
            </a:r>
            <a:r>
              <a:rPr lang="en-US" altLang="zh-CN">
                <a:latin typeface="Symbol" panose="05050102010706020507" pitchFamily="18" charset="2"/>
              </a:rPr>
              <a:t>s</a:t>
            </a:r>
            <a:r>
              <a:rPr lang="en-US" altLang="zh-CN" sz="2400" baseline="-25000"/>
              <a:t>1</a:t>
            </a:r>
            <a:r>
              <a:rPr lang="en-US" altLang="zh-CN" sz="2400" baseline="30000"/>
              <a:t>2</a:t>
            </a:r>
            <a:r>
              <a:rPr lang="en-US" altLang="zh-CN" sz="2400"/>
              <a:t> </a:t>
            </a:r>
            <a:r>
              <a:rPr lang="en-US" altLang="zh-CN">
                <a:sym typeface="Symbol" panose="05050102010706020507" pitchFamily="18" charset="2"/>
              </a:rPr>
              <a:t> </a:t>
            </a:r>
            <a:r>
              <a:rPr lang="en-US" altLang="zh-CN">
                <a:latin typeface="Symbol" panose="05050102010706020507" pitchFamily="18" charset="2"/>
              </a:rPr>
              <a:t>s</a:t>
            </a:r>
            <a:r>
              <a:rPr lang="en-US" altLang="zh-CN" sz="2400" baseline="-25000"/>
              <a:t>2</a:t>
            </a:r>
            <a:r>
              <a:rPr lang="en-US" altLang="zh-CN" sz="2400" baseline="30000"/>
              <a:t>2</a:t>
            </a:r>
            <a:r>
              <a:rPr lang="en-US" altLang="zh-CN"/>
              <a:t>            H</a:t>
            </a:r>
            <a:r>
              <a:rPr lang="en-US" altLang="zh-CN" baseline="-25000"/>
              <a:t>1</a:t>
            </a:r>
            <a:r>
              <a:rPr lang="zh-CN" altLang="en-US"/>
              <a:t>：</a:t>
            </a:r>
            <a:r>
              <a:rPr lang="en-US" altLang="zh-CN">
                <a:latin typeface="Symbol" panose="05050102010706020507" pitchFamily="18" charset="2"/>
              </a:rPr>
              <a:t>s</a:t>
            </a:r>
            <a:r>
              <a:rPr lang="en-US" altLang="zh-CN" sz="2400" baseline="-25000"/>
              <a:t>1</a:t>
            </a:r>
            <a:r>
              <a:rPr lang="en-US" altLang="zh-CN" sz="2400" baseline="30000"/>
              <a:t>2</a:t>
            </a:r>
            <a:r>
              <a:rPr lang="en-US" altLang="zh-CN"/>
              <a:t> </a:t>
            </a:r>
            <a:r>
              <a:rPr lang="en-US" altLang="zh-CN">
                <a:latin typeface="Symbol" panose="05050102010706020507" pitchFamily="18" charset="2"/>
              </a:rPr>
              <a:t>&lt; s</a:t>
            </a:r>
            <a:r>
              <a:rPr lang="en-US" altLang="zh-CN" sz="2400" baseline="-25000"/>
              <a:t>2</a:t>
            </a:r>
            <a:r>
              <a:rPr lang="en-US" altLang="zh-CN" sz="2400" baseline="30000"/>
              <a:t>2</a:t>
            </a:r>
            <a:r>
              <a:rPr lang="en-US" altLang="zh-CN" baseline="30000"/>
              <a:t>   </a:t>
            </a:r>
            <a:r>
              <a:rPr lang="en-US" altLang="zh-CN"/>
              <a:t>(</a:t>
            </a:r>
            <a:r>
              <a:rPr lang="zh-CN" altLang="en-US"/>
              <a:t>或 </a:t>
            </a:r>
            <a:r>
              <a:rPr lang="en-US" altLang="zh-CN"/>
              <a:t>&gt;)</a:t>
            </a:r>
            <a:endParaRPr lang="en-US" altLang="zh-CN"/>
          </a:p>
          <a:p>
            <a:pPr marL="609600" indent="-609600">
              <a:spcBef>
                <a:spcPct val="51000"/>
              </a:spcBef>
              <a:buFontTx/>
              <a:buAutoNum type="arabicPeriod" startAt="3"/>
            </a:pPr>
            <a:r>
              <a:rPr lang="zh-CN" altLang="en-US"/>
              <a:t>检验统计量</a:t>
            </a:r>
            <a:endParaRPr lang="zh-CN" altLang="en-US"/>
          </a:p>
          <a:p>
            <a:pPr marL="1219200" lvl="1" indent="-533400"/>
            <a:r>
              <a:rPr lang="en-US" altLang="zh-CN" i="1"/>
              <a:t>F</a:t>
            </a:r>
            <a:r>
              <a:rPr lang="en-US" altLang="zh-CN"/>
              <a:t> = </a:t>
            </a:r>
            <a:r>
              <a:rPr lang="en-US" altLang="zh-CN" i="1"/>
              <a:t>S</a:t>
            </a:r>
            <a:r>
              <a:rPr lang="en-US" altLang="zh-CN" sz="2400" baseline="-25000"/>
              <a:t>1</a:t>
            </a:r>
            <a:r>
              <a:rPr lang="en-US" altLang="zh-CN" sz="2400" baseline="30000"/>
              <a:t>2</a:t>
            </a:r>
            <a:r>
              <a:rPr lang="en-US" altLang="zh-CN"/>
              <a:t> /</a:t>
            </a:r>
            <a:r>
              <a:rPr lang="en-US" altLang="zh-CN" i="1"/>
              <a:t>S</a:t>
            </a:r>
            <a:r>
              <a:rPr lang="en-US" altLang="zh-CN" sz="2400" baseline="-25000"/>
              <a:t>2</a:t>
            </a:r>
            <a:r>
              <a:rPr lang="en-US" altLang="zh-CN" sz="2400" baseline="30000"/>
              <a:t>2</a:t>
            </a:r>
            <a:r>
              <a:rPr lang="zh-CN" altLang="en-US" sz="2400"/>
              <a:t>～</a:t>
            </a:r>
            <a:r>
              <a:rPr lang="en-US" altLang="zh-CN" sz="2400" i="1"/>
              <a:t>F</a:t>
            </a:r>
            <a:r>
              <a:rPr lang="en-US" altLang="zh-CN" sz="2400"/>
              <a:t>(</a:t>
            </a:r>
            <a:r>
              <a:rPr lang="en-US" altLang="zh-CN" i="1"/>
              <a:t>n</a:t>
            </a:r>
            <a:r>
              <a:rPr lang="en-US" altLang="zh-CN" baseline="-25000"/>
              <a:t>1</a:t>
            </a:r>
            <a:r>
              <a:rPr lang="en-US" altLang="zh-CN"/>
              <a:t> – 1 ,  </a:t>
            </a:r>
            <a:r>
              <a:rPr lang="en-US" altLang="zh-CN" i="1"/>
              <a:t>n</a:t>
            </a:r>
            <a:r>
              <a:rPr lang="en-US" altLang="zh-CN" baseline="-25000"/>
              <a:t>2</a:t>
            </a:r>
            <a:r>
              <a:rPr lang="en-US" altLang="zh-CN"/>
              <a:t> – 1)</a:t>
            </a:r>
            <a:endParaRPr lang="en-US" altLang="zh-CN"/>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6467">
                                            <p:txEl>
                                              <p:pRg st="0" end="0"/>
                                            </p:txEl>
                                          </p:spTgt>
                                        </p:tgtEl>
                                        <p:attrNameLst>
                                          <p:attrName>style.visibility</p:attrName>
                                        </p:attrNameLst>
                                      </p:cBhvr>
                                      <p:to>
                                        <p:strVal val="visible"/>
                                      </p:to>
                                    </p:set>
                                    <p:animEffect transition="in" filter="wipe(left)">
                                      <p:cBhvr>
                                        <p:cTn id="7" dur="500"/>
                                        <p:tgtEl>
                                          <p:spTgt spid="1086467">
                                            <p:txEl>
                                              <p:pRg st="0" end="0"/>
                                            </p:txEl>
                                          </p:spTgt>
                                        </p:tgtEl>
                                      </p:cBhvr>
                                    </p:animEffect>
                                  </p:childTnLst>
                                  <p:subTnLst>
                                    <p:animClr clrSpc="rgb" dir="cw">
                                      <p:cBhvr override="childStyle">
                                        <p:cTn dur="1" fill="hold" display="0" masterRel="nextClick" afterEffect="1"/>
                                        <p:tgtEl>
                                          <p:spTgt spid="1086467">
                                            <p:txEl>
                                              <p:pRg st="0" end="0"/>
                                            </p:txEl>
                                          </p:spTgt>
                                        </p:tgtEl>
                                        <p:attrNameLst>
                                          <p:attrName>ppt_c</p:attrName>
                                        </p:attrNameLst>
                                      </p:cBhvr>
                                      <p:to>
                                        <a:schemeClr val="folHlink"/>
                                      </p:to>
                                    </p:animClr>
                                  </p:subTnLst>
                                </p:cTn>
                              </p:par>
                              <p:par>
                                <p:cTn id="8" presetID="22" presetClass="entr" presetSubtype="8" fill="hold" grpId="0" nodeType="withEffect">
                                  <p:stCondLst>
                                    <p:cond delay="0"/>
                                  </p:stCondLst>
                                  <p:childTnLst>
                                    <p:set>
                                      <p:cBhvr>
                                        <p:cTn id="9" dur="1" fill="hold">
                                          <p:stCondLst>
                                            <p:cond delay="0"/>
                                          </p:stCondLst>
                                        </p:cTn>
                                        <p:tgtEl>
                                          <p:spTgt spid="1086467">
                                            <p:txEl>
                                              <p:pRg st="1" end="1"/>
                                            </p:txEl>
                                          </p:spTgt>
                                        </p:tgtEl>
                                        <p:attrNameLst>
                                          <p:attrName>style.visibility</p:attrName>
                                        </p:attrNameLst>
                                      </p:cBhvr>
                                      <p:to>
                                        <p:strVal val="visible"/>
                                      </p:to>
                                    </p:set>
                                    <p:animEffect transition="in" filter="wipe(left)">
                                      <p:cBhvr>
                                        <p:cTn id="10" dur="500"/>
                                        <p:tgtEl>
                                          <p:spTgt spid="1086467">
                                            <p:txEl>
                                              <p:pRg st="1" end="1"/>
                                            </p:txEl>
                                          </p:spTgt>
                                        </p:tgtEl>
                                      </p:cBhvr>
                                    </p:animEffect>
                                  </p:childTnLst>
                                  <p:subTnLst>
                                    <p:animClr clrSpc="rgb" dir="cw">
                                      <p:cBhvr override="childStyle">
                                        <p:cTn dur="1" fill="hold" display="0" masterRel="nextClick" afterEffect="1"/>
                                        <p:tgtEl>
                                          <p:spTgt spid="1086467">
                                            <p:txEl>
                                              <p:pRg st="1" end="1"/>
                                            </p:txEl>
                                          </p:spTgt>
                                        </p:tgtEl>
                                        <p:attrNameLst>
                                          <p:attrName>ppt_c</p:attrName>
                                        </p:attrNameLst>
                                      </p:cBhvr>
                                      <p:to>
                                        <a:schemeClr val="folHlink"/>
                                      </p:to>
                                    </p:animClr>
                                  </p:subTnLst>
                                </p:cTn>
                              </p:par>
                              <p:par>
                                <p:cTn id="11" presetID="22" presetClass="entr" presetSubtype="8" fill="hold" grpId="0" nodeType="withEffect">
                                  <p:stCondLst>
                                    <p:cond delay="0"/>
                                  </p:stCondLst>
                                  <p:childTnLst>
                                    <p:set>
                                      <p:cBhvr>
                                        <p:cTn id="12" dur="1" fill="hold">
                                          <p:stCondLst>
                                            <p:cond delay="0"/>
                                          </p:stCondLst>
                                        </p:cTn>
                                        <p:tgtEl>
                                          <p:spTgt spid="1086467">
                                            <p:txEl>
                                              <p:pRg st="2" end="2"/>
                                            </p:txEl>
                                          </p:spTgt>
                                        </p:tgtEl>
                                        <p:attrNameLst>
                                          <p:attrName>style.visibility</p:attrName>
                                        </p:attrNameLst>
                                      </p:cBhvr>
                                      <p:to>
                                        <p:strVal val="visible"/>
                                      </p:to>
                                    </p:set>
                                    <p:animEffect transition="in" filter="wipe(left)">
                                      <p:cBhvr>
                                        <p:cTn id="13" dur="500"/>
                                        <p:tgtEl>
                                          <p:spTgt spid="1086467">
                                            <p:txEl>
                                              <p:pRg st="2" end="2"/>
                                            </p:txEl>
                                          </p:spTgt>
                                        </p:tgtEl>
                                      </p:cBhvr>
                                    </p:animEffect>
                                  </p:childTnLst>
                                  <p:subTnLst>
                                    <p:animClr clrSpc="rgb" dir="cw">
                                      <p:cBhvr override="childStyle">
                                        <p:cTn dur="1" fill="hold" display="0" masterRel="nextClick" afterEffect="1"/>
                                        <p:tgtEl>
                                          <p:spTgt spid="1086467">
                                            <p:txEl>
                                              <p:pRg st="2" end="2"/>
                                            </p:txEl>
                                          </p:spTgt>
                                        </p:tgtEl>
                                        <p:attrNameLst>
                                          <p:attrName>ppt_c</p:attrName>
                                        </p:attrNameLst>
                                      </p:cBhvr>
                                      <p:to>
                                        <a:schemeClr val="folHlink"/>
                                      </p:to>
                                    </p:animClr>
                                  </p:sub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86467">
                                            <p:txEl>
                                              <p:pRg st="3" end="3"/>
                                            </p:txEl>
                                          </p:spTgt>
                                        </p:tgtEl>
                                        <p:attrNameLst>
                                          <p:attrName>style.visibility</p:attrName>
                                        </p:attrNameLst>
                                      </p:cBhvr>
                                      <p:to>
                                        <p:strVal val="visible"/>
                                      </p:to>
                                    </p:set>
                                    <p:animEffect transition="in" filter="wipe(left)">
                                      <p:cBhvr>
                                        <p:cTn id="18" dur="500"/>
                                        <p:tgtEl>
                                          <p:spTgt spid="1086467">
                                            <p:txEl>
                                              <p:pRg st="3" end="3"/>
                                            </p:txEl>
                                          </p:spTgt>
                                        </p:tgtEl>
                                      </p:cBhvr>
                                    </p:animEffect>
                                  </p:childTnLst>
                                  <p:subTnLst>
                                    <p:animClr clrSpc="rgb" dir="cw">
                                      <p:cBhvr override="childStyle">
                                        <p:cTn dur="1" fill="hold" display="0" masterRel="nextClick" afterEffect="1"/>
                                        <p:tgtEl>
                                          <p:spTgt spid="1086467">
                                            <p:txEl>
                                              <p:pRg st="3" end="3"/>
                                            </p:txEl>
                                          </p:spTgt>
                                        </p:tgtEl>
                                        <p:attrNameLst>
                                          <p:attrName>ppt_c</p:attrName>
                                        </p:attrNameLst>
                                      </p:cBhvr>
                                      <p:to>
                                        <a:schemeClr val="folHlink"/>
                                      </p:to>
                                    </p:animClr>
                                  </p:subTnLst>
                                </p:cTn>
                              </p:par>
                              <p:par>
                                <p:cTn id="19" presetID="22" presetClass="entr" presetSubtype="8" fill="hold" grpId="0" nodeType="withEffect">
                                  <p:stCondLst>
                                    <p:cond delay="0"/>
                                  </p:stCondLst>
                                  <p:childTnLst>
                                    <p:set>
                                      <p:cBhvr>
                                        <p:cTn id="20" dur="1" fill="hold">
                                          <p:stCondLst>
                                            <p:cond delay="0"/>
                                          </p:stCondLst>
                                        </p:cTn>
                                        <p:tgtEl>
                                          <p:spTgt spid="1086467">
                                            <p:txEl>
                                              <p:pRg st="4" end="4"/>
                                            </p:txEl>
                                          </p:spTgt>
                                        </p:tgtEl>
                                        <p:attrNameLst>
                                          <p:attrName>style.visibility</p:attrName>
                                        </p:attrNameLst>
                                      </p:cBhvr>
                                      <p:to>
                                        <p:strVal val="visible"/>
                                      </p:to>
                                    </p:set>
                                    <p:animEffect transition="in" filter="wipe(left)">
                                      <p:cBhvr>
                                        <p:cTn id="21" dur="500"/>
                                        <p:tgtEl>
                                          <p:spTgt spid="1086467">
                                            <p:txEl>
                                              <p:pRg st="4" end="4"/>
                                            </p:txEl>
                                          </p:spTgt>
                                        </p:tgtEl>
                                      </p:cBhvr>
                                    </p:animEffect>
                                  </p:childTnLst>
                                  <p:subTnLst>
                                    <p:animClr clrSpc="rgb" dir="cw">
                                      <p:cBhvr override="childStyle">
                                        <p:cTn dur="1" fill="hold" display="0" masterRel="nextClick" afterEffect="1"/>
                                        <p:tgtEl>
                                          <p:spTgt spid="1086467">
                                            <p:txEl>
                                              <p:pRg st="4" end="4"/>
                                            </p:txEl>
                                          </p:spTgt>
                                        </p:tgtEl>
                                        <p:attrNameLst>
                                          <p:attrName>ppt_c</p:attrName>
                                        </p:attrNameLst>
                                      </p:cBhvr>
                                      <p:to>
                                        <a:schemeClr val="folHlink"/>
                                      </p:to>
                                    </p:animClr>
                                  </p:subTnLst>
                                </p:cTn>
                              </p:par>
                              <p:par>
                                <p:cTn id="22" presetID="22" presetClass="entr" presetSubtype="8" fill="hold" grpId="0" nodeType="withEffect">
                                  <p:stCondLst>
                                    <p:cond delay="0"/>
                                  </p:stCondLst>
                                  <p:childTnLst>
                                    <p:set>
                                      <p:cBhvr>
                                        <p:cTn id="23" dur="1" fill="hold">
                                          <p:stCondLst>
                                            <p:cond delay="0"/>
                                          </p:stCondLst>
                                        </p:cTn>
                                        <p:tgtEl>
                                          <p:spTgt spid="1086467">
                                            <p:txEl>
                                              <p:pRg st="5" end="5"/>
                                            </p:txEl>
                                          </p:spTgt>
                                        </p:tgtEl>
                                        <p:attrNameLst>
                                          <p:attrName>style.visibility</p:attrName>
                                        </p:attrNameLst>
                                      </p:cBhvr>
                                      <p:to>
                                        <p:strVal val="visible"/>
                                      </p:to>
                                    </p:set>
                                    <p:animEffect transition="in" filter="wipe(left)">
                                      <p:cBhvr>
                                        <p:cTn id="24" dur="500"/>
                                        <p:tgtEl>
                                          <p:spTgt spid="1086467">
                                            <p:txEl>
                                              <p:pRg st="5" end="5"/>
                                            </p:txEl>
                                          </p:spTgt>
                                        </p:tgtEl>
                                      </p:cBhvr>
                                    </p:animEffect>
                                  </p:childTnLst>
                                  <p:subTnLst>
                                    <p:animClr clrSpc="rgb" dir="cw">
                                      <p:cBhvr override="childStyle">
                                        <p:cTn dur="1" fill="hold" display="0" masterRel="nextClick" afterEffect="1"/>
                                        <p:tgtEl>
                                          <p:spTgt spid="1086467">
                                            <p:txEl>
                                              <p:pRg st="5" end="5"/>
                                            </p:txEl>
                                          </p:spTgt>
                                        </p:tgtEl>
                                        <p:attrNameLst>
                                          <p:attrName>ppt_c</p:attrName>
                                        </p:attrNameLst>
                                      </p:cBhvr>
                                      <p:to>
                                        <a:schemeClr val="folHlink"/>
                                      </p:to>
                                    </p:animClr>
                                  </p:sub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086467">
                                            <p:txEl>
                                              <p:pRg st="6" end="6"/>
                                            </p:txEl>
                                          </p:spTgt>
                                        </p:tgtEl>
                                        <p:attrNameLst>
                                          <p:attrName>style.visibility</p:attrName>
                                        </p:attrNameLst>
                                      </p:cBhvr>
                                      <p:to>
                                        <p:strVal val="visible"/>
                                      </p:to>
                                    </p:set>
                                    <p:animEffect transition="in" filter="wipe(left)">
                                      <p:cBhvr>
                                        <p:cTn id="29" dur="500"/>
                                        <p:tgtEl>
                                          <p:spTgt spid="1086467">
                                            <p:txEl>
                                              <p:pRg st="6" end="6"/>
                                            </p:txEl>
                                          </p:spTgt>
                                        </p:tgtEl>
                                      </p:cBhvr>
                                    </p:animEffect>
                                  </p:childTnLst>
                                  <p:subTnLst>
                                    <p:animClr clrSpc="rgb" dir="cw">
                                      <p:cBhvr override="childStyle">
                                        <p:cTn dur="1" fill="hold" display="0" masterRel="nextClick" afterEffect="1"/>
                                        <p:tgtEl>
                                          <p:spTgt spid="1086467">
                                            <p:txEl>
                                              <p:pRg st="6" end="6"/>
                                            </p:txEl>
                                          </p:spTgt>
                                        </p:tgtEl>
                                        <p:attrNameLst>
                                          <p:attrName>ppt_c</p:attrName>
                                        </p:attrNameLst>
                                      </p:cBhvr>
                                      <p:to>
                                        <a:schemeClr val="folHlink"/>
                                      </p:to>
                                    </p:animClr>
                                  </p:subTnLst>
                                </p:cTn>
                              </p:par>
                              <p:par>
                                <p:cTn id="30" presetID="22" presetClass="entr" presetSubtype="8" fill="hold" grpId="0" nodeType="withEffect">
                                  <p:stCondLst>
                                    <p:cond delay="0"/>
                                  </p:stCondLst>
                                  <p:childTnLst>
                                    <p:set>
                                      <p:cBhvr>
                                        <p:cTn id="31" dur="1" fill="hold">
                                          <p:stCondLst>
                                            <p:cond delay="0"/>
                                          </p:stCondLst>
                                        </p:cTn>
                                        <p:tgtEl>
                                          <p:spTgt spid="1086467">
                                            <p:txEl>
                                              <p:pRg st="7" end="7"/>
                                            </p:txEl>
                                          </p:spTgt>
                                        </p:tgtEl>
                                        <p:attrNameLst>
                                          <p:attrName>style.visibility</p:attrName>
                                        </p:attrNameLst>
                                      </p:cBhvr>
                                      <p:to>
                                        <p:strVal val="visible"/>
                                      </p:to>
                                    </p:set>
                                    <p:animEffect transition="in" filter="wipe(left)">
                                      <p:cBhvr>
                                        <p:cTn id="32" dur="500"/>
                                        <p:tgtEl>
                                          <p:spTgt spid="1086467">
                                            <p:txEl>
                                              <p:pRg st="7" end="7"/>
                                            </p:txEl>
                                          </p:spTgt>
                                        </p:tgtEl>
                                      </p:cBhvr>
                                    </p:animEffect>
                                  </p:childTnLst>
                                  <p:subTnLst>
                                    <p:animClr clrSpc="rgb" dir="cw">
                                      <p:cBhvr override="childStyle">
                                        <p:cTn dur="1" fill="hold" display="0" masterRel="nextClick" afterEffect="1"/>
                                        <p:tgtEl>
                                          <p:spTgt spid="1086467">
                                            <p:txEl>
                                              <p:pRg st="7" end="7"/>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6467" grpId="0" autoUpdateAnimBg="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8514" name="Rectangle 2"/>
          <p:cNvSpPr>
            <a:spLocks noGrp="1" noChangeArrowheads="1"/>
          </p:cNvSpPr>
          <p:nvPr>
            <p:ph type="title"/>
          </p:nvPr>
        </p:nvSpPr>
        <p:spPr>
          <a:noFill/>
        </p:spPr>
        <p:txBody>
          <a:bodyPr>
            <a:normAutofit fontScale="90000"/>
          </a:bodyPr>
          <a:lstStyle/>
          <a:p>
            <a:r>
              <a:rPr lang="zh-CN" altLang="en-US" sz="4000">
                <a:latin typeface="Arial" panose="020B0604020202090204" pitchFamily="34" charset="0"/>
              </a:rPr>
              <a:t>两个总体方差的 </a:t>
            </a:r>
            <a:r>
              <a:rPr lang="en-US" altLang="zh-CN" sz="4000" i="1">
                <a:latin typeface="Arial" panose="020B0604020202090204" pitchFamily="34" charset="0"/>
              </a:rPr>
              <a:t>F</a:t>
            </a:r>
            <a:r>
              <a:rPr lang="en-US" altLang="zh-CN" sz="4000">
                <a:latin typeface="Arial" panose="020B0604020202090204" pitchFamily="34" charset="0"/>
              </a:rPr>
              <a:t> </a:t>
            </a:r>
            <a:r>
              <a:rPr lang="zh-CN" altLang="en-US" sz="4000">
                <a:latin typeface="Arial" panose="020B0604020202090204" pitchFamily="34" charset="0"/>
              </a:rPr>
              <a:t>检验</a:t>
            </a:r>
            <a:br>
              <a:rPr lang="zh-CN" altLang="en-US"/>
            </a:b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临界值</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grpSp>
        <p:nvGrpSpPr>
          <p:cNvPr id="1088562" name="Group 50"/>
          <p:cNvGrpSpPr/>
          <p:nvPr/>
        </p:nvGrpSpPr>
        <p:grpSpPr bwMode="auto">
          <a:xfrm>
            <a:off x="2413000" y="2009775"/>
            <a:ext cx="6654800" cy="3835400"/>
            <a:chOff x="668" y="1278"/>
            <a:chExt cx="4192" cy="2524"/>
          </a:xfrm>
        </p:grpSpPr>
        <p:sp>
          <p:nvSpPr>
            <p:cNvPr id="1088515" name="Rectangle 3"/>
            <p:cNvSpPr>
              <a:spLocks noChangeArrowheads="1"/>
            </p:cNvSpPr>
            <p:nvPr/>
          </p:nvSpPr>
          <p:spPr bwMode="auto">
            <a:xfrm>
              <a:off x="1591" y="2758"/>
              <a:ext cx="11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b="1"/>
                <a:t>0</a:t>
              </a:r>
              <a:endParaRPr lang="en-US" altLang="zh-CN">
                <a:effectLst>
                  <a:outerShdw blurRad="38100" dist="38100" dir="2700000" algn="tl">
                    <a:srgbClr val="000000"/>
                  </a:outerShdw>
                </a:effectLst>
              </a:endParaRPr>
            </a:p>
          </p:txBody>
        </p:sp>
        <p:sp>
          <p:nvSpPr>
            <p:cNvPr id="1088516" name="Freeform 4"/>
            <p:cNvSpPr/>
            <p:nvPr/>
          </p:nvSpPr>
          <p:spPr bwMode="auto">
            <a:xfrm>
              <a:off x="3585" y="1692"/>
              <a:ext cx="92" cy="92"/>
            </a:xfrm>
            <a:custGeom>
              <a:avLst/>
              <a:gdLst>
                <a:gd name="T0" fmla="*/ 0 w 92"/>
                <a:gd name="T1" fmla="*/ 0 h 92"/>
                <a:gd name="T2" fmla="*/ 92 w 92"/>
                <a:gd name="T3" fmla="*/ 45 h 92"/>
                <a:gd name="T4" fmla="*/ 0 w 92"/>
                <a:gd name="T5" fmla="*/ 92 h 92"/>
                <a:gd name="T6" fmla="*/ 0 w 92"/>
                <a:gd name="T7" fmla="*/ 0 h 92"/>
              </a:gdLst>
              <a:ahLst/>
              <a:cxnLst>
                <a:cxn ang="0">
                  <a:pos x="T0" y="T1"/>
                </a:cxn>
                <a:cxn ang="0">
                  <a:pos x="T2" y="T3"/>
                </a:cxn>
                <a:cxn ang="0">
                  <a:pos x="T4" y="T5"/>
                </a:cxn>
                <a:cxn ang="0">
                  <a:pos x="T6" y="T7"/>
                </a:cxn>
              </a:cxnLst>
              <a:rect l="0" t="0" r="r" b="b"/>
              <a:pathLst>
                <a:path w="92" h="92">
                  <a:moveTo>
                    <a:pt x="0" y="0"/>
                  </a:moveTo>
                  <a:lnTo>
                    <a:pt x="92" y="45"/>
                  </a:lnTo>
                  <a:lnTo>
                    <a:pt x="0" y="92"/>
                  </a:lnTo>
                  <a:lnTo>
                    <a:pt x="0" y="0"/>
                  </a:lnTo>
                  <a:close/>
                </a:path>
              </a:pathLst>
            </a:custGeom>
            <a:solidFill>
              <a:srgbClr val="CDCDC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88517" name="Freeform 5"/>
            <p:cNvSpPr/>
            <p:nvPr/>
          </p:nvSpPr>
          <p:spPr bwMode="auto">
            <a:xfrm>
              <a:off x="1763" y="1692"/>
              <a:ext cx="92" cy="92"/>
            </a:xfrm>
            <a:custGeom>
              <a:avLst/>
              <a:gdLst>
                <a:gd name="T0" fmla="*/ 92 w 92"/>
                <a:gd name="T1" fmla="*/ 0 h 92"/>
                <a:gd name="T2" fmla="*/ 0 w 92"/>
                <a:gd name="T3" fmla="*/ 45 h 92"/>
                <a:gd name="T4" fmla="*/ 92 w 92"/>
                <a:gd name="T5" fmla="*/ 92 h 92"/>
                <a:gd name="T6" fmla="*/ 92 w 92"/>
                <a:gd name="T7" fmla="*/ 0 h 92"/>
              </a:gdLst>
              <a:ahLst/>
              <a:cxnLst>
                <a:cxn ang="0">
                  <a:pos x="T0" y="T1"/>
                </a:cxn>
                <a:cxn ang="0">
                  <a:pos x="T2" y="T3"/>
                </a:cxn>
                <a:cxn ang="0">
                  <a:pos x="T4" y="T5"/>
                </a:cxn>
                <a:cxn ang="0">
                  <a:pos x="T6" y="T7"/>
                </a:cxn>
              </a:cxnLst>
              <a:rect l="0" t="0" r="r" b="b"/>
              <a:pathLst>
                <a:path w="92" h="92">
                  <a:moveTo>
                    <a:pt x="92" y="0"/>
                  </a:moveTo>
                  <a:lnTo>
                    <a:pt x="0" y="45"/>
                  </a:lnTo>
                  <a:lnTo>
                    <a:pt x="92" y="92"/>
                  </a:lnTo>
                  <a:lnTo>
                    <a:pt x="92" y="0"/>
                  </a:lnTo>
                  <a:close/>
                </a:path>
              </a:pathLst>
            </a:custGeom>
            <a:solidFill>
              <a:srgbClr val="CDCDC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88518" name="Rectangle 6"/>
            <p:cNvSpPr>
              <a:spLocks noChangeArrowheads="1"/>
            </p:cNvSpPr>
            <p:nvPr/>
          </p:nvSpPr>
          <p:spPr bwMode="auto">
            <a:xfrm>
              <a:off x="2186" y="2189"/>
              <a:ext cx="1062"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600" b="1" dirty="0"/>
                <a:t>不能拒绝</a:t>
              </a:r>
              <a:r>
                <a:rPr lang="en-US" altLang="zh-CN" sz="2600" b="1" dirty="0"/>
                <a:t>H</a:t>
              </a:r>
              <a:r>
                <a:rPr lang="en-US" altLang="zh-CN" sz="2600" b="1" baseline="-25000" dirty="0"/>
                <a:t>0</a:t>
              </a:r>
              <a:endParaRPr lang="en-US" altLang="zh-CN" dirty="0">
                <a:effectLst>
                  <a:outerShdw blurRad="38100" dist="38100" dir="2700000" algn="tl">
                    <a:srgbClr val="000000"/>
                  </a:outerShdw>
                </a:effectLst>
              </a:endParaRPr>
            </a:p>
          </p:txBody>
        </p:sp>
        <p:sp>
          <p:nvSpPr>
            <p:cNvPr id="1088519" name="Rectangle 7"/>
            <p:cNvSpPr>
              <a:spLocks noChangeArrowheads="1"/>
            </p:cNvSpPr>
            <p:nvPr/>
          </p:nvSpPr>
          <p:spPr bwMode="auto">
            <a:xfrm>
              <a:off x="4645" y="2778"/>
              <a:ext cx="175"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600" b="1" i="1"/>
                <a:t>F</a:t>
              </a:r>
              <a:endParaRPr lang="en-US" altLang="zh-CN" i="1">
                <a:effectLst>
                  <a:outerShdw blurRad="38100" dist="38100" dir="2700000" algn="tl">
                    <a:srgbClr val="000000"/>
                  </a:outerShdw>
                </a:effectLst>
              </a:endParaRPr>
            </a:p>
          </p:txBody>
        </p:sp>
        <p:sp>
          <p:nvSpPr>
            <p:cNvPr id="1088520" name="Rectangle 8"/>
            <p:cNvSpPr>
              <a:spLocks noChangeArrowheads="1"/>
            </p:cNvSpPr>
            <p:nvPr/>
          </p:nvSpPr>
          <p:spPr bwMode="auto">
            <a:xfrm>
              <a:off x="1587" y="1488"/>
              <a:ext cx="496"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t>拒绝</a:t>
              </a:r>
              <a:r>
                <a:rPr lang="en-US" altLang="zh-CN" sz="2000" b="1"/>
                <a:t>H</a:t>
              </a:r>
              <a:r>
                <a:rPr lang="en-US" altLang="zh-CN" sz="2000" b="1" baseline="-25000"/>
                <a:t>0</a:t>
              </a:r>
              <a:endParaRPr lang="en-US" altLang="zh-CN" sz="2000">
                <a:effectLst>
                  <a:outerShdw blurRad="38100" dist="38100" dir="2700000" algn="tl">
                    <a:srgbClr val="000000"/>
                  </a:outerShdw>
                </a:effectLst>
              </a:endParaRPr>
            </a:p>
          </p:txBody>
        </p:sp>
        <mc:AlternateContent xmlns:mc="http://schemas.openxmlformats.org/markup-compatibility/2006">
          <mc:Choice xmlns:a14="http://schemas.microsoft.com/office/drawing/2010/main" Requires="a14">
            <p:sp>
              <p:nvSpPr>
                <p:cNvPr id="1088521" name="Object 9">
                  <a:hlinkClick r:id="" action="ppaction://ole?verb=0"/>
                </p:cNvPr>
                <p:cNvSpPr txBox="1"/>
                <p:nvPr/>
              </p:nvSpPr>
              <p:spPr bwMode="auto">
                <a:xfrm>
                  <a:off x="668" y="3272"/>
                  <a:ext cx="2484" cy="530"/>
                </a:xfrm>
                <a:prstGeom prst="rect">
                  <a:avLst/>
                </a:prstGeom>
                <a:noFill/>
                <a:ln>
                  <a:noFill/>
                </a:ln>
                <a:effectLst>
                  <a:outerShdw dist="17961" dir="2700000" algn="ctr" rotWithShape="0">
                    <a:schemeClr val="bg2"/>
                  </a:outerShdw>
                </a:effectLst>
              </p:spPr>
              <p:txBody>
                <a:bodyPr>
                  <a:normAutofit fontScale="77500" lnSpcReduction="20000"/>
                </a:bodyPr>
                <a:lstStyle/>
                <a:p>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f>
                              <m:fPr>
                                <m:type m:val="lin"/>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𝛼</m:t>
                                </m:r>
                              </m:num>
                              <m:den>
                                <m:r>
                                  <a:rPr lang="zh-CN" altLang="en-US" i="1">
                                    <a:solidFill>
                                      <a:srgbClr val="000000"/>
                                    </a:solidFill>
                                    <a:latin typeface="Cambria Math" panose="02040503050406030204" pitchFamily="18" charset="0"/>
                                  </a:rPr>
                                  <m:t>2</m:t>
                                </m:r>
                              </m:den>
                            </m:f>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f>
                                  <m:fPr>
                                    <m:type m:val="lin"/>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𝛼</m:t>
                                    </m:r>
                                  </m:num>
                                  <m:den>
                                    <m:r>
                                      <a:rPr lang="zh-CN" altLang="en-US" i="1">
                                        <a:solidFill>
                                          <a:srgbClr val="000000"/>
                                        </a:solidFill>
                                        <a:latin typeface="Cambria Math" panose="02040503050406030204" pitchFamily="18" charset="0"/>
                                      </a:rPr>
                                      <m:t>2</m:t>
                                    </m:r>
                                  </m:den>
                                </m:f>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den>
                        </m:f>
                      </m:oMath>
                    </m:oMathPara>
                  </a14:m>
                  <a:endParaRPr lang="zh-CN" altLang="en-US"/>
                </a:p>
              </p:txBody>
            </p:sp>
          </mc:Choice>
          <mc:Fallback>
            <p:sp>
              <p:nvSpPr>
                <p:cNvPr id="1088521" name="Object 9">
                  <a:hlinkClick r:id="" action="ppaction://ole?verb=0"/>
                </p:cNvPr>
                <p:cNvSpPr txBox="1">
                  <a:spLocks noRot="1" noChangeAspect="1" noMove="1" noResize="1" noEditPoints="1" noAdjustHandles="1" noChangeArrowheads="1" noChangeShapeType="1" noTextEdit="1"/>
                </p:cNvSpPr>
                <p:nvPr/>
              </p:nvSpPr>
              <p:spPr bwMode="auto">
                <a:xfrm>
                  <a:off x="668" y="3272"/>
                  <a:ext cx="2484" cy="530"/>
                </a:xfrm>
                <a:prstGeom prst="rect">
                  <a:avLst/>
                </a:prstGeom>
                <a:blipFill rotWithShape="1">
                  <a:blip r:embed="rId1"/>
                </a:blipFill>
                <a:ln>
                  <a:noFill/>
                </a:ln>
                <a:effectLst>
                  <a:outerShdw dist="17961" dir="2700000" algn="ctr" rotWithShape="0">
                    <a:schemeClr val="bg2"/>
                  </a:outerShdw>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88522" name="Object 10">
                  <a:hlinkClick r:id="" action="ppaction://ole?verb=0"/>
                </p:cNvPr>
                <p:cNvSpPr txBox="1"/>
                <p:nvPr/>
              </p:nvSpPr>
              <p:spPr bwMode="auto">
                <a:xfrm>
                  <a:off x="3522" y="3389"/>
                  <a:ext cx="1338" cy="283"/>
                </a:xfrm>
                <a:prstGeom prst="rect">
                  <a:avLst/>
                </a:prstGeom>
                <a:noFill/>
                <a:ln>
                  <a:noFill/>
                </a:ln>
                <a:effectLst>
                  <a:outerShdw dist="17961" dir="2700000" algn="ctr" rotWithShape="0">
                    <a:schemeClr val="bg2"/>
                  </a:outerShdw>
                </a:effectLst>
              </p:spPr>
              <p:txBody>
                <a:bodyPr>
                  <a:normAutofit fontScale="92500"/>
                </a:bodyPr>
                <a:lstStyle/>
                <a:p>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f>
                              <m:fPr>
                                <m:type m:val="lin"/>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𝛼</m:t>
                                </m:r>
                              </m:num>
                              <m:den>
                                <m:r>
                                  <a:rPr lang="zh-CN" altLang="en-US" i="1">
                                    <a:solidFill>
                                      <a:srgbClr val="000000"/>
                                    </a:solidFill>
                                    <a:latin typeface="Cambria Math" panose="02040503050406030204" pitchFamily="18" charset="0"/>
                                  </a:rPr>
                                  <m:t>2</m:t>
                                </m:r>
                              </m:den>
                            </m:f>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oMath>
                    </m:oMathPara>
                  </a14:m>
                  <a:endParaRPr lang="zh-CN" altLang="en-US"/>
                </a:p>
              </p:txBody>
            </p:sp>
          </mc:Choice>
          <mc:Fallback>
            <p:sp>
              <p:nvSpPr>
                <p:cNvPr id="1088522" name="Object 10">
                  <a:hlinkClick r:id="" action="ppaction://ole?verb=0"/>
                </p:cNvPr>
                <p:cNvSpPr txBox="1">
                  <a:spLocks noRot="1" noChangeAspect="1" noMove="1" noResize="1" noEditPoints="1" noAdjustHandles="1" noChangeArrowheads="1" noChangeShapeType="1" noTextEdit="1"/>
                </p:cNvSpPr>
                <p:nvPr/>
              </p:nvSpPr>
              <p:spPr bwMode="auto">
                <a:xfrm>
                  <a:off x="3522" y="3389"/>
                  <a:ext cx="1338" cy="283"/>
                </a:xfrm>
                <a:prstGeom prst="rect">
                  <a:avLst/>
                </a:prstGeom>
                <a:blipFill rotWithShape="1">
                  <a:blip r:embed="rId2"/>
                </a:blipFill>
                <a:ln>
                  <a:noFill/>
                </a:ln>
                <a:effectLst>
                  <a:outerShdw dist="17961" dir="2700000" algn="ctr" rotWithShape="0">
                    <a:schemeClr val="bg2"/>
                  </a:outerShdw>
                </a:effectLst>
              </p:spPr>
              <p:txBody>
                <a:bodyPr/>
                <a:lstStyle/>
                <a:p>
                  <a:r>
                    <a:rPr lang="zh-CN" altLang="en-US">
                      <a:noFill/>
                    </a:rPr>
                    <a:t> </a:t>
                  </a:r>
                </a:p>
              </p:txBody>
            </p:sp>
          </mc:Fallback>
        </mc:AlternateContent>
        <p:sp>
          <p:nvSpPr>
            <p:cNvPr id="1088523" name="Line 11"/>
            <p:cNvSpPr>
              <a:spLocks noChangeShapeType="1"/>
            </p:cNvSpPr>
            <p:nvPr/>
          </p:nvSpPr>
          <p:spPr bwMode="auto">
            <a:xfrm>
              <a:off x="3340" y="2804"/>
              <a:ext cx="308" cy="508"/>
            </a:xfrm>
            <a:prstGeom prst="line">
              <a:avLst/>
            </a:prstGeom>
            <a:noFill/>
            <a:ln w="25400">
              <a:solidFill>
                <a:schemeClr val="tx2"/>
              </a:solidFill>
              <a:round/>
              <a:head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88524" name="Line 12"/>
            <p:cNvSpPr>
              <a:spLocks noChangeShapeType="1"/>
            </p:cNvSpPr>
            <p:nvPr/>
          </p:nvSpPr>
          <p:spPr bwMode="auto">
            <a:xfrm>
              <a:off x="2129" y="2807"/>
              <a:ext cx="127" cy="457"/>
            </a:xfrm>
            <a:prstGeom prst="line">
              <a:avLst/>
            </a:prstGeom>
            <a:noFill/>
            <a:ln w="25400">
              <a:solidFill>
                <a:schemeClr val="tx2"/>
              </a:solidFill>
              <a:round/>
              <a:head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088525" name="Rectangle 13"/>
            <p:cNvSpPr>
              <a:spLocks noChangeArrowheads="1"/>
            </p:cNvSpPr>
            <p:nvPr/>
          </p:nvSpPr>
          <p:spPr bwMode="auto">
            <a:xfrm>
              <a:off x="3913" y="1920"/>
              <a:ext cx="574"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altLang="zh-CN" sz="3200" b="1">
                  <a:effectLst>
                    <a:outerShdw blurRad="38100" dist="38100" dir="2700000" algn="tl">
                      <a:srgbClr val="000000"/>
                    </a:outerShdw>
                  </a:effectLst>
                  <a:latin typeface="Symbol" panose="05050102010706020507" pitchFamily="18" charset="2"/>
                </a:rPr>
                <a:t>a</a:t>
              </a:r>
              <a:r>
                <a:rPr lang="en-US" altLang="zh-CN" sz="3200" b="1">
                  <a:effectLst>
                    <a:outerShdw blurRad="38100" dist="38100" dir="2700000" algn="tl">
                      <a:srgbClr val="000000"/>
                    </a:outerShdw>
                  </a:effectLst>
                </a:rPr>
                <a:t>/2</a:t>
              </a:r>
              <a:endParaRPr lang="en-US" altLang="zh-CN" sz="3200" b="1">
                <a:effectLst>
                  <a:outerShdw blurRad="38100" dist="38100" dir="2700000" algn="tl">
                    <a:srgbClr val="000000"/>
                  </a:outerShdw>
                </a:effectLst>
              </a:endParaRPr>
            </a:p>
          </p:txBody>
        </p:sp>
        <p:sp>
          <p:nvSpPr>
            <p:cNvPr id="1088526" name="Rectangle 14"/>
            <p:cNvSpPr>
              <a:spLocks noChangeArrowheads="1"/>
            </p:cNvSpPr>
            <p:nvPr/>
          </p:nvSpPr>
          <p:spPr bwMode="auto">
            <a:xfrm>
              <a:off x="770" y="1933"/>
              <a:ext cx="574"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altLang="zh-CN" sz="3200" b="1">
                  <a:effectLst>
                    <a:outerShdw blurRad="38100" dist="38100" dir="2700000" algn="tl">
                      <a:srgbClr val="000000"/>
                    </a:outerShdw>
                  </a:effectLst>
                  <a:latin typeface="Symbol" panose="05050102010706020507" pitchFamily="18" charset="2"/>
                </a:rPr>
                <a:t>a</a:t>
              </a:r>
              <a:r>
                <a:rPr lang="en-US" altLang="zh-CN" sz="3200" b="1">
                  <a:effectLst>
                    <a:outerShdw blurRad="38100" dist="38100" dir="2700000" algn="tl">
                      <a:srgbClr val="000000"/>
                    </a:outerShdw>
                  </a:effectLst>
                </a:rPr>
                <a:t>/2</a:t>
              </a:r>
              <a:endParaRPr lang="en-US" altLang="zh-CN" sz="3200" b="1">
                <a:effectLst>
                  <a:outerShdw blurRad="38100" dist="38100" dir="2700000" algn="tl">
                    <a:srgbClr val="000000"/>
                  </a:outerShdw>
                </a:effectLst>
              </a:endParaRPr>
            </a:p>
          </p:txBody>
        </p:sp>
        <p:sp>
          <p:nvSpPr>
            <p:cNvPr id="1088527" name="Rectangle 15"/>
            <p:cNvSpPr>
              <a:spLocks noChangeArrowheads="1"/>
            </p:cNvSpPr>
            <p:nvPr/>
          </p:nvSpPr>
          <p:spPr bwMode="auto">
            <a:xfrm>
              <a:off x="3303" y="1501"/>
              <a:ext cx="527"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t>拒绝 </a:t>
              </a:r>
              <a:r>
                <a:rPr lang="en-US" altLang="zh-CN" sz="2000" b="1"/>
                <a:t>H</a:t>
              </a:r>
              <a:r>
                <a:rPr lang="en-US" altLang="zh-CN" sz="2000" b="1" baseline="-25000"/>
                <a:t>0</a:t>
              </a:r>
              <a:endParaRPr lang="en-US" altLang="zh-CN" sz="2000">
                <a:effectLst>
                  <a:outerShdw blurRad="38100" dist="38100" dir="2700000" algn="tl">
                    <a:srgbClr val="000000"/>
                  </a:outerShdw>
                </a:effectLst>
              </a:endParaRPr>
            </a:p>
          </p:txBody>
        </p:sp>
        <p:sp>
          <p:nvSpPr>
            <p:cNvPr id="1088528" name="Freeform 16" descr="60%"/>
            <p:cNvSpPr/>
            <p:nvPr/>
          </p:nvSpPr>
          <p:spPr bwMode="auto">
            <a:xfrm>
              <a:off x="1696" y="1811"/>
              <a:ext cx="402" cy="973"/>
            </a:xfrm>
            <a:custGeom>
              <a:avLst/>
              <a:gdLst>
                <a:gd name="T0" fmla="*/ 447 w 447"/>
                <a:gd name="T1" fmla="*/ 0 h 436"/>
                <a:gd name="T2" fmla="*/ 447 w 447"/>
                <a:gd name="T3" fmla="*/ 436 h 436"/>
                <a:gd name="T4" fmla="*/ 0 w 447"/>
                <a:gd name="T5" fmla="*/ 436 h 436"/>
                <a:gd name="T6" fmla="*/ 54 w 447"/>
                <a:gd name="T7" fmla="*/ 412 h 436"/>
                <a:gd name="T8" fmla="*/ 106 w 447"/>
                <a:gd name="T9" fmla="*/ 386 h 436"/>
                <a:gd name="T10" fmla="*/ 156 w 447"/>
                <a:gd name="T11" fmla="*/ 355 h 436"/>
                <a:gd name="T12" fmla="*/ 203 w 447"/>
                <a:gd name="T13" fmla="*/ 321 h 436"/>
                <a:gd name="T14" fmla="*/ 248 w 447"/>
                <a:gd name="T15" fmla="*/ 284 h 436"/>
                <a:gd name="T16" fmla="*/ 290 w 447"/>
                <a:gd name="T17" fmla="*/ 243 h 436"/>
                <a:gd name="T18" fmla="*/ 329 w 447"/>
                <a:gd name="T19" fmla="*/ 199 h 436"/>
                <a:gd name="T20" fmla="*/ 364 w 447"/>
                <a:gd name="T21" fmla="*/ 152 h 436"/>
                <a:gd name="T22" fmla="*/ 395 w 447"/>
                <a:gd name="T23" fmla="*/ 104 h 436"/>
                <a:gd name="T24" fmla="*/ 423 w 447"/>
                <a:gd name="T25" fmla="*/ 54 h 436"/>
                <a:gd name="T26" fmla="*/ 447 w 447"/>
                <a:gd name="T27"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7" h="436">
                  <a:moveTo>
                    <a:pt x="447" y="0"/>
                  </a:moveTo>
                  <a:lnTo>
                    <a:pt x="447" y="436"/>
                  </a:lnTo>
                  <a:lnTo>
                    <a:pt x="0" y="436"/>
                  </a:lnTo>
                  <a:lnTo>
                    <a:pt x="54" y="412"/>
                  </a:lnTo>
                  <a:lnTo>
                    <a:pt x="106" y="386"/>
                  </a:lnTo>
                  <a:lnTo>
                    <a:pt x="156" y="355"/>
                  </a:lnTo>
                  <a:lnTo>
                    <a:pt x="203" y="321"/>
                  </a:lnTo>
                  <a:lnTo>
                    <a:pt x="248" y="284"/>
                  </a:lnTo>
                  <a:lnTo>
                    <a:pt x="290" y="243"/>
                  </a:lnTo>
                  <a:lnTo>
                    <a:pt x="329" y="199"/>
                  </a:lnTo>
                  <a:lnTo>
                    <a:pt x="364" y="152"/>
                  </a:lnTo>
                  <a:lnTo>
                    <a:pt x="395" y="104"/>
                  </a:lnTo>
                  <a:lnTo>
                    <a:pt x="423" y="54"/>
                  </a:lnTo>
                  <a:lnTo>
                    <a:pt x="447"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88529" name="Freeform 17" descr="60%"/>
            <p:cNvSpPr/>
            <p:nvPr/>
          </p:nvSpPr>
          <p:spPr bwMode="auto">
            <a:xfrm>
              <a:off x="3343" y="2190"/>
              <a:ext cx="1130" cy="582"/>
            </a:xfrm>
            <a:custGeom>
              <a:avLst/>
              <a:gdLst>
                <a:gd name="T0" fmla="*/ 0 w 424"/>
                <a:gd name="T1" fmla="*/ 0 h 414"/>
                <a:gd name="T2" fmla="*/ 0 w 424"/>
                <a:gd name="T3" fmla="*/ 414 h 414"/>
                <a:gd name="T4" fmla="*/ 424 w 424"/>
                <a:gd name="T5" fmla="*/ 414 h 414"/>
                <a:gd name="T6" fmla="*/ 372 w 424"/>
                <a:gd name="T7" fmla="*/ 392 h 414"/>
                <a:gd name="T8" fmla="*/ 323 w 424"/>
                <a:gd name="T9" fmla="*/ 366 h 414"/>
                <a:gd name="T10" fmla="*/ 276 w 424"/>
                <a:gd name="T11" fmla="*/ 337 h 414"/>
                <a:gd name="T12" fmla="*/ 230 w 424"/>
                <a:gd name="T13" fmla="*/ 304 h 414"/>
                <a:gd name="T14" fmla="*/ 188 w 424"/>
                <a:gd name="T15" fmla="*/ 268 h 414"/>
                <a:gd name="T16" fmla="*/ 148 w 424"/>
                <a:gd name="T17" fmla="*/ 230 h 414"/>
                <a:gd name="T18" fmla="*/ 112 w 424"/>
                <a:gd name="T19" fmla="*/ 188 h 414"/>
                <a:gd name="T20" fmla="*/ 78 w 424"/>
                <a:gd name="T21" fmla="*/ 145 h 414"/>
                <a:gd name="T22" fmla="*/ 48 w 424"/>
                <a:gd name="T23" fmla="*/ 99 h 414"/>
                <a:gd name="T24" fmla="*/ 22 w 424"/>
                <a:gd name="T25" fmla="*/ 50 h 414"/>
                <a:gd name="T26" fmla="*/ 0 w 424"/>
                <a:gd name="T27"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4" h="414">
                  <a:moveTo>
                    <a:pt x="0" y="0"/>
                  </a:moveTo>
                  <a:lnTo>
                    <a:pt x="0" y="414"/>
                  </a:lnTo>
                  <a:lnTo>
                    <a:pt x="424" y="414"/>
                  </a:lnTo>
                  <a:lnTo>
                    <a:pt x="372" y="392"/>
                  </a:lnTo>
                  <a:lnTo>
                    <a:pt x="323" y="366"/>
                  </a:lnTo>
                  <a:lnTo>
                    <a:pt x="276" y="337"/>
                  </a:lnTo>
                  <a:lnTo>
                    <a:pt x="230" y="304"/>
                  </a:lnTo>
                  <a:lnTo>
                    <a:pt x="188" y="268"/>
                  </a:lnTo>
                  <a:lnTo>
                    <a:pt x="148" y="230"/>
                  </a:lnTo>
                  <a:lnTo>
                    <a:pt x="112" y="188"/>
                  </a:lnTo>
                  <a:lnTo>
                    <a:pt x="78" y="145"/>
                  </a:lnTo>
                  <a:lnTo>
                    <a:pt x="48" y="99"/>
                  </a:lnTo>
                  <a:lnTo>
                    <a:pt x="22" y="50"/>
                  </a:lnTo>
                  <a:lnTo>
                    <a:pt x="0"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88530" name="Freeform 18"/>
            <p:cNvSpPr/>
            <p:nvPr/>
          </p:nvSpPr>
          <p:spPr bwMode="auto">
            <a:xfrm>
              <a:off x="1855" y="1737"/>
              <a:ext cx="251" cy="1031"/>
            </a:xfrm>
            <a:custGeom>
              <a:avLst/>
              <a:gdLst>
                <a:gd name="T0" fmla="*/ 0 w 251"/>
                <a:gd name="T1" fmla="*/ 0 h 995"/>
                <a:gd name="T2" fmla="*/ 251 w 251"/>
                <a:gd name="T3" fmla="*/ 0 h 995"/>
                <a:gd name="T4" fmla="*/ 251 w 251"/>
                <a:gd name="T5" fmla="*/ 497 h 995"/>
                <a:gd name="T6" fmla="*/ 251 w 251"/>
                <a:gd name="T7" fmla="*/ 995 h 995"/>
              </a:gdLst>
              <a:ahLst/>
              <a:cxnLst>
                <a:cxn ang="0">
                  <a:pos x="T0" y="T1"/>
                </a:cxn>
                <a:cxn ang="0">
                  <a:pos x="T2" y="T3"/>
                </a:cxn>
                <a:cxn ang="0">
                  <a:pos x="T4" y="T5"/>
                </a:cxn>
                <a:cxn ang="0">
                  <a:pos x="T6" y="T7"/>
                </a:cxn>
              </a:cxnLst>
              <a:rect l="0" t="0" r="r" b="b"/>
              <a:pathLst>
                <a:path w="251" h="995">
                  <a:moveTo>
                    <a:pt x="0" y="0"/>
                  </a:moveTo>
                  <a:lnTo>
                    <a:pt x="251" y="0"/>
                  </a:lnTo>
                  <a:lnTo>
                    <a:pt x="251" y="497"/>
                  </a:lnTo>
                  <a:lnTo>
                    <a:pt x="251" y="995"/>
                  </a:lnTo>
                </a:path>
              </a:pathLst>
            </a:custGeom>
            <a:noFill/>
            <a:ln w="28575">
              <a:solidFill>
                <a:srgbClr val="CDCDCD"/>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088531" name="Group 19"/>
            <p:cNvGrpSpPr/>
            <p:nvPr/>
          </p:nvGrpSpPr>
          <p:grpSpPr bwMode="auto">
            <a:xfrm>
              <a:off x="1571" y="1840"/>
              <a:ext cx="3224" cy="940"/>
              <a:chOff x="1571" y="1828"/>
              <a:chExt cx="3200" cy="940"/>
            </a:xfrm>
          </p:grpSpPr>
          <p:grpSp>
            <p:nvGrpSpPr>
              <p:cNvPr id="1088532" name="Group 20"/>
              <p:cNvGrpSpPr/>
              <p:nvPr/>
            </p:nvGrpSpPr>
            <p:grpSpPr bwMode="auto">
              <a:xfrm>
                <a:off x="1571" y="1828"/>
                <a:ext cx="3163" cy="940"/>
                <a:chOff x="1607" y="1804"/>
                <a:chExt cx="3163" cy="940"/>
              </a:xfrm>
            </p:grpSpPr>
            <p:sp>
              <p:nvSpPr>
                <p:cNvPr id="1088533" name="Freeform 21"/>
                <p:cNvSpPr/>
                <p:nvPr/>
              </p:nvSpPr>
              <p:spPr bwMode="auto">
                <a:xfrm>
                  <a:off x="1646" y="1804"/>
                  <a:ext cx="3124" cy="940"/>
                </a:xfrm>
                <a:custGeom>
                  <a:avLst/>
                  <a:gdLst>
                    <a:gd name="T0" fmla="*/ 0 w 3124"/>
                    <a:gd name="T1" fmla="*/ 0 h 940"/>
                    <a:gd name="T2" fmla="*/ 0 w 3124"/>
                    <a:gd name="T3" fmla="*/ 940 h 940"/>
                    <a:gd name="T4" fmla="*/ 3124 w 3124"/>
                    <a:gd name="T5" fmla="*/ 940 h 940"/>
                  </a:gdLst>
                  <a:ahLst/>
                  <a:cxnLst>
                    <a:cxn ang="0">
                      <a:pos x="T0" y="T1"/>
                    </a:cxn>
                    <a:cxn ang="0">
                      <a:pos x="T2" y="T3"/>
                    </a:cxn>
                    <a:cxn ang="0">
                      <a:pos x="T4" y="T5"/>
                    </a:cxn>
                  </a:cxnLst>
                  <a:rect l="0" t="0" r="r" b="b"/>
                  <a:pathLst>
                    <a:path w="3124" h="940">
                      <a:moveTo>
                        <a:pt x="0" y="0"/>
                      </a:moveTo>
                      <a:lnTo>
                        <a:pt x="0" y="940"/>
                      </a:lnTo>
                      <a:lnTo>
                        <a:pt x="3124" y="940"/>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088534" name="Group 22"/>
                <p:cNvGrpSpPr/>
                <p:nvPr/>
              </p:nvGrpSpPr>
              <p:grpSpPr bwMode="auto">
                <a:xfrm>
                  <a:off x="1607" y="1804"/>
                  <a:ext cx="39" cy="847"/>
                  <a:chOff x="1607" y="1804"/>
                  <a:chExt cx="39" cy="847"/>
                </a:xfrm>
              </p:grpSpPr>
              <p:sp>
                <p:nvSpPr>
                  <p:cNvPr id="1088535" name="Line 23"/>
                  <p:cNvSpPr>
                    <a:spLocks noChangeShapeType="1"/>
                  </p:cNvSpPr>
                  <p:nvPr/>
                </p:nvSpPr>
                <p:spPr bwMode="auto">
                  <a:xfrm>
                    <a:off x="1607" y="1804"/>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36" name="Line 24"/>
                  <p:cNvSpPr>
                    <a:spLocks noChangeShapeType="1"/>
                  </p:cNvSpPr>
                  <p:nvPr/>
                </p:nvSpPr>
                <p:spPr bwMode="auto">
                  <a:xfrm>
                    <a:off x="1607" y="1898"/>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37" name="Line 25"/>
                  <p:cNvSpPr>
                    <a:spLocks noChangeShapeType="1"/>
                  </p:cNvSpPr>
                  <p:nvPr/>
                </p:nvSpPr>
                <p:spPr bwMode="auto">
                  <a:xfrm>
                    <a:off x="1607" y="1992"/>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38" name="Line 26"/>
                  <p:cNvSpPr>
                    <a:spLocks noChangeShapeType="1"/>
                  </p:cNvSpPr>
                  <p:nvPr/>
                </p:nvSpPr>
                <p:spPr bwMode="auto">
                  <a:xfrm>
                    <a:off x="1607" y="2085"/>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39" name="Line 27"/>
                  <p:cNvSpPr>
                    <a:spLocks noChangeShapeType="1"/>
                  </p:cNvSpPr>
                  <p:nvPr/>
                </p:nvSpPr>
                <p:spPr bwMode="auto">
                  <a:xfrm>
                    <a:off x="1607" y="2181"/>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40" name="Line 28"/>
                  <p:cNvSpPr>
                    <a:spLocks noChangeShapeType="1"/>
                  </p:cNvSpPr>
                  <p:nvPr/>
                </p:nvSpPr>
                <p:spPr bwMode="auto">
                  <a:xfrm>
                    <a:off x="1607" y="2275"/>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41" name="Line 29"/>
                  <p:cNvSpPr>
                    <a:spLocks noChangeShapeType="1"/>
                  </p:cNvSpPr>
                  <p:nvPr/>
                </p:nvSpPr>
                <p:spPr bwMode="auto">
                  <a:xfrm>
                    <a:off x="1607" y="2369"/>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42" name="Line 30"/>
                  <p:cNvSpPr>
                    <a:spLocks noChangeShapeType="1"/>
                  </p:cNvSpPr>
                  <p:nvPr/>
                </p:nvSpPr>
                <p:spPr bwMode="auto">
                  <a:xfrm>
                    <a:off x="1607" y="2463"/>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43" name="Line 31"/>
                  <p:cNvSpPr>
                    <a:spLocks noChangeShapeType="1"/>
                  </p:cNvSpPr>
                  <p:nvPr/>
                </p:nvSpPr>
                <p:spPr bwMode="auto">
                  <a:xfrm>
                    <a:off x="1607" y="2556"/>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44" name="Line 32"/>
                  <p:cNvSpPr>
                    <a:spLocks noChangeShapeType="1"/>
                  </p:cNvSpPr>
                  <p:nvPr/>
                </p:nvSpPr>
                <p:spPr bwMode="auto">
                  <a:xfrm>
                    <a:off x="1607" y="2650"/>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088545" name="Group 33"/>
              <p:cNvGrpSpPr/>
              <p:nvPr/>
            </p:nvGrpSpPr>
            <p:grpSpPr bwMode="auto">
              <a:xfrm>
                <a:off x="1959" y="2744"/>
                <a:ext cx="2812" cy="12"/>
                <a:chOff x="1959" y="2744"/>
                <a:chExt cx="2812" cy="12"/>
              </a:xfrm>
            </p:grpSpPr>
            <p:sp>
              <p:nvSpPr>
                <p:cNvPr id="1088546" name="Line 34"/>
                <p:cNvSpPr>
                  <a:spLocks noChangeShapeType="1"/>
                </p:cNvSpPr>
                <p:nvPr/>
              </p:nvSpPr>
              <p:spPr bwMode="auto">
                <a:xfrm>
                  <a:off x="4770"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47" name="Line 35"/>
                <p:cNvSpPr>
                  <a:spLocks noChangeShapeType="1"/>
                </p:cNvSpPr>
                <p:nvPr/>
              </p:nvSpPr>
              <p:spPr bwMode="auto">
                <a:xfrm>
                  <a:off x="4457"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48" name="Line 36"/>
                <p:cNvSpPr>
                  <a:spLocks noChangeShapeType="1"/>
                </p:cNvSpPr>
                <p:nvPr/>
              </p:nvSpPr>
              <p:spPr bwMode="auto">
                <a:xfrm>
                  <a:off x="4145"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49" name="Line 37"/>
                <p:cNvSpPr>
                  <a:spLocks noChangeShapeType="1"/>
                </p:cNvSpPr>
                <p:nvPr/>
              </p:nvSpPr>
              <p:spPr bwMode="auto">
                <a:xfrm>
                  <a:off x="3832"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50" name="Line 38"/>
                <p:cNvSpPr>
                  <a:spLocks noChangeShapeType="1"/>
                </p:cNvSpPr>
                <p:nvPr/>
              </p:nvSpPr>
              <p:spPr bwMode="auto">
                <a:xfrm>
                  <a:off x="3519"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51" name="Line 39"/>
                <p:cNvSpPr>
                  <a:spLocks noChangeShapeType="1"/>
                </p:cNvSpPr>
                <p:nvPr/>
              </p:nvSpPr>
              <p:spPr bwMode="auto">
                <a:xfrm>
                  <a:off x="3209"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52" name="Line 40"/>
                <p:cNvSpPr>
                  <a:spLocks noChangeShapeType="1"/>
                </p:cNvSpPr>
                <p:nvPr/>
              </p:nvSpPr>
              <p:spPr bwMode="auto">
                <a:xfrm>
                  <a:off x="2896"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53" name="Line 41"/>
                <p:cNvSpPr>
                  <a:spLocks noChangeShapeType="1"/>
                </p:cNvSpPr>
                <p:nvPr/>
              </p:nvSpPr>
              <p:spPr bwMode="auto">
                <a:xfrm>
                  <a:off x="2584"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54" name="Line 42"/>
                <p:cNvSpPr>
                  <a:spLocks noChangeShapeType="1"/>
                </p:cNvSpPr>
                <p:nvPr/>
              </p:nvSpPr>
              <p:spPr bwMode="auto">
                <a:xfrm>
                  <a:off x="2271"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8555" name="Line 43"/>
                <p:cNvSpPr>
                  <a:spLocks noChangeShapeType="1"/>
                </p:cNvSpPr>
                <p:nvPr/>
              </p:nvSpPr>
              <p:spPr bwMode="auto">
                <a:xfrm>
                  <a:off x="1959"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088556" name="Line 44"/>
            <p:cNvSpPr>
              <a:spLocks noChangeShapeType="1"/>
            </p:cNvSpPr>
            <p:nvPr/>
          </p:nvSpPr>
          <p:spPr bwMode="auto">
            <a:xfrm flipH="1" flipV="1">
              <a:off x="1320" y="2136"/>
              <a:ext cx="624" cy="480"/>
            </a:xfrm>
            <a:prstGeom prst="line">
              <a:avLst/>
            </a:prstGeom>
            <a:noFill/>
            <a:ln w="25400">
              <a:solidFill>
                <a:schemeClr val="tx2"/>
              </a:solidFill>
              <a:round/>
              <a:head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1088557" name="Group 45"/>
            <p:cNvGrpSpPr/>
            <p:nvPr/>
          </p:nvGrpSpPr>
          <p:grpSpPr bwMode="auto">
            <a:xfrm>
              <a:off x="1646" y="1278"/>
              <a:ext cx="3064" cy="1472"/>
              <a:chOff x="1646" y="1278"/>
              <a:chExt cx="3064" cy="1472"/>
            </a:xfrm>
          </p:grpSpPr>
          <p:sp>
            <p:nvSpPr>
              <p:cNvPr id="1088558" name="Freeform 46"/>
              <p:cNvSpPr/>
              <p:nvPr/>
            </p:nvSpPr>
            <p:spPr bwMode="auto">
              <a:xfrm>
                <a:off x="2259" y="1278"/>
                <a:ext cx="2451" cy="1472"/>
              </a:xfrm>
              <a:custGeom>
                <a:avLst/>
                <a:gdLst>
                  <a:gd name="T0" fmla="*/ 2451 w 2451"/>
                  <a:gd name="T1" fmla="*/ 1472 h 1472"/>
                  <a:gd name="T2" fmla="*/ 2194 w 2451"/>
                  <a:gd name="T3" fmla="*/ 1454 h 1472"/>
                  <a:gd name="T4" fmla="*/ 2065 w 2451"/>
                  <a:gd name="T5" fmla="*/ 1437 h 1472"/>
                  <a:gd name="T6" fmla="*/ 1937 w 2451"/>
                  <a:gd name="T7" fmla="*/ 1413 h 1472"/>
                  <a:gd name="T8" fmla="*/ 1808 w 2451"/>
                  <a:gd name="T9" fmla="*/ 1380 h 1472"/>
                  <a:gd name="T10" fmla="*/ 1677 w 2451"/>
                  <a:gd name="T11" fmla="*/ 1335 h 1472"/>
                  <a:gd name="T12" fmla="*/ 1548 w 2451"/>
                  <a:gd name="T13" fmla="*/ 1274 h 1472"/>
                  <a:gd name="T14" fmla="*/ 1291 w 2451"/>
                  <a:gd name="T15" fmla="*/ 1103 h 1472"/>
                  <a:gd name="T16" fmla="*/ 1034 w 2451"/>
                  <a:gd name="T17" fmla="*/ 863 h 1472"/>
                  <a:gd name="T18" fmla="*/ 774 w 2451"/>
                  <a:gd name="T19" fmla="*/ 575 h 1472"/>
                  <a:gd name="T20" fmla="*/ 646 w 2451"/>
                  <a:gd name="T21" fmla="*/ 428 h 1472"/>
                  <a:gd name="T22" fmla="*/ 517 w 2451"/>
                  <a:gd name="T23" fmla="*/ 290 h 1472"/>
                  <a:gd name="T24" fmla="*/ 388 w 2451"/>
                  <a:gd name="T25" fmla="*/ 172 h 1472"/>
                  <a:gd name="T26" fmla="*/ 260 w 2451"/>
                  <a:gd name="T27" fmla="*/ 80 h 1472"/>
                  <a:gd name="T28" fmla="*/ 131 w 2451"/>
                  <a:gd name="T29" fmla="*/ 21 h 1472"/>
                  <a:gd name="T30" fmla="*/ 0 w 2451"/>
                  <a:gd name="T31" fmla="*/ 0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51" h="1472">
                    <a:moveTo>
                      <a:pt x="2451" y="1472"/>
                    </a:moveTo>
                    <a:lnTo>
                      <a:pt x="2194" y="1454"/>
                    </a:lnTo>
                    <a:lnTo>
                      <a:pt x="2065" y="1437"/>
                    </a:lnTo>
                    <a:lnTo>
                      <a:pt x="1937" y="1413"/>
                    </a:lnTo>
                    <a:lnTo>
                      <a:pt x="1808" y="1380"/>
                    </a:lnTo>
                    <a:lnTo>
                      <a:pt x="1677" y="1335"/>
                    </a:lnTo>
                    <a:lnTo>
                      <a:pt x="1548" y="1274"/>
                    </a:lnTo>
                    <a:lnTo>
                      <a:pt x="1291" y="1103"/>
                    </a:lnTo>
                    <a:lnTo>
                      <a:pt x="1034" y="863"/>
                    </a:lnTo>
                    <a:lnTo>
                      <a:pt x="774" y="575"/>
                    </a:lnTo>
                    <a:lnTo>
                      <a:pt x="646" y="428"/>
                    </a:lnTo>
                    <a:lnTo>
                      <a:pt x="517" y="290"/>
                    </a:lnTo>
                    <a:lnTo>
                      <a:pt x="388" y="172"/>
                    </a:lnTo>
                    <a:lnTo>
                      <a:pt x="260" y="80"/>
                    </a:lnTo>
                    <a:lnTo>
                      <a:pt x="131" y="21"/>
                    </a:lnTo>
                    <a:lnTo>
                      <a:pt x="0" y="0"/>
                    </a:lnTo>
                  </a:path>
                </a:pathLst>
              </a:custGeom>
              <a:noFill/>
              <a:ln w="57150" cmpd="sng">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88559" name="Freeform 47"/>
              <p:cNvSpPr/>
              <p:nvPr/>
            </p:nvSpPr>
            <p:spPr bwMode="auto">
              <a:xfrm>
                <a:off x="1646" y="1278"/>
                <a:ext cx="613" cy="1472"/>
              </a:xfrm>
              <a:custGeom>
                <a:avLst/>
                <a:gdLst>
                  <a:gd name="T0" fmla="*/ 0 w 613"/>
                  <a:gd name="T1" fmla="*/ 1472 h 1472"/>
                  <a:gd name="T2" fmla="*/ 66 w 613"/>
                  <a:gd name="T3" fmla="*/ 1454 h 1472"/>
                  <a:gd name="T4" fmla="*/ 98 w 613"/>
                  <a:gd name="T5" fmla="*/ 1437 h 1472"/>
                  <a:gd name="T6" fmla="*/ 131 w 613"/>
                  <a:gd name="T7" fmla="*/ 1413 h 1472"/>
                  <a:gd name="T8" fmla="*/ 162 w 613"/>
                  <a:gd name="T9" fmla="*/ 1380 h 1472"/>
                  <a:gd name="T10" fmla="*/ 194 w 613"/>
                  <a:gd name="T11" fmla="*/ 1335 h 1472"/>
                  <a:gd name="T12" fmla="*/ 227 w 613"/>
                  <a:gd name="T13" fmla="*/ 1274 h 1472"/>
                  <a:gd name="T14" fmla="*/ 292 w 613"/>
                  <a:gd name="T15" fmla="*/ 1103 h 1472"/>
                  <a:gd name="T16" fmla="*/ 356 w 613"/>
                  <a:gd name="T17" fmla="*/ 863 h 1472"/>
                  <a:gd name="T18" fmla="*/ 421 w 613"/>
                  <a:gd name="T19" fmla="*/ 575 h 1472"/>
                  <a:gd name="T20" fmla="*/ 452 w 613"/>
                  <a:gd name="T21" fmla="*/ 428 h 1472"/>
                  <a:gd name="T22" fmla="*/ 484 w 613"/>
                  <a:gd name="T23" fmla="*/ 290 h 1472"/>
                  <a:gd name="T24" fmla="*/ 517 w 613"/>
                  <a:gd name="T25" fmla="*/ 172 h 1472"/>
                  <a:gd name="T26" fmla="*/ 550 w 613"/>
                  <a:gd name="T27" fmla="*/ 80 h 1472"/>
                  <a:gd name="T28" fmla="*/ 582 w 613"/>
                  <a:gd name="T29" fmla="*/ 21 h 1472"/>
                  <a:gd name="T30" fmla="*/ 613 w 613"/>
                  <a:gd name="T31" fmla="*/ 0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3" h="1472">
                    <a:moveTo>
                      <a:pt x="0" y="1472"/>
                    </a:moveTo>
                    <a:lnTo>
                      <a:pt x="66" y="1454"/>
                    </a:lnTo>
                    <a:lnTo>
                      <a:pt x="98" y="1437"/>
                    </a:lnTo>
                    <a:lnTo>
                      <a:pt x="131" y="1413"/>
                    </a:lnTo>
                    <a:lnTo>
                      <a:pt x="162" y="1380"/>
                    </a:lnTo>
                    <a:lnTo>
                      <a:pt x="194" y="1335"/>
                    </a:lnTo>
                    <a:lnTo>
                      <a:pt x="227" y="1274"/>
                    </a:lnTo>
                    <a:lnTo>
                      <a:pt x="292" y="1103"/>
                    </a:lnTo>
                    <a:lnTo>
                      <a:pt x="356" y="863"/>
                    </a:lnTo>
                    <a:lnTo>
                      <a:pt x="421" y="575"/>
                    </a:lnTo>
                    <a:lnTo>
                      <a:pt x="452" y="428"/>
                    </a:lnTo>
                    <a:lnTo>
                      <a:pt x="484" y="290"/>
                    </a:lnTo>
                    <a:lnTo>
                      <a:pt x="517" y="172"/>
                    </a:lnTo>
                    <a:lnTo>
                      <a:pt x="550" y="80"/>
                    </a:lnTo>
                    <a:lnTo>
                      <a:pt x="582" y="21"/>
                    </a:lnTo>
                    <a:lnTo>
                      <a:pt x="613" y="0"/>
                    </a:lnTo>
                  </a:path>
                </a:pathLst>
              </a:custGeom>
              <a:noFill/>
              <a:ln w="57150" cmpd="sng">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88560" name="Freeform 48"/>
            <p:cNvSpPr/>
            <p:nvPr/>
          </p:nvSpPr>
          <p:spPr bwMode="auto">
            <a:xfrm>
              <a:off x="3332" y="1737"/>
              <a:ext cx="253" cy="1013"/>
            </a:xfrm>
            <a:custGeom>
              <a:avLst/>
              <a:gdLst>
                <a:gd name="T0" fmla="*/ 0 w 253"/>
                <a:gd name="T1" fmla="*/ 1013 h 1013"/>
                <a:gd name="T2" fmla="*/ 0 w 253"/>
                <a:gd name="T3" fmla="*/ 507 h 1013"/>
                <a:gd name="T4" fmla="*/ 0 w 253"/>
                <a:gd name="T5" fmla="*/ 0 h 1013"/>
                <a:gd name="T6" fmla="*/ 253 w 253"/>
                <a:gd name="T7" fmla="*/ 0 h 1013"/>
              </a:gdLst>
              <a:ahLst/>
              <a:cxnLst>
                <a:cxn ang="0">
                  <a:pos x="T0" y="T1"/>
                </a:cxn>
                <a:cxn ang="0">
                  <a:pos x="T2" y="T3"/>
                </a:cxn>
                <a:cxn ang="0">
                  <a:pos x="T4" y="T5"/>
                </a:cxn>
                <a:cxn ang="0">
                  <a:pos x="T6" y="T7"/>
                </a:cxn>
              </a:cxnLst>
              <a:rect l="0" t="0" r="r" b="b"/>
              <a:pathLst>
                <a:path w="253" h="1013">
                  <a:moveTo>
                    <a:pt x="0" y="1013"/>
                  </a:moveTo>
                  <a:lnTo>
                    <a:pt x="0" y="507"/>
                  </a:lnTo>
                  <a:lnTo>
                    <a:pt x="0" y="0"/>
                  </a:lnTo>
                  <a:lnTo>
                    <a:pt x="253" y="0"/>
                  </a:lnTo>
                </a:path>
              </a:pathLst>
            </a:custGeom>
            <a:noFill/>
            <a:ln w="28575">
              <a:solidFill>
                <a:srgbClr val="CDCDCD"/>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88561" name="Line 49"/>
            <p:cNvSpPr>
              <a:spLocks noChangeShapeType="1"/>
            </p:cNvSpPr>
            <p:nvPr/>
          </p:nvSpPr>
          <p:spPr bwMode="auto">
            <a:xfrm flipV="1">
              <a:off x="3528" y="2148"/>
              <a:ext cx="384" cy="480"/>
            </a:xfrm>
            <a:prstGeom prst="line">
              <a:avLst/>
            </a:prstGeom>
            <a:noFill/>
            <a:ln w="25400">
              <a:solidFill>
                <a:schemeClr val="tx2"/>
              </a:solidFill>
              <a:round/>
              <a:head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split orient="vert"/>
  </p:transition>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0562" name="Rectangle 2"/>
          <p:cNvSpPr>
            <a:spLocks noGrp="1" noChangeArrowheads="1"/>
          </p:cNvSpPr>
          <p:nvPr>
            <p:ph type="title"/>
          </p:nvPr>
        </p:nvSpPr>
        <p:spPr>
          <a:xfrm>
            <a:off x="3200400" y="152400"/>
            <a:ext cx="7010400" cy="1143000"/>
          </a:xfrm>
          <a:noFill/>
        </p:spPr>
        <p:txBody>
          <a:bodyPr>
            <a:normAutofit fontScale="90000"/>
          </a:bodyPr>
          <a:lstStyle/>
          <a:p>
            <a:r>
              <a:rPr lang="zh-CN" altLang="en-US" sz="4000">
                <a:latin typeface="Arial" panose="020B0604020202090204" pitchFamily="34" charset="0"/>
              </a:rPr>
              <a:t>两个总体方差的 </a:t>
            </a:r>
            <a:r>
              <a:rPr lang="en-US" altLang="zh-CN" sz="4000" i="1">
                <a:latin typeface="Arial" panose="020B0604020202090204" pitchFamily="34" charset="0"/>
              </a:rPr>
              <a:t>F</a:t>
            </a:r>
            <a:r>
              <a:rPr lang="en-US" altLang="zh-CN" sz="4000">
                <a:latin typeface="Arial" panose="020B0604020202090204" pitchFamily="34" charset="0"/>
              </a:rPr>
              <a:t> </a:t>
            </a:r>
            <a:r>
              <a:rPr lang="zh-CN" altLang="en-US" sz="4000">
                <a:latin typeface="Arial" panose="020B0604020202090204" pitchFamily="34" charset="0"/>
              </a:rPr>
              <a:t>检验</a:t>
            </a:r>
            <a:br>
              <a:rPr lang="zh-CN" altLang="en-US" sz="4000">
                <a:latin typeface="Arial" panose="020B0604020202090204" pitchFamily="34" charset="0"/>
              </a:rPr>
            </a:br>
            <a:r>
              <a:rPr lang="zh-CN" altLang="en-US" sz="4000">
                <a:latin typeface="Arial" panose="020B0604020202090204" pitchFamily="34" charset="0"/>
              </a:rPr>
              <a:t> </a:t>
            </a:r>
            <a:r>
              <a:rPr lang="en-US" altLang="zh-CN" sz="3600">
                <a:solidFill>
                  <a:schemeClr val="hlink"/>
                </a:solidFill>
                <a:latin typeface="Arial" panose="020B0604020202090204" pitchFamily="34" charset="0"/>
              </a:rPr>
              <a:t>(</a:t>
            </a:r>
            <a:r>
              <a:rPr lang="zh-CN" altLang="en-US" sz="3600">
                <a:solidFill>
                  <a:schemeClr val="hlink"/>
                </a:solidFill>
                <a:latin typeface="Arial" panose="020B0604020202090204" pitchFamily="34" charset="0"/>
              </a:rPr>
              <a:t>例题分析</a:t>
            </a:r>
            <a:r>
              <a:rPr lang="en-US" altLang="zh-CN" sz="3600">
                <a:solidFill>
                  <a:schemeClr val="hlink"/>
                </a:solidFill>
                <a:latin typeface="Arial" panose="020B0604020202090204" pitchFamily="34" charset="0"/>
              </a:rPr>
              <a:t>)</a:t>
            </a:r>
            <a:endParaRPr lang="en-US" altLang="zh-CN" sz="3600">
              <a:solidFill>
                <a:schemeClr val="hlink"/>
              </a:solidFill>
              <a:latin typeface="Arial" panose="020B0604020202090204" pitchFamily="34" charset="0"/>
            </a:endParaRPr>
          </a:p>
        </p:txBody>
      </p:sp>
      <p:sp>
        <p:nvSpPr>
          <p:cNvPr id="1090563" name="Rectangle 3"/>
          <p:cNvSpPr>
            <a:spLocks noChangeArrowheads="1"/>
          </p:cNvSpPr>
          <p:nvPr/>
        </p:nvSpPr>
        <p:spPr bwMode="auto">
          <a:xfrm>
            <a:off x="2152651" y="1631950"/>
            <a:ext cx="2995613" cy="279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971550" indent="-285750">
              <a:spcBef>
                <a:spcPct val="0"/>
              </a:spcBef>
              <a:defRPr kumimoji="1" sz="2400">
                <a:solidFill>
                  <a:schemeClr val="tx1"/>
                </a:solidFill>
                <a:latin typeface="Times New Roman" panose="02020603050405020304" pitchFamily="18" charset="0"/>
                <a:ea typeface="宋体" pitchFamily="2" charset="-122"/>
              </a:defRPr>
            </a:lvl2pPr>
            <a:lvl3pPr marL="1314450" indent="-228600">
              <a:spcBef>
                <a:spcPct val="0"/>
              </a:spcBef>
              <a:defRPr kumimoji="1" sz="2400">
                <a:solidFill>
                  <a:schemeClr val="tx1"/>
                </a:solidFill>
                <a:latin typeface="Times New Roman" panose="02020603050405020304" pitchFamily="18" charset="0"/>
                <a:ea typeface="宋体" pitchFamily="2" charset="-122"/>
              </a:defRPr>
            </a:lvl3pPr>
            <a:lvl4pPr marL="165735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en-US" altLang="zh-CN" sz="2800" b="1">
                <a:effectLst>
                  <a:outerShdw blurRad="38100" dist="38100" dir="2700000" algn="tl">
                    <a:srgbClr val="000000">
                      <a:alpha val="43137"/>
                    </a:srgbClr>
                  </a:outerShdw>
                </a:effectLst>
                <a:latin typeface="Arial" panose="020B0604020202090204" pitchFamily="34" charset="0"/>
              </a:rPr>
              <a:t>H</a:t>
            </a:r>
            <a:r>
              <a:rPr lang="en-US" altLang="zh-CN" sz="2000" b="1">
                <a:effectLst>
                  <a:outerShdw blurRad="38100" dist="38100" dir="2700000" algn="tl">
                    <a:srgbClr val="000000">
                      <a:alpha val="43137"/>
                    </a:srgbClr>
                  </a:outerShdw>
                </a:effectLst>
                <a:latin typeface="Arial" panose="020B0604020202090204" pitchFamily="34" charset="0"/>
              </a:rPr>
              <a:t>0</a:t>
            </a:r>
            <a:r>
              <a:rPr lang="en-US" altLang="zh-CN" sz="2800" b="1">
                <a:effectLst>
                  <a:outerShdw blurRad="38100" dist="38100" dir="2700000" algn="tl">
                    <a:srgbClr val="000000">
                      <a:alpha val="43137"/>
                    </a:srgbClr>
                  </a:outerShdw>
                </a:effectLst>
                <a:latin typeface="Arial" panose="020B0604020202090204" pitchFamily="34" charset="0"/>
              </a:rPr>
              <a:t>: </a:t>
            </a:r>
            <a:r>
              <a:rPr lang="en-US" altLang="zh-CN" sz="2800" b="1">
                <a:effectLst>
                  <a:outerShdw blurRad="38100" dist="38100" dir="2700000" algn="tl">
                    <a:srgbClr val="000000">
                      <a:alpha val="43137"/>
                    </a:srgbClr>
                  </a:outerShdw>
                </a:effectLst>
                <a:latin typeface="Arial" panose="020B0604020202090204" pitchFamily="34" charset="0"/>
                <a:sym typeface="Symbol" panose="05050102010706020507" pitchFamily="18" charset="2"/>
              </a:rPr>
              <a:t></a:t>
            </a:r>
            <a:r>
              <a:rPr lang="en-US" altLang="zh-CN" sz="2800" b="1" baseline="-25000">
                <a:effectLst>
                  <a:outerShdw blurRad="38100" dist="38100" dir="2700000" algn="tl">
                    <a:srgbClr val="000000">
                      <a:alpha val="43137"/>
                    </a:srgbClr>
                  </a:outerShdw>
                </a:effectLst>
                <a:latin typeface="Symbol" panose="05050102010706020507" pitchFamily="18" charset="2"/>
              </a:rPr>
              <a:t>1</a:t>
            </a:r>
            <a:r>
              <a:rPr lang="en-US" altLang="zh-CN" sz="2800" b="1" baseline="30000">
                <a:effectLst>
                  <a:outerShdw blurRad="38100" dist="38100" dir="2700000" algn="tl">
                    <a:srgbClr val="000000">
                      <a:alpha val="43137"/>
                    </a:srgbClr>
                  </a:outerShdw>
                </a:effectLst>
                <a:latin typeface="Symbol" panose="05050102010706020507" pitchFamily="18" charset="2"/>
              </a:rPr>
              <a:t>2 </a:t>
            </a:r>
            <a:r>
              <a:rPr lang="en-US" altLang="zh-CN" sz="2800" b="1">
                <a:effectLst>
                  <a:outerShdw blurRad="38100" dist="38100" dir="2700000" algn="tl">
                    <a:srgbClr val="000000">
                      <a:alpha val="43137"/>
                    </a:srgbClr>
                  </a:outerShdw>
                </a:effectLst>
                <a:latin typeface="Arial" panose="020B0604020202090204" pitchFamily="34" charset="0"/>
              </a:rPr>
              <a:t>= </a:t>
            </a:r>
            <a:r>
              <a:rPr lang="en-US" altLang="zh-CN" sz="2800" b="1">
                <a:effectLst>
                  <a:outerShdw blurRad="38100" dist="38100" dir="2700000" algn="tl">
                    <a:srgbClr val="000000">
                      <a:alpha val="43137"/>
                    </a:srgbClr>
                  </a:outerShdw>
                </a:effectLst>
                <a:latin typeface="Arial" panose="020B0604020202090204" pitchFamily="34" charset="0"/>
                <a:sym typeface="Symbol" panose="05050102010706020507" pitchFamily="18" charset="2"/>
              </a:rPr>
              <a:t></a:t>
            </a:r>
            <a:r>
              <a:rPr lang="en-US" altLang="zh-CN" sz="2800" b="1" baseline="-25000">
                <a:effectLst>
                  <a:outerShdw blurRad="38100" dist="38100" dir="2700000" algn="tl">
                    <a:srgbClr val="000000">
                      <a:alpha val="43137"/>
                    </a:srgbClr>
                  </a:outerShdw>
                </a:effectLst>
                <a:latin typeface="Symbol" panose="05050102010706020507" pitchFamily="18" charset="2"/>
              </a:rPr>
              <a:t>2</a:t>
            </a:r>
            <a:r>
              <a:rPr lang="en-US" altLang="zh-CN" sz="2800" b="1" baseline="30000">
                <a:effectLst>
                  <a:outerShdw blurRad="38100" dist="38100" dir="2700000" algn="tl">
                    <a:srgbClr val="000000">
                      <a:alpha val="43137"/>
                    </a:srgbClr>
                  </a:outerShdw>
                </a:effectLst>
                <a:latin typeface="Symbol" panose="05050102010706020507" pitchFamily="18" charset="2"/>
              </a:rPr>
              <a:t>2</a:t>
            </a:r>
            <a:r>
              <a:rPr lang="en-US" altLang="zh-CN" sz="2800" b="1">
                <a:effectLst>
                  <a:outerShdw blurRad="38100" dist="38100" dir="2700000" algn="tl">
                    <a:srgbClr val="000000">
                      <a:alpha val="43137"/>
                    </a:srgbClr>
                  </a:outerShdw>
                </a:effectLst>
                <a:latin typeface="Arial" panose="020B0604020202090204" pitchFamily="34" charset="0"/>
              </a:rPr>
              <a:t> </a:t>
            </a:r>
            <a:endParaRPr lang="en-US" altLang="zh-CN" sz="2800" b="1">
              <a:effectLst>
                <a:outerShdw blurRad="38100" dist="38100" dir="2700000" algn="tl">
                  <a:srgbClr val="000000">
                    <a:alpha val="43137"/>
                  </a:srgbClr>
                </a:outerShdw>
              </a:effectLst>
              <a:latin typeface="Arial" panose="020B0604020202090204" pitchFamily="34" charset="0"/>
            </a:endParaRPr>
          </a:p>
          <a:p>
            <a:pPr>
              <a:spcBef>
                <a:spcPct val="20000"/>
              </a:spcBef>
            </a:pPr>
            <a:r>
              <a:rPr lang="en-US" altLang="zh-CN" sz="2800" b="1">
                <a:effectLst>
                  <a:outerShdw blurRad="38100" dist="38100" dir="2700000" algn="tl">
                    <a:srgbClr val="000000">
                      <a:alpha val="43137"/>
                    </a:srgbClr>
                  </a:outerShdw>
                </a:effectLst>
                <a:latin typeface="Arial" panose="020B0604020202090204" pitchFamily="34" charset="0"/>
              </a:rPr>
              <a:t>H</a:t>
            </a:r>
            <a:r>
              <a:rPr lang="en-US" altLang="zh-CN" sz="2000" b="1">
                <a:effectLst>
                  <a:outerShdw blurRad="38100" dist="38100" dir="2700000" algn="tl">
                    <a:srgbClr val="000000">
                      <a:alpha val="43137"/>
                    </a:srgbClr>
                  </a:outerShdw>
                </a:effectLst>
                <a:latin typeface="Arial" panose="020B0604020202090204" pitchFamily="34" charset="0"/>
              </a:rPr>
              <a:t>1</a:t>
            </a:r>
            <a:r>
              <a:rPr lang="en-US" altLang="zh-CN" sz="2800" b="1">
                <a:effectLst>
                  <a:outerShdw blurRad="38100" dist="38100" dir="2700000" algn="tl">
                    <a:srgbClr val="000000">
                      <a:alpha val="43137"/>
                    </a:srgbClr>
                  </a:outerShdw>
                </a:effectLst>
                <a:latin typeface="Arial" panose="020B0604020202090204" pitchFamily="34" charset="0"/>
              </a:rPr>
              <a:t>: </a:t>
            </a:r>
            <a:r>
              <a:rPr lang="en-US" altLang="zh-CN" sz="2800" b="1">
                <a:effectLst>
                  <a:outerShdw blurRad="38100" dist="38100" dir="2700000" algn="tl">
                    <a:srgbClr val="000000">
                      <a:alpha val="43137"/>
                    </a:srgbClr>
                  </a:outerShdw>
                </a:effectLst>
                <a:latin typeface="Arial" panose="020B0604020202090204" pitchFamily="34" charset="0"/>
                <a:sym typeface="Symbol" panose="05050102010706020507" pitchFamily="18" charset="2"/>
              </a:rPr>
              <a:t></a:t>
            </a:r>
            <a:r>
              <a:rPr lang="en-US" altLang="zh-CN" sz="2800" b="1" baseline="-25000">
                <a:effectLst>
                  <a:outerShdw blurRad="38100" dist="38100" dir="2700000" algn="tl">
                    <a:srgbClr val="000000">
                      <a:alpha val="43137"/>
                    </a:srgbClr>
                  </a:outerShdw>
                </a:effectLst>
                <a:latin typeface="Symbol" panose="05050102010706020507" pitchFamily="18" charset="2"/>
              </a:rPr>
              <a:t>1</a:t>
            </a:r>
            <a:r>
              <a:rPr lang="en-US" altLang="zh-CN" sz="2800" b="1" baseline="30000">
                <a:effectLst>
                  <a:outerShdw blurRad="38100" dist="38100" dir="2700000" algn="tl">
                    <a:srgbClr val="000000">
                      <a:alpha val="43137"/>
                    </a:srgbClr>
                  </a:outerShdw>
                </a:effectLst>
                <a:latin typeface="Symbol" panose="05050102010706020507" pitchFamily="18" charset="2"/>
              </a:rPr>
              <a:t>2 </a:t>
            </a:r>
            <a:r>
              <a:rPr lang="en-US" altLang="zh-CN" sz="2800" b="1">
                <a:effectLst>
                  <a:outerShdw blurRad="38100" dist="38100" dir="2700000" algn="tl">
                    <a:srgbClr val="000000">
                      <a:alpha val="43137"/>
                    </a:srgbClr>
                  </a:outerShdw>
                </a:effectLst>
                <a:latin typeface="Arial" panose="020B0604020202090204" pitchFamily="34" charset="0"/>
                <a:sym typeface="Symbol" panose="05050102010706020507" pitchFamily="18" charset="2"/>
              </a:rPr>
              <a:t></a:t>
            </a:r>
            <a:r>
              <a:rPr lang="en-US" altLang="zh-CN" sz="2800" b="1">
                <a:effectLst>
                  <a:outerShdw blurRad="38100" dist="38100" dir="2700000" algn="tl">
                    <a:srgbClr val="000000">
                      <a:alpha val="43137"/>
                    </a:srgbClr>
                  </a:outerShdw>
                </a:effectLst>
                <a:latin typeface="Arial" panose="020B0604020202090204" pitchFamily="34" charset="0"/>
              </a:rPr>
              <a:t> </a:t>
            </a:r>
            <a:r>
              <a:rPr lang="en-US" altLang="zh-CN" sz="2800" b="1">
                <a:effectLst>
                  <a:outerShdw blurRad="38100" dist="38100" dir="2700000" algn="tl">
                    <a:srgbClr val="000000">
                      <a:alpha val="43137"/>
                    </a:srgbClr>
                  </a:outerShdw>
                </a:effectLst>
                <a:latin typeface="Arial" panose="020B0604020202090204" pitchFamily="34" charset="0"/>
                <a:sym typeface="Symbol" panose="05050102010706020507" pitchFamily="18" charset="2"/>
              </a:rPr>
              <a:t></a:t>
            </a:r>
            <a:r>
              <a:rPr lang="en-US" altLang="zh-CN" sz="2800" b="1" baseline="-25000">
                <a:effectLst>
                  <a:outerShdw blurRad="38100" dist="38100" dir="2700000" algn="tl">
                    <a:srgbClr val="000000">
                      <a:alpha val="43137"/>
                    </a:srgbClr>
                  </a:outerShdw>
                </a:effectLst>
                <a:latin typeface="Symbol" panose="05050102010706020507" pitchFamily="18" charset="2"/>
              </a:rPr>
              <a:t>2</a:t>
            </a:r>
            <a:r>
              <a:rPr lang="en-US" altLang="zh-CN" sz="2800" b="1" baseline="30000">
                <a:effectLst>
                  <a:outerShdw blurRad="38100" dist="38100" dir="2700000" algn="tl">
                    <a:srgbClr val="000000">
                      <a:alpha val="43137"/>
                    </a:srgbClr>
                  </a:outerShdw>
                </a:effectLst>
                <a:latin typeface="Symbol" panose="05050102010706020507" pitchFamily="18" charset="2"/>
              </a:rPr>
              <a:t>2</a:t>
            </a:r>
            <a:r>
              <a:rPr lang="en-US" altLang="zh-CN" sz="2800" b="1">
                <a:effectLst>
                  <a:outerShdw blurRad="38100" dist="38100" dir="2700000" algn="tl">
                    <a:srgbClr val="000000">
                      <a:alpha val="43137"/>
                    </a:srgbClr>
                  </a:outerShdw>
                </a:effectLst>
                <a:latin typeface="Arial" panose="020B0604020202090204" pitchFamily="34" charset="0"/>
              </a:rPr>
              <a:t> </a:t>
            </a:r>
            <a:endParaRPr lang="en-US" altLang="zh-CN" sz="2800" b="1">
              <a:effectLst>
                <a:outerShdw blurRad="38100" dist="38100" dir="2700000" algn="tl">
                  <a:srgbClr val="000000">
                    <a:alpha val="43137"/>
                  </a:srgbClr>
                </a:outerShdw>
              </a:effectLst>
              <a:latin typeface="Arial" panose="020B0604020202090204" pitchFamily="34" charset="0"/>
            </a:endParaRPr>
          </a:p>
          <a:p>
            <a:pPr>
              <a:spcBef>
                <a:spcPct val="20000"/>
              </a:spcBef>
            </a:pPr>
            <a:r>
              <a:rPr lang="en-US" altLang="zh-CN" sz="2800" b="1">
                <a:effectLst>
                  <a:outerShdw blurRad="38100" dist="38100" dir="2700000" algn="tl">
                    <a:srgbClr val="000000">
                      <a:alpha val="43137"/>
                    </a:srgbClr>
                  </a:outerShdw>
                </a:effectLst>
                <a:latin typeface="Symbol" panose="05050102010706020507" pitchFamily="18" charset="2"/>
              </a:rPr>
              <a:t></a:t>
            </a:r>
            <a:r>
              <a:rPr lang="en-US" altLang="zh-CN" sz="2800" b="1">
                <a:effectLst>
                  <a:outerShdw blurRad="38100" dist="38100" dir="2700000" algn="tl">
                    <a:srgbClr val="000000">
                      <a:alpha val="43137"/>
                    </a:srgbClr>
                  </a:outerShdw>
                </a:effectLst>
                <a:latin typeface="Arial" panose="020B0604020202090204" pitchFamily="34" charset="0"/>
              </a:rPr>
              <a:t> = 0.05</a:t>
            </a:r>
            <a:endParaRPr lang="en-US" altLang="zh-CN" sz="2800" b="1">
              <a:effectLst>
                <a:outerShdw blurRad="38100" dist="38100" dir="2700000" algn="tl">
                  <a:srgbClr val="000000">
                    <a:alpha val="43137"/>
                  </a:srgbClr>
                </a:outerShdw>
              </a:effectLst>
              <a:latin typeface="Arial" panose="020B0604020202090204" pitchFamily="34" charset="0"/>
            </a:endParaRPr>
          </a:p>
          <a:p>
            <a:pPr>
              <a:spcBef>
                <a:spcPct val="20000"/>
              </a:spcBef>
            </a:pPr>
            <a:r>
              <a:rPr lang="en-US" altLang="zh-CN" sz="2800" b="1" i="1">
                <a:effectLst>
                  <a:outerShdw blurRad="38100" dist="38100" dir="2700000" algn="tl">
                    <a:srgbClr val="000000">
                      <a:alpha val="43137"/>
                    </a:srgbClr>
                  </a:outerShdw>
                </a:effectLst>
                <a:latin typeface="Arial" panose="020B0604020202090204" pitchFamily="34" charset="0"/>
              </a:rPr>
              <a:t>n</a:t>
            </a:r>
            <a:r>
              <a:rPr lang="en-US" altLang="zh-CN" b="1" baseline="-25000">
                <a:effectLst>
                  <a:outerShdw blurRad="38100" dist="38100" dir="2700000" algn="tl">
                    <a:srgbClr val="000000">
                      <a:alpha val="43137"/>
                    </a:srgbClr>
                  </a:outerShdw>
                </a:effectLst>
                <a:latin typeface="Arial" panose="020B0604020202090204" pitchFamily="34" charset="0"/>
              </a:rPr>
              <a:t>1</a:t>
            </a:r>
            <a:r>
              <a:rPr lang="en-US" altLang="zh-CN" sz="2800" b="1">
                <a:effectLst>
                  <a:outerShdw blurRad="38100" dist="38100" dir="2700000" algn="tl">
                    <a:srgbClr val="000000">
                      <a:alpha val="43137"/>
                    </a:srgbClr>
                  </a:outerShdw>
                </a:effectLst>
                <a:latin typeface="Arial" panose="020B0604020202090204" pitchFamily="34" charset="0"/>
              </a:rPr>
              <a:t> = 15</a:t>
            </a:r>
            <a:r>
              <a:rPr lang="zh-CN" altLang="en-US" sz="2800" b="1">
                <a:effectLst>
                  <a:outerShdw blurRad="38100" dist="38100" dir="2700000" algn="tl">
                    <a:srgbClr val="000000">
                      <a:alpha val="43137"/>
                    </a:srgbClr>
                  </a:outerShdw>
                </a:effectLst>
                <a:latin typeface="Arial" panose="020B0604020202090204" pitchFamily="34" charset="0"/>
              </a:rPr>
              <a:t>，</a:t>
            </a:r>
            <a:r>
              <a:rPr lang="en-US" altLang="zh-CN" sz="2800" b="1" i="1">
                <a:effectLst>
                  <a:outerShdw blurRad="38100" dist="38100" dir="2700000" algn="tl">
                    <a:srgbClr val="000000">
                      <a:alpha val="43137"/>
                    </a:srgbClr>
                  </a:outerShdw>
                </a:effectLst>
                <a:latin typeface="Arial" panose="020B0604020202090204" pitchFamily="34" charset="0"/>
              </a:rPr>
              <a:t>n</a:t>
            </a:r>
            <a:r>
              <a:rPr lang="en-US" altLang="zh-CN" b="1" baseline="-25000">
                <a:effectLst>
                  <a:outerShdw blurRad="38100" dist="38100" dir="2700000" algn="tl">
                    <a:srgbClr val="000000">
                      <a:alpha val="43137"/>
                    </a:srgbClr>
                  </a:outerShdw>
                </a:effectLst>
                <a:latin typeface="Arial" panose="020B0604020202090204" pitchFamily="34" charset="0"/>
              </a:rPr>
              <a:t>2</a:t>
            </a:r>
            <a:r>
              <a:rPr lang="en-US" altLang="zh-CN" b="1">
                <a:effectLst>
                  <a:outerShdw blurRad="38100" dist="38100" dir="2700000" algn="tl">
                    <a:srgbClr val="000000">
                      <a:alpha val="43137"/>
                    </a:srgbClr>
                  </a:outerShdw>
                </a:effectLst>
                <a:latin typeface="Arial" panose="020B0604020202090204" pitchFamily="34" charset="0"/>
              </a:rPr>
              <a:t> </a:t>
            </a:r>
            <a:r>
              <a:rPr lang="en-US" altLang="zh-CN" sz="2800" b="1">
                <a:effectLst>
                  <a:outerShdw blurRad="38100" dist="38100" dir="2700000" algn="tl">
                    <a:srgbClr val="000000">
                      <a:alpha val="43137"/>
                    </a:srgbClr>
                  </a:outerShdw>
                </a:effectLst>
                <a:latin typeface="Arial" panose="020B0604020202090204" pitchFamily="34" charset="0"/>
              </a:rPr>
              <a:t>= 20</a:t>
            </a:r>
            <a:endParaRPr lang="en-US" altLang="zh-CN" sz="2800" b="1">
              <a:effectLst>
                <a:outerShdw blurRad="38100" dist="38100" dir="2700000" algn="tl">
                  <a:srgbClr val="000000">
                    <a:alpha val="43137"/>
                  </a:srgbClr>
                </a:outerShdw>
              </a:effectLst>
              <a:latin typeface="Arial" panose="020B0604020202090204" pitchFamily="34" charset="0"/>
            </a:endParaRPr>
          </a:p>
          <a:p>
            <a:pPr>
              <a:spcBef>
                <a:spcPct val="24000"/>
              </a:spcBef>
            </a:pPr>
            <a:r>
              <a:rPr lang="zh-CN" altLang="en-US" sz="2800" b="1">
                <a:effectLst>
                  <a:outerShdw blurRad="38100" dist="38100" dir="2700000" algn="tl">
                    <a:srgbClr val="000000">
                      <a:alpha val="43137"/>
                    </a:srgbClr>
                  </a:outerShdw>
                </a:effectLst>
                <a:latin typeface="Arial" panose="020B0604020202090204" pitchFamily="34" charset="0"/>
              </a:rPr>
              <a:t>临界值</a:t>
            </a:r>
            <a:r>
              <a:rPr lang="en-US" altLang="zh-CN" sz="2800" b="1">
                <a:effectLst>
                  <a:outerShdw blurRad="38100" dist="38100" dir="2700000" algn="tl">
                    <a:srgbClr val="000000">
                      <a:alpha val="43137"/>
                    </a:srgbClr>
                  </a:outerShdw>
                </a:effectLst>
                <a:latin typeface="Arial" panose="020B0604020202090204" pitchFamily="34" charset="0"/>
              </a:rPr>
              <a:t>(s):</a:t>
            </a:r>
            <a:endParaRPr lang="en-US" altLang="zh-CN" sz="2800" b="1">
              <a:effectLst>
                <a:outerShdw blurRad="38100" dist="38100" dir="2700000" algn="tl">
                  <a:srgbClr val="000000">
                    <a:alpha val="43137"/>
                  </a:srgbClr>
                </a:outerShdw>
              </a:effectLst>
              <a:latin typeface="Arial" panose="020B0604020202090204" pitchFamily="34" charset="0"/>
            </a:endParaRPr>
          </a:p>
        </p:txBody>
      </p:sp>
      <p:sp>
        <p:nvSpPr>
          <p:cNvPr id="1090564" name="Rectangle 4"/>
          <p:cNvSpPr>
            <a:spLocks noChangeArrowheads="1"/>
          </p:cNvSpPr>
          <p:nvPr/>
        </p:nvSpPr>
        <p:spPr bwMode="auto">
          <a:xfrm>
            <a:off x="5448300" y="1752600"/>
            <a:ext cx="236220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effectLst>
                  <a:outerShdw blurRad="38100" dist="38100" dir="2700000" algn="tl">
                    <a:srgbClr val="000000">
                      <a:alpha val="43137"/>
                    </a:srgbClr>
                  </a:outerShdw>
                </a:effectLst>
                <a:latin typeface="Arial" panose="020B0604020202090204" pitchFamily="34" charset="0"/>
              </a:rPr>
              <a:t>检验统计量</a:t>
            </a:r>
            <a:r>
              <a:rPr lang="en-US" altLang="zh-CN" sz="2800" b="1">
                <a:effectLst>
                  <a:outerShdw blurRad="38100" dist="38100" dir="2700000" algn="tl">
                    <a:srgbClr val="000000">
                      <a:alpha val="43137"/>
                    </a:srgbClr>
                  </a:outerShdw>
                </a:effectLst>
                <a:latin typeface="Arial" panose="020B0604020202090204" pitchFamily="34" charset="0"/>
              </a:rPr>
              <a:t>:</a:t>
            </a:r>
            <a:endParaRPr lang="en-US" altLang="zh-CN" sz="2800" b="1">
              <a:effectLst>
                <a:outerShdw blurRad="38100" dist="38100" dir="2700000" algn="tl">
                  <a:srgbClr val="000000">
                    <a:alpha val="43137"/>
                  </a:srgbClr>
                </a:outerShdw>
              </a:effectLst>
              <a:latin typeface="Arial" panose="020B0604020202090204" pitchFamily="34" charset="0"/>
            </a:endParaRPr>
          </a:p>
        </p:txBody>
      </p:sp>
      <p:sp>
        <p:nvSpPr>
          <p:cNvPr id="1090565" name="Rectangle 5"/>
          <p:cNvSpPr>
            <a:spLocks noChangeArrowheads="1"/>
          </p:cNvSpPr>
          <p:nvPr/>
        </p:nvSpPr>
        <p:spPr bwMode="auto">
          <a:xfrm>
            <a:off x="5638800" y="3562350"/>
            <a:ext cx="2362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dirty="0">
                <a:effectLst>
                  <a:outerShdw blurRad="38100" dist="38100" dir="2700000" algn="tl">
                    <a:srgbClr val="000000">
                      <a:alpha val="43137"/>
                    </a:srgbClr>
                  </a:outerShdw>
                </a:effectLst>
                <a:latin typeface="Arial" panose="020B0604020202090204" pitchFamily="34" charset="0"/>
              </a:rPr>
              <a:t>决策</a:t>
            </a:r>
            <a:r>
              <a:rPr lang="en-US" altLang="zh-CN" sz="2800" b="1" dirty="0">
                <a:effectLst>
                  <a:outerShdw blurRad="38100" dist="38100" dir="2700000" algn="tl">
                    <a:srgbClr val="000000">
                      <a:alpha val="43137"/>
                    </a:srgbClr>
                  </a:outerShdw>
                </a:effectLst>
                <a:latin typeface="Arial" panose="020B0604020202090204" pitchFamily="34" charset="0"/>
              </a:rPr>
              <a:t>:</a:t>
            </a:r>
            <a:endParaRPr lang="en-US" altLang="zh-CN" sz="2800" b="1" dirty="0">
              <a:effectLst>
                <a:outerShdw blurRad="38100" dist="38100" dir="2700000" algn="tl">
                  <a:srgbClr val="000000">
                    <a:alpha val="43137"/>
                  </a:srgbClr>
                </a:outerShdw>
              </a:effectLst>
              <a:latin typeface="Arial" panose="020B0604020202090204" pitchFamily="34" charset="0"/>
            </a:endParaRPr>
          </a:p>
        </p:txBody>
      </p:sp>
      <p:sp>
        <p:nvSpPr>
          <p:cNvPr id="1090566" name="Rectangle 6"/>
          <p:cNvSpPr>
            <a:spLocks noChangeArrowheads="1"/>
          </p:cNvSpPr>
          <p:nvPr/>
        </p:nvSpPr>
        <p:spPr bwMode="auto">
          <a:xfrm>
            <a:off x="5600700" y="4552950"/>
            <a:ext cx="1371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spcBef>
                <a:spcPct val="0"/>
              </a:spcBef>
              <a:defRPr kumimoji="1" sz="2400">
                <a:solidFill>
                  <a:schemeClr val="tx1"/>
                </a:solidFill>
                <a:latin typeface="Times New Roman" panose="02020603050405020304" pitchFamily="18" charset="0"/>
                <a:ea typeface="宋体" pitchFamily="2" charset="-122"/>
              </a:defRPr>
            </a:lvl1pPr>
            <a:lvl2pPr marL="865505" indent="-285750">
              <a:spcBef>
                <a:spcPct val="0"/>
              </a:spcBef>
              <a:defRPr kumimoji="1" sz="2400">
                <a:solidFill>
                  <a:schemeClr val="tx1"/>
                </a:solidFill>
                <a:latin typeface="Times New Roman" panose="02020603050405020304" pitchFamily="18" charset="0"/>
                <a:ea typeface="宋体" pitchFamily="2" charset="-122"/>
              </a:defRPr>
            </a:lvl2pPr>
            <a:lvl3pPr marL="1208405" indent="-228600">
              <a:spcBef>
                <a:spcPct val="0"/>
              </a:spcBef>
              <a:defRPr kumimoji="1" sz="2400">
                <a:solidFill>
                  <a:schemeClr val="tx1"/>
                </a:solidFill>
                <a:latin typeface="Times New Roman" panose="02020603050405020304" pitchFamily="18" charset="0"/>
                <a:ea typeface="宋体" pitchFamily="2" charset="-122"/>
              </a:defRPr>
            </a:lvl3pPr>
            <a:lvl4pPr marL="1600200" indent="-228600">
              <a:spcBef>
                <a:spcPct val="0"/>
              </a:spcBef>
              <a:defRPr kumimoji="1" sz="2400">
                <a:solidFill>
                  <a:schemeClr val="tx1"/>
                </a:solidFill>
                <a:latin typeface="Times New Roman" panose="02020603050405020304" pitchFamily="18" charset="0"/>
                <a:ea typeface="宋体" pitchFamily="2" charset="-122"/>
              </a:defRPr>
            </a:lvl4pPr>
            <a:lvl5pPr marL="2057400" indent="-228600">
              <a:spcBef>
                <a:spcPct val="0"/>
              </a:spcBef>
              <a:defRPr kumimoji="1" sz="2400">
                <a:solidFill>
                  <a:schemeClr val="tx1"/>
                </a:solidFill>
                <a:latin typeface="Times New Roman" panose="02020603050405020304" pitchFamily="18" charset="0"/>
                <a:ea typeface="宋体"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itchFamily="2" charset="-122"/>
              </a:defRPr>
            </a:lvl9pPr>
          </a:lstStyle>
          <a:p>
            <a:pPr>
              <a:spcBef>
                <a:spcPct val="20000"/>
              </a:spcBef>
            </a:pPr>
            <a:r>
              <a:rPr lang="zh-CN" altLang="en-US" sz="2800" b="1">
                <a:effectLst>
                  <a:outerShdw blurRad="38100" dist="38100" dir="2700000" algn="tl">
                    <a:srgbClr val="000000">
                      <a:alpha val="43137"/>
                    </a:srgbClr>
                  </a:outerShdw>
                </a:effectLst>
                <a:latin typeface="Arial" panose="020B0604020202090204" pitchFamily="34" charset="0"/>
              </a:rPr>
              <a:t>结论</a:t>
            </a:r>
            <a:r>
              <a:rPr lang="en-US" altLang="zh-CN" sz="2800" b="1">
                <a:effectLst>
                  <a:outerShdw blurRad="38100" dist="38100" dir="2700000" algn="tl">
                    <a:srgbClr val="000000">
                      <a:alpha val="43137"/>
                    </a:srgbClr>
                  </a:outerShdw>
                </a:effectLst>
                <a:latin typeface="Arial" panose="020B0604020202090204" pitchFamily="34" charset="0"/>
              </a:rPr>
              <a:t>:</a:t>
            </a:r>
            <a:r>
              <a:rPr lang="en-US" altLang="zh-CN" b="1">
                <a:effectLst>
                  <a:outerShdw blurRad="38100" dist="38100" dir="2700000" algn="tl">
                    <a:srgbClr val="000000">
                      <a:alpha val="43137"/>
                    </a:srgbClr>
                  </a:outerShdw>
                </a:effectLst>
                <a:latin typeface="Arial" panose="020B0604020202090204" pitchFamily="34" charset="0"/>
              </a:rPr>
              <a:t> </a:t>
            </a:r>
            <a:endParaRPr lang="en-US" altLang="zh-CN" b="1">
              <a:effectLst>
                <a:outerShdw blurRad="38100" dist="38100" dir="2700000" algn="tl">
                  <a:srgbClr val="000000">
                    <a:alpha val="43137"/>
                  </a:srgbClr>
                </a:outerShdw>
              </a:effectLst>
              <a:latin typeface="Arial" panose="020B0604020202090204" pitchFamily="34" charset="0"/>
            </a:endParaRPr>
          </a:p>
        </p:txBody>
      </p:sp>
      <p:sp>
        <p:nvSpPr>
          <p:cNvPr id="1090567" name="Text Box 7"/>
          <p:cNvSpPr txBox="1">
            <a:spLocks noChangeArrowheads="1"/>
          </p:cNvSpPr>
          <p:nvPr/>
        </p:nvSpPr>
        <p:spPr bwMode="auto">
          <a:xfrm>
            <a:off x="5715000" y="4095750"/>
            <a:ext cx="45339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effectLst>
                  <a:outerShdw blurRad="38100" dist="38100" dir="2700000" algn="tl">
                    <a:srgbClr val="000000">
                      <a:alpha val="43137"/>
                    </a:srgbClr>
                  </a:outerShdw>
                </a:effectLst>
              </a:rPr>
              <a:t>在 </a:t>
            </a:r>
            <a:r>
              <a:rPr lang="zh-CN" altLang="en-US">
                <a:effectLst>
                  <a:outerShdw blurRad="38100" dist="38100" dir="2700000" algn="tl">
                    <a:srgbClr val="000000">
                      <a:alpha val="43137"/>
                    </a:srgbClr>
                  </a:outerShdw>
                </a:effectLst>
                <a:latin typeface="Symbol" panose="05050102010706020507" pitchFamily="18" charset="2"/>
              </a:rPr>
              <a:t></a:t>
            </a:r>
            <a:r>
              <a:rPr lang="zh-CN" altLang="en-US">
                <a:effectLst>
                  <a:outerShdw blurRad="38100" dist="38100" dir="2700000" algn="tl">
                    <a:srgbClr val="000000">
                      <a:alpha val="43137"/>
                    </a:srgbClr>
                  </a:outerShdw>
                </a:effectLst>
              </a:rPr>
              <a:t> </a:t>
            </a:r>
            <a:r>
              <a:rPr lang="en-US" altLang="zh-CN">
                <a:effectLst>
                  <a:outerShdw blurRad="38100" dist="38100" dir="2700000" algn="tl">
                    <a:srgbClr val="000000">
                      <a:alpha val="43137"/>
                    </a:srgbClr>
                  </a:outerShdw>
                </a:effectLst>
              </a:rPr>
              <a:t>= 0.05</a:t>
            </a:r>
            <a:r>
              <a:rPr lang="zh-CN" altLang="en-US">
                <a:effectLst>
                  <a:outerShdw blurRad="38100" dist="38100" dir="2700000" algn="tl">
                    <a:srgbClr val="000000">
                      <a:alpha val="43137"/>
                    </a:srgbClr>
                  </a:outerShdw>
                </a:effectLst>
              </a:rPr>
              <a:t>的水平上不拒绝</a:t>
            </a:r>
            <a:r>
              <a:rPr lang="en-US" altLang="zh-CN">
                <a:effectLst>
                  <a:outerShdw blurRad="38100" dist="38100" dir="2700000" algn="tl">
                    <a:srgbClr val="000000">
                      <a:alpha val="43137"/>
                    </a:srgbClr>
                  </a:outerShdw>
                </a:effectLst>
              </a:rPr>
              <a:t>H</a:t>
            </a:r>
            <a:r>
              <a:rPr lang="en-US" altLang="zh-CN" baseline="-25000">
                <a:effectLst>
                  <a:outerShdw blurRad="38100" dist="38100" dir="2700000" algn="tl">
                    <a:srgbClr val="000000">
                      <a:alpha val="43137"/>
                    </a:srgbClr>
                  </a:outerShdw>
                </a:effectLst>
              </a:rPr>
              <a:t>0</a:t>
            </a:r>
            <a:endParaRPr lang="en-US" altLang="zh-CN" baseline="-25000">
              <a:effectLst>
                <a:outerShdw blurRad="38100" dist="38100" dir="2700000" algn="tl">
                  <a:srgbClr val="000000">
                    <a:alpha val="43137"/>
                  </a:srgbClr>
                </a:outerShdw>
              </a:effectLst>
            </a:endParaRPr>
          </a:p>
        </p:txBody>
      </p:sp>
      <p:sp>
        <p:nvSpPr>
          <p:cNvPr id="1090568" name="Text Box 8"/>
          <p:cNvSpPr txBox="1">
            <a:spLocks noChangeArrowheads="1"/>
          </p:cNvSpPr>
          <p:nvPr/>
        </p:nvSpPr>
        <p:spPr bwMode="auto">
          <a:xfrm>
            <a:off x="5676900" y="5048250"/>
            <a:ext cx="4419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a:effectLst>
                  <a:outerShdw blurRad="38100" dist="38100" dir="2700000" algn="tl">
                    <a:srgbClr val="000000">
                      <a:alpha val="43137"/>
                    </a:srgbClr>
                  </a:outerShdw>
                </a:effectLst>
                <a:latin typeface="Times New Roman" panose="02020603050405020304" pitchFamily="18" charset="0"/>
              </a:rPr>
              <a:t>不能认为这两个总体的方差有显著差异</a:t>
            </a:r>
            <a:r>
              <a:rPr lang="zh-CN" altLang="en-US">
                <a:effectLst>
                  <a:outerShdw blurRad="38100" dist="38100" dir="2700000" algn="tl">
                    <a:srgbClr val="000000">
                      <a:alpha val="43137"/>
                    </a:srgbClr>
                  </a:outerShdw>
                </a:effectLst>
              </a:rPr>
              <a:t> </a:t>
            </a:r>
            <a:endParaRPr lang="zh-CN" altLang="en-US">
              <a:effectLst>
                <a:outerShdw blurRad="38100" dist="38100" dir="2700000" algn="tl">
                  <a:srgbClr val="000000">
                    <a:alpha val="43137"/>
                  </a:srgbClr>
                </a:outerShdw>
              </a:effectLst>
            </a:endParaRPr>
          </a:p>
        </p:txBody>
      </p:sp>
      <mc:AlternateContent xmlns:mc="http://schemas.openxmlformats.org/markup-compatibility/2006">
        <mc:Choice xmlns:a14="http://schemas.microsoft.com/office/drawing/2010/main" Requires="a14">
          <p:sp>
            <p:nvSpPr>
              <p:cNvPr id="1090569" name="Object 9">
                <a:hlinkClick r:id="" action="ppaction://ole?verb=0"/>
              </p:cNvPr>
              <p:cNvSpPr txBox="1"/>
              <p:nvPr/>
            </p:nvSpPr>
            <p:spPr bwMode="auto">
              <a:xfrm>
                <a:off x="5522913" y="2382839"/>
                <a:ext cx="4024312" cy="1031875"/>
              </a:xfrm>
              <a:prstGeom prst="rect">
                <a:avLst/>
              </a:prstGeom>
              <a:noFill/>
              <a:ln>
                <a:noFill/>
              </a:ln>
              <a:effectLst>
                <a:outerShdw dist="1796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smtClean="0">
                          <a:solidFill>
                            <a:schemeClr val="tx1"/>
                          </a:solidFill>
                          <a:effectLst>
                            <a:outerShdw blurRad="38100" dist="38100" dir="2700000" algn="tl">
                              <a:srgbClr val="000000">
                                <a:alpha val="43137"/>
                              </a:srgbClr>
                            </a:outerShdw>
                          </a:effectLst>
                          <a:latin typeface="Cambria Math" panose="02040503050406030204" pitchFamily="18" charset="0"/>
                        </a:rPr>
                        <m:t>𝐹</m:t>
                      </m:r>
                      <m:r>
                        <a:rPr lang="zh-CN" altLang="en-US" i="1" smtClean="0">
                          <a:solidFill>
                            <a:schemeClr val="tx1"/>
                          </a:solidFill>
                          <a:effectLst>
                            <a:outerShdw blurRad="38100" dist="38100" dir="2700000" algn="tl">
                              <a:srgbClr val="000000">
                                <a:alpha val="43137"/>
                              </a:srgbClr>
                            </a:outerShdw>
                          </a:effectLst>
                          <a:latin typeface="Cambria Math" panose="02040503050406030204" pitchFamily="18" charset="0"/>
                        </a:rPr>
                        <m:t>=</m:t>
                      </m:r>
                      <m:f>
                        <m:fPr>
                          <m:ctrlP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ctrlPr>
                        </m:fPr>
                        <m:num>
                          <m:sSubSup>
                            <m:sSubSupPr>
                              <m:ctrlP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ctrlPr>
                            </m:sSubSupPr>
                            <m:e>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𝑠</m:t>
                              </m:r>
                            </m:e>
                            <m:sub>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1</m:t>
                              </m:r>
                            </m:sub>
                            <m:sup>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2</m:t>
                              </m:r>
                            </m:sup>
                          </m:sSubSup>
                        </m:num>
                        <m:den>
                          <m:sSubSup>
                            <m:sSubSupPr>
                              <m:ctrlP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ctrlPr>
                            </m:sSubSupPr>
                            <m:e>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𝑠</m:t>
                              </m:r>
                            </m:e>
                            <m:sub>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2</m:t>
                              </m:r>
                            </m:sub>
                            <m:sup>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2</m:t>
                              </m:r>
                            </m:sup>
                          </m:sSubSup>
                        </m:den>
                      </m:f>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m:t>
                      </m:r>
                      <m:f>
                        <m:fPr>
                          <m:ctrlP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ctrlPr>
                        </m:fPr>
                        <m:num>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2431</m:t>
                          </m:r>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m:t>
                          </m:r>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429</m:t>
                          </m:r>
                        </m:num>
                        <m:den>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3675</m:t>
                          </m:r>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m:t>
                          </m:r>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461</m:t>
                          </m:r>
                        </m:den>
                      </m:f>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m:t>
                      </m:r>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0</m:t>
                      </m:r>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m:t>
                      </m:r>
                      <m:r>
                        <a:rPr lang="zh-CN" altLang="en-US" i="1">
                          <a:solidFill>
                            <a:schemeClr val="tx1"/>
                          </a:solidFill>
                          <a:effectLst>
                            <a:outerShdw blurRad="38100" dist="38100" dir="2700000" algn="tl">
                              <a:srgbClr val="000000">
                                <a:alpha val="43137"/>
                              </a:srgbClr>
                            </a:outerShdw>
                          </a:effectLst>
                          <a:latin typeface="Cambria Math" panose="02040503050406030204" pitchFamily="18" charset="0"/>
                        </a:rPr>
                        <m:t>6615</m:t>
                      </m:r>
                    </m:oMath>
                  </m:oMathPara>
                </a14:m>
                <a:endParaRPr lang="zh-CN" altLang="en-US">
                  <a:solidFill>
                    <a:schemeClr val="tx1"/>
                  </a:solidFill>
                  <a:effectLst>
                    <a:outerShdw blurRad="38100" dist="38100" dir="2700000" algn="tl">
                      <a:srgbClr val="000000">
                        <a:alpha val="43137"/>
                      </a:srgbClr>
                    </a:outerShdw>
                  </a:effectLst>
                </a:endParaRPr>
              </a:p>
            </p:txBody>
          </p:sp>
        </mc:Choice>
        <mc:Fallback>
          <p:sp>
            <p:nvSpPr>
              <p:cNvPr id="1090569" name="Object 9">
                <a:hlinkClick r:id="" action="ppaction://ole?verb=0"/>
              </p:cNvPr>
              <p:cNvSpPr txBox="1">
                <a:spLocks noRot="1" noChangeAspect="1" noMove="1" noResize="1" noEditPoints="1" noAdjustHandles="1" noChangeArrowheads="1" noChangeShapeType="1" noTextEdit="1"/>
              </p:cNvSpPr>
              <p:nvPr/>
            </p:nvSpPr>
            <p:spPr bwMode="auto">
              <a:xfrm>
                <a:off x="5522913" y="2382839"/>
                <a:ext cx="4024312" cy="1031875"/>
              </a:xfrm>
              <a:prstGeom prst="rect">
                <a:avLst/>
              </a:prstGeom>
              <a:blipFill rotWithShape="1">
                <a:blip r:embed="rId1"/>
                <a:stretch>
                  <a:fillRect l="-8" t="-31" r="-316" b="-1200"/>
                </a:stretch>
              </a:blipFill>
              <a:ln>
                <a:noFill/>
              </a:ln>
              <a:effectLst>
                <a:outerShdw dist="17961" dir="2700000" algn="ctr" rotWithShape="0">
                  <a:schemeClr val="bg2"/>
                </a:outerShdw>
              </a:effectLst>
            </p:spPr>
            <p:txBody>
              <a:bodyPr/>
              <a:lstStyle/>
              <a:p>
                <a:r>
                  <a:rPr lang="zh-CN" altLang="en-US">
                    <a:noFill/>
                  </a:rPr>
                  <a:t> </a:t>
                </a:r>
              </a:p>
            </p:txBody>
          </p:sp>
        </mc:Fallback>
      </mc:AlternateContent>
      <p:grpSp>
        <p:nvGrpSpPr>
          <p:cNvPr id="1090614" name="Group 54"/>
          <p:cNvGrpSpPr/>
          <p:nvPr/>
        </p:nvGrpSpPr>
        <p:grpSpPr bwMode="auto">
          <a:xfrm>
            <a:off x="2171701" y="4238626"/>
            <a:ext cx="3406775" cy="1965325"/>
            <a:chOff x="408" y="2670"/>
            <a:chExt cx="2146" cy="1238"/>
          </a:xfrm>
        </p:grpSpPr>
        <p:sp>
          <p:nvSpPr>
            <p:cNvPr id="1090571" name="Rectangle 11"/>
            <p:cNvSpPr>
              <a:spLocks noChangeArrowheads="1"/>
            </p:cNvSpPr>
            <p:nvPr/>
          </p:nvSpPr>
          <p:spPr bwMode="auto">
            <a:xfrm>
              <a:off x="411" y="3656"/>
              <a:ext cx="1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b="1">
                  <a:effectLst>
                    <a:outerShdw blurRad="38100" dist="38100" dir="2700000" algn="tl">
                      <a:srgbClr val="000000">
                        <a:alpha val="43137"/>
                      </a:srgbClr>
                    </a:outerShdw>
                  </a:effectLst>
                </a:rPr>
                <a:t>0</a:t>
              </a:r>
              <a:endParaRPr lang="en-US" altLang="zh-CN">
                <a:effectLst>
                  <a:outerShdw blurRad="38100" dist="38100" dir="2700000" algn="tl">
                    <a:srgbClr val="000000">
                      <a:alpha val="43137"/>
                    </a:srgbClr>
                  </a:outerShdw>
                </a:effectLst>
              </a:endParaRPr>
            </a:p>
          </p:txBody>
        </p:sp>
        <p:sp>
          <p:nvSpPr>
            <p:cNvPr id="1090572" name="Rectangle 12"/>
            <p:cNvSpPr>
              <a:spLocks noChangeArrowheads="1"/>
            </p:cNvSpPr>
            <p:nvPr/>
          </p:nvSpPr>
          <p:spPr bwMode="auto">
            <a:xfrm>
              <a:off x="2464" y="3652"/>
              <a:ext cx="9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b="1" i="1">
                  <a:effectLst>
                    <a:outerShdw blurRad="38100" dist="38100" dir="2700000" algn="tl">
                      <a:srgbClr val="000000">
                        <a:alpha val="43137"/>
                      </a:srgbClr>
                    </a:outerShdw>
                  </a:effectLst>
                </a:rPr>
                <a:t>F</a:t>
              </a:r>
              <a:endParaRPr lang="en-US" altLang="zh-CN" i="1">
                <a:effectLst>
                  <a:outerShdw blurRad="38100" dist="38100" dir="2700000" algn="tl">
                    <a:srgbClr val="000000">
                      <a:alpha val="43137"/>
                    </a:srgbClr>
                  </a:outerShdw>
                </a:effectLst>
              </a:endParaRPr>
            </a:p>
          </p:txBody>
        </p:sp>
        <p:sp>
          <p:nvSpPr>
            <p:cNvPr id="1090573" name="Rectangle 13"/>
            <p:cNvSpPr>
              <a:spLocks noChangeArrowheads="1"/>
            </p:cNvSpPr>
            <p:nvPr/>
          </p:nvSpPr>
          <p:spPr bwMode="auto">
            <a:xfrm>
              <a:off x="625" y="3726"/>
              <a:ext cx="76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1600">
                  <a:effectLst>
                    <a:outerShdw blurRad="38100" dist="38100" dir="2700000" algn="tl">
                      <a:srgbClr val="000000">
                        <a:alpha val="43137"/>
                      </a:srgbClr>
                    </a:outerShdw>
                  </a:effectLst>
                </a:rPr>
                <a:t>F</a:t>
              </a:r>
              <a:r>
                <a:rPr lang="en-US" altLang="zh-CN" sz="1600" baseline="-25000">
                  <a:effectLst>
                    <a:outerShdw blurRad="38100" dist="38100" dir="2700000" algn="tl">
                      <a:srgbClr val="000000">
                        <a:alpha val="43137"/>
                      </a:srgbClr>
                    </a:outerShdw>
                  </a:effectLst>
                </a:rPr>
                <a:t>0.0975 </a:t>
              </a:r>
              <a:r>
                <a:rPr lang="en-US" altLang="zh-CN" sz="1600">
                  <a:effectLst>
                    <a:outerShdw blurRad="38100" dist="38100" dir="2700000" algn="tl">
                      <a:srgbClr val="000000">
                        <a:alpha val="43137"/>
                      </a:srgbClr>
                    </a:outerShdw>
                  </a:effectLst>
                </a:rPr>
                <a:t>=0.352</a:t>
              </a:r>
              <a:endParaRPr lang="en-US" altLang="zh-CN" sz="1600">
                <a:effectLst>
                  <a:outerShdw blurRad="38100" dist="38100" dir="2700000" algn="tl">
                    <a:srgbClr val="000000">
                      <a:alpha val="43137"/>
                    </a:srgbClr>
                  </a:outerShdw>
                </a:effectLst>
              </a:endParaRPr>
            </a:p>
          </p:txBody>
        </p:sp>
        <p:sp>
          <p:nvSpPr>
            <p:cNvPr id="1090574" name="Freeform 14"/>
            <p:cNvSpPr/>
            <p:nvPr/>
          </p:nvSpPr>
          <p:spPr bwMode="auto">
            <a:xfrm>
              <a:off x="1620" y="2954"/>
              <a:ext cx="55" cy="61"/>
            </a:xfrm>
            <a:custGeom>
              <a:avLst/>
              <a:gdLst>
                <a:gd name="T0" fmla="*/ 0 w 92"/>
                <a:gd name="T1" fmla="*/ 0 h 92"/>
                <a:gd name="T2" fmla="*/ 92 w 92"/>
                <a:gd name="T3" fmla="*/ 45 h 92"/>
                <a:gd name="T4" fmla="*/ 0 w 92"/>
                <a:gd name="T5" fmla="*/ 92 h 92"/>
                <a:gd name="T6" fmla="*/ 0 w 92"/>
                <a:gd name="T7" fmla="*/ 0 h 92"/>
              </a:gdLst>
              <a:ahLst/>
              <a:cxnLst>
                <a:cxn ang="0">
                  <a:pos x="T0" y="T1"/>
                </a:cxn>
                <a:cxn ang="0">
                  <a:pos x="T2" y="T3"/>
                </a:cxn>
                <a:cxn ang="0">
                  <a:pos x="T4" y="T5"/>
                </a:cxn>
                <a:cxn ang="0">
                  <a:pos x="T6" y="T7"/>
                </a:cxn>
              </a:cxnLst>
              <a:rect l="0" t="0" r="r" b="b"/>
              <a:pathLst>
                <a:path w="92" h="92">
                  <a:moveTo>
                    <a:pt x="0" y="0"/>
                  </a:moveTo>
                  <a:lnTo>
                    <a:pt x="92" y="45"/>
                  </a:lnTo>
                  <a:lnTo>
                    <a:pt x="0" y="92"/>
                  </a:lnTo>
                  <a:lnTo>
                    <a:pt x="0" y="0"/>
                  </a:lnTo>
                  <a:close/>
                </a:path>
              </a:pathLst>
            </a:custGeom>
            <a:solidFill>
              <a:srgbClr val="CDCDCD"/>
            </a:solidFill>
            <a:ln w="9525">
              <a:solidFill>
                <a:schemeClr val="tx1"/>
              </a:solidFill>
              <a:round/>
            </a:ln>
          </p:spPr>
          <p:txBody>
            <a:bodyPr/>
            <a:lstStyle/>
            <a:p>
              <a:endParaRPr lang="zh-CN" altLang="en-US">
                <a:effectLst>
                  <a:outerShdw blurRad="38100" dist="38100" dir="2700000" algn="tl">
                    <a:srgbClr val="000000">
                      <a:alpha val="43137"/>
                    </a:srgbClr>
                  </a:outerShdw>
                </a:effectLst>
              </a:endParaRPr>
            </a:p>
          </p:txBody>
        </p:sp>
        <p:grpSp>
          <p:nvGrpSpPr>
            <p:cNvPr id="1090575" name="Group 15"/>
            <p:cNvGrpSpPr/>
            <p:nvPr/>
          </p:nvGrpSpPr>
          <p:grpSpPr bwMode="auto">
            <a:xfrm>
              <a:off x="408" y="2737"/>
              <a:ext cx="1946" cy="926"/>
              <a:chOff x="1571" y="1828"/>
              <a:chExt cx="3200" cy="940"/>
            </a:xfrm>
          </p:grpSpPr>
          <p:grpSp>
            <p:nvGrpSpPr>
              <p:cNvPr id="1090576" name="Group 16"/>
              <p:cNvGrpSpPr/>
              <p:nvPr/>
            </p:nvGrpSpPr>
            <p:grpSpPr bwMode="auto">
              <a:xfrm>
                <a:off x="1571" y="1828"/>
                <a:ext cx="3163" cy="940"/>
                <a:chOff x="1607" y="1804"/>
                <a:chExt cx="3163" cy="940"/>
              </a:xfrm>
            </p:grpSpPr>
            <p:sp>
              <p:nvSpPr>
                <p:cNvPr id="1090577" name="Freeform 17"/>
                <p:cNvSpPr/>
                <p:nvPr/>
              </p:nvSpPr>
              <p:spPr bwMode="auto">
                <a:xfrm>
                  <a:off x="1646" y="1804"/>
                  <a:ext cx="3124" cy="940"/>
                </a:xfrm>
                <a:custGeom>
                  <a:avLst/>
                  <a:gdLst>
                    <a:gd name="T0" fmla="*/ 0 w 3124"/>
                    <a:gd name="T1" fmla="*/ 0 h 940"/>
                    <a:gd name="T2" fmla="*/ 0 w 3124"/>
                    <a:gd name="T3" fmla="*/ 940 h 940"/>
                    <a:gd name="T4" fmla="*/ 3124 w 3124"/>
                    <a:gd name="T5" fmla="*/ 940 h 940"/>
                  </a:gdLst>
                  <a:ahLst/>
                  <a:cxnLst>
                    <a:cxn ang="0">
                      <a:pos x="T0" y="T1"/>
                    </a:cxn>
                    <a:cxn ang="0">
                      <a:pos x="T2" y="T3"/>
                    </a:cxn>
                    <a:cxn ang="0">
                      <a:pos x="T4" y="T5"/>
                    </a:cxn>
                  </a:cxnLst>
                  <a:rect l="0" t="0" r="r" b="b"/>
                  <a:pathLst>
                    <a:path w="3124" h="940">
                      <a:moveTo>
                        <a:pt x="0" y="0"/>
                      </a:moveTo>
                      <a:lnTo>
                        <a:pt x="0" y="940"/>
                      </a:lnTo>
                      <a:lnTo>
                        <a:pt x="3124" y="940"/>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effectLst>
                      <a:outerShdw blurRad="38100" dist="38100" dir="2700000" algn="tl">
                        <a:srgbClr val="000000">
                          <a:alpha val="43137"/>
                        </a:srgbClr>
                      </a:outerShdw>
                    </a:effectLst>
                  </a:endParaRPr>
                </a:p>
              </p:txBody>
            </p:sp>
            <p:grpSp>
              <p:nvGrpSpPr>
                <p:cNvPr id="1090578" name="Group 18"/>
                <p:cNvGrpSpPr/>
                <p:nvPr/>
              </p:nvGrpSpPr>
              <p:grpSpPr bwMode="auto">
                <a:xfrm>
                  <a:off x="1607" y="1804"/>
                  <a:ext cx="39" cy="847"/>
                  <a:chOff x="1607" y="1804"/>
                  <a:chExt cx="39" cy="847"/>
                </a:xfrm>
              </p:grpSpPr>
              <p:sp>
                <p:nvSpPr>
                  <p:cNvPr id="1090579" name="Line 19"/>
                  <p:cNvSpPr>
                    <a:spLocks noChangeShapeType="1"/>
                  </p:cNvSpPr>
                  <p:nvPr/>
                </p:nvSpPr>
                <p:spPr bwMode="auto">
                  <a:xfrm>
                    <a:off x="1607" y="1804"/>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80" name="Line 20"/>
                  <p:cNvSpPr>
                    <a:spLocks noChangeShapeType="1"/>
                  </p:cNvSpPr>
                  <p:nvPr/>
                </p:nvSpPr>
                <p:spPr bwMode="auto">
                  <a:xfrm>
                    <a:off x="1607" y="1898"/>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81" name="Line 21"/>
                  <p:cNvSpPr>
                    <a:spLocks noChangeShapeType="1"/>
                  </p:cNvSpPr>
                  <p:nvPr/>
                </p:nvSpPr>
                <p:spPr bwMode="auto">
                  <a:xfrm>
                    <a:off x="1607" y="1992"/>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82" name="Line 22"/>
                  <p:cNvSpPr>
                    <a:spLocks noChangeShapeType="1"/>
                  </p:cNvSpPr>
                  <p:nvPr/>
                </p:nvSpPr>
                <p:spPr bwMode="auto">
                  <a:xfrm>
                    <a:off x="1607" y="2085"/>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83" name="Line 23"/>
                  <p:cNvSpPr>
                    <a:spLocks noChangeShapeType="1"/>
                  </p:cNvSpPr>
                  <p:nvPr/>
                </p:nvSpPr>
                <p:spPr bwMode="auto">
                  <a:xfrm>
                    <a:off x="1607" y="2181"/>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84" name="Line 24"/>
                  <p:cNvSpPr>
                    <a:spLocks noChangeShapeType="1"/>
                  </p:cNvSpPr>
                  <p:nvPr/>
                </p:nvSpPr>
                <p:spPr bwMode="auto">
                  <a:xfrm>
                    <a:off x="1607" y="2275"/>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85" name="Line 25"/>
                  <p:cNvSpPr>
                    <a:spLocks noChangeShapeType="1"/>
                  </p:cNvSpPr>
                  <p:nvPr/>
                </p:nvSpPr>
                <p:spPr bwMode="auto">
                  <a:xfrm>
                    <a:off x="1607" y="2369"/>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86" name="Line 26"/>
                  <p:cNvSpPr>
                    <a:spLocks noChangeShapeType="1"/>
                  </p:cNvSpPr>
                  <p:nvPr/>
                </p:nvSpPr>
                <p:spPr bwMode="auto">
                  <a:xfrm>
                    <a:off x="1607" y="2463"/>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87" name="Line 27"/>
                  <p:cNvSpPr>
                    <a:spLocks noChangeShapeType="1"/>
                  </p:cNvSpPr>
                  <p:nvPr/>
                </p:nvSpPr>
                <p:spPr bwMode="auto">
                  <a:xfrm>
                    <a:off x="1607" y="2556"/>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88" name="Line 28"/>
                  <p:cNvSpPr>
                    <a:spLocks noChangeShapeType="1"/>
                  </p:cNvSpPr>
                  <p:nvPr/>
                </p:nvSpPr>
                <p:spPr bwMode="auto">
                  <a:xfrm>
                    <a:off x="1607" y="2650"/>
                    <a:ext cx="39"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grpSp>
          </p:grpSp>
          <p:grpSp>
            <p:nvGrpSpPr>
              <p:cNvPr id="1090589" name="Group 29"/>
              <p:cNvGrpSpPr/>
              <p:nvPr/>
            </p:nvGrpSpPr>
            <p:grpSpPr bwMode="auto">
              <a:xfrm>
                <a:off x="1959" y="2744"/>
                <a:ext cx="2812" cy="12"/>
                <a:chOff x="1959" y="2744"/>
                <a:chExt cx="2812" cy="12"/>
              </a:xfrm>
            </p:grpSpPr>
            <p:sp>
              <p:nvSpPr>
                <p:cNvPr id="1090590" name="Line 30"/>
                <p:cNvSpPr>
                  <a:spLocks noChangeShapeType="1"/>
                </p:cNvSpPr>
                <p:nvPr/>
              </p:nvSpPr>
              <p:spPr bwMode="auto">
                <a:xfrm>
                  <a:off x="4770"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91" name="Line 31"/>
                <p:cNvSpPr>
                  <a:spLocks noChangeShapeType="1"/>
                </p:cNvSpPr>
                <p:nvPr/>
              </p:nvSpPr>
              <p:spPr bwMode="auto">
                <a:xfrm>
                  <a:off x="4457"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92" name="Line 32"/>
                <p:cNvSpPr>
                  <a:spLocks noChangeShapeType="1"/>
                </p:cNvSpPr>
                <p:nvPr/>
              </p:nvSpPr>
              <p:spPr bwMode="auto">
                <a:xfrm>
                  <a:off x="4145"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93" name="Line 33"/>
                <p:cNvSpPr>
                  <a:spLocks noChangeShapeType="1"/>
                </p:cNvSpPr>
                <p:nvPr/>
              </p:nvSpPr>
              <p:spPr bwMode="auto">
                <a:xfrm>
                  <a:off x="3832"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94" name="Line 34"/>
                <p:cNvSpPr>
                  <a:spLocks noChangeShapeType="1"/>
                </p:cNvSpPr>
                <p:nvPr/>
              </p:nvSpPr>
              <p:spPr bwMode="auto">
                <a:xfrm>
                  <a:off x="3519"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95" name="Line 35"/>
                <p:cNvSpPr>
                  <a:spLocks noChangeShapeType="1"/>
                </p:cNvSpPr>
                <p:nvPr/>
              </p:nvSpPr>
              <p:spPr bwMode="auto">
                <a:xfrm>
                  <a:off x="3209"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96" name="Line 36"/>
                <p:cNvSpPr>
                  <a:spLocks noChangeShapeType="1"/>
                </p:cNvSpPr>
                <p:nvPr/>
              </p:nvSpPr>
              <p:spPr bwMode="auto">
                <a:xfrm>
                  <a:off x="2896"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97" name="Line 37"/>
                <p:cNvSpPr>
                  <a:spLocks noChangeShapeType="1"/>
                </p:cNvSpPr>
                <p:nvPr/>
              </p:nvSpPr>
              <p:spPr bwMode="auto">
                <a:xfrm>
                  <a:off x="2584"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98" name="Line 38"/>
                <p:cNvSpPr>
                  <a:spLocks noChangeShapeType="1"/>
                </p:cNvSpPr>
                <p:nvPr/>
              </p:nvSpPr>
              <p:spPr bwMode="auto">
                <a:xfrm>
                  <a:off x="2271"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599" name="Line 39"/>
                <p:cNvSpPr>
                  <a:spLocks noChangeShapeType="1"/>
                </p:cNvSpPr>
                <p:nvPr/>
              </p:nvSpPr>
              <p:spPr bwMode="auto">
                <a:xfrm>
                  <a:off x="1959" y="2744"/>
                  <a:ext cx="1"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effectLst>
                      <a:outerShdw blurRad="38100" dist="38100" dir="2700000" algn="tl">
                        <a:srgbClr val="000000">
                          <a:alpha val="43137"/>
                        </a:srgbClr>
                      </a:outerShdw>
                    </a:effectLst>
                  </a:endParaRPr>
                </a:p>
              </p:txBody>
            </p:sp>
          </p:grpSp>
        </p:grpSp>
        <p:sp>
          <p:nvSpPr>
            <p:cNvPr id="1090600" name="Freeform 40" descr="60%"/>
            <p:cNvSpPr/>
            <p:nvPr/>
          </p:nvSpPr>
          <p:spPr bwMode="auto">
            <a:xfrm>
              <a:off x="563" y="3011"/>
              <a:ext cx="275" cy="649"/>
            </a:xfrm>
            <a:custGeom>
              <a:avLst/>
              <a:gdLst>
                <a:gd name="T0" fmla="*/ 447 w 447"/>
                <a:gd name="T1" fmla="*/ 0 h 436"/>
                <a:gd name="T2" fmla="*/ 447 w 447"/>
                <a:gd name="T3" fmla="*/ 436 h 436"/>
                <a:gd name="T4" fmla="*/ 0 w 447"/>
                <a:gd name="T5" fmla="*/ 436 h 436"/>
                <a:gd name="T6" fmla="*/ 54 w 447"/>
                <a:gd name="T7" fmla="*/ 412 h 436"/>
                <a:gd name="T8" fmla="*/ 106 w 447"/>
                <a:gd name="T9" fmla="*/ 386 h 436"/>
                <a:gd name="T10" fmla="*/ 156 w 447"/>
                <a:gd name="T11" fmla="*/ 355 h 436"/>
                <a:gd name="T12" fmla="*/ 203 w 447"/>
                <a:gd name="T13" fmla="*/ 321 h 436"/>
                <a:gd name="T14" fmla="*/ 248 w 447"/>
                <a:gd name="T15" fmla="*/ 284 h 436"/>
                <a:gd name="T16" fmla="*/ 290 w 447"/>
                <a:gd name="T17" fmla="*/ 243 h 436"/>
                <a:gd name="T18" fmla="*/ 329 w 447"/>
                <a:gd name="T19" fmla="*/ 199 h 436"/>
                <a:gd name="T20" fmla="*/ 364 w 447"/>
                <a:gd name="T21" fmla="*/ 152 h 436"/>
                <a:gd name="T22" fmla="*/ 395 w 447"/>
                <a:gd name="T23" fmla="*/ 104 h 436"/>
                <a:gd name="T24" fmla="*/ 423 w 447"/>
                <a:gd name="T25" fmla="*/ 54 h 436"/>
                <a:gd name="T26" fmla="*/ 447 w 447"/>
                <a:gd name="T27"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7" h="436">
                  <a:moveTo>
                    <a:pt x="447" y="0"/>
                  </a:moveTo>
                  <a:lnTo>
                    <a:pt x="447" y="436"/>
                  </a:lnTo>
                  <a:lnTo>
                    <a:pt x="0" y="436"/>
                  </a:lnTo>
                  <a:lnTo>
                    <a:pt x="54" y="412"/>
                  </a:lnTo>
                  <a:lnTo>
                    <a:pt x="106" y="386"/>
                  </a:lnTo>
                  <a:lnTo>
                    <a:pt x="156" y="355"/>
                  </a:lnTo>
                  <a:lnTo>
                    <a:pt x="203" y="321"/>
                  </a:lnTo>
                  <a:lnTo>
                    <a:pt x="248" y="284"/>
                  </a:lnTo>
                  <a:lnTo>
                    <a:pt x="290" y="243"/>
                  </a:lnTo>
                  <a:lnTo>
                    <a:pt x="329" y="199"/>
                  </a:lnTo>
                  <a:lnTo>
                    <a:pt x="364" y="152"/>
                  </a:lnTo>
                  <a:lnTo>
                    <a:pt x="395" y="104"/>
                  </a:lnTo>
                  <a:lnTo>
                    <a:pt x="423" y="54"/>
                  </a:lnTo>
                  <a:lnTo>
                    <a:pt x="447"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effectLst>
                  <a:outerShdw blurRad="38100" dist="38100" dir="2700000" algn="tl">
                    <a:srgbClr val="000000">
                      <a:alpha val="43137"/>
                    </a:srgbClr>
                  </a:outerShdw>
                </a:effectLst>
              </a:endParaRPr>
            </a:p>
          </p:txBody>
        </p:sp>
        <p:sp>
          <p:nvSpPr>
            <p:cNvPr id="1090601" name="Freeform 41" descr="60%"/>
            <p:cNvSpPr/>
            <p:nvPr/>
          </p:nvSpPr>
          <p:spPr bwMode="auto">
            <a:xfrm>
              <a:off x="1484" y="3162"/>
              <a:ext cx="715" cy="498"/>
            </a:xfrm>
            <a:custGeom>
              <a:avLst/>
              <a:gdLst>
                <a:gd name="T0" fmla="*/ 0 w 424"/>
                <a:gd name="T1" fmla="*/ 0 h 414"/>
                <a:gd name="T2" fmla="*/ 0 w 424"/>
                <a:gd name="T3" fmla="*/ 414 h 414"/>
                <a:gd name="T4" fmla="*/ 424 w 424"/>
                <a:gd name="T5" fmla="*/ 414 h 414"/>
                <a:gd name="T6" fmla="*/ 372 w 424"/>
                <a:gd name="T7" fmla="*/ 392 h 414"/>
                <a:gd name="T8" fmla="*/ 323 w 424"/>
                <a:gd name="T9" fmla="*/ 366 h 414"/>
                <a:gd name="T10" fmla="*/ 276 w 424"/>
                <a:gd name="T11" fmla="*/ 337 h 414"/>
                <a:gd name="T12" fmla="*/ 230 w 424"/>
                <a:gd name="T13" fmla="*/ 304 h 414"/>
                <a:gd name="T14" fmla="*/ 188 w 424"/>
                <a:gd name="T15" fmla="*/ 268 h 414"/>
                <a:gd name="T16" fmla="*/ 148 w 424"/>
                <a:gd name="T17" fmla="*/ 230 h 414"/>
                <a:gd name="T18" fmla="*/ 112 w 424"/>
                <a:gd name="T19" fmla="*/ 188 h 414"/>
                <a:gd name="T20" fmla="*/ 78 w 424"/>
                <a:gd name="T21" fmla="*/ 145 h 414"/>
                <a:gd name="T22" fmla="*/ 48 w 424"/>
                <a:gd name="T23" fmla="*/ 99 h 414"/>
                <a:gd name="T24" fmla="*/ 22 w 424"/>
                <a:gd name="T25" fmla="*/ 50 h 414"/>
                <a:gd name="T26" fmla="*/ 0 w 424"/>
                <a:gd name="T27"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4" h="414">
                  <a:moveTo>
                    <a:pt x="0" y="0"/>
                  </a:moveTo>
                  <a:lnTo>
                    <a:pt x="0" y="414"/>
                  </a:lnTo>
                  <a:lnTo>
                    <a:pt x="424" y="414"/>
                  </a:lnTo>
                  <a:lnTo>
                    <a:pt x="372" y="392"/>
                  </a:lnTo>
                  <a:lnTo>
                    <a:pt x="323" y="366"/>
                  </a:lnTo>
                  <a:lnTo>
                    <a:pt x="276" y="337"/>
                  </a:lnTo>
                  <a:lnTo>
                    <a:pt x="230" y="304"/>
                  </a:lnTo>
                  <a:lnTo>
                    <a:pt x="188" y="268"/>
                  </a:lnTo>
                  <a:lnTo>
                    <a:pt x="148" y="230"/>
                  </a:lnTo>
                  <a:lnTo>
                    <a:pt x="112" y="188"/>
                  </a:lnTo>
                  <a:lnTo>
                    <a:pt x="78" y="145"/>
                  </a:lnTo>
                  <a:lnTo>
                    <a:pt x="48" y="99"/>
                  </a:lnTo>
                  <a:lnTo>
                    <a:pt x="22" y="50"/>
                  </a:lnTo>
                  <a:lnTo>
                    <a:pt x="0" y="0"/>
                  </a:lnTo>
                  <a:close/>
                </a:path>
              </a:pathLst>
            </a:custGeom>
            <a:pattFill prst="pct60">
              <a:fgClr>
                <a:schemeClr val="hlink"/>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effectLst>
                  <a:outerShdw blurRad="38100" dist="38100" dir="2700000" algn="tl">
                    <a:srgbClr val="000000">
                      <a:alpha val="43137"/>
                    </a:srgbClr>
                  </a:outerShdw>
                </a:effectLst>
              </a:endParaRPr>
            </a:p>
          </p:txBody>
        </p:sp>
        <p:sp>
          <p:nvSpPr>
            <p:cNvPr id="1090602" name="Rectangle 42"/>
            <p:cNvSpPr>
              <a:spLocks noChangeArrowheads="1"/>
            </p:cNvSpPr>
            <p:nvPr/>
          </p:nvSpPr>
          <p:spPr bwMode="auto">
            <a:xfrm>
              <a:off x="1765" y="3126"/>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effectLst>
                    <a:outerShdw blurRad="38100" dist="38100" dir="2700000" algn="tl">
                      <a:srgbClr val="000000">
                        <a:alpha val="43137"/>
                      </a:srgbClr>
                    </a:outerShdw>
                  </a:effectLst>
                </a:rPr>
                <a:t>.025</a:t>
              </a:r>
              <a:endParaRPr lang="en-US" altLang="zh-CN">
                <a:effectLst>
                  <a:outerShdw blurRad="38100" dist="38100" dir="2700000" algn="tl">
                    <a:srgbClr val="000000">
                      <a:alpha val="43137"/>
                    </a:srgbClr>
                  </a:outerShdw>
                </a:effectLst>
              </a:endParaRPr>
            </a:p>
          </p:txBody>
        </p:sp>
        <p:sp>
          <p:nvSpPr>
            <p:cNvPr id="1090603" name="Rectangle 43"/>
            <p:cNvSpPr>
              <a:spLocks noChangeArrowheads="1"/>
            </p:cNvSpPr>
            <p:nvPr/>
          </p:nvSpPr>
          <p:spPr bwMode="auto">
            <a:xfrm>
              <a:off x="456" y="2773"/>
              <a:ext cx="36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1400">
                  <a:effectLst>
                    <a:outerShdw blurRad="38100" dist="38100" dir="2700000" algn="tl">
                      <a:srgbClr val="000000">
                        <a:alpha val="43137"/>
                      </a:srgbClr>
                    </a:outerShdw>
                  </a:effectLst>
                </a:rPr>
                <a:t>拒绝 </a:t>
              </a:r>
              <a:r>
                <a:rPr lang="en-US" altLang="zh-CN" sz="1400">
                  <a:effectLst>
                    <a:outerShdw blurRad="38100" dist="38100" dir="2700000" algn="tl">
                      <a:srgbClr val="000000">
                        <a:alpha val="43137"/>
                      </a:srgbClr>
                    </a:outerShdw>
                  </a:effectLst>
                </a:rPr>
                <a:t>H</a:t>
              </a:r>
              <a:r>
                <a:rPr lang="en-US" altLang="zh-CN" sz="1400" baseline="-25000">
                  <a:effectLst>
                    <a:outerShdw blurRad="38100" dist="38100" dir="2700000" algn="tl">
                      <a:srgbClr val="000000">
                        <a:alpha val="43137"/>
                      </a:srgbClr>
                    </a:outerShdw>
                  </a:effectLst>
                </a:rPr>
                <a:t>0</a:t>
              </a:r>
              <a:endParaRPr lang="en-US" altLang="zh-CN" sz="1400">
                <a:effectLst>
                  <a:outerShdw blurRad="38100" dist="38100" dir="2700000" algn="tl">
                    <a:srgbClr val="000000">
                      <a:alpha val="43137"/>
                    </a:srgbClr>
                  </a:outerShdw>
                </a:effectLst>
              </a:endParaRPr>
            </a:p>
          </p:txBody>
        </p:sp>
        <p:sp>
          <p:nvSpPr>
            <p:cNvPr id="1090604" name="Rectangle 44"/>
            <p:cNvSpPr>
              <a:spLocks noChangeArrowheads="1"/>
            </p:cNvSpPr>
            <p:nvPr/>
          </p:nvSpPr>
          <p:spPr bwMode="auto">
            <a:xfrm>
              <a:off x="1474" y="2789"/>
              <a:ext cx="4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zh-CN" altLang="en-US" sz="1600">
                  <a:effectLst>
                    <a:outerShdw blurRad="38100" dist="38100" dir="2700000" algn="tl">
                      <a:srgbClr val="000000">
                        <a:alpha val="43137"/>
                      </a:srgbClr>
                    </a:outerShdw>
                  </a:effectLst>
                </a:rPr>
                <a:t>拒绝 </a:t>
              </a:r>
              <a:r>
                <a:rPr lang="en-US" altLang="zh-CN" sz="1600">
                  <a:effectLst>
                    <a:outerShdw blurRad="38100" dist="38100" dir="2700000" algn="tl">
                      <a:srgbClr val="000000">
                        <a:alpha val="43137"/>
                      </a:srgbClr>
                    </a:outerShdw>
                  </a:effectLst>
                </a:rPr>
                <a:t>H</a:t>
              </a:r>
              <a:r>
                <a:rPr lang="en-US" altLang="zh-CN" sz="1600" baseline="-25000">
                  <a:effectLst>
                    <a:outerShdw blurRad="38100" dist="38100" dir="2700000" algn="tl">
                      <a:srgbClr val="000000">
                        <a:alpha val="43137"/>
                      </a:srgbClr>
                    </a:outerShdw>
                  </a:effectLst>
                </a:rPr>
                <a:t>0</a:t>
              </a:r>
              <a:endParaRPr lang="en-US" altLang="zh-CN" sz="1600">
                <a:effectLst>
                  <a:outerShdw blurRad="38100" dist="38100" dir="2700000" algn="tl">
                    <a:srgbClr val="000000">
                      <a:alpha val="43137"/>
                    </a:srgbClr>
                  </a:outerShdw>
                </a:effectLst>
              </a:endParaRPr>
            </a:p>
          </p:txBody>
        </p:sp>
        <p:sp>
          <p:nvSpPr>
            <p:cNvPr id="1090605" name="Rectangle 45"/>
            <p:cNvSpPr>
              <a:spLocks noChangeArrowheads="1"/>
            </p:cNvSpPr>
            <p:nvPr/>
          </p:nvSpPr>
          <p:spPr bwMode="auto">
            <a:xfrm>
              <a:off x="467" y="3137"/>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a:effectLst>
                    <a:outerShdw blurRad="38100" dist="38100" dir="2700000" algn="tl">
                      <a:srgbClr val="000000">
                        <a:alpha val="43137"/>
                      </a:srgbClr>
                    </a:outerShdw>
                  </a:effectLst>
                </a:rPr>
                <a:t>.025</a:t>
              </a:r>
              <a:endParaRPr lang="en-US" altLang="zh-CN">
                <a:effectLst>
                  <a:outerShdw blurRad="38100" dist="38100" dir="2700000" algn="tl">
                    <a:srgbClr val="000000">
                      <a:alpha val="43137"/>
                    </a:srgbClr>
                  </a:outerShdw>
                </a:effectLst>
              </a:endParaRPr>
            </a:p>
          </p:txBody>
        </p:sp>
        <p:grpSp>
          <p:nvGrpSpPr>
            <p:cNvPr id="1090606" name="Group 46"/>
            <p:cNvGrpSpPr/>
            <p:nvPr/>
          </p:nvGrpSpPr>
          <p:grpSpPr bwMode="auto">
            <a:xfrm>
              <a:off x="541" y="2670"/>
              <a:ext cx="1859" cy="970"/>
              <a:chOff x="1646" y="1278"/>
              <a:chExt cx="3064" cy="1472"/>
            </a:xfrm>
          </p:grpSpPr>
          <p:sp>
            <p:nvSpPr>
              <p:cNvPr id="1090607" name="Freeform 47"/>
              <p:cNvSpPr/>
              <p:nvPr/>
            </p:nvSpPr>
            <p:spPr bwMode="auto">
              <a:xfrm>
                <a:off x="2259" y="1278"/>
                <a:ext cx="2451" cy="1472"/>
              </a:xfrm>
              <a:custGeom>
                <a:avLst/>
                <a:gdLst>
                  <a:gd name="T0" fmla="*/ 2451 w 2451"/>
                  <a:gd name="T1" fmla="*/ 1472 h 1472"/>
                  <a:gd name="T2" fmla="*/ 2194 w 2451"/>
                  <a:gd name="T3" fmla="*/ 1454 h 1472"/>
                  <a:gd name="T4" fmla="*/ 2065 w 2451"/>
                  <a:gd name="T5" fmla="*/ 1437 h 1472"/>
                  <a:gd name="T6" fmla="*/ 1937 w 2451"/>
                  <a:gd name="T7" fmla="*/ 1413 h 1472"/>
                  <a:gd name="T8" fmla="*/ 1808 w 2451"/>
                  <a:gd name="T9" fmla="*/ 1380 h 1472"/>
                  <a:gd name="T10" fmla="*/ 1677 w 2451"/>
                  <a:gd name="T11" fmla="*/ 1335 h 1472"/>
                  <a:gd name="T12" fmla="*/ 1548 w 2451"/>
                  <a:gd name="T13" fmla="*/ 1274 h 1472"/>
                  <a:gd name="T14" fmla="*/ 1291 w 2451"/>
                  <a:gd name="T15" fmla="*/ 1103 h 1472"/>
                  <a:gd name="T16" fmla="*/ 1034 w 2451"/>
                  <a:gd name="T17" fmla="*/ 863 h 1472"/>
                  <a:gd name="T18" fmla="*/ 774 w 2451"/>
                  <a:gd name="T19" fmla="*/ 575 h 1472"/>
                  <a:gd name="T20" fmla="*/ 646 w 2451"/>
                  <a:gd name="T21" fmla="*/ 428 h 1472"/>
                  <a:gd name="T22" fmla="*/ 517 w 2451"/>
                  <a:gd name="T23" fmla="*/ 290 h 1472"/>
                  <a:gd name="T24" fmla="*/ 388 w 2451"/>
                  <a:gd name="T25" fmla="*/ 172 h 1472"/>
                  <a:gd name="T26" fmla="*/ 260 w 2451"/>
                  <a:gd name="T27" fmla="*/ 80 h 1472"/>
                  <a:gd name="T28" fmla="*/ 131 w 2451"/>
                  <a:gd name="T29" fmla="*/ 21 h 1472"/>
                  <a:gd name="T30" fmla="*/ 0 w 2451"/>
                  <a:gd name="T31" fmla="*/ 0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51" h="1472">
                    <a:moveTo>
                      <a:pt x="2451" y="1472"/>
                    </a:moveTo>
                    <a:lnTo>
                      <a:pt x="2194" y="1454"/>
                    </a:lnTo>
                    <a:lnTo>
                      <a:pt x="2065" y="1437"/>
                    </a:lnTo>
                    <a:lnTo>
                      <a:pt x="1937" y="1413"/>
                    </a:lnTo>
                    <a:lnTo>
                      <a:pt x="1808" y="1380"/>
                    </a:lnTo>
                    <a:lnTo>
                      <a:pt x="1677" y="1335"/>
                    </a:lnTo>
                    <a:lnTo>
                      <a:pt x="1548" y="1274"/>
                    </a:lnTo>
                    <a:lnTo>
                      <a:pt x="1291" y="1103"/>
                    </a:lnTo>
                    <a:lnTo>
                      <a:pt x="1034" y="863"/>
                    </a:lnTo>
                    <a:lnTo>
                      <a:pt x="774" y="575"/>
                    </a:lnTo>
                    <a:lnTo>
                      <a:pt x="646" y="428"/>
                    </a:lnTo>
                    <a:lnTo>
                      <a:pt x="517" y="290"/>
                    </a:lnTo>
                    <a:lnTo>
                      <a:pt x="388" y="172"/>
                    </a:lnTo>
                    <a:lnTo>
                      <a:pt x="260" y="80"/>
                    </a:lnTo>
                    <a:lnTo>
                      <a:pt x="131" y="21"/>
                    </a:lnTo>
                    <a:lnTo>
                      <a:pt x="0" y="0"/>
                    </a:lnTo>
                  </a:path>
                </a:pathLst>
              </a:custGeom>
              <a:noFill/>
              <a:ln w="57150" cmpd="sng">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608" name="Freeform 48"/>
              <p:cNvSpPr/>
              <p:nvPr/>
            </p:nvSpPr>
            <p:spPr bwMode="auto">
              <a:xfrm>
                <a:off x="1646" y="1278"/>
                <a:ext cx="613" cy="1472"/>
              </a:xfrm>
              <a:custGeom>
                <a:avLst/>
                <a:gdLst>
                  <a:gd name="T0" fmla="*/ 0 w 613"/>
                  <a:gd name="T1" fmla="*/ 1472 h 1472"/>
                  <a:gd name="T2" fmla="*/ 66 w 613"/>
                  <a:gd name="T3" fmla="*/ 1454 h 1472"/>
                  <a:gd name="T4" fmla="*/ 98 w 613"/>
                  <a:gd name="T5" fmla="*/ 1437 h 1472"/>
                  <a:gd name="T6" fmla="*/ 131 w 613"/>
                  <a:gd name="T7" fmla="*/ 1413 h 1472"/>
                  <a:gd name="T8" fmla="*/ 162 w 613"/>
                  <a:gd name="T9" fmla="*/ 1380 h 1472"/>
                  <a:gd name="T10" fmla="*/ 194 w 613"/>
                  <a:gd name="T11" fmla="*/ 1335 h 1472"/>
                  <a:gd name="T12" fmla="*/ 227 w 613"/>
                  <a:gd name="T13" fmla="*/ 1274 h 1472"/>
                  <a:gd name="T14" fmla="*/ 292 w 613"/>
                  <a:gd name="T15" fmla="*/ 1103 h 1472"/>
                  <a:gd name="T16" fmla="*/ 356 w 613"/>
                  <a:gd name="T17" fmla="*/ 863 h 1472"/>
                  <a:gd name="T18" fmla="*/ 421 w 613"/>
                  <a:gd name="T19" fmla="*/ 575 h 1472"/>
                  <a:gd name="T20" fmla="*/ 452 w 613"/>
                  <a:gd name="T21" fmla="*/ 428 h 1472"/>
                  <a:gd name="T22" fmla="*/ 484 w 613"/>
                  <a:gd name="T23" fmla="*/ 290 h 1472"/>
                  <a:gd name="T24" fmla="*/ 517 w 613"/>
                  <a:gd name="T25" fmla="*/ 172 h 1472"/>
                  <a:gd name="T26" fmla="*/ 550 w 613"/>
                  <a:gd name="T27" fmla="*/ 80 h 1472"/>
                  <a:gd name="T28" fmla="*/ 582 w 613"/>
                  <a:gd name="T29" fmla="*/ 21 h 1472"/>
                  <a:gd name="T30" fmla="*/ 613 w 613"/>
                  <a:gd name="T31" fmla="*/ 0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3" h="1472">
                    <a:moveTo>
                      <a:pt x="0" y="1472"/>
                    </a:moveTo>
                    <a:lnTo>
                      <a:pt x="66" y="1454"/>
                    </a:lnTo>
                    <a:lnTo>
                      <a:pt x="98" y="1437"/>
                    </a:lnTo>
                    <a:lnTo>
                      <a:pt x="131" y="1413"/>
                    </a:lnTo>
                    <a:lnTo>
                      <a:pt x="162" y="1380"/>
                    </a:lnTo>
                    <a:lnTo>
                      <a:pt x="194" y="1335"/>
                    </a:lnTo>
                    <a:lnTo>
                      <a:pt x="227" y="1274"/>
                    </a:lnTo>
                    <a:lnTo>
                      <a:pt x="292" y="1103"/>
                    </a:lnTo>
                    <a:lnTo>
                      <a:pt x="356" y="863"/>
                    </a:lnTo>
                    <a:lnTo>
                      <a:pt x="421" y="575"/>
                    </a:lnTo>
                    <a:lnTo>
                      <a:pt x="452" y="428"/>
                    </a:lnTo>
                    <a:lnTo>
                      <a:pt x="484" y="290"/>
                    </a:lnTo>
                    <a:lnTo>
                      <a:pt x="517" y="172"/>
                    </a:lnTo>
                    <a:lnTo>
                      <a:pt x="550" y="80"/>
                    </a:lnTo>
                    <a:lnTo>
                      <a:pt x="582" y="21"/>
                    </a:lnTo>
                    <a:lnTo>
                      <a:pt x="613" y="0"/>
                    </a:lnTo>
                  </a:path>
                </a:pathLst>
              </a:custGeom>
              <a:noFill/>
              <a:ln w="57150" cmpd="sng">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effectLst>
                    <a:outerShdw blurRad="38100" dist="38100" dir="2700000" algn="tl">
                      <a:srgbClr val="000000">
                        <a:alpha val="43137"/>
                      </a:srgbClr>
                    </a:outerShdw>
                  </a:effectLst>
                </a:endParaRPr>
              </a:p>
            </p:txBody>
          </p:sp>
        </p:grpSp>
        <p:sp>
          <p:nvSpPr>
            <p:cNvPr id="1090609" name="Freeform 49"/>
            <p:cNvSpPr/>
            <p:nvPr/>
          </p:nvSpPr>
          <p:spPr bwMode="auto">
            <a:xfrm>
              <a:off x="675" y="3303"/>
              <a:ext cx="109" cy="250"/>
            </a:xfrm>
            <a:custGeom>
              <a:avLst/>
              <a:gdLst>
                <a:gd name="T0" fmla="*/ 0 w 110"/>
                <a:gd name="T1" fmla="*/ 0 h 238"/>
                <a:gd name="T2" fmla="*/ 19 w 110"/>
                <a:gd name="T3" fmla="*/ 1 h 238"/>
                <a:gd name="T4" fmla="*/ 37 w 110"/>
                <a:gd name="T5" fmla="*/ 5 h 238"/>
                <a:gd name="T6" fmla="*/ 52 w 110"/>
                <a:gd name="T7" fmla="*/ 14 h 238"/>
                <a:gd name="T8" fmla="*/ 67 w 110"/>
                <a:gd name="T9" fmla="*/ 25 h 238"/>
                <a:gd name="T10" fmla="*/ 78 w 110"/>
                <a:gd name="T11" fmla="*/ 39 h 238"/>
                <a:gd name="T12" fmla="*/ 86 w 110"/>
                <a:gd name="T13" fmla="*/ 55 h 238"/>
                <a:gd name="T14" fmla="*/ 90 w 110"/>
                <a:gd name="T15" fmla="*/ 73 h 238"/>
                <a:gd name="T16" fmla="*/ 90 w 110"/>
                <a:gd name="T17" fmla="*/ 90 h 238"/>
                <a:gd name="T18" fmla="*/ 86 w 110"/>
                <a:gd name="T19" fmla="*/ 108 h 238"/>
                <a:gd name="T20" fmla="*/ 78 w 110"/>
                <a:gd name="T21" fmla="*/ 124 h 238"/>
                <a:gd name="T22" fmla="*/ 70 w 110"/>
                <a:gd name="T23" fmla="*/ 140 h 238"/>
                <a:gd name="T24" fmla="*/ 67 w 110"/>
                <a:gd name="T25" fmla="*/ 157 h 238"/>
                <a:gd name="T26" fmla="*/ 67 w 110"/>
                <a:gd name="T27" fmla="*/ 175 h 238"/>
                <a:gd name="T28" fmla="*/ 70 w 110"/>
                <a:gd name="T29" fmla="*/ 192 h 238"/>
                <a:gd name="T30" fmla="*/ 79 w 110"/>
                <a:gd name="T31" fmla="*/ 209 h 238"/>
                <a:gd name="T32" fmla="*/ 90 w 110"/>
                <a:gd name="T33" fmla="*/ 222 h 238"/>
                <a:gd name="T34" fmla="*/ 103 w 110"/>
                <a:gd name="T35" fmla="*/ 234 h 238"/>
                <a:gd name="T36" fmla="*/ 110 w 110"/>
                <a:gd name="T37"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238">
                  <a:moveTo>
                    <a:pt x="0" y="0"/>
                  </a:moveTo>
                  <a:lnTo>
                    <a:pt x="19" y="1"/>
                  </a:lnTo>
                  <a:lnTo>
                    <a:pt x="37" y="5"/>
                  </a:lnTo>
                  <a:lnTo>
                    <a:pt x="52" y="14"/>
                  </a:lnTo>
                  <a:lnTo>
                    <a:pt x="67" y="25"/>
                  </a:lnTo>
                  <a:lnTo>
                    <a:pt x="78" y="39"/>
                  </a:lnTo>
                  <a:lnTo>
                    <a:pt x="86" y="55"/>
                  </a:lnTo>
                  <a:lnTo>
                    <a:pt x="90" y="73"/>
                  </a:lnTo>
                  <a:lnTo>
                    <a:pt x="90" y="90"/>
                  </a:lnTo>
                  <a:lnTo>
                    <a:pt x="86" y="108"/>
                  </a:lnTo>
                  <a:lnTo>
                    <a:pt x="78" y="124"/>
                  </a:lnTo>
                  <a:lnTo>
                    <a:pt x="70" y="140"/>
                  </a:lnTo>
                  <a:lnTo>
                    <a:pt x="67" y="157"/>
                  </a:lnTo>
                  <a:lnTo>
                    <a:pt x="67" y="175"/>
                  </a:lnTo>
                  <a:lnTo>
                    <a:pt x="70" y="192"/>
                  </a:lnTo>
                  <a:lnTo>
                    <a:pt x="79" y="209"/>
                  </a:lnTo>
                  <a:lnTo>
                    <a:pt x="90" y="222"/>
                  </a:lnTo>
                  <a:lnTo>
                    <a:pt x="103" y="234"/>
                  </a:lnTo>
                  <a:lnTo>
                    <a:pt x="110" y="238"/>
                  </a:lnTo>
                </a:path>
              </a:pathLst>
            </a:custGeom>
            <a:noFill/>
            <a:ln w="12700" cmpd="sng">
              <a:solidFill>
                <a:schemeClr val="tx1"/>
              </a:solidFill>
              <a:prstDash val="solid"/>
              <a:round/>
              <a:headEnd type="none" w="med" len="med"/>
              <a:tailEnd type="triangle" w="med" len="me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610" name="Freeform 50"/>
            <p:cNvSpPr/>
            <p:nvPr/>
          </p:nvSpPr>
          <p:spPr bwMode="auto">
            <a:xfrm>
              <a:off x="1676" y="3281"/>
              <a:ext cx="239" cy="215"/>
            </a:xfrm>
            <a:custGeom>
              <a:avLst/>
              <a:gdLst>
                <a:gd name="T0" fmla="*/ 294 w 294"/>
                <a:gd name="T1" fmla="*/ 0 h 188"/>
                <a:gd name="T2" fmla="*/ 291 w 294"/>
                <a:gd name="T3" fmla="*/ 23 h 188"/>
                <a:gd name="T4" fmla="*/ 283 w 294"/>
                <a:gd name="T5" fmla="*/ 46 h 188"/>
                <a:gd name="T6" fmla="*/ 271 w 294"/>
                <a:gd name="T7" fmla="*/ 66 h 188"/>
                <a:gd name="T8" fmla="*/ 255 w 294"/>
                <a:gd name="T9" fmla="*/ 84 h 188"/>
                <a:gd name="T10" fmla="*/ 236 w 294"/>
                <a:gd name="T11" fmla="*/ 99 h 188"/>
                <a:gd name="T12" fmla="*/ 214 w 294"/>
                <a:gd name="T13" fmla="*/ 110 h 188"/>
                <a:gd name="T14" fmla="*/ 190 w 294"/>
                <a:gd name="T15" fmla="*/ 117 h 188"/>
                <a:gd name="T16" fmla="*/ 166 w 294"/>
                <a:gd name="T17" fmla="*/ 118 h 188"/>
                <a:gd name="T18" fmla="*/ 142 w 294"/>
                <a:gd name="T19" fmla="*/ 116 h 188"/>
                <a:gd name="T20" fmla="*/ 117 w 294"/>
                <a:gd name="T21" fmla="*/ 113 h 188"/>
                <a:gd name="T22" fmla="*/ 92 w 294"/>
                <a:gd name="T23" fmla="*/ 116 h 188"/>
                <a:gd name="T24" fmla="*/ 70 w 294"/>
                <a:gd name="T25" fmla="*/ 123 h 188"/>
                <a:gd name="T26" fmla="*/ 47 w 294"/>
                <a:gd name="T27" fmla="*/ 133 h 188"/>
                <a:gd name="T28" fmla="*/ 27 w 294"/>
                <a:gd name="T29" fmla="*/ 147 h 188"/>
                <a:gd name="T30" fmla="*/ 12 w 294"/>
                <a:gd name="T31" fmla="*/ 166 h 188"/>
                <a:gd name="T32" fmla="*/ 0 w 294"/>
                <a:gd name="T33" fmla="*/ 186 h 188"/>
                <a:gd name="T34" fmla="*/ 0 w 294"/>
                <a:gd name="T35" fmla="*/ 18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4" h="188">
                  <a:moveTo>
                    <a:pt x="294" y="0"/>
                  </a:moveTo>
                  <a:lnTo>
                    <a:pt x="291" y="23"/>
                  </a:lnTo>
                  <a:lnTo>
                    <a:pt x="283" y="46"/>
                  </a:lnTo>
                  <a:lnTo>
                    <a:pt x="271" y="66"/>
                  </a:lnTo>
                  <a:lnTo>
                    <a:pt x="255" y="84"/>
                  </a:lnTo>
                  <a:lnTo>
                    <a:pt x="236" y="99"/>
                  </a:lnTo>
                  <a:lnTo>
                    <a:pt x="214" y="110"/>
                  </a:lnTo>
                  <a:lnTo>
                    <a:pt x="190" y="117"/>
                  </a:lnTo>
                  <a:lnTo>
                    <a:pt x="166" y="118"/>
                  </a:lnTo>
                  <a:lnTo>
                    <a:pt x="142" y="116"/>
                  </a:lnTo>
                  <a:lnTo>
                    <a:pt x="117" y="113"/>
                  </a:lnTo>
                  <a:lnTo>
                    <a:pt x="92" y="116"/>
                  </a:lnTo>
                  <a:lnTo>
                    <a:pt x="70" y="123"/>
                  </a:lnTo>
                  <a:lnTo>
                    <a:pt x="47" y="133"/>
                  </a:lnTo>
                  <a:lnTo>
                    <a:pt x="27" y="147"/>
                  </a:lnTo>
                  <a:lnTo>
                    <a:pt x="12" y="166"/>
                  </a:lnTo>
                  <a:lnTo>
                    <a:pt x="0" y="186"/>
                  </a:lnTo>
                  <a:lnTo>
                    <a:pt x="0" y="188"/>
                  </a:lnTo>
                </a:path>
              </a:pathLst>
            </a:custGeom>
            <a:noFill/>
            <a:ln w="12700" cmpd="sng">
              <a:solidFill>
                <a:schemeClr val="tx1"/>
              </a:solidFill>
              <a:prstDash val="solid"/>
              <a:round/>
              <a:headEnd type="none" w="med" len="med"/>
              <a:tailEnd type="triangle" w="med" len="me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611" name="Rectangle 51"/>
            <p:cNvSpPr>
              <a:spLocks noChangeArrowheads="1"/>
            </p:cNvSpPr>
            <p:nvPr/>
          </p:nvSpPr>
          <p:spPr bwMode="auto">
            <a:xfrm>
              <a:off x="1407" y="3714"/>
              <a:ext cx="61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pPr>
              <a:r>
                <a:rPr lang="en-US" altLang="zh-CN" sz="1600">
                  <a:effectLst>
                    <a:outerShdw blurRad="38100" dist="38100" dir="2700000" algn="tl">
                      <a:srgbClr val="000000">
                        <a:alpha val="43137"/>
                      </a:srgbClr>
                    </a:outerShdw>
                  </a:effectLst>
                </a:rPr>
                <a:t>F</a:t>
              </a:r>
              <a:r>
                <a:rPr lang="en-US" altLang="zh-CN" sz="1600" baseline="-25000">
                  <a:effectLst>
                    <a:outerShdw blurRad="38100" dist="38100" dir="2700000" algn="tl">
                      <a:srgbClr val="000000">
                        <a:alpha val="43137"/>
                      </a:srgbClr>
                    </a:outerShdw>
                  </a:effectLst>
                </a:rPr>
                <a:t>0.025 </a:t>
              </a:r>
              <a:r>
                <a:rPr lang="en-US" altLang="zh-CN" sz="1600">
                  <a:effectLst>
                    <a:outerShdw blurRad="38100" dist="38100" dir="2700000" algn="tl">
                      <a:srgbClr val="000000">
                        <a:alpha val="43137"/>
                      </a:srgbClr>
                    </a:outerShdw>
                  </a:effectLst>
                </a:rPr>
                <a:t>=2.62</a:t>
              </a:r>
              <a:endParaRPr lang="en-US" altLang="zh-CN" sz="1600">
                <a:effectLst>
                  <a:outerShdw blurRad="38100" dist="38100" dir="2700000" algn="tl">
                    <a:srgbClr val="000000">
                      <a:alpha val="43137"/>
                    </a:srgbClr>
                  </a:outerShdw>
                </a:effectLst>
              </a:endParaRPr>
            </a:p>
          </p:txBody>
        </p:sp>
        <p:sp>
          <p:nvSpPr>
            <p:cNvPr id="1090612" name="Freeform 52"/>
            <p:cNvSpPr/>
            <p:nvPr/>
          </p:nvSpPr>
          <p:spPr bwMode="auto">
            <a:xfrm>
              <a:off x="551" y="2951"/>
              <a:ext cx="278" cy="688"/>
            </a:xfrm>
            <a:custGeom>
              <a:avLst/>
              <a:gdLst>
                <a:gd name="T0" fmla="*/ 0 w 251"/>
                <a:gd name="T1" fmla="*/ 0 h 995"/>
                <a:gd name="T2" fmla="*/ 251 w 251"/>
                <a:gd name="T3" fmla="*/ 0 h 995"/>
                <a:gd name="T4" fmla="*/ 251 w 251"/>
                <a:gd name="T5" fmla="*/ 497 h 995"/>
                <a:gd name="T6" fmla="*/ 251 w 251"/>
                <a:gd name="T7" fmla="*/ 995 h 995"/>
              </a:gdLst>
              <a:ahLst/>
              <a:cxnLst>
                <a:cxn ang="0">
                  <a:pos x="T0" y="T1"/>
                </a:cxn>
                <a:cxn ang="0">
                  <a:pos x="T2" y="T3"/>
                </a:cxn>
                <a:cxn ang="0">
                  <a:pos x="T4" y="T5"/>
                </a:cxn>
                <a:cxn ang="0">
                  <a:pos x="T6" y="T7"/>
                </a:cxn>
              </a:cxnLst>
              <a:rect l="0" t="0" r="r" b="b"/>
              <a:pathLst>
                <a:path w="251" h="995">
                  <a:moveTo>
                    <a:pt x="0" y="0"/>
                  </a:moveTo>
                  <a:lnTo>
                    <a:pt x="251" y="0"/>
                  </a:lnTo>
                  <a:lnTo>
                    <a:pt x="251" y="497"/>
                  </a:lnTo>
                  <a:lnTo>
                    <a:pt x="251" y="995"/>
                  </a:lnTo>
                </a:path>
              </a:pathLst>
            </a:custGeom>
            <a:noFill/>
            <a:ln w="28575">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effectLst>
                  <a:outerShdw blurRad="38100" dist="38100" dir="2700000" algn="tl">
                    <a:srgbClr val="000000">
                      <a:alpha val="43137"/>
                    </a:srgbClr>
                  </a:outerShdw>
                </a:effectLst>
              </a:endParaRPr>
            </a:p>
          </p:txBody>
        </p:sp>
        <p:sp>
          <p:nvSpPr>
            <p:cNvPr id="1090613" name="Freeform 53"/>
            <p:cNvSpPr/>
            <p:nvPr/>
          </p:nvSpPr>
          <p:spPr bwMode="auto">
            <a:xfrm>
              <a:off x="1466" y="2984"/>
              <a:ext cx="154" cy="667"/>
            </a:xfrm>
            <a:custGeom>
              <a:avLst/>
              <a:gdLst>
                <a:gd name="T0" fmla="*/ 0 w 253"/>
                <a:gd name="T1" fmla="*/ 1013 h 1013"/>
                <a:gd name="T2" fmla="*/ 0 w 253"/>
                <a:gd name="T3" fmla="*/ 507 h 1013"/>
                <a:gd name="T4" fmla="*/ 0 w 253"/>
                <a:gd name="T5" fmla="*/ 0 h 1013"/>
                <a:gd name="T6" fmla="*/ 253 w 253"/>
                <a:gd name="T7" fmla="*/ 0 h 1013"/>
              </a:gdLst>
              <a:ahLst/>
              <a:cxnLst>
                <a:cxn ang="0">
                  <a:pos x="T0" y="T1"/>
                </a:cxn>
                <a:cxn ang="0">
                  <a:pos x="T2" y="T3"/>
                </a:cxn>
                <a:cxn ang="0">
                  <a:pos x="T4" y="T5"/>
                </a:cxn>
                <a:cxn ang="0">
                  <a:pos x="T6" y="T7"/>
                </a:cxn>
              </a:cxnLst>
              <a:rect l="0" t="0" r="r" b="b"/>
              <a:pathLst>
                <a:path w="253" h="1013">
                  <a:moveTo>
                    <a:pt x="0" y="1013"/>
                  </a:moveTo>
                  <a:lnTo>
                    <a:pt x="0" y="507"/>
                  </a:lnTo>
                  <a:lnTo>
                    <a:pt x="0" y="0"/>
                  </a:lnTo>
                  <a:lnTo>
                    <a:pt x="253" y="0"/>
                  </a:lnTo>
                </a:path>
              </a:pathLst>
            </a:custGeom>
            <a:noFill/>
            <a:ln w="28575">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effectLst>
                  <a:outerShdw blurRad="38100" dist="38100" dir="2700000" algn="tl">
                    <a:srgbClr val="000000">
                      <a:alpha val="43137"/>
                    </a:srgbClr>
                  </a:outerShdw>
                </a:effectLst>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0563">
                                            <p:txEl>
                                              <p:pRg st="0" end="0"/>
                                            </p:txEl>
                                          </p:spTgt>
                                        </p:tgtEl>
                                        <p:attrNameLst>
                                          <p:attrName>style.visibility</p:attrName>
                                        </p:attrNameLst>
                                      </p:cBhvr>
                                      <p:to>
                                        <p:strVal val="visible"/>
                                      </p:to>
                                    </p:set>
                                    <p:animEffect transition="in" filter="wipe(left)">
                                      <p:cBhvr>
                                        <p:cTn id="7" dur="500"/>
                                        <p:tgtEl>
                                          <p:spTgt spid="10905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90563">
                                            <p:txEl>
                                              <p:pRg st="1" end="1"/>
                                            </p:txEl>
                                          </p:spTgt>
                                        </p:tgtEl>
                                        <p:attrNameLst>
                                          <p:attrName>style.visibility</p:attrName>
                                        </p:attrNameLst>
                                      </p:cBhvr>
                                      <p:to>
                                        <p:strVal val="visible"/>
                                      </p:to>
                                    </p:set>
                                    <p:animEffect transition="in" filter="wipe(left)">
                                      <p:cBhvr>
                                        <p:cTn id="12" dur="500"/>
                                        <p:tgtEl>
                                          <p:spTgt spid="10905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90563">
                                            <p:txEl>
                                              <p:pRg st="2" end="2"/>
                                            </p:txEl>
                                          </p:spTgt>
                                        </p:tgtEl>
                                        <p:attrNameLst>
                                          <p:attrName>style.visibility</p:attrName>
                                        </p:attrNameLst>
                                      </p:cBhvr>
                                      <p:to>
                                        <p:strVal val="visible"/>
                                      </p:to>
                                    </p:set>
                                    <p:animEffect transition="in" filter="wipe(left)">
                                      <p:cBhvr>
                                        <p:cTn id="17" dur="500"/>
                                        <p:tgtEl>
                                          <p:spTgt spid="10905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90563">
                                            <p:txEl>
                                              <p:pRg st="3" end="3"/>
                                            </p:txEl>
                                          </p:spTgt>
                                        </p:tgtEl>
                                        <p:attrNameLst>
                                          <p:attrName>style.visibility</p:attrName>
                                        </p:attrNameLst>
                                      </p:cBhvr>
                                      <p:to>
                                        <p:strVal val="visible"/>
                                      </p:to>
                                    </p:set>
                                    <p:animEffect transition="in" filter="wipe(left)">
                                      <p:cBhvr>
                                        <p:cTn id="22" dur="500"/>
                                        <p:tgtEl>
                                          <p:spTgt spid="10905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90563">
                                            <p:txEl>
                                              <p:pRg st="4" end="4"/>
                                            </p:txEl>
                                          </p:spTgt>
                                        </p:tgtEl>
                                        <p:attrNameLst>
                                          <p:attrName>style.visibility</p:attrName>
                                        </p:attrNameLst>
                                      </p:cBhvr>
                                      <p:to>
                                        <p:strVal val="visible"/>
                                      </p:to>
                                    </p:set>
                                    <p:animEffect transition="in" filter="wipe(left)">
                                      <p:cBhvr>
                                        <p:cTn id="27" dur="500"/>
                                        <p:tgtEl>
                                          <p:spTgt spid="10905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1090614"/>
                                        </p:tgtEl>
                                        <p:attrNameLst>
                                          <p:attrName>style.visibility</p:attrName>
                                        </p:attrNameLst>
                                      </p:cBhvr>
                                      <p:to>
                                        <p:strVal val="visible"/>
                                      </p:to>
                                    </p:set>
                                    <p:animEffect transition="in" filter="barn(outVertical)">
                                      <p:cBhvr>
                                        <p:cTn id="32" dur="500"/>
                                        <p:tgtEl>
                                          <p:spTgt spid="10906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90564">
                                            <p:txEl>
                                              <p:pRg st="0" end="0"/>
                                            </p:txEl>
                                          </p:spTgt>
                                        </p:tgtEl>
                                        <p:attrNameLst>
                                          <p:attrName>style.visibility</p:attrName>
                                        </p:attrNameLst>
                                      </p:cBhvr>
                                      <p:to>
                                        <p:strVal val="visible"/>
                                      </p:to>
                                    </p:set>
                                    <p:animEffect transition="in" filter="wipe(left)">
                                      <p:cBhvr>
                                        <p:cTn id="37" dur="500"/>
                                        <p:tgtEl>
                                          <p:spTgt spid="109056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90565">
                                            <p:txEl>
                                              <p:pRg st="0" end="0"/>
                                            </p:txEl>
                                          </p:spTgt>
                                        </p:tgtEl>
                                        <p:attrNameLst>
                                          <p:attrName>style.visibility</p:attrName>
                                        </p:attrNameLst>
                                      </p:cBhvr>
                                      <p:to>
                                        <p:strVal val="visible"/>
                                      </p:to>
                                    </p:set>
                                    <p:animEffect transition="in" filter="wipe(left)">
                                      <p:cBhvr>
                                        <p:cTn id="42" dur="500"/>
                                        <p:tgtEl>
                                          <p:spTgt spid="109056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90567">
                                            <p:txEl>
                                              <p:pRg st="0" end="0"/>
                                            </p:txEl>
                                          </p:spTgt>
                                        </p:tgtEl>
                                        <p:attrNameLst>
                                          <p:attrName>style.visibility</p:attrName>
                                        </p:attrNameLst>
                                      </p:cBhvr>
                                      <p:to>
                                        <p:strVal val="visible"/>
                                      </p:to>
                                    </p:set>
                                    <p:animEffect transition="in" filter="wipe(left)">
                                      <p:cBhvr>
                                        <p:cTn id="47" dur="500"/>
                                        <p:tgtEl>
                                          <p:spTgt spid="1090567">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90566">
                                            <p:txEl>
                                              <p:pRg st="0" end="0"/>
                                            </p:txEl>
                                          </p:spTgt>
                                        </p:tgtEl>
                                        <p:attrNameLst>
                                          <p:attrName>style.visibility</p:attrName>
                                        </p:attrNameLst>
                                      </p:cBhvr>
                                      <p:to>
                                        <p:strVal val="visible"/>
                                      </p:to>
                                    </p:set>
                                    <p:animEffect transition="in" filter="wipe(left)">
                                      <p:cBhvr>
                                        <p:cTn id="52" dur="500"/>
                                        <p:tgtEl>
                                          <p:spTgt spid="109056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090568">
                                            <p:txEl>
                                              <p:pRg st="0" end="0"/>
                                            </p:txEl>
                                          </p:spTgt>
                                        </p:tgtEl>
                                        <p:attrNameLst>
                                          <p:attrName>style.visibility</p:attrName>
                                        </p:attrNameLst>
                                      </p:cBhvr>
                                      <p:to>
                                        <p:strVal val="visible"/>
                                      </p:to>
                                    </p:set>
                                    <p:animEffect transition="in" filter="wipe(left)">
                                      <p:cBhvr>
                                        <p:cTn id="57" dur="500"/>
                                        <p:tgtEl>
                                          <p:spTgt spid="10905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0563" grpId="0" autoUpdateAnimBg="0" build="p"/>
      <p:bldP spid="1090564" grpId="0" autoUpdateAnimBg="0" build="p"/>
      <p:bldP spid="1090565" grpId="0" autoUpdateAnimBg="0" build="p"/>
      <p:bldP spid="1090566" grpId="0" autoUpdateAnimBg="0" build="p"/>
      <p:bldP spid="1090567" grpId="0" autoUpdateAnimBg="0" build="p"/>
      <p:bldP spid="1090568" grpId="0" autoUpdateAnimBg="0" build="p"/>
    </p:bldLst>
  </p:timing>
</p:sld>
</file>

<file path=ppt/theme/_rels/them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theme1.xml><?xml version="1.0" encoding="utf-8"?>
<a:theme xmlns:a="http://schemas.openxmlformats.org/drawingml/2006/main" name="AcademicPresentation1_TP10352479">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用于大学课程的学术演示文稿（纸张和铅笔设计）</Template>
  <TotalTime>0</TotalTime>
  <Words>6291</Words>
  <Application>WPS 文字</Application>
  <PresentationFormat>宽屏</PresentationFormat>
  <Paragraphs>643</Paragraphs>
  <Slides>41</Slides>
  <Notes>43</Notes>
  <HiddenSlides>0</HiddenSlides>
  <MMClips>0</MMClips>
  <ScaleCrop>false</ScaleCrop>
  <HeadingPairs>
    <vt:vector size="8" baseType="variant">
      <vt:variant>
        <vt:lpstr>已用的字体</vt:lpstr>
      </vt:variant>
      <vt:variant>
        <vt:i4>26</vt:i4>
      </vt:variant>
      <vt:variant>
        <vt:lpstr>主题</vt:lpstr>
      </vt:variant>
      <vt:variant>
        <vt:i4>1</vt:i4>
      </vt:variant>
      <vt:variant>
        <vt:lpstr>嵌入 OLE 服务器</vt:lpstr>
      </vt:variant>
      <vt:variant>
        <vt:i4>4</vt:i4>
      </vt:variant>
      <vt:variant>
        <vt:lpstr>幻灯片标题</vt:lpstr>
      </vt:variant>
      <vt:variant>
        <vt:i4>41</vt:i4>
      </vt:variant>
    </vt:vector>
  </HeadingPairs>
  <TitlesOfParts>
    <vt:vector size="72" baseType="lpstr">
      <vt:lpstr>Arial</vt:lpstr>
      <vt:lpstr>宋体</vt:lpstr>
      <vt:lpstr>Wingdings</vt:lpstr>
      <vt:lpstr>微软雅黑</vt:lpstr>
      <vt:lpstr>汉仪旗黑</vt:lpstr>
      <vt:lpstr>华文细黑</vt:lpstr>
      <vt:lpstr>Wingdings</vt:lpstr>
      <vt:lpstr>Wingdings 2</vt:lpstr>
      <vt:lpstr>Calibri</vt:lpstr>
      <vt:lpstr>Helvetica Neue</vt:lpstr>
      <vt:lpstr>Symbol</vt:lpstr>
      <vt:lpstr>Kingsoft Sign</vt:lpstr>
      <vt:lpstr>Times New Roman</vt:lpstr>
      <vt:lpstr>Cambria Math</vt:lpstr>
      <vt:lpstr>DejaVu Math TeX Gyre</vt:lpstr>
      <vt:lpstr>Tw Cen MT</vt:lpstr>
      <vt:lpstr>苹方-简</vt:lpstr>
      <vt:lpstr>华文仿宋</vt:lpstr>
      <vt:lpstr>宋体</vt:lpstr>
      <vt:lpstr>Arial Unicode MS</vt:lpstr>
      <vt:lpstr>汉仪书宋二KW</vt:lpstr>
      <vt:lpstr>Monotype Sorts</vt:lpstr>
      <vt:lpstr>Book Antiqua</vt:lpstr>
      <vt:lpstr>Thonburi</vt:lpstr>
      <vt:lpstr>Monotype Corsiva</vt:lpstr>
      <vt:lpstr>Kingsoft Math</vt:lpstr>
      <vt:lpstr>AcademicPresentation1_TP10352479</vt:lpstr>
      <vt:lpstr>MS_ClipArt_Gallery.5</vt:lpstr>
      <vt:lpstr>MS_ClipArt_Gallery.2</vt:lpstr>
      <vt:lpstr>MS_ClipArt_Gallery.2</vt:lpstr>
      <vt:lpstr>MS_ClipArt_Gallery.2</vt:lpstr>
      <vt:lpstr>PowerPoint 演示文稿</vt:lpstr>
      <vt:lpstr>8.1   假设检验的基本问题</vt:lpstr>
      <vt:lpstr>8.1   假设检验的基本问题</vt:lpstr>
      <vt:lpstr>8.1   假设检验的基本问题</vt:lpstr>
      <vt:lpstr>2 已知均值的检验  (P 值的计算与应用)</vt:lpstr>
      <vt:lpstr>2 已知均值的检验  (小样本例题分析)</vt:lpstr>
      <vt:lpstr>2 已知均值的检验  (小样本例题分析)</vt:lpstr>
      <vt:lpstr>2 未知大样本均值的检验  (例题分析)</vt:lpstr>
      <vt:lpstr>2 未知大样本均值的检验  (例题分析)</vt:lpstr>
      <vt:lpstr>总体均值的检验  (2未知小样本)</vt:lpstr>
      <vt:lpstr>2 未知小样本均值的检验  (例题分析)</vt:lpstr>
      <vt:lpstr>2 未知小样本均值的检验  (例题分析)</vt:lpstr>
      <vt:lpstr>2 未知小样本均值的检验  (P 值的计算与应用)</vt:lpstr>
      <vt:lpstr>2 未知小样本均值的检验  (例题分析)</vt:lpstr>
      <vt:lpstr>均值的单尾 t 检验  (计算结果) </vt:lpstr>
      <vt:lpstr>总体比例的检验 (Z 检验)</vt:lpstr>
      <vt:lpstr>一个总体比例检验</vt:lpstr>
      <vt:lpstr>一个总体比例的检验  (例题分析)</vt:lpstr>
      <vt:lpstr>一个总体比例的检验  (例题分析)</vt:lpstr>
      <vt:lpstr>总体方差的检验 (2 检验)</vt:lpstr>
      <vt:lpstr>方差的卡方 (2) 检验</vt:lpstr>
      <vt:lpstr>方差的卡方 (2) 检验 (例题分析)</vt:lpstr>
      <vt:lpstr>方差的卡方 (2) 检验 (例题分析)</vt:lpstr>
      <vt:lpstr>PowerPoint 演示文稿</vt:lpstr>
      <vt:lpstr>独立样本总体均值之差的检验</vt:lpstr>
      <vt:lpstr>两个总体均值之差的检验  (12、 22 已知)</vt:lpstr>
      <vt:lpstr>两个总体均值之差的检验  (例题分析)</vt:lpstr>
      <vt:lpstr>两个总体均值之差的检验  (例题分析)</vt:lpstr>
      <vt:lpstr>两个总体均值之差的检验  (12、 22 未知且不相等,小样本)</vt:lpstr>
      <vt:lpstr>两个总体均值之差的检验  (12、 22 未知但相等,小样本)</vt:lpstr>
      <vt:lpstr>两个总体均值之差的检验  (例题分析)</vt:lpstr>
      <vt:lpstr>两个总体均值之差的检验  (例题分析—用统计量进行检验)</vt:lpstr>
      <vt:lpstr>两个总体均值之差的检验  (例题分析—用Excel进行检验)</vt:lpstr>
      <vt:lpstr>两个总体比例之差的检验</vt:lpstr>
      <vt:lpstr>两个总体比例之差的检验</vt:lpstr>
      <vt:lpstr>两个总体比例之差的Z检验  (例题分析)</vt:lpstr>
      <vt:lpstr>两个总体比例之差的Z检验  (例题分析)</vt:lpstr>
      <vt:lpstr>两个总体方差比的检验</vt:lpstr>
      <vt:lpstr>两个总体方差比的检验 (F 检验)</vt:lpstr>
      <vt:lpstr>两个总体方差的 F 检验 (临界值)</vt:lpstr>
      <vt:lpstr>两个总体方差的 F 检验  (例题分析)</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统计学 （第8版）</dc:title>
  <dc:creator>jiajp99@126.com</dc:creator>
  <cp:lastModifiedBy>毛毛与妈妈</cp:lastModifiedBy>
  <cp:revision>54</cp:revision>
  <dcterms:created xsi:type="dcterms:W3CDTF">2023-10-31T03:07:31Z</dcterms:created>
  <dcterms:modified xsi:type="dcterms:W3CDTF">2023-10-31T03:07:31Z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TC101671252052</vt:lpwstr>
  </property>
  <property fmtid="{D5CDD505-2E9C-101B-9397-08002B2CF9AE}" pid="3" name="ContentTypeId">
    <vt:lpwstr>0x0101008D8B3457135D67479991424C624CBB4704002439B9162B2E88498A324BEFF3815221</vt:lpwstr>
  </property>
  <property fmtid="{D5CDD505-2E9C-101B-9397-08002B2CF9AE}" pid="4" name="ImageGenCounter">
    <vt:i4>0</vt:i4>
  </property>
  <property fmtid="{D5CDD505-2E9C-101B-9397-08002B2CF9AE}" pid="5" name="ViolationReportStatus">
    <vt:lpwstr>None</vt:lpwstr>
  </property>
  <property fmtid="{D5CDD505-2E9C-101B-9397-08002B2CF9AE}" pid="6" name="ImageGenStatus">
    <vt:i4>0</vt:i4>
  </property>
  <property fmtid="{D5CDD505-2E9C-101B-9397-08002B2CF9AE}" pid="7" name="PolicheckStatus">
    <vt:i4>0</vt:i4>
  </property>
  <property fmtid="{D5CDD505-2E9C-101B-9397-08002B2CF9AE}" pid="8" name="Applications">
    <vt:lpwstr>67;#Template 12;#53;#PowerPoint 12;#407;#PowerPoint 14</vt:lpwstr>
  </property>
  <property fmtid="{D5CDD505-2E9C-101B-9397-08002B2CF9AE}" pid="9" name="PolicheckCounter">
    <vt:i4>0</vt:i4>
  </property>
  <property fmtid="{D5CDD505-2E9C-101B-9397-08002B2CF9AE}" pid="10" name="APTrustLevel">
    <vt:r8>1</vt:r8>
  </property>
  <property fmtid="{D5CDD505-2E9C-101B-9397-08002B2CF9AE}" pid="11" name="Order">
    <vt:r8>6900900</vt:r8>
  </property>
  <property fmtid="{D5CDD505-2E9C-101B-9397-08002B2CF9AE}" pid="12" name="KSOProductBuildVer">
    <vt:lpwstr>2052-6.2.2.8394</vt:lpwstr>
  </property>
  <property fmtid="{D5CDD505-2E9C-101B-9397-08002B2CF9AE}" pid="13" name="ICV">
    <vt:lpwstr>63680361A1BDD3B51A6F40654FD1A305_42</vt:lpwstr>
  </property>
</Properties>
</file>